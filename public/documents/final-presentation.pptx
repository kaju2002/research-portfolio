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pen Sans" charset="1" panose="00000000000000000000"/>
      <p:regular r:id="rId21"/>
    </p:embeddedFont>
    <p:embeddedFont>
      <p:font typeface="League Spartan" charset="1" panose="00000800000000000000"/>
      <p:regular r:id="rId22"/>
    </p:embeddedFont>
    <p:embeddedFont>
      <p:font typeface="Aptos Bold" charset="1" panose="020B0004020202020204"/>
      <p:regular r:id="rId23"/>
    </p:embeddedFont>
    <p:embeddedFont>
      <p:font typeface="DM Sans Bold" charset="1" panose="00000000000000000000"/>
      <p:regular r:id="rId24"/>
    </p:embeddedFont>
    <p:embeddedFont>
      <p:font typeface="DM Sans" charset="1" panose="00000000000000000000"/>
      <p:regular r:id="rId25"/>
    </p:embeddedFont>
    <p:embeddedFont>
      <p:font typeface="Poppins Medium" charset="1" panose="00000600000000000000"/>
      <p:regular r:id="rId26"/>
    </p:embeddedFont>
    <p:embeddedFont>
      <p:font typeface="Poppins Bold" charset="1" panose="00000800000000000000"/>
      <p:regular r:id="rId27"/>
    </p:embeddedFont>
    <p:embeddedFont>
      <p:font typeface="Canva Sans Bold" charset="1" panose="020B0803030501040103"/>
      <p:regular r:id="rId28"/>
    </p:embeddedFont>
    <p:embeddedFont>
      <p:font typeface="Arial Bold" charset="1" panose="020B0704020202020204"/>
      <p:regular r:id="rId29"/>
    </p:embeddedFont>
    <p:embeddedFont>
      <p:font typeface="Arial" charset="1" panose="020B06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9.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9.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9.png" Type="http://schemas.openxmlformats.org/officeDocument/2006/relationships/image"/><Relationship Id="rId4" Target="../media/image19.png" Type="http://schemas.openxmlformats.org/officeDocument/2006/relationships/image"/><Relationship Id="rId5" Target="../media/image6.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15" Target="../media/image28.png" Type="http://schemas.openxmlformats.org/officeDocument/2006/relationships/image"/><Relationship Id="rId16" Target="../media/image29.svg" Type="http://schemas.openxmlformats.org/officeDocument/2006/relationships/image"/><Relationship Id="rId2" Target="../media/image13.jpeg" Type="http://schemas.openxmlformats.org/officeDocument/2006/relationships/image"/><Relationship Id="rId3" Target="../media/image9.png" Type="http://schemas.openxmlformats.org/officeDocument/2006/relationships/image"/><Relationship Id="rId4" Target="../media/image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13" Target="../media/image36.png" Type="http://schemas.openxmlformats.org/officeDocument/2006/relationships/image"/><Relationship Id="rId14" Target="../media/image37.svg" Type="http://schemas.openxmlformats.org/officeDocument/2006/relationships/image"/><Relationship Id="rId15" Target="../media/image38.png" Type="http://schemas.openxmlformats.org/officeDocument/2006/relationships/image"/><Relationship Id="rId16" Target="../media/image39.svg" Type="http://schemas.openxmlformats.org/officeDocument/2006/relationships/image"/><Relationship Id="rId17" Target="../media/image40.png" Type="http://schemas.openxmlformats.org/officeDocument/2006/relationships/image"/><Relationship Id="rId18" Target="../media/image41.svg" Type="http://schemas.openxmlformats.org/officeDocument/2006/relationships/image"/><Relationship Id="rId19" Target="../media/image42.png" Type="http://schemas.openxmlformats.org/officeDocument/2006/relationships/image"/><Relationship Id="rId2" Target="../media/image13.jpeg" Type="http://schemas.openxmlformats.org/officeDocument/2006/relationships/image"/><Relationship Id="rId20" Target="../media/image43.svg" Type="http://schemas.openxmlformats.org/officeDocument/2006/relationships/image"/><Relationship Id="rId21" Target="../media/image44.png" Type="http://schemas.openxmlformats.org/officeDocument/2006/relationships/image"/><Relationship Id="rId22" Target="../media/image45.svg" Type="http://schemas.openxmlformats.org/officeDocument/2006/relationships/image"/><Relationship Id="rId23" Target="../media/image46.png" Type="http://schemas.openxmlformats.org/officeDocument/2006/relationships/image"/><Relationship Id="rId24" Target="../media/image47.svg" Type="http://schemas.openxmlformats.org/officeDocument/2006/relationships/image"/><Relationship Id="rId25" Target="../media/image48.png" Type="http://schemas.openxmlformats.org/officeDocument/2006/relationships/image"/><Relationship Id="rId26" Target="../media/image49.svg" Type="http://schemas.openxmlformats.org/officeDocument/2006/relationships/image"/><Relationship Id="rId27" Target="../media/image50.png" Type="http://schemas.openxmlformats.org/officeDocument/2006/relationships/image"/><Relationship Id="rId28" Target="../media/image51.svg" Type="http://schemas.openxmlformats.org/officeDocument/2006/relationships/image"/><Relationship Id="rId3" Target="../media/image9.png" Type="http://schemas.openxmlformats.org/officeDocument/2006/relationships/image"/><Relationship Id="rId4" Target="../media/image6.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9.png" Type="http://schemas.openxmlformats.org/officeDocument/2006/relationships/image"/><Relationship Id="rId4" Target="../media/image5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53.jpeg" Type="http://schemas.openxmlformats.org/officeDocument/2006/relationships/image"/><Relationship Id="rId4"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9.png" Type="http://schemas.openxmlformats.org/officeDocument/2006/relationships/image"/><Relationship Id="rId4" Target="../media/image5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55.jpeg" Type="http://schemas.openxmlformats.org/officeDocument/2006/relationships/image"/><Relationship Id="rId4"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sv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sp>
        <p:nvSpPr>
          <p:cNvPr name="Freeform 3" id="3"/>
          <p:cNvSpPr/>
          <p:nvPr/>
        </p:nvSpPr>
        <p:spPr>
          <a:xfrm flipH="false" flipV="false" rot="-5400000">
            <a:off x="12286174" y="4903422"/>
            <a:ext cx="11520040" cy="483622"/>
          </a:xfrm>
          <a:custGeom>
            <a:avLst/>
            <a:gdLst/>
            <a:ahLst/>
            <a:cxnLst/>
            <a:rect r="r" b="b" t="t" l="l"/>
            <a:pathLst>
              <a:path h="483622" w="11520040">
                <a:moveTo>
                  <a:pt x="0" y="0"/>
                </a:moveTo>
                <a:lnTo>
                  <a:pt x="11520040" y="0"/>
                </a:lnTo>
                <a:lnTo>
                  <a:pt x="11520040" y="483623"/>
                </a:lnTo>
                <a:lnTo>
                  <a:pt x="0" y="483623"/>
                </a:lnTo>
                <a:lnTo>
                  <a:pt x="0" y="0"/>
                </a:lnTo>
                <a:close/>
              </a:path>
            </a:pathLst>
          </a:custGeom>
          <a:blipFill>
            <a:blip r:embed="rId3">
              <a:extLst>
                <a:ext uri="{96DAC541-7B7A-43D3-8B79-37D633B846F1}">
                  <asvg:svgBlip xmlns:asvg="http://schemas.microsoft.com/office/drawing/2016/SVG/main" r:embed="rId4"/>
                </a:ext>
              </a:extLst>
            </a:blip>
            <a:stretch>
              <a:fillRect l="0" t="-83865" r="0" b="-83867"/>
            </a:stretch>
          </a:blipFill>
        </p:spPr>
      </p:sp>
      <p:sp>
        <p:nvSpPr>
          <p:cNvPr name="Freeform 4" id="4"/>
          <p:cNvSpPr/>
          <p:nvPr/>
        </p:nvSpPr>
        <p:spPr>
          <a:xfrm flipH="false" flipV="false" rot="0">
            <a:off x="-52397" y="10146392"/>
            <a:ext cx="4582258" cy="281207"/>
          </a:xfrm>
          <a:custGeom>
            <a:avLst/>
            <a:gdLst/>
            <a:ahLst/>
            <a:cxnLst/>
            <a:rect r="r" b="b" t="t" l="l"/>
            <a:pathLst>
              <a:path h="281207" w="4582258">
                <a:moveTo>
                  <a:pt x="0" y="0"/>
                </a:moveTo>
                <a:lnTo>
                  <a:pt x="4582258" y="0"/>
                </a:lnTo>
                <a:lnTo>
                  <a:pt x="4582258" y="281207"/>
                </a:lnTo>
                <a:lnTo>
                  <a:pt x="0" y="281207"/>
                </a:lnTo>
                <a:lnTo>
                  <a:pt x="0" y="0"/>
                </a:lnTo>
                <a:close/>
              </a:path>
            </a:pathLst>
          </a:custGeom>
          <a:blipFill>
            <a:blip r:embed="rId5">
              <a:extLst>
                <a:ext uri="{96DAC541-7B7A-43D3-8B79-37D633B846F1}">
                  <asvg:svgBlip xmlns:asvg="http://schemas.microsoft.com/office/drawing/2016/SVG/main" r:embed="rId6"/>
                </a:ext>
              </a:extLst>
            </a:blip>
            <a:stretch>
              <a:fillRect l="0" t="-107201" r="0" b="-107204"/>
            </a:stretch>
          </a:blipFill>
        </p:spPr>
      </p:sp>
      <p:grpSp>
        <p:nvGrpSpPr>
          <p:cNvPr name="Group 5" id="5"/>
          <p:cNvGrpSpPr/>
          <p:nvPr/>
        </p:nvGrpSpPr>
        <p:grpSpPr>
          <a:xfrm rot="0">
            <a:off x="5066364" y="5264591"/>
            <a:ext cx="12073195" cy="647338"/>
            <a:chOff x="0" y="0"/>
            <a:chExt cx="16097593" cy="863117"/>
          </a:xfrm>
        </p:grpSpPr>
        <p:sp>
          <p:nvSpPr>
            <p:cNvPr name="Freeform 6" id="6"/>
            <p:cNvSpPr/>
            <p:nvPr/>
          </p:nvSpPr>
          <p:spPr>
            <a:xfrm flipH="false" flipV="false" rot="0">
              <a:off x="0" y="0"/>
              <a:ext cx="16097631" cy="863219"/>
            </a:xfrm>
            <a:custGeom>
              <a:avLst/>
              <a:gdLst/>
              <a:ahLst/>
              <a:cxnLst/>
              <a:rect r="r" b="b" t="t" l="l"/>
              <a:pathLst>
                <a:path h="863219" w="16097631">
                  <a:moveTo>
                    <a:pt x="32512" y="0"/>
                  </a:moveTo>
                  <a:lnTo>
                    <a:pt x="16065119" y="0"/>
                  </a:lnTo>
                  <a:cubicBezTo>
                    <a:pt x="16073755" y="0"/>
                    <a:pt x="16082009" y="3429"/>
                    <a:pt x="16088106" y="9525"/>
                  </a:cubicBezTo>
                  <a:cubicBezTo>
                    <a:pt x="16094202" y="15621"/>
                    <a:pt x="16097631" y="23876"/>
                    <a:pt x="16097631" y="32512"/>
                  </a:cubicBezTo>
                  <a:lnTo>
                    <a:pt x="16097631" y="830707"/>
                  </a:lnTo>
                  <a:cubicBezTo>
                    <a:pt x="16097631" y="848614"/>
                    <a:pt x="16083153" y="863219"/>
                    <a:pt x="16065119" y="863219"/>
                  </a:cubicBezTo>
                  <a:lnTo>
                    <a:pt x="32512" y="863219"/>
                  </a:lnTo>
                  <a:cubicBezTo>
                    <a:pt x="23876" y="863219"/>
                    <a:pt x="15621" y="859790"/>
                    <a:pt x="9525" y="853694"/>
                  </a:cubicBezTo>
                  <a:cubicBezTo>
                    <a:pt x="3429" y="847598"/>
                    <a:pt x="0" y="839216"/>
                    <a:pt x="0" y="830707"/>
                  </a:cubicBezTo>
                  <a:lnTo>
                    <a:pt x="0" y="32512"/>
                  </a:lnTo>
                  <a:cubicBezTo>
                    <a:pt x="0" y="23876"/>
                    <a:pt x="3429" y="15621"/>
                    <a:pt x="9525" y="9525"/>
                  </a:cubicBezTo>
                  <a:cubicBezTo>
                    <a:pt x="15621" y="3429"/>
                    <a:pt x="23876" y="0"/>
                    <a:pt x="32512" y="0"/>
                  </a:cubicBezTo>
                  <a:close/>
                </a:path>
              </a:pathLst>
            </a:custGeom>
            <a:solidFill>
              <a:srgbClr val="00B7FF"/>
            </a:solidFill>
          </p:spPr>
        </p:sp>
      </p:grpSp>
      <p:grpSp>
        <p:nvGrpSpPr>
          <p:cNvPr name="Group 7" id="7"/>
          <p:cNvGrpSpPr/>
          <p:nvPr/>
        </p:nvGrpSpPr>
        <p:grpSpPr>
          <a:xfrm rot="0">
            <a:off x="5066364" y="5174175"/>
            <a:ext cx="12073195" cy="828170"/>
            <a:chOff x="0" y="0"/>
            <a:chExt cx="16097593" cy="1104227"/>
          </a:xfrm>
        </p:grpSpPr>
        <p:sp>
          <p:nvSpPr>
            <p:cNvPr name="Freeform 8" id="8"/>
            <p:cNvSpPr/>
            <p:nvPr/>
          </p:nvSpPr>
          <p:spPr>
            <a:xfrm flipH="false" flipV="false" rot="0">
              <a:off x="0" y="0"/>
              <a:ext cx="16097599" cy="1104225"/>
            </a:xfrm>
            <a:custGeom>
              <a:avLst/>
              <a:gdLst/>
              <a:ahLst/>
              <a:cxnLst/>
              <a:rect r="r" b="b" t="t" l="l"/>
              <a:pathLst>
                <a:path h="1104225" w="16097599">
                  <a:moveTo>
                    <a:pt x="0" y="0"/>
                  </a:moveTo>
                  <a:lnTo>
                    <a:pt x="16097599" y="0"/>
                  </a:lnTo>
                  <a:lnTo>
                    <a:pt x="16097599" y="1104225"/>
                  </a:lnTo>
                  <a:lnTo>
                    <a:pt x="0" y="1104225"/>
                  </a:lnTo>
                  <a:close/>
                </a:path>
              </a:pathLst>
            </a:custGeom>
            <a:blipFill>
              <a:blip r:embed="rId7">
                <a:alphaModFix amt="0"/>
              </a:blip>
              <a:stretch>
                <a:fillRect l="0" t="-234056" r="0" b="-234056"/>
              </a:stretch>
            </a:blipFill>
          </p:spPr>
        </p:sp>
        <p:sp>
          <p:nvSpPr>
            <p:cNvPr name="TextBox 9" id="9"/>
            <p:cNvSpPr txBox="true"/>
            <p:nvPr/>
          </p:nvSpPr>
          <p:spPr>
            <a:xfrm>
              <a:off x="0" y="-47625"/>
              <a:ext cx="16097593" cy="1151852"/>
            </a:xfrm>
            <a:prstGeom prst="rect">
              <a:avLst/>
            </a:prstGeom>
          </p:spPr>
          <p:txBody>
            <a:bodyPr anchor="ctr" rtlCol="false" tIns="0" lIns="0" bIns="0" rIns="0"/>
            <a:lstStyle/>
            <a:p>
              <a:pPr algn="ctr">
                <a:lnSpc>
                  <a:spcPts val="3890"/>
                </a:lnSpc>
              </a:pPr>
              <a:r>
                <a:rPr lang="en-US" sz="2778" spc="224">
                  <a:solidFill>
                    <a:srgbClr val="000000"/>
                  </a:solidFill>
                  <a:latin typeface="Open Sans"/>
                  <a:ea typeface="Open Sans"/>
                  <a:cs typeface="Open Sans"/>
                  <a:sym typeface="Open Sans"/>
                </a:rPr>
                <a:t>    Protecting Sri Lankan Job Seekers Through Intelligent AI</a:t>
              </a:r>
            </a:p>
          </p:txBody>
        </p:sp>
      </p:grpSp>
      <p:grpSp>
        <p:nvGrpSpPr>
          <p:cNvPr name="Group 10" id="10"/>
          <p:cNvGrpSpPr/>
          <p:nvPr/>
        </p:nvGrpSpPr>
        <p:grpSpPr>
          <a:xfrm rot="0">
            <a:off x="5285791" y="5440785"/>
            <a:ext cx="563156" cy="294951"/>
            <a:chOff x="0" y="0"/>
            <a:chExt cx="750875" cy="393268"/>
          </a:xfrm>
        </p:grpSpPr>
        <p:sp>
          <p:nvSpPr>
            <p:cNvPr name="Freeform 11" id="11"/>
            <p:cNvSpPr/>
            <p:nvPr/>
          </p:nvSpPr>
          <p:spPr>
            <a:xfrm flipH="false" flipV="false" rot="0">
              <a:off x="0" y="0"/>
              <a:ext cx="750824" cy="393319"/>
            </a:xfrm>
            <a:custGeom>
              <a:avLst/>
              <a:gdLst/>
              <a:ahLst/>
              <a:cxnLst/>
              <a:rect r="r" b="b" t="t" l="l"/>
              <a:pathLst>
                <a:path h="393319" w="750824">
                  <a:moveTo>
                    <a:pt x="0" y="0"/>
                  </a:moveTo>
                  <a:lnTo>
                    <a:pt x="750824" y="0"/>
                  </a:lnTo>
                  <a:lnTo>
                    <a:pt x="750824" y="393319"/>
                  </a:lnTo>
                  <a:lnTo>
                    <a:pt x="0" y="393319"/>
                  </a:lnTo>
                  <a:lnTo>
                    <a:pt x="0" y="0"/>
                  </a:lnTo>
                  <a:close/>
                </a:path>
              </a:pathLst>
            </a:custGeom>
            <a:blipFill>
              <a:blip r:embed="rId8"/>
              <a:stretch>
                <a:fillRect l="-6" t="0" r="-15" b="12"/>
              </a:stretch>
            </a:blipFill>
          </p:spPr>
        </p:sp>
      </p:grpSp>
      <p:grpSp>
        <p:nvGrpSpPr>
          <p:cNvPr name="Group 12" id="12"/>
          <p:cNvGrpSpPr/>
          <p:nvPr/>
        </p:nvGrpSpPr>
        <p:grpSpPr>
          <a:xfrm rot="0">
            <a:off x="242248" y="1028700"/>
            <a:ext cx="4159291" cy="5632847"/>
            <a:chOff x="0" y="0"/>
            <a:chExt cx="5545722" cy="7510462"/>
          </a:xfrm>
        </p:grpSpPr>
        <p:sp>
          <p:nvSpPr>
            <p:cNvPr name="Freeform 13" id="13"/>
            <p:cNvSpPr/>
            <p:nvPr/>
          </p:nvSpPr>
          <p:spPr>
            <a:xfrm flipH="false" flipV="false" rot="0">
              <a:off x="0" y="0"/>
              <a:ext cx="5545709" cy="7510399"/>
            </a:xfrm>
            <a:custGeom>
              <a:avLst/>
              <a:gdLst/>
              <a:ahLst/>
              <a:cxnLst/>
              <a:rect r="r" b="b" t="t" l="l"/>
              <a:pathLst>
                <a:path h="7510399" w="5545709">
                  <a:moveTo>
                    <a:pt x="0" y="0"/>
                  </a:moveTo>
                  <a:lnTo>
                    <a:pt x="5545709" y="0"/>
                  </a:lnTo>
                  <a:lnTo>
                    <a:pt x="5545709" y="7510399"/>
                  </a:lnTo>
                  <a:lnTo>
                    <a:pt x="0" y="7510399"/>
                  </a:lnTo>
                  <a:lnTo>
                    <a:pt x="0" y="0"/>
                  </a:lnTo>
                  <a:close/>
                </a:path>
              </a:pathLst>
            </a:custGeom>
            <a:blipFill>
              <a:blip r:embed="rId9"/>
              <a:stretch>
                <a:fillRect l="-74142" t="0" r="-74142" b="0"/>
              </a:stretch>
            </a:blipFill>
          </p:spPr>
        </p:sp>
      </p:grpSp>
      <p:sp>
        <p:nvSpPr>
          <p:cNvPr name="Freeform 14" id="14"/>
          <p:cNvSpPr/>
          <p:nvPr/>
        </p:nvSpPr>
        <p:spPr>
          <a:xfrm flipH="false" flipV="false" rot="0">
            <a:off x="4561742" y="10146392"/>
            <a:ext cx="4582258" cy="281207"/>
          </a:xfrm>
          <a:custGeom>
            <a:avLst/>
            <a:gdLst/>
            <a:ahLst/>
            <a:cxnLst/>
            <a:rect r="r" b="b" t="t" l="l"/>
            <a:pathLst>
              <a:path h="281207" w="4582258">
                <a:moveTo>
                  <a:pt x="0" y="0"/>
                </a:moveTo>
                <a:lnTo>
                  <a:pt x="4582258" y="0"/>
                </a:lnTo>
                <a:lnTo>
                  <a:pt x="4582258" y="281207"/>
                </a:lnTo>
                <a:lnTo>
                  <a:pt x="0" y="281207"/>
                </a:lnTo>
                <a:lnTo>
                  <a:pt x="0" y="0"/>
                </a:lnTo>
                <a:close/>
              </a:path>
            </a:pathLst>
          </a:custGeom>
          <a:blipFill>
            <a:blip r:embed="rId5">
              <a:extLst>
                <a:ext uri="{96DAC541-7B7A-43D3-8B79-37D633B846F1}">
                  <asvg:svgBlip xmlns:asvg="http://schemas.microsoft.com/office/drawing/2016/SVG/main" r:embed="rId6"/>
                </a:ext>
              </a:extLst>
            </a:blip>
            <a:stretch>
              <a:fillRect l="0" t="-107201" r="0" b="-107204"/>
            </a:stretch>
          </a:blipFill>
        </p:spPr>
      </p:sp>
      <p:sp>
        <p:nvSpPr>
          <p:cNvPr name="Freeform 15" id="15"/>
          <p:cNvSpPr/>
          <p:nvPr/>
        </p:nvSpPr>
        <p:spPr>
          <a:xfrm flipH="false" flipV="false" rot="0">
            <a:off x="9091603" y="10146392"/>
            <a:ext cx="4582258" cy="281207"/>
          </a:xfrm>
          <a:custGeom>
            <a:avLst/>
            <a:gdLst/>
            <a:ahLst/>
            <a:cxnLst/>
            <a:rect r="r" b="b" t="t" l="l"/>
            <a:pathLst>
              <a:path h="281207" w="4582258">
                <a:moveTo>
                  <a:pt x="0" y="0"/>
                </a:moveTo>
                <a:lnTo>
                  <a:pt x="4582258" y="0"/>
                </a:lnTo>
                <a:lnTo>
                  <a:pt x="4582258" y="281207"/>
                </a:lnTo>
                <a:lnTo>
                  <a:pt x="0" y="281207"/>
                </a:lnTo>
                <a:lnTo>
                  <a:pt x="0" y="0"/>
                </a:lnTo>
                <a:close/>
              </a:path>
            </a:pathLst>
          </a:custGeom>
          <a:blipFill>
            <a:blip r:embed="rId5">
              <a:extLst>
                <a:ext uri="{96DAC541-7B7A-43D3-8B79-37D633B846F1}">
                  <asvg:svgBlip xmlns:asvg="http://schemas.microsoft.com/office/drawing/2016/SVG/main" r:embed="rId6"/>
                </a:ext>
              </a:extLst>
            </a:blip>
            <a:stretch>
              <a:fillRect l="0" t="-107201" r="0" b="-107204"/>
            </a:stretch>
          </a:blipFill>
        </p:spPr>
      </p:sp>
      <p:sp>
        <p:nvSpPr>
          <p:cNvPr name="Freeform 16" id="16"/>
          <p:cNvSpPr/>
          <p:nvPr/>
        </p:nvSpPr>
        <p:spPr>
          <a:xfrm flipH="false" flipV="false" rot="0">
            <a:off x="13705742" y="10146392"/>
            <a:ext cx="4582258" cy="281207"/>
          </a:xfrm>
          <a:custGeom>
            <a:avLst/>
            <a:gdLst/>
            <a:ahLst/>
            <a:cxnLst/>
            <a:rect r="r" b="b" t="t" l="l"/>
            <a:pathLst>
              <a:path h="281207" w="4582258">
                <a:moveTo>
                  <a:pt x="0" y="0"/>
                </a:moveTo>
                <a:lnTo>
                  <a:pt x="4582258" y="0"/>
                </a:lnTo>
                <a:lnTo>
                  <a:pt x="4582258" y="281207"/>
                </a:lnTo>
                <a:lnTo>
                  <a:pt x="0" y="281207"/>
                </a:lnTo>
                <a:lnTo>
                  <a:pt x="0" y="0"/>
                </a:lnTo>
                <a:close/>
              </a:path>
            </a:pathLst>
          </a:custGeom>
          <a:blipFill>
            <a:blip r:embed="rId5">
              <a:extLst>
                <a:ext uri="{96DAC541-7B7A-43D3-8B79-37D633B846F1}">
                  <asvg:svgBlip xmlns:asvg="http://schemas.microsoft.com/office/drawing/2016/SVG/main" r:embed="rId6"/>
                </a:ext>
              </a:extLst>
            </a:blip>
            <a:stretch>
              <a:fillRect l="0" t="-107201" r="0" b="-107204"/>
            </a:stretch>
          </a:blipFill>
        </p:spPr>
      </p:sp>
      <p:sp>
        <p:nvSpPr>
          <p:cNvPr name="TextBox 17" id="17"/>
          <p:cNvSpPr txBox="true"/>
          <p:nvPr/>
        </p:nvSpPr>
        <p:spPr>
          <a:xfrm rot="0">
            <a:off x="4897335" y="1463107"/>
            <a:ext cx="10762821" cy="2382012"/>
          </a:xfrm>
          <a:prstGeom prst="rect">
            <a:avLst/>
          </a:prstGeom>
        </p:spPr>
        <p:txBody>
          <a:bodyPr anchor="t" rtlCol="false" tIns="0" lIns="0" bIns="0" rIns="0">
            <a:spAutoFit/>
          </a:bodyPr>
          <a:lstStyle/>
          <a:p>
            <a:pPr algn="l">
              <a:lnSpc>
                <a:spcPts val="9022"/>
              </a:lnSpc>
            </a:pPr>
            <a:r>
              <a:rPr lang="en-US" sz="6398" spc="236">
                <a:solidFill>
                  <a:srgbClr val="000000"/>
                </a:solidFill>
                <a:latin typeface="League Spartan"/>
                <a:ea typeface="League Spartan"/>
                <a:cs typeface="League Spartan"/>
                <a:sym typeface="League Spartan"/>
              </a:rPr>
              <a:t>AI-POWERED JOB SCAM</a:t>
            </a:r>
          </a:p>
          <a:p>
            <a:pPr algn="l">
              <a:lnSpc>
                <a:spcPts val="9022"/>
              </a:lnSpc>
            </a:pPr>
            <a:r>
              <a:rPr lang="en-US" sz="6398" spc="236">
                <a:solidFill>
                  <a:srgbClr val="000000"/>
                </a:solidFill>
                <a:latin typeface="League Spartan"/>
                <a:ea typeface="League Spartan"/>
                <a:cs typeface="League Spartan"/>
                <a:sym typeface="League Spartan"/>
              </a:rPr>
              <a:t>DETECTION ECOSYSTEM</a:t>
            </a:r>
          </a:p>
        </p:txBody>
      </p:sp>
      <p:sp>
        <p:nvSpPr>
          <p:cNvPr name="TextBox 18" id="18"/>
          <p:cNvSpPr txBox="true"/>
          <p:nvPr/>
        </p:nvSpPr>
        <p:spPr>
          <a:xfrm rot="0">
            <a:off x="4897335" y="4030437"/>
            <a:ext cx="12778721" cy="1005554"/>
          </a:xfrm>
          <a:prstGeom prst="rect">
            <a:avLst/>
          </a:prstGeom>
        </p:spPr>
        <p:txBody>
          <a:bodyPr anchor="t" rtlCol="false" tIns="0" lIns="0" bIns="0" rIns="0">
            <a:spAutoFit/>
          </a:bodyPr>
          <a:lstStyle/>
          <a:p>
            <a:pPr algn="l">
              <a:lnSpc>
                <a:spcPts val="3890"/>
              </a:lnSpc>
            </a:pPr>
            <a:r>
              <a:rPr lang="en-US" sz="2778" spc="224">
                <a:solidFill>
                  <a:srgbClr val="000000"/>
                </a:solidFill>
                <a:latin typeface="Open Sans"/>
                <a:ea typeface="Open Sans"/>
                <a:cs typeface="Open Sans"/>
                <a:sym typeface="Open Sans"/>
              </a:rPr>
              <a:t>A Multi-Model Framework for Fake Job Detection, Employer Verification, Communication Analysis &amp; Explainable Risk Scoring</a:t>
            </a:r>
          </a:p>
        </p:txBody>
      </p:sp>
      <p:sp>
        <p:nvSpPr>
          <p:cNvPr name="TextBox 19" id="19"/>
          <p:cNvSpPr txBox="true"/>
          <p:nvPr/>
        </p:nvSpPr>
        <p:spPr>
          <a:xfrm rot="0">
            <a:off x="6032804" y="6898853"/>
            <a:ext cx="8812688" cy="1717166"/>
          </a:xfrm>
          <a:prstGeom prst="rect">
            <a:avLst/>
          </a:prstGeom>
        </p:spPr>
        <p:txBody>
          <a:bodyPr anchor="t" rtlCol="false" tIns="0" lIns="0" bIns="0" rIns="0">
            <a:spAutoFit/>
          </a:bodyPr>
          <a:lstStyle/>
          <a:p>
            <a:pPr algn="ctr">
              <a:lnSpc>
                <a:spcPts val="6909"/>
              </a:lnSpc>
            </a:pPr>
            <a:r>
              <a:rPr lang="en-US" b="true" sz="4900" spc="176">
                <a:solidFill>
                  <a:srgbClr val="1800AD"/>
                </a:solidFill>
                <a:latin typeface="League Spartan"/>
                <a:ea typeface="League Spartan"/>
                <a:cs typeface="League Spartan"/>
                <a:sym typeface="League Spartan"/>
              </a:rPr>
              <a:t>R26-SE-002</a:t>
            </a:r>
          </a:p>
          <a:p>
            <a:pPr algn="ctr">
              <a:lnSpc>
                <a:spcPts val="6909"/>
              </a:lnSpc>
            </a:pPr>
            <a:r>
              <a:rPr lang="en-US" b="true" sz="4900" spc="181">
                <a:solidFill>
                  <a:srgbClr val="1800AD"/>
                </a:solidFill>
                <a:latin typeface="League Spartan"/>
                <a:ea typeface="League Spartan"/>
                <a:cs typeface="League Spartan"/>
                <a:sym typeface="League Spartan"/>
              </a:rPr>
              <a:t>Final Presentation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5662" y="1300220"/>
            <a:ext cx="4745974" cy="128378"/>
          </a:xfrm>
          <a:custGeom>
            <a:avLst/>
            <a:gdLst/>
            <a:ahLst/>
            <a:cxnLst/>
            <a:rect r="r" b="b" t="t" l="l"/>
            <a:pathLst>
              <a:path h="128378" w="4745974">
                <a:moveTo>
                  <a:pt x="0" y="0"/>
                </a:moveTo>
                <a:lnTo>
                  <a:pt x="4745974" y="0"/>
                </a:lnTo>
                <a:lnTo>
                  <a:pt x="4745974" y="128378"/>
                </a:lnTo>
                <a:lnTo>
                  <a:pt x="0" y="128378"/>
                </a:lnTo>
                <a:lnTo>
                  <a:pt x="0" y="0"/>
                </a:lnTo>
                <a:close/>
              </a:path>
            </a:pathLst>
          </a:custGeom>
          <a:blipFill>
            <a:blip r:embed="rId2">
              <a:extLst>
                <a:ext uri="{96DAC541-7B7A-43D3-8B79-37D633B846F1}">
                  <asvg:svgBlip xmlns:asvg="http://schemas.microsoft.com/office/drawing/2016/SVG/main" r:embed="rId3"/>
                </a:ext>
              </a:extLst>
            </a:blip>
            <a:stretch>
              <a:fillRect l="0" t="-157441" r="0" b="-157434"/>
            </a:stretch>
          </a:blipFill>
        </p:spPr>
      </p:sp>
      <p:grpSp>
        <p:nvGrpSpPr>
          <p:cNvPr name="Group 3" id="3"/>
          <p:cNvGrpSpPr/>
          <p:nvPr/>
        </p:nvGrpSpPr>
        <p:grpSpPr>
          <a:xfrm rot="0">
            <a:off x="0" y="9324713"/>
            <a:ext cx="3359514" cy="971426"/>
            <a:chOff x="0" y="0"/>
            <a:chExt cx="4743450" cy="1371600"/>
          </a:xfrm>
        </p:grpSpPr>
        <p:sp>
          <p:nvSpPr>
            <p:cNvPr name="Freeform 4" id="4"/>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4"/>
              <a:stretch>
                <a:fillRect l="0" t="-11864" r="0" b="-11860"/>
              </a:stretch>
            </a:blipFill>
          </p:spPr>
        </p:sp>
      </p:grpSp>
      <p:sp>
        <p:nvSpPr>
          <p:cNvPr name="TextBox 5" id="5"/>
          <p:cNvSpPr txBox="true"/>
          <p:nvPr/>
        </p:nvSpPr>
        <p:spPr>
          <a:xfrm rot="0">
            <a:off x="8360092" y="9925912"/>
            <a:ext cx="3270066" cy="370227"/>
          </a:xfrm>
          <a:prstGeom prst="rect">
            <a:avLst/>
          </a:prstGeom>
        </p:spPr>
        <p:txBody>
          <a:bodyPr anchor="t" rtlCol="false" tIns="0" lIns="0" bIns="0" rIns="0">
            <a:spAutoFit/>
          </a:bodyPr>
          <a:lstStyle/>
          <a:p>
            <a:pPr algn="l">
              <a:lnSpc>
                <a:spcPts val="2879"/>
              </a:lnSpc>
            </a:pPr>
            <a:r>
              <a:rPr lang="en-US" sz="2400" b="true">
                <a:solidFill>
                  <a:srgbClr val="002060"/>
                </a:solidFill>
                <a:latin typeface="Aptos Bold"/>
                <a:ea typeface="Aptos Bold"/>
                <a:cs typeface="Aptos Bold"/>
                <a:sym typeface="Aptos Bold"/>
              </a:rPr>
              <a:t>R26-SE-002</a:t>
            </a:r>
          </a:p>
        </p:txBody>
      </p:sp>
      <p:sp>
        <p:nvSpPr>
          <p:cNvPr name="TextBox 6" id="6"/>
          <p:cNvSpPr txBox="true"/>
          <p:nvPr/>
        </p:nvSpPr>
        <p:spPr>
          <a:xfrm rot="0">
            <a:off x="345662" y="-5625"/>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grpSp>
        <p:nvGrpSpPr>
          <p:cNvPr name="Group 7" id="7"/>
          <p:cNvGrpSpPr/>
          <p:nvPr/>
        </p:nvGrpSpPr>
        <p:grpSpPr>
          <a:xfrm rot="0">
            <a:off x="345662" y="378847"/>
            <a:ext cx="14461389" cy="1659350"/>
            <a:chOff x="0" y="0"/>
            <a:chExt cx="19281852" cy="2212467"/>
          </a:xfrm>
        </p:grpSpPr>
        <p:sp>
          <p:nvSpPr>
            <p:cNvPr name="Freeform 8" id="8"/>
            <p:cNvSpPr/>
            <p:nvPr/>
          </p:nvSpPr>
          <p:spPr>
            <a:xfrm flipH="false" flipV="false" rot="0">
              <a:off x="0" y="0"/>
              <a:ext cx="19281857" cy="2212469"/>
            </a:xfrm>
            <a:custGeom>
              <a:avLst/>
              <a:gdLst/>
              <a:ahLst/>
              <a:cxnLst/>
              <a:rect r="r" b="b" t="t" l="l"/>
              <a:pathLst>
                <a:path h="2212469" w="19281857">
                  <a:moveTo>
                    <a:pt x="0" y="0"/>
                  </a:moveTo>
                  <a:lnTo>
                    <a:pt x="19281857" y="0"/>
                  </a:lnTo>
                  <a:lnTo>
                    <a:pt x="19281857" y="2212469"/>
                  </a:lnTo>
                  <a:lnTo>
                    <a:pt x="0" y="2212469"/>
                  </a:lnTo>
                  <a:close/>
                </a:path>
              </a:pathLst>
            </a:custGeom>
            <a:blipFill>
              <a:blip r:embed="rId5">
                <a:alphaModFix amt="0"/>
              </a:blip>
              <a:stretch>
                <a:fillRect l="0" t="-144284" r="-20247" b="-164110"/>
              </a:stretch>
            </a:blipFill>
          </p:spPr>
        </p:sp>
        <p:sp>
          <p:nvSpPr>
            <p:cNvPr name="TextBox 9" id="9"/>
            <p:cNvSpPr txBox="true"/>
            <p:nvPr/>
          </p:nvSpPr>
          <p:spPr>
            <a:xfrm>
              <a:off x="0" y="47625"/>
              <a:ext cx="19281852" cy="2164842"/>
            </a:xfrm>
            <a:prstGeom prst="rect">
              <a:avLst/>
            </a:prstGeom>
          </p:spPr>
          <p:txBody>
            <a:bodyPr anchor="ctr" rtlCol="false" tIns="0" lIns="0" bIns="0" rIns="0"/>
            <a:lstStyle/>
            <a:p>
              <a:pPr algn="l">
                <a:lnSpc>
                  <a:spcPts val="5508"/>
                </a:lnSpc>
              </a:pPr>
              <a:r>
                <a:rPr lang="en-US" sz="5100" b="true">
                  <a:solidFill>
                    <a:srgbClr val="002060"/>
                  </a:solidFill>
                  <a:latin typeface="Aptos Bold"/>
                  <a:ea typeface="Aptos Bold"/>
                  <a:cs typeface="Aptos Bold"/>
                  <a:sym typeface="Aptos Bold"/>
                </a:rPr>
                <a:t>Panel Comments on PP2 and How We Addressed</a:t>
              </a:r>
            </a:p>
            <a:p>
              <a:pPr algn="l">
                <a:lnSpc>
                  <a:spcPts val="5508"/>
                </a:lnSpc>
              </a:pPr>
            </a:p>
          </p:txBody>
        </p:sp>
      </p:grpSp>
      <p:grpSp>
        <p:nvGrpSpPr>
          <p:cNvPr name="Group 10" id="10"/>
          <p:cNvGrpSpPr/>
          <p:nvPr/>
        </p:nvGrpSpPr>
        <p:grpSpPr>
          <a:xfrm rot="0">
            <a:off x="762000" y="1695298"/>
            <a:ext cx="16764000" cy="666750"/>
            <a:chOff x="0" y="0"/>
            <a:chExt cx="22352000" cy="889000"/>
          </a:xfrm>
        </p:grpSpPr>
        <p:sp>
          <p:nvSpPr>
            <p:cNvPr name="Freeform 11" id="11"/>
            <p:cNvSpPr/>
            <p:nvPr/>
          </p:nvSpPr>
          <p:spPr>
            <a:xfrm flipH="false" flipV="false" rot="0">
              <a:off x="0" y="0"/>
              <a:ext cx="22352000" cy="889000"/>
            </a:xfrm>
            <a:custGeom>
              <a:avLst/>
              <a:gdLst/>
              <a:ahLst/>
              <a:cxnLst/>
              <a:rect r="r" b="b" t="t" l="l"/>
              <a:pathLst>
                <a:path h="889000" w="22352000">
                  <a:moveTo>
                    <a:pt x="0" y="203200"/>
                  </a:moveTo>
                  <a:cubicBezTo>
                    <a:pt x="0" y="90932"/>
                    <a:pt x="90932" y="0"/>
                    <a:pt x="203200" y="0"/>
                  </a:cubicBezTo>
                  <a:lnTo>
                    <a:pt x="22148800" y="0"/>
                  </a:lnTo>
                  <a:cubicBezTo>
                    <a:pt x="22261068" y="0"/>
                    <a:pt x="22352000" y="90932"/>
                    <a:pt x="22352000" y="203200"/>
                  </a:cubicBezTo>
                  <a:lnTo>
                    <a:pt x="22352000" y="685800"/>
                  </a:lnTo>
                  <a:cubicBezTo>
                    <a:pt x="22352000" y="798068"/>
                    <a:pt x="22261068" y="889000"/>
                    <a:pt x="22148800" y="889000"/>
                  </a:cubicBezTo>
                  <a:lnTo>
                    <a:pt x="203200" y="889000"/>
                  </a:lnTo>
                  <a:cubicBezTo>
                    <a:pt x="90932" y="889000"/>
                    <a:pt x="0" y="798068"/>
                    <a:pt x="0" y="685800"/>
                  </a:cubicBezTo>
                  <a:close/>
                </a:path>
              </a:pathLst>
            </a:custGeom>
            <a:solidFill>
              <a:srgbClr val="0F1F3D"/>
            </a:solidFill>
          </p:spPr>
        </p:sp>
      </p:grpSp>
      <p:sp>
        <p:nvSpPr>
          <p:cNvPr name="TextBox 12" id="12"/>
          <p:cNvSpPr txBox="true"/>
          <p:nvPr/>
        </p:nvSpPr>
        <p:spPr>
          <a:xfrm rot="0">
            <a:off x="1009650" y="1781023"/>
            <a:ext cx="2533650" cy="485775"/>
          </a:xfrm>
          <a:prstGeom prst="rect">
            <a:avLst/>
          </a:prstGeom>
        </p:spPr>
        <p:txBody>
          <a:bodyPr anchor="t" rtlCol="false" tIns="0" lIns="0" bIns="0" rIns="0">
            <a:spAutoFit/>
          </a:bodyPr>
          <a:lstStyle/>
          <a:p>
            <a:pPr algn="l">
              <a:lnSpc>
                <a:spcPts val="3149"/>
              </a:lnSpc>
            </a:pPr>
            <a:r>
              <a:rPr lang="en-US" sz="2250" b="true">
                <a:solidFill>
                  <a:srgbClr val="FFFFFF"/>
                </a:solidFill>
                <a:latin typeface="DM Sans Bold"/>
                <a:ea typeface="DM Sans Bold"/>
                <a:cs typeface="DM Sans Bold"/>
                <a:sym typeface="DM Sans Bold"/>
              </a:rPr>
              <a:t>Student ID</a:t>
            </a:r>
          </a:p>
        </p:txBody>
      </p:sp>
      <p:sp>
        <p:nvSpPr>
          <p:cNvPr name="TextBox 13" id="13"/>
          <p:cNvSpPr txBox="true"/>
          <p:nvPr/>
        </p:nvSpPr>
        <p:spPr>
          <a:xfrm rot="0">
            <a:off x="3962400" y="1781023"/>
            <a:ext cx="4395216" cy="485775"/>
          </a:xfrm>
          <a:prstGeom prst="rect">
            <a:avLst/>
          </a:prstGeom>
        </p:spPr>
        <p:txBody>
          <a:bodyPr anchor="t" rtlCol="false" tIns="0" lIns="0" bIns="0" rIns="0">
            <a:spAutoFit/>
          </a:bodyPr>
          <a:lstStyle/>
          <a:p>
            <a:pPr algn="l">
              <a:lnSpc>
                <a:spcPts val="3149"/>
              </a:lnSpc>
            </a:pPr>
            <a:r>
              <a:rPr lang="en-US" sz="2250" b="true">
                <a:solidFill>
                  <a:srgbClr val="FFFFFF"/>
                </a:solidFill>
                <a:latin typeface="DM Sans Bold"/>
                <a:ea typeface="DM Sans Bold"/>
                <a:cs typeface="DM Sans Bold"/>
                <a:sym typeface="DM Sans Bold"/>
              </a:rPr>
              <a:t>Panel comments</a:t>
            </a:r>
          </a:p>
        </p:txBody>
      </p:sp>
      <p:sp>
        <p:nvSpPr>
          <p:cNvPr name="TextBox 14" id="14"/>
          <p:cNvSpPr txBox="true"/>
          <p:nvPr/>
        </p:nvSpPr>
        <p:spPr>
          <a:xfrm rot="0">
            <a:off x="8724900" y="1781023"/>
            <a:ext cx="8810054" cy="485775"/>
          </a:xfrm>
          <a:prstGeom prst="rect">
            <a:avLst/>
          </a:prstGeom>
        </p:spPr>
        <p:txBody>
          <a:bodyPr anchor="t" rtlCol="false" tIns="0" lIns="0" bIns="0" rIns="0">
            <a:spAutoFit/>
          </a:bodyPr>
          <a:lstStyle/>
          <a:p>
            <a:pPr algn="l">
              <a:lnSpc>
                <a:spcPts val="3149"/>
              </a:lnSpc>
            </a:pPr>
            <a:r>
              <a:rPr lang="en-US" sz="2250" b="true">
                <a:solidFill>
                  <a:srgbClr val="F2B544"/>
                </a:solidFill>
                <a:latin typeface="DM Sans Bold"/>
                <a:ea typeface="DM Sans Bold"/>
                <a:cs typeface="DM Sans Bold"/>
                <a:sym typeface="DM Sans Bold"/>
              </a:rPr>
              <a:t>Action and evidence</a:t>
            </a:r>
          </a:p>
        </p:txBody>
      </p:sp>
      <p:grpSp>
        <p:nvGrpSpPr>
          <p:cNvPr name="Group 15" id="15"/>
          <p:cNvGrpSpPr/>
          <p:nvPr/>
        </p:nvGrpSpPr>
        <p:grpSpPr>
          <a:xfrm rot="0">
            <a:off x="762000" y="2495398"/>
            <a:ext cx="16764000" cy="986580"/>
            <a:chOff x="0" y="0"/>
            <a:chExt cx="22352000" cy="1315441"/>
          </a:xfrm>
        </p:grpSpPr>
        <p:sp>
          <p:nvSpPr>
            <p:cNvPr name="Freeform 16" id="16"/>
            <p:cNvSpPr/>
            <p:nvPr/>
          </p:nvSpPr>
          <p:spPr>
            <a:xfrm flipH="false" flipV="false" rot="0">
              <a:off x="0" y="0"/>
              <a:ext cx="22352000" cy="1315466"/>
            </a:xfrm>
            <a:custGeom>
              <a:avLst/>
              <a:gdLst/>
              <a:ahLst/>
              <a:cxnLst/>
              <a:rect r="r" b="b" t="t" l="l"/>
              <a:pathLst>
                <a:path h="1315466" w="22352000">
                  <a:moveTo>
                    <a:pt x="0" y="198755"/>
                  </a:moveTo>
                  <a:cubicBezTo>
                    <a:pt x="0" y="89027"/>
                    <a:pt x="89027" y="0"/>
                    <a:pt x="198755" y="0"/>
                  </a:cubicBezTo>
                  <a:lnTo>
                    <a:pt x="22153245" y="0"/>
                  </a:lnTo>
                  <a:cubicBezTo>
                    <a:pt x="22262973" y="0"/>
                    <a:pt x="22352000" y="89027"/>
                    <a:pt x="22352000" y="198755"/>
                  </a:cubicBezTo>
                  <a:lnTo>
                    <a:pt x="22352000" y="1116711"/>
                  </a:lnTo>
                  <a:cubicBezTo>
                    <a:pt x="22352000" y="1226439"/>
                    <a:pt x="22262973" y="1315466"/>
                    <a:pt x="22153245" y="1315466"/>
                  </a:cubicBezTo>
                  <a:lnTo>
                    <a:pt x="198755" y="1315466"/>
                  </a:lnTo>
                  <a:cubicBezTo>
                    <a:pt x="89027" y="1315466"/>
                    <a:pt x="0" y="1226439"/>
                    <a:pt x="0" y="1116711"/>
                  </a:cubicBezTo>
                  <a:close/>
                </a:path>
              </a:pathLst>
            </a:custGeom>
            <a:solidFill>
              <a:srgbClr val="F2F5FA"/>
            </a:solidFill>
            <a:ln w="9525" cap="sq">
              <a:solidFill>
                <a:srgbClr val="D5DEEE"/>
              </a:solidFill>
              <a:prstDash val="solid"/>
              <a:miter/>
            </a:ln>
          </p:spPr>
        </p:sp>
      </p:grpSp>
      <p:sp>
        <p:nvSpPr>
          <p:cNvPr name="TextBox 17" id="17"/>
          <p:cNvSpPr txBox="true"/>
          <p:nvPr/>
        </p:nvSpPr>
        <p:spPr>
          <a:xfrm rot="0">
            <a:off x="1019175" y="2571598"/>
            <a:ext cx="2533650" cy="458991"/>
          </a:xfrm>
          <a:prstGeom prst="rect">
            <a:avLst/>
          </a:prstGeom>
        </p:spPr>
        <p:txBody>
          <a:bodyPr anchor="t" rtlCol="false" tIns="0" lIns="0" bIns="0" rIns="0">
            <a:spAutoFit/>
          </a:bodyPr>
          <a:lstStyle/>
          <a:p>
            <a:pPr algn="l">
              <a:lnSpc>
                <a:spcPts val="2940"/>
              </a:lnSpc>
            </a:pPr>
            <a:r>
              <a:rPr lang="en-US" sz="2100" b="true">
                <a:solidFill>
                  <a:srgbClr val="0F1F3D"/>
                </a:solidFill>
                <a:latin typeface="DM Sans Bold"/>
                <a:ea typeface="DM Sans Bold"/>
                <a:cs typeface="DM Sans Bold"/>
                <a:sym typeface="DM Sans Bold"/>
              </a:rPr>
              <a:t>Kajanthan U</a:t>
            </a:r>
          </a:p>
        </p:txBody>
      </p:sp>
      <p:sp>
        <p:nvSpPr>
          <p:cNvPr name="TextBox 18" id="18"/>
          <p:cNvSpPr txBox="true"/>
          <p:nvPr/>
        </p:nvSpPr>
        <p:spPr>
          <a:xfrm rot="0">
            <a:off x="1019175" y="2982963"/>
            <a:ext cx="2533650" cy="413299"/>
          </a:xfrm>
          <a:prstGeom prst="rect">
            <a:avLst/>
          </a:prstGeom>
        </p:spPr>
        <p:txBody>
          <a:bodyPr anchor="t" rtlCol="false" tIns="0" lIns="0" bIns="0" rIns="0">
            <a:spAutoFit/>
          </a:bodyPr>
          <a:lstStyle/>
          <a:p>
            <a:pPr algn="l">
              <a:lnSpc>
                <a:spcPts val="2729"/>
              </a:lnSpc>
            </a:pPr>
            <a:r>
              <a:rPr lang="en-US" sz="1950" b="true">
                <a:solidFill>
                  <a:srgbClr val="1A4FA0"/>
                </a:solidFill>
                <a:latin typeface="DM Sans Bold"/>
                <a:ea typeface="DM Sans Bold"/>
                <a:cs typeface="DM Sans Bold"/>
                <a:sym typeface="DM Sans Bold"/>
              </a:rPr>
              <a:t>IT22224002</a:t>
            </a:r>
          </a:p>
        </p:txBody>
      </p:sp>
      <p:sp>
        <p:nvSpPr>
          <p:cNvPr name="TextBox 19" id="19"/>
          <p:cNvSpPr txBox="true"/>
          <p:nvPr/>
        </p:nvSpPr>
        <p:spPr>
          <a:xfrm rot="0">
            <a:off x="3971925" y="2818209"/>
            <a:ext cx="4395216" cy="369541"/>
          </a:xfrm>
          <a:prstGeom prst="rect">
            <a:avLst/>
          </a:prstGeom>
        </p:spPr>
        <p:txBody>
          <a:bodyPr anchor="t" rtlCol="false" tIns="0" lIns="0" bIns="0" rIns="0">
            <a:spAutoFit/>
          </a:bodyPr>
          <a:lstStyle/>
          <a:p>
            <a:pPr algn="l">
              <a:lnSpc>
                <a:spcPts val="2535"/>
              </a:lnSpc>
            </a:pPr>
            <a:r>
              <a:rPr lang="en-US" sz="1950">
                <a:solidFill>
                  <a:srgbClr val="2A3752"/>
                </a:solidFill>
                <a:latin typeface="DM Sans"/>
                <a:ea typeface="DM Sans"/>
                <a:cs typeface="DM Sans"/>
                <a:sym typeface="DM Sans"/>
              </a:rPr>
              <a:t>“Explained well”</a:t>
            </a:r>
          </a:p>
        </p:txBody>
      </p:sp>
      <p:sp>
        <p:nvSpPr>
          <p:cNvPr name="TextBox 20" id="20"/>
          <p:cNvSpPr txBox="true"/>
          <p:nvPr/>
        </p:nvSpPr>
        <p:spPr>
          <a:xfrm rot="0">
            <a:off x="8734425" y="2790530"/>
            <a:ext cx="8790432" cy="396183"/>
          </a:xfrm>
          <a:prstGeom prst="rect">
            <a:avLst/>
          </a:prstGeom>
        </p:spPr>
        <p:txBody>
          <a:bodyPr anchor="t" rtlCol="false" tIns="0" lIns="0" bIns="0" rIns="0">
            <a:spAutoFit/>
          </a:bodyPr>
          <a:lstStyle/>
          <a:p>
            <a:pPr algn="l">
              <a:lnSpc>
                <a:spcPts val="2520"/>
              </a:lnSpc>
            </a:pPr>
            <a:r>
              <a:rPr lang="en-US" sz="1800">
                <a:solidFill>
                  <a:srgbClr val="5B6B8C"/>
                </a:solidFill>
                <a:latin typeface="DM Sans"/>
                <a:ea typeface="DM Sans"/>
                <a:cs typeface="DM Sans"/>
                <a:sym typeface="DM Sans"/>
              </a:rPr>
              <a:t>No action needed.</a:t>
            </a:r>
          </a:p>
        </p:txBody>
      </p:sp>
      <p:grpSp>
        <p:nvGrpSpPr>
          <p:cNvPr name="Group 21" id="21"/>
          <p:cNvGrpSpPr/>
          <p:nvPr/>
        </p:nvGrpSpPr>
        <p:grpSpPr>
          <a:xfrm rot="0">
            <a:off x="762000" y="3615338"/>
            <a:ext cx="16764000" cy="986580"/>
            <a:chOff x="0" y="0"/>
            <a:chExt cx="22352000" cy="1315441"/>
          </a:xfrm>
        </p:grpSpPr>
        <p:sp>
          <p:nvSpPr>
            <p:cNvPr name="Freeform 22" id="22"/>
            <p:cNvSpPr/>
            <p:nvPr/>
          </p:nvSpPr>
          <p:spPr>
            <a:xfrm flipH="false" flipV="false" rot="0">
              <a:off x="0" y="0"/>
              <a:ext cx="22352000" cy="1315466"/>
            </a:xfrm>
            <a:custGeom>
              <a:avLst/>
              <a:gdLst/>
              <a:ahLst/>
              <a:cxnLst/>
              <a:rect r="r" b="b" t="t" l="l"/>
              <a:pathLst>
                <a:path h="1315466" w="22352000">
                  <a:moveTo>
                    <a:pt x="0" y="198755"/>
                  </a:moveTo>
                  <a:cubicBezTo>
                    <a:pt x="0" y="89027"/>
                    <a:pt x="89027" y="0"/>
                    <a:pt x="198755" y="0"/>
                  </a:cubicBezTo>
                  <a:lnTo>
                    <a:pt x="22153245" y="0"/>
                  </a:lnTo>
                  <a:cubicBezTo>
                    <a:pt x="22262973" y="0"/>
                    <a:pt x="22352000" y="89027"/>
                    <a:pt x="22352000" y="198755"/>
                  </a:cubicBezTo>
                  <a:lnTo>
                    <a:pt x="22352000" y="1116711"/>
                  </a:lnTo>
                  <a:cubicBezTo>
                    <a:pt x="22352000" y="1226439"/>
                    <a:pt x="22262973" y="1315466"/>
                    <a:pt x="22153245" y="1315466"/>
                  </a:cubicBezTo>
                  <a:lnTo>
                    <a:pt x="198755" y="1315466"/>
                  </a:lnTo>
                  <a:cubicBezTo>
                    <a:pt x="89027" y="1315466"/>
                    <a:pt x="0" y="1226439"/>
                    <a:pt x="0" y="1116711"/>
                  </a:cubicBezTo>
                  <a:close/>
                </a:path>
              </a:pathLst>
            </a:custGeom>
            <a:solidFill>
              <a:srgbClr val="FFFFFF"/>
            </a:solidFill>
            <a:ln w="9525" cap="sq">
              <a:solidFill>
                <a:srgbClr val="D5DEEE"/>
              </a:solidFill>
              <a:prstDash val="solid"/>
              <a:miter/>
            </a:ln>
          </p:spPr>
        </p:sp>
      </p:grpSp>
      <p:sp>
        <p:nvSpPr>
          <p:cNvPr name="TextBox 23" id="23"/>
          <p:cNvSpPr txBox="true"/>
          <p:nvPr/>
        </p:nvSpPr>
        <p:spPr>
          <a:xfrm rot="0">
            <a:off x="1019175" y="3691538"/>
            <a:ext cx="2533650" cy="458991"/>
          </a:xfrm>
          <a:prstGeom prst="rect">
            <a:avLst/>
          </a:prstGeom>
        </p:spPr>
        <p:txBody>
          <a:bodyPr anchor="t" rtlCol="false" tIns="0" lIns="0" bIns="0" rIns="0">
            <a:spAutoFit/>
          </a:bodyPr>
          <a:lstStyle/>
          <a:p>
            <a:pPr algn="l">
              <a:lnSpc>
                <a:spcPts val="2940"/>
              </a:lnSpc>
            </a:pPr>
            <a:r>
              <a:rPr lang="en-US" sz="2100" b="true">
                <a:solidFill>
                  <a:srgbClr val="0F1F3D"/>
                </a:solidFill>
                <a:latin typeface="DM Sans Bold"/>
                <a:ea typeface="DM Sans Bold"/>
                <a:cs typeface="DM Sans Bold"/>
                <a:sym typeface="DM Sans Bold"/>
              </a:rPr>
              <a:t>Santhosh S</a:t>
            </a:r>
          </a:p>
        </p:txBody>
      </p:sp>
      <p:sp>
        <p:nvSpPr>
          <p:cNvPr name="TextBox 24" id="24"/>
          <p:cNvSpPr txBox="true"/>
          <p:nvPr/>
        </p:nvSpPr>
        <p:spPr>
          <a:xfrm rot="0">
            <a:off x="1019175" y="4102894"/>
            <a:ext cx="2533650" cy="413299"/>
          </a:xfrm>
          <a:prstGeom prst="rect">
            <a:avLst/>
          </a:prstGeom>
        </p:spPr>
        <p:txBody>
          <a:bodyPr anchor="t" rtlCol="false" tIns="0" lIns="0" bIns="0" rIns="0">
            <a:spAutoFit/>
          </a:bodyPr>
          <a:lstStyle/>
          <a:p>
            <a:pPr algn="l">
              <a:lnSpc>
                <a:spcPts val="2729"/>
              </a:lnSpc>
            </a:pPr>
            <a:r>
              <a:rPr lang="en-US" sz="1950" b="true">
                <a:solidFill>
                  <a:srgbClr val="1A4FA0"/>
                </a:solidFill>
                <a:latin typeface="DM Sans Bold"/>
                <a:ea typeface="DM Sans Bold"/>
                <a:cs typeface="DM Sans Bold"/>
                <a:sym typeface="DM Sans Bold"/>
              </a:rPr>
              <a:t>IT22113740</a:t>
            </a:r>
          </a:p>
        </p:txBody>
      </p:sp>
      <p:sp>
        <p:nvSpPr>
          <p:cNvPr name="TextBox 25" id="25"/>
          <p:cNvSpPr txBox="true"/>
          <p:nvPr/>
        </p:nvSpPr>
        <p:spPr>
          <a:xfrm rot="0">
            <a:off x="3971925" y="3777110"/>
            <a:ext cx="4395216" cy="691458"/>
          </a:xfrm>
          <a:prstGeom prst="rect">
            <a:avLst/>
          </a:prstGeom>
        </p:spPr>
        <p:txBody>
          <a:bodyPr anchor="t" rtlCol="false" tIns="0" lIns="0" bIns="0" rIns="0">
            <a:spAutoFit/>
          </a:bodyPr>
          <a:lstStyle/>
          <a:p>
            <a:pPr algn="l">
              <a:lnSpc>
                <a:spcPts val="2535"/>
              </a:lnSpc>
            </a:pPr>
            <a:r>
              <a:rPr lang="en-US" sz="1950">
                <a:solidFill>
                  <a:srgbClr val="2A3752"/>
                </a:solidFill>
                <a:latin typeface="DM Sans"/>
                <a:ea typeface="DM Sans"/>
                <a:cs typeface="DM Sans"/>
                <a:sym typeface="DM Sans"/>
              </a:rPr>
              <a:t>“Overall fine. Considerable explanation was there.”</a:t>
            </a:r>
          </a:p>
        </p:txBody>
      </p:sp>
      <p:sp>
        <p:nvSpPr>
          <p:cNvPr name="TextBox 26" id="26"/>
          <p:cNvSpPr txBox="true"/>
          <p:nvPr/>
        </p:nvSpPr>
        <p:spPr>
          <a:xfrm rot="0">
            <a:off x="8734425" y="3910460"/>
            <a:ext cx="8790432" cy="396183"/>
          </a:xfrm>
          <a:prstGeom prst="rect">
            <a:avLst/>
          </a:prstGeom>
        </p:spPr>
        <p:txBody>
          <a:bodyPr anchor="t" rtlCol="false" tIns="0" lIns="0" bIns="0" rIns="0">
            <a:spAutoFit/>
          </a:bodyPr>
          <a:lstStyle/>
          <a:p>
            <a:pPr algn="l">
              <a:lnSpc>
                <a:spcPts val="2520"/>
              </a:lnSpc>
            </a:pPr>
            <a:r>
              <a:rPr lang="en-US" sz="1800">
                <a:solidFill>
                  <a:srgbClr val="5B6B8C"/>
                </a:solidFill>
                <a:latin typeface="DM Sans"/>
                <a:ea typeface="DM Sans"/>
                <a:cs typeface="DM Sans"/>
                <a:sym typeface="DM Sans"/>
              </a:rPr>
              <a:t>No action needed.</a:t>
            </a:r>
          </a:p>
        </p:txBody>
      </p:sp>
      <p:grpSp>
        <p:nvGrpSpPr>
          <p:cNvPr name="Group 27" id="27"/>
          <p:cNvGrpSpPr/>
          <p:nvPr/>
        </p:nvGrpSpPr>
        <p:grpSpPr>
          <a:xfrm rot="0">
            <a:off x="762000" y="4735268"/>
            <a:ext cx="16764000" cy="3974602"/>
            <a:chOff x="0" y="0"/>
            <a:chExt cx="22352000" cy="5299469"/>
          </a:xfrm>
        </p:grpSpPr>
        <p:sp>
          <p:nvSpPr>
            <p:cNvPr name="Freeform 28" id="28"/>
            <p:cNvSpPr/>
            <p:nvPr/>
          </p:nvSpPr>
          <p:spPr>
            <a:xfrm flipH="false" flipV="false" rot="0">
              <a:off x="0" y="0"/>
              <a:ext cx="22352000" cy="5299456"/>
            </a:xfrm>
            <a:custGeom>
              <a:avLst/>
              <a:gdLst/>
              <a:ahLst/>
              <a:cxnLst/>
              <a:rect r="r" b="b" t="t" l="l"/>
              <a:pathLst>
                <a:path h="5299456" w="22352000">
                  <a:moveTo>
                    <a:pt x="0" y="191389"/>
                  </a:moveTo>
                  <a:cubicBezTo>
                    <a:pt x="0" y="85725"/>
                    <a:pt x="85725" y="0"/>
                    <a:pt x="191389" y="0"/>
                  </a:cubicBezTo>
                  <a:lnTo>
                    <a:pt x="22160612" y="0"/>
                  </a:lnTo>
                  <a:cubicBezTo>
                    <a:pt x="22266275" y="0"/>
                    <a:pt x="22352000" y="85725"/>
                    <a:pt x="22352000" y="191389"/>
                  </a:cubicBezTo>
                  <a:lnTo>
                    <a:pt x="22352000" y="5108067"/>
                  </a:lnTo>
                  <a:cubicBezTo>
                    <a:pt x="22352000" y="5213731"/>
                    <a:pt x="22266275" y="5299456"/>
                    <a:pt x="22160612" y="5299456"/>
                  </a:cubicBezTo>
                  <a:lnTo>
                    <a:pt x="191389" y="5299456"/>
                  </a:lnTo>
                  <a:cubicBezTo>
                    <a:pt x="85725" y="5299456"/>
                    <a:pt x="0" y="5213731"/>
                    <a:pt x="0" y="5108067"/>
                  </a:cubicBezTo>
                  <a:close/>
                </a:path>
              </a:pathLst>
            </a:custGeom>
            <a:solidFill>
              <a:srgbClr val="FFF9EC"/>
            </a:solidFill>
            <a:ln w="19050" cap="sq">
              <a:solidFill>
                <a:srgbClr val="F2B544"/>
              </a:solidFill>
              <a:prstDash val="solid"/>
              <a:miter/>
            </a:ln>
          </p:spPr>
        </p:sp>
      </p:grpSp>
      <p:sp>
        <p:nvSpPr>
          <p:cNvPr name="TextBox 29" id="29"/>
          <p:cNvSpPr txBox="true"/>
          <p:nvPr/>
        </p:nvSpPr>
        <p:spPr>
          <a:xfrm rot="0">
            <a:off x="1028700" y="6278766"/>
            <a:ext cx="2533650" cy="485775"/>
          </a:xfrm>
          <a:prstGeom prst="rect">
            <a:avLst/>
          </a:prstGeom>
        </p:spPr>
        <p:txBody>
          <a:bodyPr anchor="t" rtlCol="false" tIns="0" lIns="0" bIns="0" rIns="0">
            <a:spAutoFit/>
          </a:bodyPr>
          <a:lstStyle/>
          <a:p>
            <a:pPr algn="l">
              <a:lnSpc>
                <a:spcPts val="3149"/>
              </a:lnSpc>
            </a:pPr>
            <a:r>
              <a:rPr lang="en-US" sz="2250" b="true">
                <a:solidFill>
                  <a:srgbClr val="0F1F3D"/>
                </a:solidFill>
                <a:latin typeface="DM Sans Bold"/>
                <a:ea typeface="DM Sans Bold"/>
                <a:cs typeface="DM Sans Bold"/>
                <a:sym typeface="DM Sans Bold"/>
              </a:rPr>
              <a:t>Nipuni Bandara</a:t>
            </a:r>
          </a:p>
        </p:txBody>
      </p:sp>
      <p:sp>
        <p:nvSpPr>
          <p:cNvPr name="TextBox 30" id="30"/>
          <p:cNvSpPr txBox="true"/>
          <p:nvPr/>
        </p:nvSpPr>
        <p:spPr>
          <a:xfrm rot="0">
            <a:off x="1028700" y="6697866"/>
            <a:ext cx="2533650" cy="458991"/>
          </a:xfrm>
          <a:prstGeom prst="rect">
            <a:avLst/>
          </a:prstGeom>
        </p:spPr>
        <p:txBody>
          <a:bodyPr anchor="t" rtlCol="false" tIns="0" lIns="0" bIns="0" rIns="0">
            <a:spAutoFit/>
          </a:bodyPr>
          <a:lstStyle/>
          <a:p>
            <a:pPr algn="l">
              <a:lnSpc>
                <a:spcPts val="2940"/>
              </a:lnSpc>
            </a:pPr>
            <a:r>
              <a:rPr lang="en-US" sz="2100" b="true">
                <a:solidFill>
                  <a:srgbClr val="1A4FA0"/>
                </a:solidFill>
                <a:latin typeface="DM Sans Bold"/>
                <a:ea typeface="DM Sans Bold"/>
                <a:cs typeface="DM Sans Bold"/>
                <a:sym typeface="DM Sans Bold"/>
              </a:rPr>
              <a:t>IT22251664</a:t>
            </a:r>
          </a:p>
        </p:txBody>
      </p:sp>
      <p:sp>
        <p:nvSpPr>
          <p:cNvPr name="TextBox 31" id="31"/>
          <p:cNvSpPr txBox="true"/>
          <p:nvPr/>
        </p:nvSpPr>
        <p:spPr>
          <a:xfrm rot="0">
            <a:off x="3981450" y="4906718"/>
            <a:ext cx="4395216" cy="3631702"/>
          </a:xfrm>
          <a:prstGeom prst="rect">
            <a:avLst/>
          </a:prstGeom>
        </p:spPr>
        <p:txBody>
          <a:bodyPr anchor="t" rtlCol="false" tIns="0" lIns="0" bIns="0" rIns="0">
            <a:spAutoFit/>
          </a:bodyPr>
          <a:lstStyle/>
          <a:p>
            <a:pPr algn="l">
              <a:lnSpc>
                <a:spcPts val="2835"/>
              </a:lnSpc>
            </a:pPr>
            <a:r>
              <a:rPr lang="en-US" sz="2100">
                <a:solidFill>
                  <a:srgbClr val="14213D"/>
                </a:solidFill>
                <a:latin typeface="DM Sans"/>
                <a:ea typeface="DM Sans"/>
                <a:cs typeface="DM Sans"/>
                <a:sym typeface="DM Sans"/>
              </a:rPr>
              <a:t>“Need to focus more on how weightages can be taken. When comes to final evaluation, please bring some evidence.”</a:t>
            </a:r>
          </a:p>
        </p:txBody>
      </p:sp>
      <p:sp>
        <p:nvSpPr>
          <p:cNvPr name="TextBox 32" id="32"/>
          <p:cNvSpPr txBox="true"/>
          <p:nvPr/>
        </p:nvSpPr>
        <p:spPr>
          <a:xfrm rot="0">
            <a:off x="8743950" y="4897193"/>
            <a:ext cx="8770810" cy="332927"/>
          </a:xfrm>
          <a:prstGeom prst="rect">
            <a:avLst/>
          </a:prstGeom>
        </p:spPr>
        <p:txBody>
          <a:bodyPr anchor="t" rtlCol="false" tIns="0" lIns="0" bIns="0" rIns="0">
            <a:spAutoFit/>
          </a:bodyPr>
          <a:lstStyle/>
          <a:p>
            <a:pPr algn="l">
              <a:lnSpc>
                <a:spcPts val="2134"/>
              </a:lnSpc>
            </a:pPr>
            <a:r>
              <a:rPr lang="en-US" b="true" sz="1524" spc="150">
                <a:solidFill>
                  <a:srgbClr val="1A4FA0"/>
                </a:solidFill>
                <a:latin typeface="DM Sans Bold"/>
                <a:ea typeface="DM Sans Bold"/>
                <a:cs typeface="DM Sans Bold"/>
                <a:sym typeface="DM Sans Bold"/>
              </a:rPr>
              <a:t>ACTION</a:t>
            </a:r>
          </a:p>
        </p:txBody>
      </p:sp>
      <p:sp>
        <p:nvSpPr>
          <p:cNvPr name="TextBox 33" id="33"/>
          <p:cNvSpPr txBox="true"/>
          <p:nvPr/>
        </p:nvSpPr>
        <p:spPr>
          <a:xfrm rot="0">
            <a:off x="8743950" y="5239645"/>
            <a:ext cx="8770810" cy="541887"/>
          </a:xfrm>
          <a:prstGeom prst="rect">
            <a:avLst/>
          </a:prstGeom>
        </p:spPr>
        <p:txBody>
          <a:bodyPr anchor="t" rtlCol="false" tIns="0" lIns="0" bIns="0" rIns="0">
            <a:spAutoFit/>
          </a:bodyPr>
          <a:lstStyle/>
          <a:p>
            <a:pPr algn="l">
              <a:lnSpc>
                <a:spcPts val="1966"/>
              </a:lnSpc>
            </a:pPr>
            <a:r>
              <a:rPr lang="en-US" sz="1513" b="true">
                <a:solidFill>
                  <a:srgbClr val="0F1F3D"/>
                </a:solidFill>
                <a:latin typeface="DM Sans Bold"/>
                <a:ea typeface="DM Sans Bold"/>
                <a:cs typeface="DM Sans Bold"/>
                <a:sym typeface="DM Sans Bold"/>
              </a:rPr>
              <a:t>Weights:</a:t>
            </a:r>
            <a:r>
              <a:rPr lang="en-US" sz="1513">
                <a:solidFill>
                  <a:srgbClr val="2A3752"/>
                </a:solidFill>
                <a:latin typeface="DM Sans"/>
                <a:ea typeface="DM Sans"/>
                <a:cs typeface="DM Sans"/>
                <a:sym typeface="DM Sans"/>
              </a:rPr>
              <a:t> compared 5 weight profiles and a grid search of 1,771 combinations. Chosen: model 40%, registry 30%, reputation 20%, website 10%.</a:t>
            </a:r>
          </a:p>
        </p:txBody>
      </p:sp>
      <p:sp>
        <p:nvSpPr>
          <p:cNvPr name="TextBox 34" id="34"/>
          <p:cNvSpPr txBox="true"/>
          <p:nvPr/>
        </p:nvSpPr>
        <p:spPr>
          <a:xfrm rot="0">
            <a:off x="8743950" y="5781523"/>
            <a:ext cx="8770810" cy="798462"/>
          </a:xfrm>
          <a:prstGeom prst="rect">
            <a:avLst/>
          </a:prstGeom>
        </p:spPr>
        <p:txBody>
          <a:bodyPr anchor="t" rtlCol="false" tIns="0" lIns="0" bIns="0" rIns="0">
            <a:spAutoFit/>
          </a:bodyPr>
          <a:lstStyle/>
          <a:p>
            <a:pPr algn="l">
              <a:lnSpc>
                <a:spcPts val="1960"/>
              </a:lnSpc>
            </a:pPr>
            <a:r>
              <a:rPr lang="en-US" sz="1507" b="true">
                <a:solidFill>
                  <a:srgbClr val="0F1F3D"/>
                </a:solidFill>
                <a:latin typeface="DM Sans Bold"/>
                <a:ea typeface="DM Sans Bold"/>
                <a:cs typeface="DM Sans Bold"/>
                <a:sym typeface="DM Sans Bold"/>
              </a:rPr>
              <a:t>Thresholds:</a:t>
            </a:r>
            <a:r>
              <a:rPr lang="en-US" sz="1507">
                <a:solidFill>
                  <a:srgbClr val="2A3752"/>
                </a:solidFill>
                <a:latin typeface="DM Sans"/>
                <a:ea typeface="DM Sans"/>
                <a:cs typeface="DM Sans"/>
                <a:sym typeface="DM Sans"/>
              </a:rPr>
              <a:t> Low 70+, Medium 45 to 69, High below 45. Set first as a safety policy (a scam must never be labelled safe), then tested. </a:t>
            </a:r>
            <a:r>
              <a:rPr lang="en-US" sz="1507" b="true">
                <a:solidFill>
                  <a:srgbClr val="0F1F3D"/>
                </a:solidFill>
                <a:latin typeface="DM Sans Bold"/>
                <a:ea typeface="DM Sans Bold"/>
                <a:cs typeface="DM Sans Bold"/>
                <a:sym typeface="DM Sans Bold"/>
              </a:rPr>
              <a:t>R1:</a:t>
            </a:r>
            <a:r>
              <a:rPr lang="en-US" sz="1507">
                <a:solidFill>
                  <a:srgbClr val="2A3752"/>
                </a:solidFill>
                <a:latin typeface="DM Sans"/>
                <a:ea typeface="DM Sans"/>
                <a:cs typeface="DM Sans"/>
                <a:sym typeface="DM Sans"/>
              </a:rPr>
              <a:t> no scams in Low. </a:t>
            </a:r>
            <a:r>
              <a:rPr lang="en-US" sz="1507" b="true">
                <a:solidFill>
                  <a:srgbClr val="0F1F3D"/>
                </a:solidFill>
                <a:latin typeface="DM Sans Bold"/>
                <a:ea typeface="DM Sans Bold"/>
                <a:cs typeface="DM Sans Bold"/>
                <a:sym typeface="DM Sans Bold"/>
              </a:rPr>
              <a:t>R2:</a:t>
            </a:r>
            <a:r>
              <a:rPr lang="en-US" sz="1507">
                <a:solidFill>
                  <a:srgbClr val="2A3752"/>
                </a:solidFill>
                <a:latin typeface="DM Sans"/>
                <a:ea typeface="DM Sans"/>
                <a:cs typeface="DM Sans"/>
                <a:sym typeface="DM Sans"/>
              </a:rPr>
              <a:t> High flags at most about 10% of real employers.</a:t>
            </a:r>
          </a:p>
        </p:txBody>
      </p:sp>
      <p:sp>
        <p:nvSpPr>
          <p:cNvPr name="TextBox 35" id="35"/>
          <p:cNvSpPr txBox="true"/>
          <p:nvPr/>
        </p:nvSpPr>
        <p:spPr>
          <a:xfrm rot="0">
            <a:off x="8743950" y="6570459"/>
            <a:ext cx="8770810" cy="332927"/>
          </a:xfrm>
          <a:prstGeom prst="rect">
            <a:avLst/>
          </a:prstGeom>
        </p:spPr>
        <p:txBody>
          <a:bodyPr anchor="t" rtlCol="false" tIns="0" lIns="0" bIns="0" rIns="0">
            <a:spAutoFit/>
          </a:bodyPr>
          <a:lstStyle/>
          <a:p>
            <a:pPr algn="l">
              <a:lnSpc>
                <a:spcPts val="2134"/>
              </a:lnSpc>
            </a:pPr>
            <a:r>
              <a:rPr lang="en-US" b="true" sz="1524" spc="150">
                <a:solidFill>
                  <a:srgbClr val="1A4FA0"/>
                </a:solidFill>
                <a:latin typeface="DM Sans Bold"/>
                <a:ea typeface="DM Sans Bold"/>
                <a:cs typeface="DM Sans Bold"/>
                <a:sym typeface="DM Sans Bold"/>
              </a:rPr>
              <a:t>EVIDENCE</a:t>
            </a:r>
          </a:p>
        </p:txBody>
      </p:sp>
      <p:sp>
        <p:nvSpPr>
          <p:cNvPr name="TextBox 36" id="36"/>
          <p:cNvSpPr txBox="true"/>
          <p:nvPr/>
        </p:nvSpPr>
        <p:spPr>
          <a:xfrm rot="0">
            <a:off x="8743950" y="6912921"/>
            <a:ext cx="8770810" cy="541887"/>
          </a:xfrm>
          <a:prstGeom prst="rect">
            <a:avLst/>
          </a:prstGeom>
        </p:spPr>
        <p:txBody>
          <a:bodyPr anchor="t" rtlCol="false" tIns="0" lIns="0" bIns="0" rIns="0">
            <a:spAutoFit/>
          </a:bodyPr>
          <a:lstStyle/>
          <a:p>
            <a:pPr algn="l">
              <a:lnSpc>
                <a:spcPts val="1966"/>
              </a:lnSpc>
            </a:pPr>
            <a:r>
              <a:rPr lang="en-US" sz="1513" b="true">
                <a:solidFill>
                  <a:srgbClr val="0F1F3D"/>
                </a:solidFill>
                <a:latin typeface="DM Sans Bold"/>
                <a:ea typeface="DM Sans Bold"/>
                <a:cs typeface="DM Sans Bold"/>
                <a:sym typeface="DM Sans Bold"/>
              </a:rPr>
              <a:t>Validation:</a:t>
            </a:r>
            <a:r>
              <a:rPr lang="en-US" sz="1513">
                <a:solidFill>
                  <a:srgbClr val="2A3752"/>
                </a:solidFill>
                <a:latin typeface="DM Sans"/>
                <a:ea typeface="DM Sans"/>
                <a:cs typeface="DM Sans"/>
                <a:sym typeface="DM Sans"/>
              </a:rPr>
              <a:t> R1 first met at 70; R2 holds up to 45. A plain 90% target gives 55/60 and puts 5 scams in Low (fails R1). Cost is lowest near 65.</a:t>
            </a:r>
          </a:p>
        </p:txBody>
      </p:sp>
      <p:sp>
        <p:nvSpPr>
          <p:cNvPr name="TextBox 37" id="37"/>
          <p:cNvSpPr txBox="true"/>
          <p:nvPr/>
        </p:nvSpPr>
        <p:spPr>
          <a:xfrm rot="0">
            <a:off x="8743950" y="7464323"/>
            <a:ext cx="8770810" cy="294675"/>
          </a:xfrm>
          <a:prstGeom prst="rect">
            <a:avLst/>
          </a:prstGeom>
        </p:spPr>
        <p:txBody>
          <a:bodyPr anchor="t" rtlCol="false" tIns="0" lIns="0" bIns="0" rIns="0">
            <a:spAutoFit/>
          </a:bodyPr>
          <a:lstStyle/>
          <a:p>
            <a:pPr algn="l">
              <a:lnSpc>
                <a:spcPts val="1981"/>
              </a:lnSpc>
            </a:pPr>
            <a:r>
              <a:rPr lang="en-US" sz="1524" b="true">
                <a:solidFill>
                  <a:srgbClr val="0F1F3D"/>
                </a:solidFill>
                <a:latin typeface="DM Sans Bold"/>
                <a:ea typeface="DM Sans Bold"/>
                <a:cs typeface="DM Sans Bold"/>
                <a:sym typeface="DM Sans Bold"/>
              </a:rPr>
              <a:t>Test:</a:t>
            </a:r>
            <a:r>
              <a:rPr lang="en-US" sz="1524">
                <a:solidFill>
                  <a:srgbClr val="2A3752"/>
                </a:solidFill>
                <a:latin typeface="DM Sans"/>
                <a:ea typeface="DM Sans"/>
                <a:cs typeface="DM Sans"/>
                <a:sym typeface="DM Sans"/>
              </a:rPr>
              <a:t> 0 of 107 Low-band scams; 16 of 195 real employers (8.2%) in High.</a:t>
            </a:r>
          </a:p>
        </p:txBody>
      </p:sp>
      <p:sp>
        <p:nvSpPr>
          <p:cNvPr name="TextBox 38" id="38"/>
          <p:cNvSpPr txBox="true"/>
          <p:nvPr/>
        </p:nvSpPr>
        <p:spPr>
          <a:xfrm rot="0">
            <a:off x="8743950" y="7759008"/>
            <a:ext cx="8770810" cy="742759"/>
          </a:xfrm>
          <a:prstGeom prst="rect">
            <a:avLst/>
          </a:prstGeom>
        </p:spPr>
        <p:txBody>
          <a:bodyPr anchor="t" rtlCol="false" tIns="0" lIns="0" bIns="0" rIns="0">
            <a:spAutoFit/>
          </a:bodyPr>
          <a:lstStyle/>
          <a:p>
            <a:pPr algn="l">
              <a:lnSpc>
                <a:spcPts val="1960"/>
              </a:lnSpc>
            </a:pPr>
            <a:r>
              <a:rPr lang="en-US" sz="1507">
                <a:solidFill>
                  <a:srgbClr val="5B6B8C"/>
                </a:solidFill>
                <a:latin typeface="DM Sans"/>
                <a:ea typeface="DM Sans"/>
                <a:cs typeface="DM Sans"/>
                <a:sym typeface="DM Sans"/>
              </a:rPr>
              <a:t>Files: weight_sensitivity_report.md, weight_profile_comparison_clear.csv, risk_band_distribution_test.csv. Method backed by Provost, F. and Fawcett, T. (2001), Scott, C. and Nowak, R. (2005), Elkan, C. (2001), Daryousse, M. (2025, April 12)</a:t>
            </a:r>
          </a:p>
        </p:txBody>
      </p:sp>
      <p:grpSp>
        <p:nvGrpSpPr>
          <p:cNvPr name="Group 39" id="39"/>
          <p:cNvGrpSpPr/>
          <p:nvPr/>
        </p:nvGrpSpPr>
        <p:grpSpPr>
          <a:xfrm rot="0">
            <a:off x="762000" y="8843220"/>
            <a:ext cx="16764000" cy="986580"/>
            <a:chOff x="0" y="0"/>
            <a:chExt cx="22352000" cy="1315441"/>
          </a:xfrm>
        </p:grpSpPr>
        <p:sp>
          <p:nvSpPr>
            <p:cNvPr name="Freeform 40" id="40"/>
            <p:cNvSpPr/>
            <p:nvPr/>
          </p:nvSpPr>
          <p:spPr>
            <a:xfrm flipH="false" flipV="false" rot="0">
              <a:off x="0" y="0"/>
              <a:ext cx="22352000" cy="1315466"/>
            </a:xfrm>
            <a:custGeom>
              <a:avLst/>
              <a:gdLst/>
              <a:ahLst/>
              <a:cxnLst/>
              <a:rect r="r" b="b" t="t" l="l"/>
              <a:pathLst>
                <a:path h="1315466" w="22352000">
                  <a:moveTo>
                    <a:pt x="0" y="198755"/>
                  </a:moveTo>
                  <a:cubicBezTo>
                    <a:pt x="0" y="89027"/>
                    <a:pt x="89027" y="0"/>
                    <a:pt x="198755" y="0"/>
                  </a:cubicBezTo>
                  <a:lnTo>
                    <a:pt x="22153245" y="0"/>
                  </a:lnTo>
                  <a:cubicBezTo>
                    <a:pt x="22262973" y="0"/>
                    <a:pt x="22352000" y="89027"/>
                    <a:pt x="22352000" y="198755"/>
                  </a:cubicBezTo>
                  <a:lnTo>
                    <a:pt x="22352000" y="1116711"/>
                  </a:lnTo>
                  <a:cubicBezTo>
                    <a:pt x="22352000" y="1226439"/>
                    <a:pt x="22262973" y="1315466"/>
                    <a:pt x="22153245" y="1315466"/>
                  </a:cubicBezTo>
                  <a:lnTo>
                    <a:pt x="198755" y="1315466"/>
                  </a:lnTo>
                  <a:cubicBezTo>
                    <a:pt x="89027" y="1315466"/>
                    <a:pt x="0" y="1226439"/>
                    <a:pt x="0" y="1116711"/>
                  </a:cubicBezTo>
                  <a:close/>
                </a:path>
              </a:pathLst>
            </a:custGeom>
            <a:solidFill>
              <a:srgbClr val="F2F5FA"/>
            </a:solidFill>
            <a:ln w="9525" cap="sq">
              <a:solidFill>
                <a:srgbClr val="D5DEEE"/>
              </a:solidFill>
              <a:prstDash val="solid"/>
              <a:miter/>
            </a:ln>
          </p:spPr>
        </p:sp>
      </p:grpSp>
      <p:sp>
        <p:nvSpPr>
          <p:cNvPr name="TextBox 41" id="41"/>
          <p:cNvSpPr txBox="true"/>
          <p:nvPr/>
        </p:nvSpPr>
        <p:spPr>
          <a:xfrm rot="0">
            <a:off x="1019175" y="8919420"/>
            <a:ext cx="2533650" cy="458991"/>
          </a:xfrm>
          <a:prstGeom prst="rect">
            <a:avLst/>
          </a:prstGeom>
        </p:spPr>
        <p:txBody>
          <a:bodyPr anchor="t" rtlCol="false" tIns="0" lIns="0" bIns="0" rIns="0">
            <a:spAutoFit/>
          </a:bodyPr>
          <a:lstStyle/>
          <a:p>
            <a:pPr algn="l">
              <a:lnSpc>
                <a:spcPts val="2940"/>
              </a:lnSpc>
            </a:pPr>
            <a:r>
              <a:rPr lang="en-US" sz="2100" b="true">
                <a:solidFill>
                  <a:srgbClr val="0F1F3D"/>
                </a:solidFill>
                <a:latin typeface="DM Sans Bold"/>
                <a:ea typeface="DM Sans Bold"/>
                <a:cs typeface="DM Sans Bold"/>
                <a:sym typeface="DM Sans Bold"/>
              </a:rPr>
              <a:t>Methmi N P C S</a:t>
            </a:r>
          </a:p>
        </p:txBody>
      </p:sp>
      <p:sp>
        <p:nvSpPr>
          <p:cNvPr name="TextBox 42" id="42"/>
          <p:cNvSpPr txBox="true"/>
          <p:nvPr/>
        </p:nvSpPr>
        <p:spPr>
          <a:xfrm rot="0">
            <a:off x="1019175" y="9330776"/>
            <a:ext cx="2533650" cy="413299"/>
          </a:xfrm>
          <a:prstGeom prst="rect">
            <a:avLst/>
          </a:prstGeom>
        </p:spPr>
        <p:txBody>
          <a:bodyPr anchor="t" rtlCol="false" tIns="0" lIns="0" bIns="0" rIns="0">
            <a:spAutoFit/>
          </a:bodyPr>
          <a:lstStyle/>
          <a:p>
            <a:pPr algn="l">
              <a:lnSpc>
                <a:spcPts val="2729"/>
              </a:lnSpc>
            </a:pPr>
            <a:r>
              <a:rPr lang="en-US" sz="1950" b="true">
                <a:solidFill>
                  <a:srgbClr val="1A4FA0"/>
                </a:solidFill>
                <a:latin typeface="DM Sans Bold"/>
                <a:ea typeface="DM Sans Bold"/>
                <a:cs typeface="DM Sans Bold"/>
                <a:sym typeface="DM Sans Bold"/>
              </a:rPr>
              <a:t>IT22188618</a:t>
            </a:r>
          </a:p>
        </p:txBody>
      </p:sp>
      <p:sp>
        <p:nvSpPr>
          <p:cNvPr name="TextBox 43" id="43"/>
          <p:cNvSpPr txBox="true"/>
          <p:nvPr/>
        </p:nvSpPr>
        <p:spPr>
          <a:xfrm rot="0">
            <a:off x="3971925" y="9166022"/>
            <a:ext cx="4395216" cy="369541"/>
          </a:xfrm>
          <a:prstGeom prst="rect">
            <a:avLst/>
          </a:prstGeom>
        </p:spPr>
        <p:txBody>
          <a:bodyPr anchor="t" rtlCol="false" tIns="0" lIns="0" bIns="0" rIns="0">
            <a:spAutoFit/>
          </a:bodyPr>
          <a:lstStyle/>
          <a:p>
            <a:pPr algn="l">
              <a:lnSpc>
                <a:spcPts val="2535"/>
              </a:lnSpc>
            </a:pPr>
            <a:r>
              <a:rPr lang="en-US" sz="1950">
                <a:solidFill>
                  <a:srgbClr val="2A3752"/>
                </a:solidFill>
                <a:latin typeface="DM Sans"/>
                <a:ea typeface="DM Sans"/>
                <a:cs typeface="DM Sans"/>
                <a:sym typeface="DM Sans"/>
              </a:rPr>
              <a:t>“Good explanation and overall fine.”</a:t>
            </a:r>
          </a:p>
        </p:txBody>
      </p:sp>
      <p:sp>
        <p:nvSpPr>
          <p:cNvPr name="TextBox 44" id="44"/>
          <p:cNvSpPr txBox="true"/>
          <p:nvPr/>
        </p:nvSpPr>
        <p:spPr>
          <a:xfrm rot="0">
            <a:off x="8734425" y="9138342"/>
            <a:ext cx="8790432" cy="396183"/>
          </a:xfrm>
          <a:prstGeom prst="rect">
            <a:avLst/>
          </a:prstGeom>
        </p:spPr>
        <p:txBody>
          <a:bodyPr anchor="t" rtlCol="false" tIns="0" lIns="0" bIns="0" rIns="0">
            <a:spAutoFit/>
          </a:bodyPr>
          <a:lstStyle/>
          <a:p>
            <a:pPr algn="l">
              <a:lnSpc>
                <a:spcPts val="2520"/>
              </a:lnSpc>
            </a:pPr>
            <a:r>
              <a:rPr lang="en-US" sz="1800">
                <a:solidFill>
                  <a:srgbClr val="5B6B8C"/>
                </a:solidFill>
                <a:latin typeface="DM Sans"/>
                <a:ea typeface="DM Sans"/>
                <a:cs typeface="DM Sans"/>
                <a:sym typeface="DM Sans"/>
              </a:rPr>
              <a:t>No action needed.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grpSp>
        <p:nvGrpSpPr>
          <p:cNvPr name="Group 3" id="3"/>
          <p:cNvGrpSpPr/>
          <p:nvPr/>
        </p:nvGrpSpPr>
        <p:grpSpPr>
          <a:xfrm rot="0">
            <a:off x="1257300" y="197872"/>
            <a:ext cx="15773400" cy="1710314"/>
            <a:chOff x="0" y="0"/>
            <a:chExt cx="21031200" cy="2280419"/>
          </a:xfrm>
        </p:grpSpPr>
        <p:sp>
          <p:nvSpPr>
            <p:cNvPr name="Freeform 4" id="4"/>
            <p:cNvSpPr/>
            <p:nvPr/>
          </p:nvSpPr>
          <p:spPr>
            <a:xfrm flipH="false" flipV="false" rot="0">
              <a:off x="0" y="0"/>
              <a:ext cx="21031200" cy="2280421"/>
            </a:xfrm>
            <a:custGeom>
              <a:avLst/>
              <a:gdLst/>
              <a:ahLst/>
              <a:cxnLst/>
              <a:rect r="r" b="b" t="t" l="l"/>
              <a:pathLst>
                <a:path h="2280421" w="21031200">
                  <a:moveTo>
                    <a:pt x="0" y="0"/>
                  </a:moveTo>
                  <a:lnTo>
                    <a:pt x="21031200" y="0"/>
                  </a:lnTo>
                  <a:lnTo>
                    <a:pt x="21031200" y="2280421"/>
                  </a:lnTo>
                  <a:lnTo>
                    <a:pt x="0" y="2280421"/>
                  </a:lnTo>
                  <a:close/>
                </a:path>
              </a:pathLst>
            </a:custGeom>
            <a:blipFill>
              <a:blip r:embed="rId3">
                <a:alphaModFix amt="0"/>
              </a:blip>
              <a:stretch>
                <a:fillRect l="0" t="-121572" r="0" b="-137828"/>
              </a:stretch>
            </a:blipFill>
          </p:spPr>
        </p:sp>
        <p:sp>
          <p:nvSpPr>
            <p:cNvPr name="TextBox 5" id="5"/>
            <p:cNvSpPr txBox="true"/>
            <p:nvPr/>
          </p:nvSpPr>
          <p:spPr>
            <a:xfrm>
              <a:off x="0" y="57150"/>
              <a:ext cx="21031200" cy="2223269"/>
            </a:xfrm>
            <a:prstGeom prst="rect">
              <a:avLst/>
            </a:prstGeom>
          </p:spPr>
          <p:txBody>
            <a:bodyPr anchor="ctr" rtlCol="false" tIns="0" lIns="0" bIns="0" rIns="0"/>
            <a:lstStyle/>
            <a:p>
              <a:pPr algn="ctr">
                <a:lnSpc>
                  <a:spcPts val="6048"/>
                </a:lnSpc>
              </a:pPr>
              <a:r>
                <a:rPr lang="en-US" sz="5600" b="true">
                  <a:solidFill>
                    <a:srgbClr val="002060"/>
                  </a:solidFill>
                  <a:latin typeface="Aptos Bold"/>
                  <a:ea typeface="Aptos Bold"/>
                  <a:cs typeface="Aptos Bold"/>
                  <a:sym typeface="Aptos Bold"/>
                </a:rPr>
                <a:t>Research Supervision</a:t>
              </a:r>
            </a:p>
          </p:txBody>
        </p:sp>
      </p:grpSp>
      <p:sp>
        <p:nvSpPr>
          <p:cNvPr name="Freeform 6" id="6"/>
          <p:cNvSpPr/>
          <p:nvPr/>
        </p:nvSpPr>
        <p:spPr>
          <a:xfrm flipH="false" flipV="false" rot="0">
            <a:off x="6296236" y="1613782"/>
            <a:ext cx="4745974" cy="128378"/>
          </a:xfrm>
          <a:custGeom>
            <a:avLst/>
            <a:gdLst/>
            <a:ahLst/>
            <a:cxnLst/>
            <a:rect r="r" b="b" t="t" l="l"/>
            <a:pathLst>
              <a:path h="128378" w="4745974">
                <a:moveTo>
                  <a:pt x="0" y="0"/>
                </a:moveTo>
                <a:lnTo>
                  <a:pt x="4745974" y="0"/>
                </a:lnTo>
                <a:lnTo>
                  <a:pt x="4745974" y="128378"/>
                </a:lnTo>
                <a:lnTo>
                  <a:pt x="0" y="128378"/>
                </a:lnTo>
                <a:lnTo>
                  <a:pt x="0" y="0"/>
                </a:lnTo>
                <a:close/>
              </a:path>
            </a:pathLst>
          </a:custGeom>
          <a:blipFill>
            <a:blip r:embed="rId4">
              <a:extLst>
                <a:ext uri="{96DAC541-7B7A-43D3-8B79-37D633B846F1}">
                  <asvg:svgBlip xmlns:asvg="http://schemas.microsoft.com/office/drawing/2016/SVG/main" r:embed="rId5"/>
                </a:ext>
              </a:extLst>
            </a:blip>
            <a:stretch>
              <a:fillRect l="0" t="-157441" r="0" b="-157434"/>
            </a:stretch>
          </a:blipFill>
        </p:spPr>
      </p:sp>
      <p:sp>
        <p:nvSpPr>
          <p:cNvPr name="Freeform 7" id="7"/>
          <p:cNvSpPr/>
          <p:nvPr/>
        </p:nvSpPr>
        <p:spPr>
          <a:xfrm flipH="false" flipV="false" rot="0">
            <a:off x="6944097" y="2821760"/>
            <a:ext cx="4098113" cy="4098113"/>
          </a:xfrm>
          <a:custGeom>
            <a:avLst/>
            <a:gdLst/>
            <a:ahLst/>
            <a:cxnLst/>
            <a:rect r="r" b="b" t="t" l="l"/>
            <a:pathLst>
              <a:path h="4098113" w="4098113">
                <a:moveTo>
                  <a:pt x="0" y="0"/>
                </a:moveTo>
                <a:lnTo>
                  <a:pt x="4098113" y="0"/>
                </a:lnTo>
                <a:lnTo>
                  <a:pt x="4098113" y="4098112"/>
                </a:lnTo>
                <a:lnTo>
                  <a:pt x="0" y="4098112"/>
                </a:lnTo>
                <a:lnTo>
                  <a:pt x="0" y="0"/>
                </a:lnTo>
                <a:close/>
              </a:path>
            </a:pathLst>
          </a:custGeom>
          <a:blipFill>
            <a:blip r:embed="rId6"/>
            <a:stretch>
              <a:fillRect l="0" t="0" r="0" b="0"/>
            </a:stretch>
          </a:blipFill>
        </p:spPr>
      </p:sp>
      <p:sp>
        <p:nvSpPr>
          <p:cNvPr name="Freeform 8" id="8"/>
          <p:cNvSpPr/>
          <p:nvPr/>
        </p:nvSpPr>
        <p:spPr>
          <a:xfrm flipH="false" flipV="false" rot="0">
            <a:off x="1107255" y="2821760"/>
            <a:ext cx="4098113" cy="4098113"/>
          </a:xfrm>
          <a:custGeom>
            <a:avLst/>
            <a:gdLst/>
            <a:ahLst/>
            <a:cxnLst/>
            <a:rect r="r" b="b" t="t" l="l"/>
            <a:pathLst>
              <a:path h="4098113" w="4098113">
                <a:moveTo>
                  <a:pt x="0" y="0"/>
                </a:moveTo>
                <a:lnTo>
                  <a:pt x="4098113" y="0"/>
                </a:lnTo>
                <a:lnTo>
                  <a:pt x="4098113" y="4098112"/>
                </a:lnTo>
                <a:lnTo>
                  <a:pt x="0" y="4098112"/>
                </a:lnTo>
                <a:lnTo>
                  <a:pt x="0" y="0"/>
                </a:lnTo>
                <a:close/>
              </a:path>
            </a:pathLst>
          </a:custGeom>
          <a:blipFill>
            <a:blip r:embed="rId7"/>
            <a:stretch>
              <a:fillRect l="0" t="0" r="0" b="0"/>
            </a:stretch>
          </a:blipFill>
        </p:spPr>
      </p:sp>
      <p:sp>
        <p:nvSpPr>
          <p:cNvPr name="Freeform 9" id="9"/>
          <p:cNvSpPr/>
          <p:nvPr/>
        </p:nvSpPr>
        <p:spPr>
          <a:xfrm flipH="false" flipV="false" rot="0">
            <a:off x="12679343" y="2821760"/>
            <a:ext cx="4098113" cy="4098113"/>
          </a:xfrm>
          <a:custGeom>
            <a:avLst/>
            <a:gdLst/>
            <a:ahLst/>
            <a:cxnLst/>
            <a:rect r="r" b="b" t="t" l="l"/>
            <a:pathLst>
              <a:path h="4098113" w="4098113">
                <a:moveTo>
                  <a:pt x="0" y="0"/>
                </a:moveTo>
                <a:lnTo>
                  <a:pt x="4098112" y="0"/>
                </a:lnTo>
                <a:lnTo>
                  <a:pt x="4098112" y="4098112"/>
                </a:lnTo>
                <a:lnTo>
                  <a:pt x="0" y="4098112"/>
                </a:lnTo>
                <a:lnTo>
                  <a:pt x="0" y="0"/>
                </a:lnTo>
                <a:close/>
              </a:path>
            </a:pathLst>
          </a:custGeom>
          <a:blipFill>
            <a:blip r:embed="rId8"/>
            <a:stretch>
              <a:fillRect l="0" t="0" r="0" b="0"/>
            </a:stretch>
          </a:blipFill>
        </p:spPr>
      </p:sp>
      <p:sp>
        <p:nvSpPr>
          <p:cNvPr name="TextBox 10" id="10"/>
          <p:cNvSpPr txBox="true"/>
          <p:nvPr/>
        </p:nvSpPr>
        <p:spPr>
          <a:xfrm rot="0">
            <a:off x="384256" y="159772"/>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11" id="11"/>
          <p:cNvSpPr txBox="true"/>
          <p:nvPr/>
        </p:nvSpPr>
        <p:spPr>
          <a:xfrm rot="0">
            <a:off x="12364830" y="7377072"/>
            <a:ext cx="5053539" cy="2334895"/>
          </a:xfrm>
          <a:prstGeom prst="rect">
            <a:avLst/>
          </a:prstGeom>
        </p:spPr>
        <p:txBody>
          <a:bodyPr anchor="t" rtlCol="false" tIns="0" lIns="0" bIns="0" rIns="0">
            <a:spAutoFit/>
          </a:bodyPr>
          <a:lstStyle/>
          <a:p>
            <a:pPr algn="ctr">
              <a:lnSpc>
                <a:spcPts val="3079"/>
              </a:lnSpc>
            </a:pPr>
            <a:r>
              <a:rPr lang="en-US" b="true" sz="2199">
                <a:solidFill>
                  <a:srgbClr val="324466"/>
                </a:solidFill>
                <a:latin typeface="DM Sans Bold"/>
                <a:ea typeface="DM Sans Bold"/>
                <a:cs typeface="DM Sans Bold"/>
                <a:sym typeface="DM Sans Bold"/>
              </a:rPr>
              <a:t>Mr. Saman Gunawardena,</a:t>
            </a:r>
          </a:p>
          <a:p>
            <a:pPr algn="ctr">
              <a:lnSpc>
                <a:spcPts val="3079"/>
              </a:lnSpc>
              <a:spcBef>
                <a:spcPct val="0"/>
              </a:spcBef>
            </a:pPr>
            <a:r>
              <a:rPr lang="en-US" b="true" sz="2199">
                <a:solidFill>
                  <a:srgbClr val="324466"/>
                </a:solidFill>
                <a:latin typeface="DM Sans Bold"/>
                <a:ea typeface="DM Sans Bold"/>
                <a:cs typeface="DM Sans Bold"/>
                <a:sym typeface="DM Sans Bold"/>
              </a:rPr>
              <a:t>C</a:t>
            </a:r>
            <a:r>
              <a:rPr lang="en-US" b="true" sz="2199">
                <a:solidFill>
                  <a:srgbClr val="324466"/>
                </a:solidFill>
                <a:latin typeface="DM Sans Bold"/>
                <a:ea typeface="DM Sans Bold"/>
                <a:cs typeface="DM Sans Bold"/>
                <a:sym typeface="DM Sans Bold"/>
              </a:rPr>
              <a:t>onsultant - Industrial Liaison and Placement</a:t>
            </a:r>
          </a:p>
          <a:p>
            <a:pPr algn="ctr">
              <a:lnSpc>
                <a:spcPts val="3079"/>
              </a:lnSpc>
              <a:spcBef>
                <a:spcPct val="0"/>
              </a:spcBef>
            </a:pPr>
            <a:r>
              <a:rPr lang="en-US" b="true" sz="2199">
                <a:solidFill>
                  <a:srgbClr val="324466"/>
                </a:solidFill>
                <a:latin typeface="DM Sans Bold"/>
                <a:ea typeface="DM Sans Bold"/>
                <a:cs typeface="DM Sans Bold"/>
                <a:sym typeface="DM Sans Bold"/>
              </a:rPr>
              <a:t>Faculty of Computing</a:t>
            </a:r>
          </a:p>
          <a:p>
            <a:pPr algn="ctr">
              <a:lnSpc>
                <a:spcPts val="3079"/>
              </a:lnSpc>
              <a:spcBef>
                <a:spcPct val="0"/>
              </a:spcBef>
            </a:pPr>
            <a:r>
              <a:rPr lang="en-US" b="true" sz="2199">
                <a:solidFill>
                  <a:srgbClr val="324466"/>
                </a:solidFill>
                <a:latin typeface="DM Sans Bold"/>
                <a:ea typeface="DM Sans Bold"/>
                <a:cs typeface="DM Sans Bold"/>
                <a:sym typeface="DM Sans Bold"/>
              </a:rPr>
              <a:t>SLIIT</a:t>
            </a:r>
          </a:p>
          <a:p>
            <a:pPr algn="ctr">
              <a:lnSpc>
                <a:spcPts val="3079"/>
              </a:lnSpc>
              <a:spcBef>
                <a:spcPct val="0"/>
              </a:spcBef>
            </a:pPr>
          </a:p>
        </p:txBody>
      </p:sp>
      <p:sp>
        <p:nvSpPr>
          <p:cNvPr name="TextBox 12" id="12"/>
          <p:cNvSpPr txBox="true"/>
          <p:nvPr/>
        </p:nvSpPr>
        <p:spPr>
          <a:xfrm rot="0">
            <a:off x="13418439" y="2199360"/>
            <a:ext cx="2946321"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1800AD"/>
                </a:solidFill>
                <a:latin typeface="DM Sans Bold"/>
                <a:ea typeface="DM Sans Bold"/>
                <a:cs typeface="DM Sans Bold"/>
                <a:sym typeface="DM Sans Bold"/>
              </a:rPr>
              <a:t>External Validator</a:t>
            </a:r>
          </a:p>
        </p:txBody>
      </p:sp>
      <p:sp>
        <p:nvSpPr>
          <p:cNvPr name="TextBox 13" id="13"/>
          <p:cNvSpPr txBox="true"/>
          <p:nvPr/>
        </p:nvSpPr>
        <p:spPr>
          <a:xfrm rot="0">
            <a:off x="2193804" y="2199360"/>
            <a:ext cx="1782009"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1800AD"/>
                </a:solidFill>
                <a:latin typeface="DM Sans Bold"/>
                <a:ea typeface="DM Sans Bold"/>
                <a:cs typeface="DM Sans Bold"/>
                <a:sym typeface="DM Sans Bold"/>
              </a:rPr>
              <a:t>Supervisor</a:t>
            </a:r>
          </a:p>
        </p:txBody>
      </p:sp>
      <p:sp>
        <p:nvSpPr>
          <p:cNvPr name="TextBox 14" id="14"/>
          <p:cNvSpPr txBox="true"/>
          <p:nvPr/>
        </p:nvSpPr>
        <p:spPr>
          <a:xfrm rot="0">
            <a:off x="7781574" y="2199360"/>
            <a:ext cx="2423160" cy="455295"/>
          </a:xfrm>
          <a:prstGeom prst="rect">
            <a:avLst/>
          </a:prstGeom>
        </p:spPr>
        <p:txBody>
          <a:bodyPr anchor="t" rtlCol="false" tIns="0" lIns="0" bIns="0" rIns="0">
            <a:spAutoFit/>
          </a:bodyPr>
          <a:lstStyle/>
          <a:p>
            <a:pPr algn="ctr">
              <a:lnSpc>
                <a:spcPts val="3779"/>
              </a:lnSpc>
              <a:spcBef>
                <a:spcPct val="0"/>
              </a:spcBef>
            </a:pPr>
            <a:r>
              <a:rPr lang="en-US" b="true" sz="2699">
                <a:solidFill>
                  <a:srgbClr val="1800AD"/>
                </a:solidFill>
                <a:latin typeface="DM Sans Bold"/>
                <a:ea typeface="DM Sans Bold"/>
                <a:cs typeface="DM Sans Bold"/>
                <a:sym typeface="DM Sans Bold"/>
              </a:rPr>
              <a:t>Co-</a:t>
            </a:r>
            <a:r>
              <a:rPr lang="en-US" b="true" sz="2699">
                <a:solidFill>
                  <a:srgbClr val="1800AD"/>
                </a:solidFill>
                <a:latin typeface="DM Sans Bold"/>
                <a:ea typeface="DM Sans Bold"/>
                <a:cs typeface="DM Sans Bold"/>
                <a:sym typeface="DM Sans Bold"/>
              </a:rPr>
              <a:t>Supervisor</a:t>
            </a:r>
          </a:p>
        </p:txBody>
      </p:sp>
      <p:sp>
        <p:nvSpPr>
          <p:cNvPr name="TextBox 15" id="15"/>
          <p:cNvSpPr txBox="true"/>
          <p:nvPr/>
        </p:nvSpPr>
        <p:spPr>
          <a:xfrm rot="0">
            <a:off x="384256" y="7377072"/>
            <a:ext cx="5911980" cy="2725420"/>
          </a:xfrm>
          <a:prstGeom prst="rect">
            <a:avLst/>
          </a:prstGeom>
        </p:spPr>
        <p:txBody>
          <a:bodyPr anchor="t" rtlCol="false" tIns="0" lIns="0" bIns="0" rIns="0">
            <a:spAutoFit/>
          </a:bodyPr>
          <a:lstStyle/>
          <a:p>
            <a:pPr algn="ctr">
              <a:lnSpc>
                <a:spcPts val="3079"/>
              </a:lnSpc>
            </a:pPr>
            <a:r>
              <a:rPr lang="en-US" b="true" sz="2199">
                <a:solidFill>
                  <a:srgbClr val="324466"/>
                </a:solidFill>
                <a:latin typeface="DM Sans Bold"/>
                <a:ea typeface="DM Sans Bold"/>
                <a:cs typeface="DM Sans Bold"/>
                <a:sym typeface="DM Sans Bold"/>
              </a:rPr>
              <a:t>Ms. Karthiga Rajendran,</a:t>
            </a:r>
          </a:p>
          <a:p>
            <a:pPr algn="ctr">
              <a:lnSpc>
                <a:spcPts val="3079"/>
              </a:lnSpc>
              <a:spcBef>
                <a:spcPct val="0"/>
              </a:spcBef>
            </a:pPr>
            <a:r>
              <a:rPr lang="en-US" b="true" sz="2199">
                <a:solidFill>
                  <a:srgbClr val="324466"/>
                </a:solidFill>
                <a:latin typeface="DM Sans Bold"/>
                <a:ea typeface="DM Sans Bold"/>
                <a:cs typeface="DM Sans Bold"/>
                <a:sym typeface="DM Sans Bold"/>
              </a:rPr>
              <a:t>Year 04 Coordinator / Software Engineering</a:t>
            </a:r>
            <a:r>
              <a:rPr lang="en-US" b="true" sz="2199">
                <a:solidFill>
                  <a:srgbClr val="324466"/>
                </a:solidFill>
                <a:latin typeface="DM Sans Bold"/>
                <a:ea typeface="DM Sans Bold"/>
                <a:cs typeface="DM Sans Bold"/>
                <a:sym typeface="DM Sans Bold"/>
              </a:rPr>
              <a:t> Lecturer</a:t>
            </a:r>
          </a:p>
          <a:p>
            <a:pPr algn="ctr">
              <a:lnSpc>
                <a:spcPts val="3079"/>
              </a:lnSpc>
              <a:spcBef>
                <a:spcPct val="0"/>
              </a:spcBef>
            </a:pPr>
            <a:r>
              <a:rPr lang="en-US" b="true" sz="2199">
                <a:solidFill>
                  <a:srgbClr val="324466"/>
                </a:solidFill>
                <a:latin typeface="DM Sans Bold"/>
                <a:ea typeface="DM Sans Bold"/>
                <a:cs typeface="DM Sans Bold"/>
                <a:sym typeface="DM Sans Bold"/>
              </a:rPr>
              <a:t>Department of Software Engineering</a:t>
            </a:r>
          </a:p>
          <a:p>
            <a:pPr algn="ctr">
              <a:lnSpc>
                <a:spcPts val="3079"/>
              </a:lnSpc>
              <a:spcBef>
                <a:spcPct val="0"/>
              </a:spcBef>
            </a:pPr>
            <a:r>
              <a:rPr lang="en-US" b="true" sz="2199">
                <a:solidFill>
                  <a:srgbClr val="324466"/>
                </a:solidFill>
                <a:latin typeface="DM Sans Bold"/>
                <a:ea typeface="DM Sans Bold"/>
                <a:cs typeface="DM Sans Bold"/>
                <a:sym typeface="DM Sans Bold"/>
              </a:rPr>
              <a:t>Faculty of Computing</a:t>
            </a:r>
          </a:p>
          <a:p>
            <a:pPr algn="ctr">
              <a:lnSpc>
                <a:spcPts val="3079"/>
              </a:lnSpc>
              <a:spcBef>
                <a:spcPct val="0"/>
              </a:spcBef>
            </a:pPr>
            <a:r>
              <a:rPr lang="en-US" b="true" sz="2199">
                <a:solidFill>
                  <a:srgbClr val="324466"/>
                </a:solidFill>
                <a:latin typeface="DM Sans Bold"/>
                <a:ea typeface="DM Sans Bold"/>
                <a:cs typeface="DM Sans Bold"/>
                <a:sym typeface="DM Sans Bold"/>
              </a:rPr>
              <a:t>SLIIT</a:t>
            </a:r>
          </a:p>
          <a:p>
            <a:pPr algn="ctr">
              <a:lnSpc>
                <a:spcPts val="3079"/>
              </a:lnSpc>
              <a:spcBef>
                <a:spcPct val="0"/>
              </a:spcBef>
            </a:pPr>
          </a:p>
        </p:txBody>
      </p:sp>
      <p:sp>
        <p:nvSpPr>
          <p:cNvPr name="TextBox 16" id="16"/>
          <p:cNvSpPr txBox="true"/>
          <p:nvPr/>
        </p:nvSpPr>
        <p:spPr>
          <a:xfrm rot="0">
            <a:off x="6642522" y="7377072"/>
            <a:ext cx="5508252" cy="2725420"/>
          </a:xfrm>
          <a:prstGeom prst="rect">
            <a:avLst/>
          </a:prstGeom>
        </p:spPr>
        <p:txBody>
          <a:bodyPr anchor="t" rtlCol="false" tIns="0" lIns="0" bIns="0" rIns="0">
            <a:spAutoFit/>
          </a:bodyPr>
          <a:lstStyle/>
          <a:p>
            <a:pPr algn="ctr">
              <a:lnSpc>
                <a:spcPts val="3079"/>
              </a:lnSpc>
            </a:pPr>
            <a:r>
              <a:rPr lang="en-US" b="true" sz="2199">
                <a:solidFill>
                  <a:srgbClr val="324466"/>
                </a:solidFill>
                <a:latin typeface="DM Sans Bold"/>
                <a:ea typeface="DM Sans Bold"/>
                <a:cs typeface="DM Sans Bold"/>
                <a:sym typeface="DM Sans Bold"/>
              </a:rPr>
              <a:t>Ms. Thilini Jayalath,</a:t>
            </a:r>
          </a:p>
          <a:p>
            <a:pPr algn="ctr">
              <a:lnSpc>
                <a:spcPts val="3079"/>
              </a:lnSpc>
              <a:spcBef>
                <a:spcPct val="0"/>
              </a:spcBef>
            </a:pPr>
            <a:r>
              <a:rPr lang="en-US" b="true" sz="2199">
                <a:solidFill>
                  <a:srgbClr val="324466"/>
                </a:solidFill>
                <a:latin typeface="DM Sans Bold"/>
                <a:ea typeface="DM Sans Bold"/>
                <a:cs typeface="DM Sans Bold"/>
                <a:sym typeface="DM Sans Bold"/>
              </a:rPr>
              <a:t>Seni</a:t>
            </a:r>
            <a:r>
              <a:rPr lang="en-US" b="true" sz="2199">
                <a:solidFill>
                  <a:srgbClr val="324466"/>
                </a:solidFill>
                <a:latin typeface="DM Sans Bold"/>
                <a:ea typeface="DM Sans Bold"/>
                <a:cs typeface="DM Sans Bold"/>
                <a:sym typeface="DM Sans Bold"/>
              </a:rPr>
              <a:t>or Lecturer | 3rd Year Coordinator (SE Program)</a:t>
            </a:r>
          </a:p>
          <a:p>
            <a:pPr algn="ctr">
              <a:lnSpc>
                <a:spcPts val="3079"/>
              </a:lnSpc>
              <a:spcBef>
                <a:spcPct val="0"/>
              </a:spcBef>
            </a:pPr>
            <a:r>
              <a:rPr lang="en-US" b="true" sz="2199">
                <a:solidFill>
                  <a:srgbClr val="324466"/>
                </a:solidFill>
                <a:latin typeface="DM Sans Bold"/>
                <a:ea typeface="DM Sans Bold"/>
                <a:cs typeface="DM Sans Bold"/>
                <a:sym typeface="DM Sans Bold"/>
              </a:rPr>
              <a:t>Department of Software Engineering</a:t>
            </a:r>
          </a:p>
          <a:p>
            <a:pPr algn="ctr">
              <a:lnSpc>
                <a:spcPts val="3079"/>
              </a:lnSpc>
              <a:spcBef>
                <a:spcPct val="0"/>
              </a:spcBef>
            </a:pPr>
            <a:r>
              <a:rPr lang="en-US" b="true" sz="2199">
                <a:solidFill>
                  <a:srgbClr val="324466"/>
                </a:solidFill>
                <a:latin typeface="DM Sans Bold"/>
                <a:ea typeface="DM Sans Bold"/>
                <a:cs typeface="DM Sans Bold"/>
                <a:sym typeface="DM Sans Bold"/>
              </a:rPr>
              <a:t>Faculty of Computing</a:t>
            </a:r>
          </a:p>
          <a:p>
            <a:pPr algn="ctr">
              <a:lnSpc>
                <a:spcPts val="3079"/>
              </a:lnSpc>
              <a:spcBef>
                <a:spcPct val="0"/>
              </a:spcBef>
            </a:pPr>
            <a:r>
              <a:rPr lang="en-US" b="true" sz="2199">
                <a:solidFill>
                  <a:srgbClr val="324466"/>
                </a:solidFill>
                <a:latin typeface="DM Sans Bold"/>
                <a:ea typeface="DM Sans Bold"/>
                <a:cs typeface="DM Sans Bold"/>
                <a:sym typeface="DM Sans Bold"/>
              </a:rPr>
              <a:t>SLIIT</a:t>
            </a:r>
          </a:p>
          <a:p>
            <a:pPr algn="ctr">
              <a:lnSpc>
                <a:spcPts val="307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384256" y="0"/>
            <a:ext cx="15773400" cy="1988345"/>
            <a:chOff x="0" y="0"/>
            <a:chExt cx="21031200" cy="2651127"/>
          </a:xfrm>
        </p:grpSpPr>
        <p:sp>
          <p:nvSpPr>
            <p:cNvPr name="Freeform 4" id="4"/>
            <p:cNvSpPr/>
            <p:nvPr/>
          </p:nvSpPr>
          <p:spPr>
            <a:xfrm flipH="false" flipV="false" rot="0">
              <a:off x="0" y="0"/>
              <a:ext cx="21031200" cy="2651128"/>
            </a:xfrm>
            <a:custGeom>
              <a:avLst/>
              <a:gdLst/>
              <a:ahLst/>
              <a:cxnLst/>
              <a:rect r="r" b="b" t="t" l="l"/>
              <a:pathLst>
                <a:path h="2651128" w="21031200">
                  <a:moveTo>
                    <a:pt x="0" y="0"/>
                  </a:moveTo>
                  <a:lnTo>
                    <a:pt x="21031200" y="0"/>
                  </a:lnTo>
                  <a:lnTo>
                    <a:pt x="21031200" y="2651128"/>
                  </a:lnTo>
                  <a:lnTo>
                    <a:pt x="0" y="2651128"/>
                  </a:lnTo>
                  <a:close/>
                </a:path>
              </a:pathLst>
            </a:custGeom>
            <a:blipFill>
              <a:blip r:embed="rId3">
                <a:alphaModFix amt="0"/>
              </a:blip>
              <a:stretch>
                <a:fillRect l="0" t="-104573" r="0" b="-104573"/>
              </a:stretch>
            </a:blipFill>
          </p:spPr>
        </p:sp>
        <p:sp>
          <p:nvSpPr>
            <p:cNvPr name="TextBox 5" id="5"/>
            <p:cNvSpPr txBox="true"/>
            <p:nvPr/>
          </p:nvSpPr>
          <p:spPr>
            <a:xfrm>
              <a:off x="0" y="47625"/>
              <a:ext cx="21031200" cy="2603502"/>
            </a:xfrm>
            <a:prstGeom prst="rect">
              <a:avLst/>
            </a:prstGeom>
          </p:spPr>
          <p:txBody>
            <a:bodyPr anchor="ctr" rtlCol="false" tIns="0" lIns="0" bIns="0" rIns="0"/>
            <a:lstStyle/>
            <a:p>
              <a:pPr algn="l">
                <a:lnSpc>
                  <a:spcPts val="5724"/>
                </a:lnSpc>
              </a:pPr>
              <a:r>
                <a:rPr lang="en-US" sz="5300" b="true">
                  <a:solidFill>
                    <a:srgbClr val="002060"/>
                  </a:solidFill>
                  <a:latin typeface="Aptos Bold"/>
                  <a:ea typeface="Aptos Bold"/>
                  <a:cs typeface="Aptos Bold"/>
                  <a:sym typeface="Aptos Bold"/>
                </a:rPr>
                <a:t>Four components, one app: scan, verify</a:t>
              </a:r>
              <a:r>
                <a:rPr lang="en-US" sz="5300" b="true">
                  <a:solidFill>
                    <a:srgbClr val="002060"/>
                  </a:solidFill>
                  <a:latin typeface="Aptos Bold"/>
                  <a:ea typeface="Aptos Bold"/>
                  <a:cs typeface="Aptos Bold"/>
                  <a:sym typeface="Aptos Bold"/>
                </a:rPr>
                <a:t> and report.</a:t>
              </a:r>
            </a:p>
          </p:txBody>
        </p:sp>
      </p:grpSp>
      <p:sp>
        <p:nvSpPr>
          <p:cNvPr name="Freeform 6" id="6"/>
          <p:cNvSpPr/>
          <p:nvPr/>
        </p:nvSpPr>
        <p:spPr>
          <a:xfrm flipH="false" flipV="false" rot="0">
            <a:off x="384256" y="1405219"/>
            <a:ext cx="4745974" cy="128378"/>
          </a:xfrm>
          <a:custGeom>
            <a:avLst/>
            <a:gdLst/>
            <a:ahLst/>
            <a:cxnLst/>
            <a:rect r="r" b="b" t="t" l="l"/>
            <a:pathLst>
              <a:path h="128378" w="4745974">
                <a:moveTo>
                  <a:pt x="0" y="0"/>
                </a:moveTo>
                <a:lnTo>
                  <a:pt x="4745974" y="0"/>
                </a:lnTo>
                <a:lnTo>
                  <a:pt x="4745974" y="128378"/>
                </a:lnTo>
                <a:lnTo>
                  <a:pt x="0" y="128378"/>
                </a:lnTo>
                <a:lnTo>
                  <a:pt x="0" y="0"/>
                </a:lnTo>
                <a:close/>
              </a:path>
            </a:pathLst>
          </a:custGeom>
          <a:blipFill>
            <a:blip r:embed="rId4">
              <a:extLst>
                <a:ext uri="{96DAC541-7B7A-43D3-8B79-37D633B846F1}">
                  <asvg:svgBlip xmlns:asvg="http://schemas.microsoft.com/office/drawing/2016/SVG/main" r:embed="rId5"/>
                </a:ext>
              </a:extLst>
            </a:blip>
            <a:stretch>
              <a:fillRect l="0" t="-157441" r="0" b="-157434"/>
            </a:stretch>
          </a:blipFill>
        </p:spPr>
      </p:sp>
      <p:grpSp>
        <p:nvGrpSpPr>
          <p:cNvPr name="Group 7" id="7"/>
          <p:cNvGrpSpPr/>
          <p:nvPr/>
        </p:nvGrpSpPr>
        <p:grpSpPr>
          <a:xfrm rot="0">
            <a:off x="0" y="9151953"/>
            <a:ext cx="3557588" cy="1028700"/>
            <a:chOff x="0" y="0"/>
            <a:chExt cx="4743450" cy="1371600"/>
          </a:xfrm>
        </p:grpSpPr>
        <p:sp>
          <p:nvSpPr>
            <p:cNvPr name="Freeform 8" id="8"/>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6"/>
              <a:stretch>
                <a:fillRect l="0" t="-11864" r="0" b="-11860"/>
              </a:stretch>
            </a:blipFill>
          </p:spPr>
        </p:sp>
      </p:grpSp>
      <p:grpSp>
        <p:nvGrpSpPr>
          <p:cNvPr name="Group 9" id="9"/>
          <p:cNvGrpSpPr/>
          <p:nvPr/>
        </p:nvGrpSpPr>
        <p:grpSpPr>
          <a:xfrm rot="0">
            <a:off x="609600" y="1923898"/>
            <a:ext cx="6096000" cy="5593404"/>
            <a:chOff x="0" y="0"/>
            <a:chExt cx="8128000" cy="7457872"/>
          </a:xfrm>
        </p:grpSpPr>
        <p:sp>
          <p:nvSpPr>
            <p:cNvPr name="Freeform 10" id="10"/>
            <p:cNvSpPr/>
            <p:nvPr/>
          </p:nvSpPr>
          <p:spPr>
            <a:xfrm flipH="false" flipV="false" rot="0">
              <a:off x="0" y="0"/>
              <a:ext cx="8128000" cy="7457821"/>
            </a:xfrm>
            <a:custGeom>
              <a:avLst/>
              <a:gdLst/>
              <a:ahLst/>
              <a:cxnLst/>
              <a:rect r="r" b="b" t="t" l="l"/>
              <a:pathLst>
                <a:path h="7457821" w="8128000">
                  <a:moveTo>
                    <a:pt x="0" y="304800"/>
                  </a:moveTo>
                  <a:cubicBezTo>
                    <a:pt x="0" y="136525"/>
                    <a:pt x="136525" y="0"/>
                    <a:pt x="304800" y="0"/>
                  </a:cubicBezTo>
                  <a:lnTo>
                    <a:pt x="7823200" y="0"/>
                  </a:lnTo>
                  <a:cubicBezTo>
                    <a:pt x="7991475" y="0"/>
                    <a:pt x="8128000" y="136525"/>
                    <a:pt x="8128000" y="304800"/>
                  </a:cubicBezTo>
                  <a:lnTo>
                    <a:pt x="8128000" y="7153021"/>
                  </a:lnTo>
                  <a:cubicBezTo>
                    <a:pt x="8128000" y="7321296"/>
                    <a:pt x="7991475" y="7457821"/>
                    <a:pt x="7823200" y="7457821"/>
                  </a:cubicBezTo>
                  <a:lnTo>
                    <a:pt x="304800" y="7457821"/>
                  </a:lnTo>
                  <a:cubicBezTo>
                    <a:pt x="136525" y="7457821"/>
                    <a:pt x="0" y="7321296"/>
                    <a:pt x="0" y="7153021"/>
                  </a:cubicBezTo>
                  <a:close/>
                </a:path>
              </a:pathLst>
            </a:custGeom>
            <a:solidFill>
              <a:srgbClr val="F4F6FB"/>
            </a:solidFill>
          </p:spPr>
        </p:sp>
      </p:grpSp>
      <p:grpSp>
        <p:nvGrpSpPr>
          <p:cNvPr name="Group 11" id="11"/>
          <p:cNvGrpSpPr/>
          <p:nvPr/>
        </p:nvGrpSpPr>
        <p:grpSpPr>
          <a:xfrm rot="0">
            <a:off x="7010400" y="1954263"/>
            <a:ext cx="419100" cy="419100"/>
            <a:chOff x="0" y="0"/>
            <a:chExt cx="558800" cy="558800"/>
          </a:xfrm>
        </p:grpSpPr>
        <p:sp>
          <p:nvSpPr>
            <p:cNvPr name="Freeform 12" id="12" descr="Verified"/>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7"/>
              <a:stretch>
                <a:fillRect l="0" t="0" r="0" b="0"/>
              </a:stretch>
            </a:blipFill>
          </p:spPr>
        </p:sp>
      </p:grpSp>
      <p:grpSp>
        <p:nvGrpSpPr>
          <p:cNvPr name="Group 13" id="13"/>
          <p:cNvGrpSpPr/>
          <p:nvPr/>
        </p:nvGrpSpPr>
        <p:grpSpPr>
          <a:xfrm rot="0">
            <a:off x="7010400" y="2594372"/>
            <a:ext cx="5238750" cy="2366220"/>
            <a:chOff x="0" y="0"/>
            <a:chExt cx="6985000" cy="3154959"/>
          </a:xfrm>
        </p:grpSpPr>
        <p:sp>
          <p:nvSpPr>
            <p:cNvPr name="Freeform 14" id="14"/>
            <p:cNvSpPr/>
            <p:nvPr/>
          </p:nvSpPr>
          <p:spPr>
            <a:xfrm flipH="false" flipV="false" rot="0">
              <a:off x="0" y="0"/>
              <a:ext cx="6985000" cy="3154934"/>
            </a:xfrm>
            <a:custGeom>
              <a:avLst/>
              <a:gdLst/>
              <a:ahLst/>
              <a:cxnLst/>
              <a:rect r="r" b="b" t="t" l="l"/>
              <a:pathLst>
                <a:path h="3154934" w="6985000">
                  <a:moveTo>
                    <a:pt x="0" y="254000"/>
                  </a:moveTo>
                  <a:cubicBezTo>
                    <a:pt x="0" y="113665"/>
                    <a:pt x="113665" y="0"/>
                    <a:pt x="254000" y="0"/>
                  </a:cubicBezTo>
                  <a:lnTo>
                    <a:pt x="6731000" y="0"/>
                  </a:lnTo>
                  <a:cubicBezTo>
                    <a:pt x="6871335" y="0"/>
                    <a:pt x="6985000" y="113665"/>
                    <a:pt x="6985000" y="254000"/>
                  </a:cubicBezTo>
                  <a:lnTo>
                    <a:pt x="6985000" y="2900934"/>
                  </a:lnTo>
                  <a:cubicBezTo>
                    <a:pt x="6985000" y="3041269"/>
                    <a:pt x="6871335" y="3154934"/>
                    <a:pt x="6731000" y="3154934"/>
                  </a:cubicBezTo>
                  <a:lnTo>
                    <a:pt x="254000" y="3154934"/>
                  </a:lnTo>
                  <a:cubicBezTo>
                    <a:pt x="113665" y="3154934"/>
                    <a:pt x="0" y="3041269"/>
                    <a:pt x="0" y="2900934"/>
                  </a:cubicBezTo>
                  <a:close/>
                </a:path>
              </a:pathLst>
            </a:custGeom>
            <a:solidFill>
              <a:srgbClr val="14264F"/>
            </a:solidFill>
          </p:spPr>
        </p:sp>
      </p:grpSp>
      <p:grpSp>
        <p:nvGrpSpPr>
          <p:cNvPr name="Group 15" id="15"/>
          <p:cNvGrpSpPr/>
          <p:nvPr/>
        </p:nvGrpSpPr>
        <p:grpSpPr>
          <a:xfrm rot="0">
            <a:off x="7010400" y="5151091"/>
            <a:ext cx="5238750" cy="2366220"/>
            <a:chOff x="0" y="0"/>
            <a:chExt cx="6985000" cy="3154959"/>
          </a:xfrm>
        </p:grpSpPr>
        <p:sp>
          <p:nvSpPr>
            <p:cNvPr name="Freeform 16" id="16"/>
            <p:cNvSpPr/>
            <p:nvPr/>
          </p:nvSpPr>
          <p:spPr>
            <a:xfrm flipH="false" flipV="false" rot="0">
              <a:off x="0" y="0"/>
              <a:ext cx="6985000" cy="3154934"/>
            </a:xfrm>
            <a:custGeom>
              <a:avLst/>
              <a:gdLst/>
              <a:ahLst/>
              <a:cxnLst/>
              <a:rect r="r" b="b" t="t" l="l"/>
              <a:pathLst>
                <a:path h="3154934" w="6985000">
                  <a:moveTo>
                    <a:pt x="0" y="254000"/>
                  </a:moveTo>
                  <a:cubicBezTo>
                    <a:pt x="0" y="113665"/>
                    <a:pt x="113665" y="0"/>
                    <a:pt x="254000" y="0"/>
                  </a:cubicBezTo>
                  <a:lnTo>
                    <a:pt x="6731000" y="0"/>
                  </a:lnTo>
                  <a:cubicBezTo>
                    <a:pt x="6871335" y="0"/>
                    <a:pt x="6985000" y="113665"/>
                    <a:pt x="6985000" y="254000"/>
                  </a:cubicBezTo>
                  <a:lnTo>
                    <a:pt x="6985000" y="2900934"/>
                  </a:lnTo>
                  <a:cubicBezTo>
                    <a:pt x="6985000" y="3041269"/>
                    <a:pt x="6871335" y="3154934"/>
                    <a:pt x="6731000" y="3154934"/>
                  </a:cubicBezTo>
                  <a:lnTo>
                    <a:pt x="254000" y="3154934"/>
                  </a:lnTo>
                  <a:cubicBezTo>
                    <a:pt x="113665" y="3154934"/>
                    <a:pt x="0" y="3041269"/>
                    <a:pt x="0" y="2900934"/>
                  </a:cubicBezTo>
                  <a:close/>
                </a:path>
              </a:pathLst>
            </a:custGeom>
            <a:solidFill>
              <a:srgbClr val="14264F"/>
            </a:solidFill>
          </p:spPr>
        </p:sp>
      </p:grpSp>
      <p:grpSp>
        <p:nvGrpSpPr>
          <p:cNvPr name="Group 17" id="17"/>
          <p:cNvGrpSpPr/>
          <p:nvPr/>
        </p:nvGrpSpPr>
        <p:grpSpPr>
          <a:xfrm rot="0">
            <a:off x="12439650" y="5151091"/>
            <a:ext cx="5238750" cy="2366220"/>
            <a:chOff x="0" y="0"/>
            <a:chExt cx="6985000" cy="3154959"/>
          </a:xfrm>
        </p:grpSpPr>
        <p:sp>
          <p:nvSpPr>
            <p:cNvPr name="Freeform 18" id="18"/>
            <p:cNvSpPr/>
            <p:nvPr/>
          </p:nvSpPr>
          <p:spPr>
            <a:xfrm flipH="false" flipV="false" rot="0">
              <a:off x="0" y="0"/>
              <a:ext cx="6985000" cy="3154934"/>
            </a:xfrm>
            <a:custGeom>
              <a:avLst/>
              <a:gdLst/>
              <a:ahLst/>
              <a:cxnLst/>
              <a:rect r="r" b="b" t="t" l="l"/>
              <a:pathLst>
                <a:path h="3154934" w="6985000">
                  <a:moveTo>
                    <a:pt x="0" y="254000"/>
                  </a:moveTo>
                  <a:cubicBezTo>
                    <a:pt x="0" y="113665"/>
                    <a:pt x="113665" y="0"/>
                    <a:pt x="254000" y="0"/>
                  </a:cubicBezTo>
                  <a:lnTo>
                    <a:pt x="6731000" y="0"/>
                  </a:lnTo>
                  <a:cubicBezTo>
                    <a:pt x="6871335" y="0"/>
                    <a:pt x="6985000" y="113665"/>
                    <a:pt x="6985000" y="254000"/>
                  </a:cubicBezTo>
                  <a:lnTo>
                    <a:pt x="6985000" y="2900934"/>
                  </a:lnTo>
                  <a:cubicBezTo>
                    <a:pt x="6985000" y="3041269"/>
                    <a:pt x="6871335" y="3154934"/>
                    <a:pt x="6731000" y="3154934"/>
                  </a:cubicBezTo>
                  <a:lnTo>
                    <a:pt x="254000" y="3154934"/>
                  </a:lnTo>
                  <a:cubicBezTo>
                    <a:pt x="113665" y="3154934"/>
                    <a:pt x="0" y="3041269"/>
                    <a:pt x="0" y="2900934"/>
                  </a:cubicBezTo>
                  <a:close/>
                </a:path>
              </a:pathLst>
            </a:custGeom>
            <a:solidFill>
              <a:srgbClr val="14264F"/>
            </a:solidFill>
          </p:spPr>
        </p:sp>
      </p:grpSp>
      <p:grpSp>
        <p:nvGrpSpPr>
          <p:cNvPr name="Group 19" id="19"/>
          <p:cNvGrpSpPr/>
          <p:nvPr/>
        </p:nvGrpSpPr>
        <p:grpSpPr>
          <a:xfrm rot="0">
            <a:off x="609600" y="7831636"/>
            <a:ext cx="17068800" cy="1249566"/>
            <a:chOff x="0" y="0"/>
            <a:chExt cx="22758400" cy="1666088"/>
          </a:xfrm>
        </p:grpSpPr>
        <p:sp>
          <p:nvSpPr>
            <p:cNvPr name="Freeform 20" id="20"/>
            <p:cNvSpPr/>
            <p:nvPr/>
          </p:nvSpPr>
          <p:spPr>
            <a:xfrm flipH="false" flipV="false" rot="0">
              <a:off x="0" y="0"/>
              <a:ext cx="22758400" cy="1666113"/>
            </a:xfrm>
            <a:custGeom>
              <a:avLst/>
              <a:gdLst/>
              <a:ahLst/>
              <a:cxnLst/>
              <a:rect r="r" b="b" t="t" l="l"/>
              <a:pathLst>
                <a:path h="1666113" w="22758400">
                  <a:moveTo>
                    <a:pt x="0" y="254000"/>
                  </a:moveTo>
                  <a:cubicBezTo>
                    <a:pt x="0" y="113665"/>
                    <a:pt x="113665" y="0"/>
                    <a:pt x="254000" y="0"/>
                  </a:cubicBezTo>
                  <a:lnTo>
                    <a:pt x="22504400" y="0"/>
                  </a:lnTo>
                  <a:cubicBezTo>
                    <a:pt x="22644736" y="0"/>
                    <a:pt x="22758400" y="113665"/>
                    <a:pt x="22758400" y="254000"/>
                  </a:cubicBezTo>
                  <a:lnTo>
                    <a:pt x="22758400" y="1412113"/>
                  </a:lnTo>
                  <a:cubicBezTo>
                    <a:pt x="22758400" y="1552448"/>
                    <a:pt x="22644736" y="1666113"/>
                    <a:pt x="22504400" y="1666113"/>
                  </a:cubicBezTo>
                  <a:lnTo>
                    <a:pt x="254000" y="1666113"/>
                  </a:lnTo>
                  <a:cubicBezTo>
                    <a:pt x="113665" y="1666113"/>
                    <a:pt x="0" y="1552448"/>
                    <a:pt x="0" y="1412113"/>
                  </a:cubicBezTo>
                  <a:close/>
                </a:path>
              </a:pathLst>
            </a:custGeom>
            <a:solidFill>
              <a:srgbClr val="FFF9EC"/>
            </a:solidFill>
          </p:spPr>
        </p:sp>
      </p:grpSp>
      <p:grpSp>
        <p:nvGrpSpPr>
          <p:cNvPr name="Group 21" id="21"/>
          <p:cNvGrpSpPr/>
          <p:nvPr/>
        </p:nvGrpSpPr>
        <p:grpSpPr>
          <a:xfrm rot="0">
            <a:off x="952500" y="8246859"/>
            <a:ext cx="354216" cy="419100"/>
            <a:chOff x="0" y="0"/>
            <a:chExt cx="472288" cy="558800"/>
          </a:xfrm>
        </p:grpSpPr>
        <p:sp>
          <p:nvSpPr>
            <p:cNvPr name="Freeform 22" id="22" descr="Link"/>
            <p:cNvSpPr/>
            <p:nvPr/>
          </p:nvSpPr>
          <p:spPr>
            <a:xfrm flipH="false" flipV="false" rot="0">
              <a:off x="0" y="0"/>
              <a:ext cx="472313" cy="558800"/>
            </a:xfrm>
            <a:custGeom>
              <a:avLst/>
              <a:gdLst/>
              <a:ahLst/>
              <a:cxnLst/>
              <a:rect r="r" b="b" t="t" l="l"/>
              <a:pathLst>
                <a:path h="558800" w="472313">
                  <a:moveTo>
                    <a:pt x="0" y="0"/>
                  </a:moveTo>
                  <a:lnTo>
                    <a:pt x="472313" y="0"/>
                  </a:lnTo>
                  <a:lnTo>
                    <a:pt x="472313" y="558800"/>
                  </a:lnTo>
                  <a:lnTo>
                    <a:pt x="0" y="558800"/>
                  </a:lnTo>
                  <a:lnTo>
                    <a:pt x="0" y="0"/>
                  </a:lnTo>
                  <a:close/>
                </a:path>
              </a:pathLst>
            </a:custGeom>
            <a:blipFill>
              <a:blip r:embed="rId8"/>
              <a:stretch>
                <a:fillRect l="252" t="0" r="258" b="0"/>
              </a:stretch>
            </a:blipFill>
          </p:spPr>
        </p:sp>
      </p:grpSp>
      <p:grpSp>
        <p:nvGrpSpPr>
          <p:cNvPr name="Group 23" id="23"/>
          <p:cNvGrpSpPr/>
          <p:nvPr/>
        </p:nvGrpSpPr>
        <p:grpSpPr>
          <a:xfrm rot="0">
            <a:off x="12439650" y="2594372"/>
            <a:ext cx="5238750" cy="2366220"/>
            <a:chOff x="0" y="0"/>
            <a:chExt cx="6985000" cy="3154959"/>
          </a:xfrm>
        </p:grpSpPr>
        <p:sp>
          <p:nvSpPr>
            <p:cNvPr name="Freeform 24" id="24"/>
            <p:cNvSpPr/>
            <p:nvPr/>
          </p:nvSpPr>
          <p:spPr>
            <a:xfrm flipH="false" flipV="false" rot="0">
              <a:off x="0" y="0"/>
              <a:ext cx="6985000" cy="3154934"/>
            </a:xfrm>
            <a:custGeom>
              <a:avLst/>
              <a:gdLst/>
              <a:ahLst/>
              <a:cxnLst/>
              <a:rect r="r" b="b" t="t" l="l"/>
              <a:pathLst>
                <a:path h="3154934" w="6985000">
                  <a:moveTo>
                    <a:pt x="0" y="254000"/>
                  </a:moveTo>
                  <a:cubicBezTo>
                    <a:pt x="0" y="113665"/>
                    <a:pt x="113665" y="0"/>
                    <a:pt x="254000" y="0"/>
                  </a:cubicBezTo>
                  <a:lnTo>
                    <a:pt x="6731000" y="0"/>
                  </a:lnTo>
                  <a:cubicBezTo>
                    <a:pt x="6871335" y="0"/>
                    <a:pt x="6985000" y="113665"/>
                    <a:pt x="6985000" y="254000"/>
                  </a:cubicBezTo>
                  <a:lnTo>
                    <a:pt x="6985000" y="2900934"/>
                  </a:lnTo>
                  <a:cubicBezTo>
                    <a:pt x="6985000" y="3041269"/>
                    <a:pt x="6871335" y="3154934"/>
                    <a:pt x="6731000" y="3154934"/>
                  </a:cubicBezTo>
                  <a:lnTo>
                    <a:pt x="254000" y="3154934"/>
                  </a:lnTo>
                  <a:cubicBezTo>
                    <a:pt x="113665" y="3154934"/>
                    <a:pt x="0" y="3041269"/>
                    <a:pt x="0" y="2900934"/>
                  </a:cubicBezTo>
                  <a:close/>
                </a:path>
              </a:pathLst>
            </a:custGeom>
            <a:solidFill>
              <a:srgbClr val="14264F"/>
            </a:solidFill>
          </p:spPr>
        </p:sp>
      </p:grpSp>
      <p:sp>
        <p:nvSpPr>
          <p:cNvPr name="TextBox 25" id="25"/>
          <p:cNvSpPr txBox="true"/>
          <p:nvPr/>
        </p:nvSpPr>
        <p:spPr>
          <a:xfrm rot="0">
            <a:off x="384256" y="159772"/>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26" id="26"/>
          <p:cNvSpPr txBox="true"/>
          <p:nvPr/>
        </p:nvSpPr>
        <p:spPr>
          <a:xfrm rot="0">
            <a:off x="8427148" y="9810426"/>
            <a:ext cx="3270066" cy="370227"/>
          </a:xfrm>
          <a:prstGeom prst="rect">
            <a:avLst/>
          </a:prstGeom>
        </p:spPr>
        <p:txBody>
          <a:bodyPr anchor="t" rtlCol="false" tIns="0" lIns="0" bIns="0" rIns="0">
            <a:spAutoFit/>
          </a:bodyPr>
          <a:lstStyle/>
          <a:p>
            <a:pPr algn="l">
              <a:lnSpc>
                <a:spcPts val="2879"/>
              </a:lnSpc>
            </a:pPr>
            <a:r>
              <a:rPr lang="en-US" sz="2400" b="true">
                <a:solidFill>
                  <a:srgbClr val="002060"/>
                </a:solidFill>
                <a:latin typeface="Aptos Bold"/>
                <a:ea typeface="Aptos Bold"/>
                <a:cs typeface="Aptos Bold"/>
                <a:sym typeface="Aptos Bold"/>
              </a:rPr>
              <a:t>R26-SE-002</a:t>
            </a:r>
          </a:p>
        </p:txBody>
      </p:sp>
      <p:sp>
        <p:nvSpPr>
          <p:cNvPr name="TextBox 27" id="27"/>
          <p:cNvSpPr txBox="true"/>
          <p:nvPr/>
        </p:nvSpPr>
        <p:spPr>
          <a:xfrm rot="0">
            <a:off x="990600" y="2304898"/>
            <a:ext cx="3726361" cy="518074"/>
          </a:xfrm>
          <a:prstGeom prst="rect">
            <a:avLst/>
          </a:prstGeom>
        </p:spPr>
        <p:txBody>
          <a:bodyPr anchor="t" rtlCol="false" tIns="0" lIns="0" bIns="0" rIns="0">
            <a:spAutoFit/>
          </a:bodyPr>
          <a:lstStyle/>
          <a:p>
            <a:pPr algn="l">
              <a:lnSpc>
                <a:spcPts val="3779"/>
              </a:lnSpc>
            </a:pPr>
            <a:r>
              <a:rPr lang="en-US" sz="3150" b="true">
                <a:solidFill>
                  <a:srgbClr val="14213D"/>
                </a:solidFill>
                <a:latin typeface="DM Sans Bold"/>
                <a:ea typeface="DM Sans Bold"/>
                <a:cs typeface="DM Sans Bold"/>
                <a:sym typeface="DM Sans Bold"/>
              </a:rPr>
              <a:t>Problem in brief</a:t>
            </a:r>
          </a:p>
        </p:txBody>
      </p:sp>
      <p:sp>
        <p:nvSpPr>
          <p:cNvPr name="TextBox 28" id="28"/>
          <p:cNvSpPr txBox="true"/>
          <p:nvPr/>
        </p:nvSpPr>
        <p:spPr>
          <a:xfrm rot="0">
            <a:off x="990600" y="2984897"/>
            <a:ext cx="5494020" cy="1285875"/>
          </a:xfrm>
          <a:prstGeom prst="rect">
            <a:avLst/>
          </a:prstGeom>
        </p:spPr>
        <p:txBody>
          <a:bodyPr anchor="t" rtlCol="false" tIns="0" lIns="0" bIns="0" rIns="0">
            <a:spAutoFit/>
          </a:bodyPr>
          <a:lstStyle/>
          <a:p>
            <a:pPr algn="l">
              <a:lnSpc>
                <a:spcPts val="3149"/>
              </a:lnSpc>
            </a:pPr>
            <a:r>
              <a:rPr lang="en-US" sz="2250" b="true">
                <a:solidFill>
                  <a:srgbClr val="14213D"/>
                </a:solidFill>
                <a:latin typeface="DM Sans Bold"/>
                <a:ea typeface="DM Sans Bold"/>
                <a:cs typeface="DM Sans Bold"/>
                <a:sym typeface="DM Sans Bold"/>
              </a:rPr>
              <a:t>Problem:</a:t>
            </a:r>
            <a:r>
              <a:rPr lang="en-US" sz="2250">
                <a:solidFill>
                  <a:srgbClr val="2A3752"/>
                </a:solidFill>
                <a:latin typeface="DM Sans"/>
                <a:ea typeface="DM Sans"/>
                <a:cs typeface="DM Sans"/>
                <a:sym typeface="DM Sans"/>
              </a:rPr>
              <a:t> Employment fraud in Sri Lanka’s online job market. Fake offers look real.</a:t>
            </a:r>
          </a:p>
        </p:txBody>
      </p:sp>
      <p:sp>
        <p:nvSpPr>
          <p:cNvPr name="TextBox 29" id="29"/>
          <p:cNvSpPr txBox="true"/>
          <p:nvPr/>
        </p:nvSpPr>
        <p:spPr>
          <a:xfrm rot="0">
            <a:off x="990600" y="4432697"/>
            <a:ext cx="5494020" cy="885825"/>
          </a:xfrm>
          <a:prstGeom prst="rect">
            <a:avLst/>
          </a:prstGeom>
        </p:spPr>
        <p:txBody>
          <a:bodyPr anchor="t" rtlCol="false" tIns="0" lIns="0" bIns="0" rIns="0">
            <a:spAutoFit/>
          </a:bodyPr>
          <a:lstStyle/>
          <a:p>
            <a:pPr algn="l">
              <a:lnSpc>
                <a:spcPts val="3149"/>
              </a:lnSpc>
            </a:pPr>
            <a:r>
              <a:rPr lang="en-US" sz="2250" b="true">
                <a:solidFill>
                  <a:srgbClr val="14213D"/>
                </a:solidFill>
                <a:latin typeface="DM Sans Bold"/>
                <a:ea typeface="DM Sans Bold"/>
                <a:cs typeface="DM Sans Bold"/>
                <a:sym typeface="DM Sans Bold"/>
              </a:rPr>
              <a:t>Who:</a:t>
            </a:r>
            <a:r>
              <a:rPr lang="en-US" sz="2250">
                <a:solidFill>
                  <a:srgbClr val="2A3752"/>
                </a:solidFill>
                <a:latin typeface="DM Sans"/>
                <a:ea typeface="DM Sans"/>
                <a:cs typeface="DM Sans"/>
                <a:sym typeface="DM Sans"/>
              </a:rPr>
              <a:t> Job seekers applying online, from fresh graduates to migrant workers.</a:t>
            </a:r>
          </a:p>
        </p:txBody>
      </p:sp>
      <p:sp>
        <p:nvSpPr>
          <p:cNvPr name="TextBox 30" id="30"/>
          <p:cNvSpPr txBox="true"/>
          <p:nvPr/>
        </p:nvSpPr>
        <p:spPr>
          <a:xfrm rot="0">
            <a:off x="990600" y="5480447"/>
            <a:ext cx="5494020" cy="1285875"/>
          </a:xfrm>
          <a:prstGeom prst="rect">
            <a:avLst/>
          </a:prstGeom>
        </p:spPr>
        <p:txBody>
          <a:bodyPr anchor="t" rtlCol="false" tIns="0" lIns="0" bIns="0" rIns="0">
            <a:spAutoFit/>
          </a:bodyPr>
          <a:lstStyle/>
          <a:p>
            <a:pPr algn="l">
              <a:lnSpc>
                <a:spcPts val="3149"/>
              </a:lnSpc>
            </a:pPr>
            <a:r>
              <a:rPr lang="en-US" sz="2250" b="true">
                <a:solidFill>
                  <a:srgbClr val="14213D"/>
                </a:solidFill>
                <a:latin typeface="DM Sans Bold"/>
                <a:ea typeface="DM Sans Bold"/>
                <a:cs typeface="DM Sans Bold"/>
                <a:sym typeface="DM Sans Bold"/>
              </a:rPr>
              <a:t>Why it matters:</a:t>
            </a:r>
            <a:r>
              <a:rPr lang="en-US" sz="2250">
                <a:solidFill>
                  <a:srgbClr val="2A3752"/>
                </a:solidFill>
                <a:latin typeface="DM Sans"/>
                <a:ea typeface="DM Sans"/>
                <a:cs typeface="DM Sans"/>
                <a:sym typeface="DM Sans"/>
              </a:rPr>
              <a:t> Lost money, stolen data and wasted time. Tools that read only the job text miss the rest.</a:t>
            </a:r>
          </a:p>
        </p:txBody>
      </p:sp>
      <p:sp>
        <p:nvSpPr>
          <p:cNvPr name="TextBox 31" id="31"/>
          <p:cNvSpPr txBox="true"/>
          <p:nvPr/>
        </p:nvSpPr>
        <p:spPr>
          <a:xfrm rot="0">
            <a:off x="7581900" y="1923898"/>
            <a:ext cx="8535705" cy="518074"/>
          </a:xfrm>
          <a:prstGeom prst="rect">
            <a:avLst/>
          </a:prstGeom>
        </p:spPr>
        <p:txBody>
          <a:bodyPr anchor="t" rtlCol="false" tIns="0" lIns="0" bIns="0" rIns="0">
            <a:spAutoFit/>
          </a:bodyPr>
          <a:lstStyle/>
          <a:p>
            <a:pPr algn="l">
              <a:lnSpc>
                <a:spcPts val="3779"/>
              </a:lnSpc>
            </a:pPr>
            <a:r>
              <a:rPr lang="en-US" sz="3150" b="true">
                <a:solidFill>
                  <a:srgbClr val="0F1F3D"/>
                </a:solidFill>
                <a:latin typeface="DM Sans Bold"/>
                <a:ea typeface="DM Sans Bold"/>
                <a:cs typeface="DM Sans Bold"/>
                <a:sym typeface="DM Sans Bold"/>
              </a:rPr>
              <a:t>Design excellence: four components</a:t>
            </a:r>
          </a:p>
        </p:txBody>
      </p:sp>
      <p:sp>
        <p:nvSpPr>
          <p:cNvPr name="TextBox 32" id="32"/>
          <p:cNvSpPr txBox="true"/>
          <p:nvPr/>
        </p:nvSpPr>
        <p:spPr>
          <a:xfrm rot="0">
            <a:off x="7296150" y="2832497"/>
            <a:ext cx="4807268" cy="365760"/>
          </a:xfrm>
          <a:prstGeom prst="rect">
            <a:avLst/>
          </a:prstGeom>
        </p:spPr>
        <p:txBody>
          <a:bodyPr anchor="t" rtlCol="false" tIns="0" lIns="0" bIns="0" rIns="0">
            <a:spAutoFit/>
          </a:bodyPr>
          <a:lstStyle/>
          <a:p>
            <a:pPr algn="l">
              <a:lnSpc>
                <a:spcPts val="2940"/>
              </a:lnSpc>
            </a:pPr>
            <a:r>
              <a:rPr lang="en-US" sz="2100" b="true">
                <a:solidFill>
                  <a:srgbClr val="F2B544"/>
                </a:solidFill>
                <a:latin typeface="DM Sans Bold"/>
                <a:ea typeface="DM Sans Bold"/>
                <a:cs typeface="DM Sans Bold"/>
                <a:sym typeface="DM Sans Bold"/>
              </a:rPr>
              <a:t>A</a:t>
            </a:r>
          </a:p>
        </p:txBody>
      </p:sp>
      <p:sp>
        <p:nvSpPr>
          <p:cNvPr name="TextBox 33" id="33"/>
          <p:cNvSpPr txBox="true"/>
          <p:nvPr/>
        </p:nvSpPr>
        <p:spPr>
          <a:xfrm rot="0">
            <a:off x="7296150" y="3348638"/>
            <a:ext cx="4807268" cy="426691"/>
          </a:xfrm>
          <a:prstGeom prst="rect">
            <a:avLst/>
          </a:prstGeom>
        </p:spPr>
        <p:txBody>
          <a:bodyPr anchor="t" rtlCol="false" tIns="0" lIns="0" bIns="0" rIns="0">
            <a:spAutoFit/>
          </a:bodyPr>
          <a:lstStyle/>
          <a:p>
            <a:pPr algn="l">
              <a:lnSpc>
                <a:spcPts val="3060"/>
              </a:lnSpc>
            </a:pPr>
            <a:r>
              <a:rPr lang="en-US" sz="2550" b="true">
                <a:solidFill>
                  <a:srgbClr val="FFFFFF"/>
                </a:solidFill>
                <a:latin typeface="DM Sans Bold"/>
                <a:ea typeface="DM Sans Bold"/>
                <a:cs typeface="DM Sans Bold"/>
                <a:sym typeface="DM Sans Bold"/>
              </a:rPr>
              <a:t>Fake job post detection</a:t>
            </a:r>
          </a:p>
        </p:txBody>
      </p:sp>
      <p:sp>
        <p:nvSpPr>
          <p:cNvPr name="TextBox 34" id="34"/>
          <p:cNvSpPr txBox="true"/>
          <p:nvPr/>
        </p:nvSpPr>
        <p:spPr>
          <a:xfrm rot="0">
            <a:off x="7296150" y="3813419"/>
            <a:ext cx="4807268" cy="725691"/>
          </a:xfrm>
          <a:prstGeom prst="rect">
            <a:avLst/>
          </a:prstGeom>
        </p:spPr>
        <p:txBody>
          <a:bodyPr anchor="t" rtlCol="false" tIns="0" lIns="0" bIns="0" rIns="0">
            <a:spAutoFit/>
          </a:bodyPr>
          <a:lstStyle/>
          <a:p>
            <a:pPr algn="l">
              <a:lnSpc>
                <a:spcPts val="2632"/>
              </a:lnSpc>
            </a:pPr>
            <a:r>
              <a:rPr lang="en-US" sz="1950">
                <a:solidFill>
                  <a:srgbClr val="C9D6EE"/>
                </a:solidFill>
                <a:latin typeface="DM Sans"/>
                <a:ea typeface="DM Sans"/>
                <a:cs typeface="DM Sans"/>
                <a:sym typeface="DM Sans"/>
              </a:rPr>
              <a:t>Classifies the job post as Legitimate, Suspicious or Fake.</a:t>
            </a:r>
          </a:p>
        </p:txBody>
      </p:sp>
      <p:sp>
        <p:nvSpPr>
          <p:cNvPr name="TextBox 35" id="35"/>
          <p:cNvSpPr txBox="true"/>
          <p:nvPr/>
        </p:nvSpPr>
        <p:spPr>
          <a:xfrm rot="0">
            <a:off x="7296150" y="5398741"/>
            <a:ext cx="4807268" cy="405413"/>
          </a:xfrm>
          <a:prstGeom prst="rect">
            <a:avLst/>
          </a:prstGeom>
        </p:spPr>
        <p:txBody>
          <a:bodyPr anchor="t" rtlCol="false" tIns="0" lIns="0" bIns="0" rIns="0">
            <a:spAutoFit/>
          </a:bodyPr>
          <a:lstStyle/>
          <a:p>
            <a:pPr algn="l">
              <a:lnSpc>
                <a:spcPts val="2655"/>
              </a:lnSpc>
            </a:pPr>
            <a:r>
              <a:rPr lang="en-US" sz="1896" b="true">
                <a:solidFill>
                  <a:srgbClr val="F2B544"/>
                </a:solidFill>
                <a:latin typeface="DM Sans Bold"/>
                <a:ea typeface="DM Sans Bold"/>
                <a:cs typeface="DM Sans Bold"/>
                <a:sym typeface="DM Sans Bold"/>
              </a:rPr>
              <a:t>C</a:t>
            </a:r>
          </a:p>
        </p:txBody>
      </p:sp>
      <p:sp>
        <p:nvSpPr>
          <p:cNvPr name="TextBox 36" id="36"/>
          <p:cNvSpPr txBox="true"/>
          <p:nvPr/>
        </p:nvSpPr>
        <p:spPr>
          <a:xfrm rot="0">
            <a:off x="7315989" y="5766197"/>
            <a:ext cx="4953000" cy="762000"/>
          </a:xfrm>
          <a:prstGeom prst="rect">
            <a:avLst/>
          </a:prstGeom>
        </p:spPr>
        <p:txBody>
          <a:bodyPr anchor="t" rtlCol="false" tIns="0" lIns="0" bIns="0" rIns="0">
            <a:spAutoFit/>
          </a:bodyPr>
          <a:lstStyle/>
          <a:p>
            <a:pPr algn="l">
              <a:lnSpc>
                <a:spcPts val="3050"/>
              </a:lnSpc>
            </a:pPr>
            <a:r>
              <a:rPr lang="en-US" sz="2542" b="true">
                <a:solidFill>
                  <a:srgbClr val="FFFFFF"/>
                </a:solidFill>
                <a:latin typeface="DM Sans Bold"/>
                <a:ea typeface="DM Sans Bold"/>
                <a:cs typeface="DM Sans Bold"/>
                <a:sym typeface="DM Sans Bold"/>
              </a:rPr>
              <a:t>Scam communication detection</a:t>
            </a:r>
          </a:p>
        </p:txBody>
      </p:sp>
      <p:sp>
        <p:nvSpPr>
          <p:cNvPr name="TextBox 37" id="37"/>
          <p:cNvSpPr txBox="true"/>
          <p:nvPr/>
        </p:nvSpPr>
        <p:spPr>
          <a:xfrm rot="0">
            <a:off x="7296150" y="6622847"/>
            <a:ext cx="4807268" cy="646805"/>
          </a:xfrm>
          <a:prstGeom prst="rect">
            <a:avLst/>
          </a:prstGeom>
        </p:spPr>
        <p:txBody>
          <a:bodyPr anchor="t" rtlCol="false" tIns="0" lIns="0" bIns="0" rIns="0">
            <a:spAutoFit/>
          </a:bodyPr>
          <a:lstStyle/>
          <a:p>
            <a:pPr algn="l">
              <a:lnSpc>
                <a:spcPts val="2337"/>
              </a:lnSpc>
            </a:pPr>
            <a:r>
              <a:rPr lang="en-US" sz="1730">
                <a:solidFill>
                  <a:srgbClr val="C9D6EE"/>
                </a:solidFill>
                <a:latin typeface="DM Sans"/>
                <a:ea typeface="DM Sans"/>
                <a:cs typeface="DM Sans"/>
                <a:sym typeface="DM Sans"/>
              </a:rPr>
              <a:t>Spots scam tactics in recruiter chats and messages.</a:t>
            </a:r>
          </a:p>
        </p:txBody>
      </p:sp>
      <p:sp>
        <p:nvSpPr>
          <p:cNvPr name="TextBox 38" id="38"/>
          <p:cNvSpPr txBox="true"/>
          <p:nvPr/>
        </p:nvSpPr>
        <p:spPr>
          <a:xfrm rot="0">
            <a:off x="12725400" y="5389216"/>
            <a:ext cx="4807268" cy="458991"/>
          </a:xfrm>
          <a:prstGeom prst="rect">
            <a:avLst/>
          </a:prstGeom>
        </p:spPr>
        <p:txBody>
          <a:bodyPr anchor="t" rtlCol="false" tIns="0" lIns="0" bIns="0" rIns="0">
            <a:spAutoFit/>
          </a:bodyPr>
          <a:lstStyle/>
          <a:p>
            <a:pPr algn="l">
              <a:lnSpc>
                <a:spcPts val="2940"/>
              </a:lnSpc>
            </a:pPr>
            <a:r>
              <a:rPr lang="en-US" sz="2100" b="true">
                <a:solidFill>
                  <a:srgbClr val="F2B544"/>
                </a:solidFill>
                <a:latin typeface="DM Sans Bold"/>
                <a:ea typeface="DM Sans Bold"/>
                <a:cs typeface="DM Sans Bold"/>
                <a:sym typeface="DM Sans Bold"/>
              </a:rPr>
              <a:t>D</a:t>
            </a:r>
          </a:p>
        </p:txBody>
      </p:sp>
      <p:sp>
        <p:nvSpPr>
          <p:cNvPr name="TextBox 39" id="39"/>
          <p:cNvSpPr txBox="true"/>
          <p:nvPr/>
        </p:nvSpPr>
        <p:spPr>
          <a:xfrm rot="0">
            <a:off x="12725400" y="5905348"/>
            <a:ext cx="4807268" cy="426691"/>
          </a:xfrm>
          <a:prstGeom prst="rect">
            <a:avLst/>
          </a:prstGeom>
        </p:spPr>
        <p:txBody>
          <a:bodyPr anchor="t" rtlCol="false" tIns="0" lIns="0" bIns="0" rIns="0">
            <a:spAutoFit/>
          </a:bodyPr>
          <a:lstStyle/>
          <a:p>
            <a:pPr algn="l">
              <a:lnSpc>
                <a:spcPts val="3060"/>
              </a:lnSpc>
            </a:pPr>
            <a:r>
              <a:rPr lang="en-US" sz="2550" b="true">
                <a:solidFill>
                  <a:srgbClr val="FFFFFF"/>
                </a:solidFill>
                <a:latin typeface="DM Sans Bold"/>
                <a:ea typeface="DM Sans Bold"/>
                <a:cs typeface="DM Sans Bold"/>
                <a:sym typeface="DM Sans Bold"/>
              </a:rPr>
              <a:t>Fraud-aware job ranking</a:t>
            </a:r>
          </a:p>
        </p:txBody>
      </p:sp>
      <p:sp>
        <p:nvSpPr>
          <p:cNvPr name="TextBox 40" id="40"/>
          <p:cNvSpPr txBox="true"/>
          <p:nvPr/>
        </p:nvSpPr>
        <p:spPr>
          <a:xfrm rot="0">
            <a:off x="12725400" y="6370139"/>
            <a:ext cx="4807268" cy="725691"/>
          </a:xfrm>
          <a:prstGeom prst="rect">
            <a:avLst/>
          </a:prstGeom>
        </p:spPr>
        <p:txBody>
          <a:bodyPr anchor="t" rtlCol="false" tIns="0" lIns="0" bIns="0" rIns="0">
            <a:spAutoFit/>
          </a:bodyPr>
          <a:lstStyle/>
          <a:p>
            <a:pPr algn="l">
              <a:lnSpc>
                <a:spcPts val="2632"/>
              </a:lnSpc>
            </a:pPr>
            <a:r>
              <a:rPr lang="en-US" sz="1950">
                <a:solidFill>
                  <a:srgbClr val="C9D6EE"/>
                </a:solidFill>
                <a:latin typeface="DM Sans"/>
                <a:ea typeface="DM Sans"/>
                <a:cs typeface="DM Sans"/>
                <a:sym typeface="DM Sans"/>
              </a:rPr>
              <a:t>Puts safe, relevant jobs first, using the fraud signals.</a:t>
            </a:r>
          </a:p>
        </p:txBody>
      </p:sp>
      <p:sp>
        <p:nvSpPr>
          <p:cNvPr name="TextBox 41" id="41"/>
          <p:cNvSpPr txBox="true"/>
          <p:nvPr/>
        </p:nvSpPr>
        <p:spPr>
          <a:xfrm rot="0">
            <a:off x="1535316" y="8031661"/>
            <a:ext cx="15723984" cy="779145"/>
          </a:xfrm>
          <a:prstGeom prst="rect">
            <a:avLst/>
          </a:prstGeom>
        </p:spPr>
        <p:txBody>
          <a:bodyPr anchor="t" rtlCol="false" tIns="0" lIns="0" bIns="0" rIns="0">
            <a:spAutoFit/>
          </a:bodyPr>
          <a:lstStyle/>
          <a:p>
            <a:pPr algn="l">
              <a:lnSpc>
                <a:spcPts val="3120"/>
              </a:lnSpc>
            </a:pPr>
            <a:r>
              <a:rPr lang="en-US" sz="2400" b="true">
                <a:solidFill>
                  <a:srgbClr val="14213D"/>
                </a:solidFill>
                <a:latin typeface="DM Sans Bold"/>
                <a:ea typeface="DM Sans Bold"/>
                <a:cs typeface="DM Sans Bold"/>
                <a:sym typeface="DM Sans Bold"/>
              </a:rPr>
              <a:t>Inventive step: detect, verify, analyse and rank in one integrated system, from spotting the scam to recommending safer jobs.</a:t>
            </a:r>
          </a:p>
        </p:txBody>
      </p:sp>
      <p:sp>
        <p:nvSpPr>
          <p:cNvPr name="TextBox 42" id="42"/>
          <p:cNvSpPr txBox="true"/>
          <p:nvPr/>
        </p:nvSpPr>
        <p:spPr>
          <a:xfrm rot="0">
            <a:off x="609600" y="9224067"/>
            <a:ext cx="17580864" cy="389255"/>
          </a:xfrm>
          <a:prstGeom prst="rect">
            <a:avLst/>
          </a:prstGeom>
        </p:spPr>
        <p:txBody>
          <a:bodyPr anchor="t" rtlCol="false" tIns="0" lIns="0" bIns="0" rIns="0">
            <a:spAutoFit/>
          </a:bodyPr>
          <a:lstStyle/>
          <a:p>
            <a:pPr algn="l">
              <a:lnSpc>
                <a:spcPts val="3219"/>
              </a:lnSpc>
            </a:pPr>
            <a:r>
              <a:rPr lang="en-US" sz="2299">
                <a:solidFill>
                  <a:srgbClr val="5B6B8C"/>
                </a:solidFill>
                <a:latin typeface="DM Sans"/>
                <a:ea typeface="DM Sans"/>
                <a:cs typeface="DM Sans"/>
                <a:sym typeface="DM Sans"/>
              </a:rPr>
              <a:t>In the work we reviewed, text-only detection misses company verification (JobScamShield).</a:t>
            </a:r>
          </a:p>
        </p:txBody>
      </p:sp>
      <p:sp>
        <p:nvSpPr>
          <p:cNvPr name="TextBox 43" id="43"/>
          <p:cNvSpPr txBox="true"/>
          <p:nvPr/>
        </p:nvSpPr>
        <p:spPr>
          <a:xfrm rot="0">
            <a:off x="12725400" y="2842022"/>
            <a:ext cx="4807268" cy="405413"/>
          </a:xfrm>
          <a:prstGeom prst="rect">
            <a:avLst/>
          </a:prstGeom>
        </p:spPr>
        <p:txBody>
          <a:bodyPr anchor="t" rtlCol="false" tIns="0" lIns="0" bIns="0" rIns="0">
            <a:spAutoFit/>
          </a:bodyPr>
          <a:lstStyle/>
          <a:p>
            <a:pPr algn="l">
              <a:lnSpc>
                <a:spcPts val="2655"/>
              </a:lnSpc>
            </a:pPr>
            <a:r>
              <a:rPr lang="en-US" sz="1896" b="true">
                <a:solidFill>
                  <a:srgbClr val="F2B544"/>
                </a:solidFill>
                <a:latin typeface="DM Sans Bold"/>
                <a:ea typeface="DM Sans Bold"/>
                <a:cs typeface="DM Sans Bold"/>
                <a:sym typeface="DM Sans Bold"/>
              </a:rPr>
              <a:t>B</a:t>
            </a:r>
          </a:p>
        </p:txBody>
      </p:sp>
      <p:sp>
        <p:nvSpPr>
          <p:cNvPr name="TextBox 44" id="44"/>
          <p:cNvSpPr txBox="true"/>
          <p:nvPr/>
        </p:nvSpPr>
        <p:spPr>
          <a:xfrm rot="0">
            <a:off x="12725400" y="3314100"/>
            <a:ext cx="4953000" cy="713927"/>
          </a:xfrm>
          <a:prstGeom prst="rect">
            <a:avLst/>
          </a:prstGeom>
        </p:spPr>
        <p:txBody>
          <a:bodyPr anchor="t" rtlCol="false" tIns="0" lIns="0" bIns="0" rIns="0">
            <a:spAutoFit/>
          </a:bodyPr>
          <a:lstStyle/>
          <a:p>
            <a:pPr algn="l">
              <a:lnSpc>
                <a:spcPts val="2793"/>
              </a:lnSpc>
            </a:pPr>
            <a:r>
              <a:rPr lang="en-US" sz="2326" b="true">
                <a:solidFill>
                  <a:srgbClr val="FFFFFF"/>
                </a:solidFill>
                <a:latin typeface="DM Sans Bold"/>
                <a:ea typeface="DM Sans Bold"/>
                <a:cs typeface="DM Sans Bold"/>
                <a:sym typeface="DM Sans Bold"/>
              </a:rPr>
              <a:t>Employer legitimacy verification</a:t>
            </a:r>
          </a:p>
        </p:txBody>
      </p:sp>
      <p:sp>
        <p:nvSpPr>
          <p:cNvPr name="TextBox 45" id="45"/>
          <p:cNvSpPr txBox="true"/>
          <p:nvPr/>
        </p:nvSpPr>
        <p:spPr>
          <a:xfrm rot="0">
            <a:off x="12725400" y="4066137"/>
            <a:ext cx="4807268" cy="646805"/>
          </a:xfrm>
          <a:prstGeom prst="rect">
            <a:avLst/>
          </a:prstGeom>
        </p:spPr>
        <p:txBody>
          <a:bodyPr anchor="t" rtlCol="false" tIns="0" lIns="0" bIns="0" rIns="0">
            <a:spAutoFit/>
          </a:bodyPr>
          <a:lstStyle/>
          <a:p>
            <a:pPr algn="l">
              <a:lnSpc>
                <a:spcPts val="2337"/>
              </a:lnSpc>
            </a:pPr>
            <a:r>
              <a:rPr lang="en-US" sz="1730">
                <a:solidFill>
                  <a:srgbClr val="C9D6EE"/>
                </a:solidFill>
                <a:latin typeface="DM Sans"/>
                <a:ea typeface="DM Sans"/>
                <a:cs typeface="DM Sans"/>
                <a:sym typeface="DM Sans"/>
              </a:rPr>
              <a:t>Checks the company against official registries, website and reputation.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384256" y="0"/>
            <a:ext cx="15773400" cy="1988345"/>
            <a:chOff x="0" y="0"/>
            <a:chExt cx="21031200" cy="2651127"/>
          </a:xfrm>
        </p:grpSpPr>
        <p:sp>
          <p:nvSpPr>
            <p:cNvPr name="Freeform 4" id="4"/>
            <p:cNvSpPr/>
            <p:nvPr/>
          </p:nvSpPr>
          <p:spPr>
            <a:xfrm flipH="false" flipV="false" rot="0">
              <a:off x="0" y="0"/>
              <a:ext cx="21031200" cy="2651128"/>
            </a:xfrm>
            <a:custGeom>
              <a:avLst/>
              <a:gdLst/>
              <a:ahLst/>
              <a:cxnLst/>
              <a:rect r="r" b="b" t="t" l="l"/>
              <a:pathLst>
                <a:path h="2651128" w="21031200">
                  <a:moveTo>
                    <a:pt x="0" y="0"/>
                  </a:moveTo>
                  <a:lnTo>
                    <a:pt x="21031200" y="0"/>
                  </a:lnTo>
                  <a:lnTo>
                    <a:pt x="21031200" y="2651128"/>
                  </a:lnTo>
                  <a:lnTo>
                    <a:pt x="0" y="2651128"/>
                  </a:lnTo>
                  <a:close/>
                </a:path>
              </a:pathLst>
            </a:custGeom>
            <a:blipFill>
              <a:blip r:embed="rId3">
                <a:alphaModFix amt="0"/>
              </a:blip>
              <a:stretch>
                <a:fillRect l="0" t="-104573" r="0" b="-104573"/>
              </a:stretch>
            </a:blipFill>
          </p:spPr>
        </p:sp>
        <p:sp>
          <p:nvSpPr>
            <p:cNvPr name="TextBox 5" id="5"/>
            <p:cNvSpPr txBox="true"/>
            <p:nvPr/>
          </p:nvSpPr>
          <p:spPr>
            <a:xfrm>
              <a:off x="0" y="47625"/>
              <a:ext cx="21031200" cy="2603502"/>
            </a:xfrm>
            <a:prstGeom prst="rect">
              <a:avLst/>
            </a:prstGeom>
          </p:spPr>
          <p:txBody>
            <a:bodyPr anchor="ctr" rtlCol="false" tIns="0" lIns="0" bIns="0" rIns="0"/>
            <a:lstStyle/>
            <a:p>
              <a:pPr algn="l">
                <a:lnSpc>
                  <a:spcPts val="5724"/>
                </a:lnSpc>
              </a:pPr>
              <a:r>
                <a:rPr lang="en-US" sz="5300" b="true">
                  <a:solidFill>
                    <a:srgbClr val="002060"/>
                  </a:solidFill>
                  <a:latin typeface="Aptos Bold"/>
                  <a:ea typeface="Aptos Bold"/>
                  <a:cs typeface="Aptos Bold"/>
                  <a:sym typeface="Aptos Bold"/>
                </a:rPr>
                <a:t>One Chat for Everythi</a:t>
              </a:r>
              <a:r>
                <a:rPr lang="en-US" sz="5300" b="true">
                  <a:solidFill>
                    <a:srgbClr val="002060"/>
                  </a:solidFill>
                  <a:latin typeface="Aptos Bold"/>
                  <a:ea typeface="Aptos Bold"/>
                  <a:cs typeface="Aptos Bold"/>
                  <a:sym typeface="Aptos Bold"/>
                </a:rPr>
                <a:t>ng: CareerNet Assistant</a:t>
              </a:r>
            </a:p>
          </p:txBody>
        </p:sp>
      </p:grpSp>
      <p:sp>
        <p:nvSpPr>
          <p:cNvPr name="Freeform 6" id="6"/>
          <p:cNvSpPr/>
          <p:nvPr/>
        </p:nvSpPr>
        <p:spPr>
          <a:xfrm flipH="false" flipV="false" rot="0">
            <a:off x="384256" y="1405219"/>
            <a:ext cx="4745974" cy="128378"/>
          </a:xfrm>
          <a:custGeom>
            <a:avLst/>
            <a:gdLst/>
            <a:ahLst/>
            <a:cxnLst/>
            <a:rect r="r" b="b" t="t" l="l"/>
            <a:pathLst>
              <a:path h="128378" w="4745974">
                <a:moveTo>
                  <a:pt x="0" y="0"/>
                </a:moveTo>
                <a:lnTo>
                  <a:pt x="4745974" y="0"/>
                </a:lnTo>
                <a:lnTo>
                  <a:pt x="4745974" y="128378"/>
                </a:lnTo>
                <a:lnTo>
                  <a:pt x="0" y="128378"/>
                </a:lnTo>
                <a:lnTo>
                  <a:pt x="0" y="0"/>
                </a:lnTo>
                <a:close/>
              </a:path>
            </a:pathLst>
          </a:custGeom>
          <a:blipFill>
            <a:blip r:embed="rId4">
              <a:extLst>
                <a:ext uri="{96DAC541-7B7A-43D3-8B79-37D633B846F1}">
                  <asvg:svgBlip xmlns:asvg="http://schemas.microsoft.com/office/drawing/2016/SVG/main" r:embed="rId5"/>
                </a:ext>
              </a:extLst>
            </a:blip>
            <a:stretch>
              <a:fillRect l="0" t="-157441" r="0" b="-157434"/>
            </a:stretch>
          </a:blipFill>
        </p:spPr>
      </p:sp>
      <p:grpSp>
        <p:nvGrpSpPr>
          <p:cNvPr name="Group 7" id="7"/>
          <p:cNvGrpSpPr/>
          <p:nvPr/>
        </p:nvGrpSpPr>
        <p:grpSpPr>
          <a:xfrm rot="0">
            <a:off x="0" y="9151953"/>
            <a:ext cx="3557588" cy="1028700"/>
            <a:chOff x="0" y="0"/>
            <a:chExt cx="4743450" cy="1371600"/>
          </a:xfrm>
        </p:grpSpPr>
        <p:sp>
          <p:nvSpPr>
            <p:cNvPr name="Freeform 8" id="8"/>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6"/>
              <a:stretch>
                <a:fillRect l="0" t="-11864" r="0" b="-11860"/>
              </a:stretch>
            </a:blipFill>
          </p:spPr>
        </p:sp>
      </p:grpSp>
      <p:sp>
        <p:nvSpPr>
          <p:cNvPr name="Freeform 9" id="9"/>
          <p:cNvSpPr/>
          <p:nvPr/>
        </p:nvSpPr>
        <p:spPr>
          <a:xfrm flipH="false" flipV="false" rot="0">
            <a:off x="1175686" y="2632472"/>
            <a:ext cx="3564351" cy="7119995"/>
          </a:xfrm>
          <a:custGeom>
            <a:avLst/>
            <a:gdLst/>
            <a:ahLst/>
            <a:cxnLst/>
            <a:rect r="r" b="b" t="t" l="l"/>
            <a:pathLst>
              <a:path h="7119995" w="3564351">
                <a:moveTo>
                  <a:pt x="0" y="0"/>
                </a:moveTo>
                <a:lnTo>
                  <a:pt x="3564351" y="0"/>
                </a:lnTo>
                <a:lnTo>
                  <a:pt x="3564351" y="7119994"/>
                </a:lnTo>
                <a:lnTo>
                  <a:pt x="0" y="7119994"/>
                </a:lnTo>
                <a:lnTo>
                  <a:pt x="0" y="0"/>
                </a:lnTo>
                <a:close/>
              </a:path>
            </a:pathLst>
          </a:custGeom>
          <a:blipFill>
            <a:blip r:embed="rId7"/>
            <a:stretch>
              <a:fillRect l="0" t="-2569" r="0" b="-5816"/>
            </a:stretch>
          </a:blipFill>
        </p:spPr>
      </p:sp>
      <p:pic>
        <p:nvPicPr>
          <p:cNvPr name="Picture 10" id="10"/>
          <p:cNvPicPr>
            <a:picLocks noChangeAspect="true"/>
          </p:cNvPicPr>
          <p:nvPr/>
        </p:nvPicPr>
        <p:blipFill>
          <a:blip r:embed="rId8"/>
          <a:stretch>
            <a:fillRect/>
          </a:stretch>
        </p:blipFill>
        <p:spPr>
          <a:xfrm rot="-558217">
            <a:off x="9337654" y="5527416"/>
            <a:ext cx="2921166" cy="2443389"/>
          </a:xfrm>
          <a:prstGeom prst="rect">
            <a:avLst/>
          </a:prstGeom>
        </p:spPr>
      </p:pic>
      <p:grpSp>
        <p:nvGrpSpPr>
          <p:cNvPr name="Group 11" id="11"/>
          <p:cNvGrpSpPr/>
          <p:nvPr/>
        </p:nvGrpSpPr>
        <p:grpSpPr>
          <a:xfrm rot="0">
            <a:off x="6014540" y="8892237"/>
            <a:ext cx="8030454" cy="774067"/>
            <a:chOff x="0" y="0"/>
            <a:chExt cx="1956308" cy="188672"/>
          </a:xfrm>
        </p:grpSpPr>
        <p:sp>
          <p:nvSpPr>
            <p:cNvPr name="Freeform 12" id="12"/>
            <p:cNvSpPr/>
            <p:nvPr/>
          </p:nvSpPr>
          <p:spPr>
            <a:xfrm flipH="false" flipV="false" rot="0">
              <a:off x="0" y="0"/>
              <a:ext cx="1956308" cy="188672"/>
            </a:xfrm>
            <a:custGeom>
              <a:avLst/>
              <a:gdLst/>
              <a:ahLst/>
              <a:cxnLst/>
              <a:rect r="r" b="b" t="t" l="l"/>
              <a:pathLst>
                <a:path h="188672" w="1956308">
                  <a:moveTo>
                    <a:pt x="1956308" y="9641"/>
                  </a:moveTo>
                  <a:lnTo>
                    <a:pt x="1956308" y="179031"/>
                  </a:lnTo>
                  <a:cubicBezTo>
                    <a:pt x="1956308" y="181588"/>
                    <a:pt x="1955292" y="184040"/>
                    <a:pt x="1953484" y="185848"/>
                  </a:cubicBezTo>
                  <a:cubicBezTo>
                    <a:pt x="1951676" y="187656"/>
                    <a:pt x="1949224" y="188672"/>
                    <a:pt x="1946667" y="188672"/>
                  </a:cubicBezTo>
                  <a:lnTo>
                    <a:pt x="9641" y="188672"/>
                  </a:lnTo>
                  <a:cubicBezTo>
                    <a:pt x="7084" y="188672"/>
                    <a:pt x="4632" y="187656"/>
                    <a:pt x="2824" y="185848"/>
                  </a:cubicBezTo>
                  <a:cubicBezTo>
                    <a:pt x="1016" y="184040"/>
                    <a:pt x="0" y="181588"/>
                    <a:pt x="0" y="179031"/>
                  </a:cubicBezTo>
                  <a:lnTo>
                    <a:pt x="0" y="9641"/>
                  </a:lnTo>
                  <a:cubicBezTo>
                    <a:pt x="0" y="7084"/>
                    <a:pt x="1016" y="4632"/>
                    <a:pt x="2824" y="2824"/>
                  </a:cubicBezTo>
                  <a:cubicBezTo>
                    <a:pt x="4632" y="1016"/>
                    <a:pt x="7084" y="0"/>
                    <a:pt x="9641" y="0"/>
                  </a:cubicBezTo>
                  <a:lnTo>
                    <a:pt x="1946667" y="0"/>
                  </a:lnTo>
                  <a:cubicBezTo>
                    <a:pt x="1949224" y="0"/>
                    <a:pt x="1951676" y="1016"/>
                    <a:pt x="1953484" y="2824"/>
                  </a:cubicBezTo>
                  <a:cubicBezTo>
                    <a:pt x="1955292" y="4632"/>
                    <a:pt x="1956308" y="7084"/>
                    <a:pt x="1956308" y="9641"/>
                  </a:cubicBezTo>
                  <a:close/>
                </a:path>
              </a:pathLst>
            </a:custGeom>
            <a:solidFill>
              <a:srgbClr val="00B7FF"/>
            </a:solidFill>
          </p:spPr>
        </p:sp>
        <p:sp>
          <p:nvSpPr>
            <p:cNvPr name="TextBox 13" id="13"/>
            <p:cNvSpPr txBox="true"/>
            <p:nvPr/>
          </p:nvSpPr>
          <p:spPr>
            <a:xfrm>
              <a:off x="0" y="-47625"/>
              <a:ext cx="1956308" cy="236297"/>
            </a:xfrm>
            <a:prstGeom prst="rect">
              <a:avLst/>
            </a:prstGeom>
          </p:spPr>
          <p:txBody>
            <a:bodyPr anchor="ctr" rtlCol="false" tIns="50800" lIns="50800" bIns="50800" rIns="50800"/>
            <a:lstStyle/>
            <a:p>
              <a:pPr algn="ctr">
                <a:lnSpc>
                  <a:spcPts val="3149"/>
                </a:lnSpc>
              </a:pPr>
            </a:p>
          </p:txBody>
        </p:sp>
      </p:grpSp>
      <p:sp>
        <p:nvSpPr>
          <p:cNvPr name="Freeform 14" id="14"/>
          <p:cNvSpPr/>
          <p:nvPr/>
        </p:nvSpPr>
        <p:spPr>
          <a:xfrm flipH="false" flipV="false" rot="0">
            <a:off x="14210005" y="2415097"/>
            <a:ext cx="3756017" cy="7254801"/>
          </a:xfrm>
          <a:custGeom>
            <a:avLst/>
            <a:gdLst/>
            <a:ahLst/>
            <a:cxnLst/>
            <a:rect r="r" b="b" t="t" l="l"/>
            <a:pathLst>
              <a:path h="7254801" w="3756017">
                <a:moveTo>
                  <a:pt x="0" y="0"/>
                </a:moveTo>
                <a:lnTo>
                  <a:pt x="3756017" y="0"/>
                </a:lnTo>
                <a:lnTo>
                  <a:pt x="3756017" y="7254801"/>
                </a:lnTo>
                <a:lnTo>
                  <a:pt x="0" y="7254801"/>
                </a:lnTo>
                <a:lnTo>
                  <a:pt x="0" y="0"/>
                </a:lnTo>
                <a:close/>
              </a:path>
            </a:pathLst>
          </a:custGeom>
          <a:blipFill>
            <a:blip r:embed="rId9"/>
            <a:stretch>
              <a:fillRect l="0" t="-6112" r="0" b="-8937"/>
            </a:stretch>
          </a:blipFill>
        </p:spPr>
      </p:sp>
      <p:sp>
        <p:nvSpPr>
          <p:cNvPr name="TextBox 15" id="15"/>
          <p:cNvSpPr txBox="true"/>
          <p:nvPr/>
        </p:nvSpPr>
        <p:spPr>
          <a:xfrm rot="0">
            <a:off x="384256" y="159772"/>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16" id="16"/>
          <p:cNvSpPr txBox="true"/>
          <p:nvPr/>
        </p:nvSpPr>
        <p:spPr>
          <a:xfrm rot="0">
            <a:off x="8427148" y="9810426"/>
            <a:ext cx="3270066" cy="370227"/>
          </a:xfrm>
          <a:prstGeom prst="rect">
            <a:avLst/>
          </a:prstGeom>
        </p:spPr>
        <p:txBody>
          <a:bodyPr anchor="t" rtlCol="false" tIns="0" lIns="0" bIns="0" rIns="0">
            <a:spAutoFit/>
          </a:bodyPr>
          <a:lstStyle/>
          <a:p>
            <a:pPr algn="l">
              <a:lnSpc>
                <a:spcPts val="2879"/>
              </a:lnSpc>
            </a:pPr>
            <a:r>
              <a:rPr lang="en-US" sz="2400" b="true">
                <a:solidFill>
                  <a:srgbClr val="002060"/>
                </a:solidFill>
                <a:latin typeface="Aptos Bold"/>
                <a:ea typeface="Aptos Bold"/>
                <a:cs typeface="Aptos Bold"/>
                <a:sym typeface="Aptos Bold"/>
              </a:rPr>
              <a:t>R26-SE-002</a:t>
            </a:r>
          </a:p>
        </p:txBody>
      </p:sp>
      <p:sp>
        <p:nvSpPr>
          <p:cNvPr name="TextBox 17" id="17"/>
          <p:cNvSpPr txBox="true"/>
          <p:nvPr/>
        </p:nvSpPr>
        <p:spPr>
          <a:xfrm rot="0">
            <a:off x="504825" y="1775222"/>
            <a:ext cx="17461197" cy="857250"/>
          </a:xfrm>
          <a:prstGeom prst="rect">
            <a:avLst/>
          </a:prstGeom>
        </p:spPr>
        <p:txBody>
          <a:bodyPr anchor="t" rtlCol="false" tIns="0" lIns="0" bIns="0" rIns="0">
            <a:spAutoFit/>
          </a:bodyPr>
          <a:lstStyle/>
          <a:p>
            <a:pPr algn="just">
              <a:lnSpc>
                <a:spcPts val="3420"/>
              </a:lnSpc>
            </a:pPr>
            <a:r>
              <a:rPr lang="en-US" b="true" sz="2850">
                <a:solidFill>
                  <a:srgbClr val="5B6B8C"/>
                </a:solidFill>
                <a:latin typeface="DM Sans Bold"/>
                <a:ea typeface="DM Sans Bold"/>
                <a:cs typeface="DM Sans Bold"/>
                <a:sym typeface="DM Sans Bold"/>
              </a:rPr>
              <a:t>Based on feedback from our external validator and real users: “The four components should work as one system.”</a:t>
            </a:r>
          </a:p>
        </p:txBody>
      </p:sp>
      <p:sp>
        <p:nvSpPr>
          <p:cNvPr name="TextBox 18" id="18"/>
          <p:cNvSpPr txBox="true"/>
          <p:nvPr/>
        </p:nvSpPr>
        <p:spPr>
          <a:xfrm rot="0">
            <a:off x="5006737" y="6701487"/>
            <a:ext cx="5494020" cy="1990725"/>
          </a:xfrm>
          <a:prstGeom prst="rect">
            <a:avLst/>
          </a:prstGeom>
        </p:spPr>
        <p:txBody>
          <a:bodyPr anchor="t" rtlCol="false" tIns="0" lIns="0" bIns="0" rIns="0">
            <a:spAutoFit/>
          </a:bodyPr>
          <a:lstStyle/>
          <a:p>
            <a:pPr algn="l" marL="485775" indent="-242888" lvl="1">
              <a:lnSpc>
                <a:spcPts val="3149"/>
              </a:lnSpc>
              <a:buFont typeface="Arial"/>
              <a:buChar char="•"/>
            </a:pPr>
            <a:r>
              <a:rPr lang="en-US" b="true" sz="2250">
                <a:solidFill>
                  <a:srgbClr val="14213D"/>
                </a:solidFill>
                <a:latin typeface="DM Sans Bold"/>
                <a:ea typeface="DM Sans Bold"/>
                <a:cs typeface="DM Sans Bold"/>
                <a:sym typeface="DM Sans Bold"/>
              </a:rPr>
              <a:t>3</a:t>
            </a:r>
            <a:r>
              <a:rPr lang="en-US" b="true" sz="2250">
                <a:solidFill>
                  <a:srgbClr val="14213D"/>
                </a:solidFill>
                <a:latin typeface="DM Sans Bold"/>
                <a:ea typeface="DM Sans Bold"/>
                <a:cs typeface="DM Sans Bold"/>
                <a:sym typeface="DM Sans Bold"/>
              </a:rPr>
              <a:t> separate check screens</a:t>
            </a:r>
          </a:p>
          <a:p>
            <a:pPr algn="l" marL="485775" indent="-242888" lvl="1">
              <a:lnSpc>
                <a:spcPts val="3149"/>
              </a:lnSpc>
              <a:buFont typeface="Arial"/>
              <a:buChar char="•"/>
            </a:pPr>
            <a:r>
              <a:rPr lang="en-US" b="true" sz="2250">
                <a:solidFill>
                  <a:srgbClr val="2A3752"/>
                </a:solidFill>
                <a:latin typeface="DM Sans Bold"/>
                <a:ea typeface="DM Sans Bold"/>
                <a:cs typeface="DM Sans Bold"/>
                <a:sym typeface="DM Sans Bold"/>
              </a:rPr>
              <a:t>The user had to know which </a:t>
            </a:r>
          </a:p>
          <a:p>
            <a:pPr algn="l">
              <a:lnSpc>
                <a:spcPts val="3149"/>
              </a:lnSpc>
            </a:pPr>
            <a:r>
              <a:rPr lang="en-US" sz="2250" b="true">
                <a:solidFill>
                  <a:srgbClr val="2A3752"/>
                </a:solidFill>
                <a:latin typeface="DM Sans Bold"/>
                <a:ea typeface="DM Sans Bold"/>
                <a:cs typeface="DM Sans Bold"/>
                <a:sym typeface="DM Sans Bold"/>
              </a:rPr>
              <a:t>         tool to use</a:t>
            </a:r>
          </a:p>
          <a:p>
            <a:pPr algn="l" marL="485775" indent="-242888" lvl="1">
              <a:lnSpc>
                <a:spcPts val="3149"/>
              </a:lnSpc>
              <a:buFont typeface="Arial"/>
              <a:buChar char="•"/>
            </a:pPr>
            <a:r>
              <a:rPr lang="en-US" b="true" sz="2250">
                <a:solidFill>
                  <a:srgbClr val="2A3752"/>
                </a:solidFill>
                <a:latin typeface="DM Sans Bold"/>
                <a:ea typeface="DM Sans Bold"/>
                <a:cs typeface="DM Sans Bold"/>
                <a:sym typeface="DM Sans Bold"/>
              </a:rPr>
              <a:t> Results shown separately</a:t>
            </a:r>
          </a:p>
          <a:p>
            <a:pPr algn="l" marL="485775" indent="-242888" lvl="1">
              <a:lnSpc>
                <a:spcPts val="3149"/>
              </a:lnSpc>
              <a:buFont typeface="Arial"/>
              <a:buChar char="•"/>
            </a:pPr>
            <a:r>
              <a:rPr lang="en-US" b="true" sz="2250">
                <a:solidFill>
                  <a:srgbClr val="2A3752"/>
                </a:solidFill>
                <a:latin typeface="DM Sans Bold"/>
                <a:ea typeface="DM Sans Bold"/>
                <a:cs typeface="DM Sans Bold"/>
                <a:sym typeface="DM Sans Bold"/>
              </a:rPr>
              <a:t>No link to the profile or jobs</a:t>
            </a:r>
          </a:p>
        </p:txBody>
      </p:sp>
      <p:sp>
        <p:nvSpPr>
          <p:cNvPr name="TextBox 19" id="19"/>
          <p:cNvSpPr txBox="true"/>
          <p:nvPr/>
        </p:nvSpPr>
        <p:spPr>
          <a:xfrm rot="0">
            <a:off x="5304217" y="5985348"/>
            <a:ext cx="5494020" cy="562611"/>
          </a:xfrm>
          <a:prstGeom prst="rect">
            <a:avLst/>
          </a:prstGeom>
        </p:spPr>
        <p:txBody>
          <a:bodyPr anchor="t" rtlCol="false" tIns="0" lIns="0" bIns="0" rIns="0">
            <a:spAutoFit/>
          </a:bodyPr>
          <a:lstStyle/>
          <a:p>
            <a:pPr algn="l">
              <a:lnSpc>
                <a:spcPts val="4689"/>
              </a:lnSpc>
            </a:pPr>
            <a:r>
              <a:rPr lang="en-US" sz="3349">
                <a:solidFill>
                  <a:srgbClr val="000000"/>
                </a:solidFill>
                <a:latin typeface="League Spartan"/>
                <a:ea typeface="League Spartan"/>
                <a:cs typeface="League Spartan"/>
                <a:sym typeface="League Spartan"/>
              </a:rPr>
              <a:t>Before</a:t>
            </a:r>
          </a:p>
        </p:txBody>
      </p:sp>
      <p:sp>
        <p:nvSpPr>
          <p:cNvPr name="TextBox 20" id="20"/>
          <p:cNvSpPr txBox="true"/>
          <p:nvPr/>
        </p:nvSpPr>
        <p:spPr>
          <a:xfrm rot="0">
            <a:off x="8810852" y="2519258"/>
            <a:ext cx="5494020" cy="562611"/>
          </a:xfrm>
          <a:prstGeom prst="rect">
            <a:avLst/>
          </a:prstGeom>
        </p:spPr>
        <p:txBody>
          <a:bodyPr anchor="t" rtlCol="false" tIns="0" lIns="0" bIns="0" rIns="0">
            <a:spAutoFit/>
          </a:bodyPr>
          <a:lstStyle/>
          <a:p>
            <a:pPr algn="l" marL="0" indent="0" lvl="0">
              <a:lnSpc>
                <a:spcPts val="4689"/>
              </a:lnSpc>
              <a:spcBef>
                <a:spcPct val="0"/>
              </a:spcBef>
            </a:pPr>
            <a:r>
              <a:rPr lang="en-US" b="true" sz="3349" strike="noStrike" u="none">
                <a:solidFill>
                  <a:srgbClr val="000000"/>
                </a:solidFill>
                <a:latin typeface="League Spartan"/>
                <a:ea typeface="League Spartan"/>
                <a:cs typeface="League Spartan"/>
                <a:sym typeface="League Spartan"/>
              </a:rPr>
              <a:t>After</a:t>
            </a:r>
          </a:p>
        </p:txBody>
      </p:sp>
      <p:sp>
        <p:nvSpPr>
          <p:cNvPr name="TextBox 21" id="21"/>
          <p:cNvSpPr txBox="true"/>
          <p:nvPr/>
        </p:nvSpPr>
        <p:spPr>
          <a:xfrm rot="0">
            <a:off x="8484298" y="3034243"/>
            <a:ext cx="5494020" cy="2390775"/>
          </a:xfrm>
          <a:prstGeom prst="rect">
            <a:avLst/>
          </a:prstGeom>
        </p:spPr>
        <p:txBody>
          <a:bodyPr anchor="t" rtlCol="false" tIns="0" lIns="0" bIns="0" rIns="0">
            <a:spAutoFit/>
          </a:bodyPr>
          <a:lstStyle/>
          <a:p>
            <a:pPr algn="l" marL="485775" indent="-242888" lvl="1">
              <a:lnSpc>
                <a:spcPts val="3149"/>
              </a:lnSpc>
              <a:buFont typeface="Arial"/>
              <a:buChar char="•"/>
            </a:pPr>
            <a:r>
              <a:rPr lang="en-US" b="true" sz="2250">
                <a:solidFill>
                  <a:srgbClr val="14213D"/>
                </a:solidFill>
                <a:latin typeface="DM Sans Bold"/>
                <a:ea typeface="DM Sans Bold"/>
                <a:cs typeface="DM Sans Bold"/>
                <a:sym typeface="DM Sans Bold"/>
              </a:rPr>
              <a:t>One</a:t>
            </a:r>
            <a:r>
              <a:rPr lang="en-US" b="true" sz="2250">
                <a:solidFill>
                  <a:srgbClr val="14213D"/>
                </a:solidFill>
                <a:latin typeface="DM Sans Bold"/>
                <a:ea typeface="DM Sans Bold"/>
                <a:cs typeface="DM Sans Bold"/>
                <a:sym typeface="DM Sans Bold"/>
              </a:rPr>
              <a:t> chat for all checks</a:t>
            </a:r>
          </a:p>
          <a:p>
            <a:pPr algn="l" marL="485775" indent="-242888" lvl="1">
              <a:lnSpc>
                <a:spcPts val="3149"/>
              </a:lnSpc>
              <a:buFont typeface="Arial"/>
              <a:buChar char="•"/>
            </a:pPr>
            <a:r>
              <a:rPr lang="en-US" b="true" sz="2250">
                <a:solidFill>
                  <a:srgbClr val="2A3752"/>
                </a:solidFill>
                <a:latin typeface="DM Sans Bold"/>
                <a:ea typeface="DM Sans Bold"/>
                <a:cs typeface="DM Sans Bold"/>
                <a:sym typeface="DM Sans Bold"/>
              </a:rPr>
              <a:t>Guided buttons: Job post / Company / Recruiter messages</a:t>
            </a:r>
          </a:p>
          <a:p>
            <a:pPr algn="l" marL="485775" indent="-242888" lvl="1">
              <a:lnSpc>
                <a:spcPts val="3149"/>
              </a:lnSpc>
              <a:buFont typeface="Arial"/>
              <a:buChar char="•"/>
            </a:pPr>
            <a:r>
              <a:rPr lang="en-US" b="true" sz="2250">
                <a:solidFill>
                  <a:srgbClr val="2A3752"/>
                </a:solidFill>
                <a:latin typeface="DM Sans Bold"/>
                <a:ea typeface="DM Sans Bold"/>
                <a:cs typeface="DM Sans Bold"/>
                <a:sym typeface="DM Sans Bold"/>
              </a:rPr>
              <a:t> One combined result card</a:t>
            </a:r>
          </a:p>
          <a:p>
            <a:pPr algn="l" marL="485775" indent="-242888" lvl="1">
              <a:lnSpc>
                <a:spcPts val="3149"/>
              </a:lnSpc>
              <a:buFont typeface="Arial"/>
              <a:buChar char="•"/>
            </a:pPr>
            <a:r>
              <a:rPr lang="en-US" b="true" sz="2250">
                <a:solidFill>
                  <a:srgbClr val="2A3752"/>
                </a:solidFill>
                <a:latin typeface="DM Sans Bold"/>
                <a:ea typeface="DM Sans Bold"/>
                <a:cs typeface="DM Sans Bold"/>
                <a:sym typeface="DM Sans Bold"/>
              </a:rPr>
              <a:t>“Which job matches me?” gives top 5 posted jobs with missing skills</a:t>
            </a:r>
          </a:p>
        </p:txBody>
      </p:sp>
      <p:sp>
        <p:nvSpPr>
          <p:cNvPr name="TextBox 22" id="22"/>
          <p:cNvSpPr txBox="true"/>
          <p:nvPr/>
        </p:nvSpPr>
        <p:spPr>
          <a:xfrm rot="0">
            <a:off x="6325265" y="9077325"/>
            <a:ext cx="7435334" cy="361950"/>
          </a:xfrm>
          <a:prstGeom prst="rect">
            <a:avLst/>
          </a:prstGeom>
        </p:spPr>
        <p:txBody>
          <a:bodyPr anchor="t" rtlCol="false" tIns="0" lIns="0" bIns="0" rIns="0">
            <a:spAutoFit/>
          </a:bodyPr>
          <a:lstStyle/>
          <a:p>
            <a:pPr algn="l">
              <a:lnSpc>
                <a:spcPts val="2879"/>
              </a:lnSpc>
            </a:pPr>
            <a:r>
              <a:rPr lang="en-US" sz="2400" b="true">
                <a:solidFill>
                  <a:srgbClr val="002060"/>
                </a:solidFill>
                <a:latin typeface="Aptos Bold"/>
                <a:ea typeface="Aptos Bold"/>
                <a:cs typeface="Aptos Bold"/>
                <a:sym typeface="Aptos Bold"/>
              </a:rPr>
              <a:t>“Is this job safe? Is it right for me? One conversation.”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0" y="9250023"/>
            <a:ext cx="3557588" cy="1028700"/>
            <a:chOff x="0" y="0"/>
            <a:chExt cx="4743450" cy="1371600"/>
          </a:xfrm>
        </p:grpSpPr>
        <p:sp>
          <p:nvSpPr>
            <p:cNvPr name="Freeform 4" id="4"/>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3"/>
              <a:stretch>
                <a:fillRect l="0" t="-11864" r="0" b="-11860"/>
              </a:stretch>
            </a:blipFill>
          </p:spPr>
        </p:sp>
      </p:grpSp>
      <p:grpSp>
        <p:nvGrpSpPr>
          <p:cNvPr name="Group 5" id="5"/>
          <p:cNvGrpSpPr/>
          <p:nvPr/>
        </p:nvGrpSpPr>
        <p:grpSpPr>
          <a:xfrm rot="0">
            <a:off x="1397250" y="1963251"/>
            <a:ext cx="16138188" cy="7809399"/>
            <a:chOff x="0" y="0"/>
            <a:chExt cx="22098000" cy="10693400"/>
          </a:xfrm>
        </p:grpSpPr>
        <p:sp>
          <p:nvSpPr>
            <p:cNvPr name="Freeform 6" id="6" descr="System architecture: the job seeker uses the CareerNet app, which calls three AI checks (fake job post detection, employer legitimacy verification, scam conversation detection). Their fraud signals feed fraud-aware job ranking, and the user sees t..."/>
            <p:cNvSpPr/>
            <p:nvPr/>
          </p:nvSpPr>
          <p:spPr>
            <a:xfrm flipH="false" flipV="false" rot="0">
              <a:off x="0" y="0"/>
              <a:ext cx="22098000" cy="10693400"/>
            </a:xfrm>
            <a:custGeom>
              <a:avLst/>
              <a:gdLst/>
              <a:ahLst/>
              <a:cxnLst/>
              <a:rect r="r" b="b" t="t" l="l"/>
              <a:pathLst>
                <a:path h="10693400" w="22098000">
                  <a:moveTo>
                    <a:pt x="0" y="0"/>
                  </a:moveTo>
                  <a:lnTo>
                    <a:pt x="22098000" y="0"/>
                  </a:lnTo>
                  <a:lnTo>
                    <a:pt x="22098000" y="10693400"/>
                  </a:lnTo>
                  <a:lnTo>
                    <a:pt x="0" y="10693400"/>
                  </a:lnTo>
                  <a:lnTo>
                    <a:pt x="0" y="0"/>
                  </a:lnTo>
                  <a:close/>
                </a:path>
              </a:pathLst>
            </a:custGeom>
            <a:blipFill>
              <a:blip r:embed="rId4"/>
              <a:stretch>
                <a:fillRect l="0" t="2" r="0" b="2"/>
              </a:stretch>
            </a:blipFill>
          </p:spPr>
        </p:sp>
      </p:grpSp>
      <p:grpSp>
        <p:nvGrpSpPr>
          <p:cNvPr name="Group 7" id="7"/>
          <p:cNvGrpSpPr/>
          <p:nvPr/>
        </p:nvGrpSpPr>
        <p:grpSpPr>
          <a:xfrm rot="0">
            <a:off x="384256" y="0"/>
            <a:ext cx="15773400" cy="1710314"/>
            <a:chOff x="0" y="0"/>
            <a:chExt cx="21031200" cy="2280419"/>
          </a:xfrm>
        </p:grpSpPr>
        <p:sp>
          <p:nvSpPr>
            <p:cNvPr name="Freeform 8" id="8"/>
            <p:cNvSpPr/>
            <p:nvPr/>
          </p:nvSpPr>
          <p:spPr>
            <a:xfrm flipH="false" flipV="false" rot="0">
              <a:off x="0" y="0"/>
              <a:ext cx="21031200" cy="2280421"/>
            </a:xfrm>
            <a:custGeom>
              <a:avLst/>
              <a:gdLst/>
              <a:ahLst/>
              <a:cxnLst/>
              <a:rect r="r" b="b" t="t" l="l"/>
              <a:pathLst>
                <a:path h="2280421" w="21031200">
                  <a:moveTo>
                    <a:pt x="0" y="0"/>
                  </a:moveTo>
                  <a:lnTo>
                    <a:pt x="21031200" y="0"/>
                  </a:lnTo>
                  <a:lnTo>
                    <a:pt x="21031200" y="2280421"/>
                  </a:lnTo>
                  <a:lnTo>
                    <a:pt x="0" y="2280421"/>
                  </a:lnTo>
                  <a:close/>
                </a:path>
              </a:pathLst>
            </a:custGeom>
            <a:blipFill>
              <a:blip r:embed="rId5">
                <a:alphaModFix amt="0"/>
              </a:blip>
              <a:stretch>
                <a:fillRect l="0" t="-121572" r="0" b="-137828"/>
              </a:stretch>
            </a:blipFill>
          </p:spPr>
        </p:sp>
        <p:sp>
          <p:nvSpPr>
            <p:cNvPr name="TextBox 9" id="9"/>
            <p:cNvSpPr txBox="true"/>
            <p:nvPr/>
          </p:nvSpPr>
          <p:spPr>
            <a:xfrm>
              <a:off x="0" y="47625"/>
              <a:ext cx="21031200" cy="2232794"/>
            </a:xfrm>
            <a:prstGeom prst="rect">
              <a:avLst/>
            </a:prstGeom>
          </p:spPr>
          <p:txBody>
            <a:bodyPr anchor="ctr" rtlCol="false" tIns="0" lIns="0" bIns="0" rIns="0"/>
            <a:lstStyle/>
            <a:p>
              <a:pPr algn="l">
                <a:lnSpc>
                  <a:spcPts val="5508"/>
                </a:lnSpc>
              </a:pPr>
              <a:r>
                <a:rPr lang="en-US" sz="5100" b="true">
                  <a:solidFill>
                    <a:srgbClr val="002060"/>
                  </a:solidFill>
                  <a:latin typeface="Aptos Bold"/>
                  <a:ea typeface="Aptos Bold"/>
                  <a:cs typeface="Aptos Bold"/>
                  <a:sym typeface="Aptos Bold"/>
                </a:rPr>
                <a:t>System Architecture Diagram</a:t>
              </a:r>
            </a:p>
          </p:txBody>
        </p:sp>
      </p:grpSp>
      <p:sp>
        <p:nvSpPr>
          <p:cNvPr name="Freeform 10" id="10"/>
          <p:cNvSpPr/>
          <p:nvPr/>
        </p:nvSpPr>
        <p:spPr>
          <a:xfrm flipH="false" flipV="false" rot="0">
            <a:off x="384256" y="1405219"/>
            <a:ext cx="4745974" cy="128378"/>
          </a:xfrm>
          <a:custGeom>
            <a:avLst/>
            <a:gdLst/>
            <a:ahLst/>
            <a:cxnLst/>
            <a:rect r="r" b="b" t="t" l="l"/>
            <a:pathLst>
              <a:path h="128378" w="4745974">
                <a:moveTo>
                  <a:pt x="0" y="0"/>
                </a:moveTo>
                <a:lnTo>
                  <a:pt x="4745974" y="0"/>
                </a:lnTo>
                <a:lnTo>
                  <a:pt x="4745974" y="128378"/>
                </a:lnTo>
                <a:lnTo>
                  <a:pt x="0" y="128378"/>
                </a:lnTo>
                <a:lnTo>
                  <a:pt x="0" y="0"/>
                </a:lnTo>
                <a:close/>
              </a:path>
            </a:pathLst>
          </a:custGeom>
          <a:blipFill>
            <a:blip r:embed="rId6">
              <a:extLst>
                <a:ext uri="{96DAC541-7B7A-43D3-8B79-37D633B846F1}">
                  <asvg:svgBlip xmlns:asvg="http://schemas.microsoft.com/office/drawing/2016/SVG/main" r:embed="rId7"/>
                </a:ext>
              </a:extLst>
            </a:blip>
            <a:stretch>
              <a:fillRect l="0" t="-157441" r="0" b="-157434"/>
            </a:stretch>
          </a:blipFill>
        </p:spPr>
      </p:sp>
      <p:sp>
        <p:nvSpPr>
          <p:cNvPr name="TextBox 11" id="11"/>
          <p:cNvSpPr txBox="true"/>
          <p:nvPr/>
        </p:nvSpPr>
        <p:spPr>
          <a:xfrm rot="0">
            <a:off x="8553112" y="9950995"/>
            <a:ext cx="1770190" cy="327728"/>
          </a:xfrm>
          <a:prstGeom prst="rect">
            <a:avLst/>
          </a:prstGeom>
        </p:spPr>
        <p:txBody>
          <a:bodyPr anchor="t" rtlCol="false" tIns="0" lIns="0" bIns="0" rIns="0">
            <a:spAutoFit/>
          </a:bodyPr>
          <a:lstStyle/>
          <a:p>
            <a:pPr algn="l">
              <a:lnSpc>
                <a:spcPts val="2607"/>
              </a:lnSpc>
            </a:pPr>
            <a:r>
              <a:rPr lang="en-US" sz="2173" b="true">
                <a:solidFill>
                  <a:srgbClr val="002060"/>
                </a:solidFill>
                <a:latin typeface="Aptos Bold"/>
                <a:ea typeface="Aptos Bold"/>
                <a:cs typeface="Aptos Bold"/>
                <a:sym typeface="Aptos Bold"/>
              </a:rPr>
              <a:t>R26-SE-002</a:t>
            </a:r>
          </a:p>
        </p:txBody>
      </p:sp>
      <p:sp>
        <p:nvSpPr>
          <p:cNvPr name="TextBox 12" id="12"/>
          <p:cNvSpPr txBox="true"/>
          <p:nvPr/>
        </p:nvSpPr>
        <p:spPr>
          <a:xfrm rot="0">
            <a:off x="384256" y="159772"/>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0" y="9464027"/>
            <a:ext cx="2846113" cy="822973"/>
            <a:chOff x="0" y="0"/>
            <a:chExt cx="4743450" cy="1371600"/>
          </a:xfrm>
        </p:grpSpPr>
        <p:sp>
          <p:nvSpPr>
            <p:cNvPr name="Freeform 4" id="4"/>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3"/>
              <a:stretch>
                <a:fillRect l="0" t="-11864" r="0" b="-11860"/>
              </a:stretch>
            </a:blipFill>
          </p:spPr>
        </p:sp>
      </p:grpSp>
      <p:grpSp>
        <p:nvGrpSpPr>
          <p:cNvPr name="Group 5" id="5"/>
          <p:cNvGrpSpPr/>
          <p:nvPr/>
        </p:nvGrpSpPr>
        <p:grpSpPr>
          <a:xfrm rot="0">
            <a:off x="-2468205" y="406170"/>
            <a:ext cx="11906412" cy="1357354"/>
            <a:chOff x="0" y="0"/>
            <a:chExt cx="15875215" cy="1809806"/>
          </a:xfrm>
        </p:grpSpPr>
        <p:sp>
          <p:nvSpPr>
            <p:cNvPr name="Freeform 6" id="6"/>
            <p:cNvSpPr/>
            <p:nvPr/>
          </p:nvSpPr>
          <p:spPr>
            <a:xfrm flipH="false" flipV="false" rot="0">
              <a:off x="0" y="0"/>
              <a:ext cx="15875217" cy="1809804"/>
            </a:xfrm>
            <a:custGeom>
              <a:avLst/>
              <a:gdLst/>
              <a:ahLst/>
              <a:cxnLst/>
              <a:rect r="r" b="b" t="t" l="l"/>
              <a:pathLst>
                <a:path h="1809804" w="15875217">
                  <a:moveTo>
                    <a:pt x="0" y="0"/>
                  </a:moveTo>
                  <a:lnTo>
                    <a:pt x="15875217" y="0"/>
                  </a:lnTo>
                  <a:lnTo>
                    <a:pt x="15875217" y="1809804"/>
                  </a:lnTo>
                  <a:lnTo>
                    <a:pt x="0" y="1809804"/>
                  </a:lnTo>
                  <a:close/>
                </a:path>
              </a:pathLst>
            </a:custGeom>
            <a:blipFill>
              <a:blip r:embed="rId4">
                <a:alphaModFix amt="0"/>
              </a:blip>
              <a:stretch>
                <a:fillRect l="0" t="-40224" r="44791" b="-48497"/>
              </a:stretch>
            </a:blipFill>
          </p:spPr>
        </p:sp>
        <p:sp>
          <p:nvSpPr>
            <p:cNvPr name="TextBox 7" id="7"/>
            <p:cNvSpPr txBox="true"/>
            <p:nvPr/>
          </p:nvSpPr>
          <p:spPr>
            <a:xfrm>
              <a:off x="0" y="85725"/>
              <a:ext cx="15875215" cy="1724081"/>
            </a:xfrm>
            <a:prstGeom prst="rect">
              <a:avLst/>
            </a:prstGeom>
          </p:spPr>
          <p:txBody>
            <a:bodyPr anchor="b" rtlCol="false" tIns="0" lIns="0" bIns="0" rIns="0"/>
            <a:lstStyle/>
            <a:p>
              <a:pPr algn="ctr">
                <a:lnSpc>
                  <a:spcPts val="7776"/>
                </a:lnSpc>
              </a:pPr>
              <a:r>
                <a:rPr lang="en-US" sz="7200" b="true">
                  <a:solidFill>
                    <a:srgbClr val="002060"/>
                  </a:solidFill>
                  <a:latin typeface="Aptos Bold"/>
                  <a:ea typeface="Aptos Bold"/>
                  <a:cs typeface="Aptos Bold"/>
                  <a:sym typeface="Aptos Bold"/>
                </a:rPr>
                <a:t>Business Case</a:t>
              </a:r>
            </a:p>
          </p:txBody>
        </p:sp>
      </p:grpSp>
      <p:sp>
        <p:nvSpPr>
          <p:cNvPr name="Freeform 8" id="8"/>
          <p:cNvSpPr/>
          <p:nvPr/>
        </p:nvSpPr>
        <p:spPr>
          <a:xfrm flipH="false" flipV="false" rot="0">
            <a:off x="345662" y="1635147"/>
            <a:ext cx="4745974" cy="128378"/>
          </a:xfrm>
          <a:custGeom>
            <a:avLst/>
            <a:gdLst/>
            <a:ahLst/>
            <a:cxnLst/>
            <a:rect r="r" b="b" t="t" l="l"/>
            <a:pathLst>
              <a:path h="128378" w="4745974">
                <a:moveTo>
                  <a:pt x="0" y="0"/>
                </a:moveTo>
                <a:lnTo>
                  <a:pt x="4745974" y="0"/>
                </a:lnTo>
                <a:lnTo>
                  <a:pt x="4745974" y="128377"/>
                </a:lnTo>
                <a:lnTo>
                  <a:pt x="0" y="128377"/>
                </a:lnTo>
                <a:lnTo>
                  <a:pt x="0" y="0"/>
                </a:lnTo>
                <a:close/>
              </a:path>
            </a:pathLst>
          </a:custGeom>
          <a:blipFill>
            <a:blip r:embed="rId5">
              <a:extLst>
                <a:ext uri="{96DAC541-7B7A-43D3-8B79-37D633B846F1}">
                  <asvg:svgBlip xmlns:asvg="http://schemas.microsoft.com/office/drawing/2016/SVG/main" r:embed="rId6"/>
                </a:ext>
              </a:extLst>
            </a:blip>
            <a:stretch>
              <a:fillRect l="0" t="-157441" r="0" b="-157434"/>
            </a:stretch>
          </a:blipFill>
        </p:spPr>
      </p:sp>
      <p:grpSp>
        <p:nvGrpSpPr>
          <p:cNvPr name="Group 9" id="9"/>
          <p:cNvGrpSpPr/>
          <p:nvPr/>
        </p:nvGrpSpPr>
        <p:grpSpPr>
          <a:xfrm rot="0">
            <a:off x="345662" y="3812384"/>
            <a:ext cx="5741566" cy="2899392"/>
            <a:chOff x="0" y="0"/>
            <a:chExt cx="7655421" cy="3865856"/>
          </a:xfrm>
        </p:grpSpPr>
        <p:grpSp>
          <p:nvGrpSpPr>
            <p:cNvPr name="Group 10" id="10"/>
            <p:cNvGrpSpPr/>
            <p:nvPr/>
          </p:nvGrpSpPr>
          <p:grpSpPr>
            <a:xfrm rot="0">
              <a:off x="25975" y="0"/>
              <a:ext cx="7326157" cy="3865856"/>
              <a:chOff x="0" y="0"/>
              <a:chExt cx="12723093" cy="6713704"/>
            </a:xfrm>
          </p:grpSpPr>
          <p:sp>
            <p:nvSpPr>
              <p:cNvPr name="Freeform 11" id="11"/>
              <p:cNvSpPr/>
              <p:nvPr/>
            </p:nvSpPr>
            <p:spPr>
              <a:xfrm flipH="false" flipV="false" rot="0">
                <a:off x="172465" y="404400"/>
                <a:ext cx="12244558" cy="5829244"/>
              </a:xfrm>
              <a:custGeom>
                <a:avLst/>
                <a:gdLst/>
                <a:ahLst/>
                <a:cxnLst/>
                <a:rect r="r" b="b" t="t" l="l"/>
                <a:pathLst>
                  <a:path h="5829244" w="12244558">
                    <a:moveTo>
                      <a:pt x="132335" y="5779714"/>
                    </a:moveTo>
                    <a:cubicBezTo>
                      <a:pt x="128525" y="5794954"/>
                      <a:pt x="125985" y="5806384"/>
                      <a:pt x="119635" y="5829244"/>
                    </a:cubicBezTo>
                    <a:cubicBezTo>
                      <a:pt x="75185" y="5728914"/>
                      <a:pt x="91695" y="5805114"/>
                      <a:pt x="23115" y="5740344"/>
                    </a:cubicBezTo>
                    <a:cubicBezTo>
                      <a:pt x="44705" y="5727644"/>
                      <a:pt x="59945" y="5718754"/>
                      <a:pt x="86615" y="5716214"/>
                    </a:cubicBezTo>
                    <a:cubicBezTo>
                      <a:pt x="-100075" y="4062674"/>
                      <a:pt x="82805" y="2398974"/>
                      <a:pt x="20575" y="379190"/>
                    </a:cubicBezTo>
                    <a:cubicBezTo>
                      <a:pt x="57405" y="203930"/>
                      <a:pt x="294895" y="263620"/>
                      <a:pt x="426975" y="228060"/>
                    </a:cubicBezTo>
                    <a:cubicBezTo>
                      <a:pt x="613665" y="207740"/>
                      <a:pt x="800355" y="188690"/>
                      <a:pt x="987045" y="169640"/>
                    </a:cubicBezTo>
                    <a:cubicBezTo>
                      <a:pt x="1486155" y="118840"/>
                      <a:pt x="8359627" y="71850"/>
                      <a:pt x="8861277" y="43910"/>
                    </a:cubicBezTo>
                    <a:cubicBezTo>
                      <a:pt x="9821398" y="-13240"/>
                      <a:pt x="10785327" y="-11970"/>
                      <a:pt x="11746718" y="32480"/>
                    </a:cubicBezTo>
                    <a:cubicBezTo>
                      <a:pt x="11864827" y="57880"/>
                      <a:pt x="12132798" y="21050"/>
                      <a:pt x="12142958" y="179800"/>
                    </a:cubicBezTo>
                    <a:cubicBezTo>
                      <a:pt x="12140418" y="2085289"/>
                      <a:pt x="12229318" y="3914084"/>
                      <a:pt x="12244558" y="5599374"/>
                    </a:cubicBezTo>
                    <a:cubicBezTo>
                      <a:pt x="12244558" y="5634934"/>
                      <a:pt x="12244558" y="5684464"/>
                      <a:pt x="12197568" y="5687004"/>
                    </a:cubicBezTo>
                    <a:cubicBezTo>
                      <a:pt x="11918168" y="5735264"/>
                      <a:pt x="11636227" y="5707324"/>
                      <a:pt x="11354287" y="5717484"/>
                    </a:cubicBezTo>
                    <a:cubicBezTo>
                      <a:pt x="10737068" y="5749234"/>
                      <a:pt x="10123658" y="5844484"/>
                      <a:pt x="9503898" y="5797494"/>
                    </a:cubicBezTo>
                    <a:cubicBezTo>
                      <a:pt x="8505677" y="5736534"/>
                      <a:pt x="1131825" y="5756854"/>
                      <a:pt x="132335" y="5779714"/>
                    </a:cubicBezTo>
                    <a:close/>
                    <a:moveTo>
                      <a:pt x="12202648" y="5656524"/>
                    </a:moveTo>
                    <a:cubicBezTo>
                      <a:pt x="12104858" y="3981394"/>
                      <a:pt x="12022308" y="2297374"/>
                      <a:pt x="12097238" y="257270"/>
                    </a:cubicBezTo>
                    <a:cubicBezTo>
                      <a:pt x="12101048" y="158210"/>
                      <a:pt x="12093427" y="145510"/>
                      <a:pt x="11994368" y="136620"/>
                    </a:cubicBezTo>
                    <a:cubicBezTo>
                      <a:pt x="10579588" y="26130"/>
                      <a:pt x="9152108" y="54070"/>
                      <a:pt x="1366775" y="186150"/>
                    </a:cubicBezTo>
                    <a:cubicBezTo>
                      <a:pt x="956565" y="233140"/>
                      <a:pt x="541275" y="258540"/>
                      <a:pt x="133605" y="325850"/>
                    </a:cubicBezTo>
                    <a:cubicBezTo>
                      <a:pt x="51055" y="352520"/>
                      <a:pt x="92965" y="426180"/>
                      <a:pt x="95505" y="484600"/>
                    </a:cubicBezTo>
                    <a:cubicBezTo>
                      <a:pt x="114555" y="1089120"/>
                      <a:pt x="129795" y="1692370"/>
                      <a:pt x="148845" y="2660594"/>
                    </a:cubicBezTo>
                    <a:cubicBezTo>
                      <a:pt x="200915" y="3647384"/>
                      <a:pt x="199645" y="4637984"/>
                      <a:pt x="249175" y="5624774"/>
                    </a:cubicBezTo>
                    <a:cubicBezTo>
                      <a:pt x="250445" y="5646364"/>
                      <a:pt x="258065" y="5660334"/>
                      <a:pt x="283465" y="5661604"/>
                    </a:cubicBezTo>
                    <a:cubicBezTo>
                      <a:pt x="768605" y="5699704"/>
                      <a:pt x="1253745" y="5647634"/>
                      <a:pt x="1738885" y="5638744"/>
                    </a:cubicBezTo>
                    <a:cubicBezTo>
                      <a:pt x="9162268" y="5571434"/>
                      <a:pt x="10212558" y="5652714"/>
                      <a:pt x="11262848" y="5624774"/>
                    </a:cubicBezTo>
                    <a:cubicBezTo>
                      <a:pt x="11518118" y="5613344"/>
                      <a:pt x="11774658" y="5585404"/>
                      <a:pt x="12029927" y="5601914"/>
                    </a:cubicBezTo>
                    <a:cubicBezTo>
                      <a:pt x="12029927" y="5606994"/>
                      <a:pt x="12031198" y="5610804"/>
                      <a:pt x="12031198" y="5615884"/>
                    </a:cubicBezTo>
                    <a:cubicBezTo>
                      <a:pt x="11981668" y="5627314"/>
                      <a:pt x="11933408" y="5638744"/>
                      <a:pt x="11883877" y="5648904"/>
                    </a:cubicBezTo>
                    <a:cubicBezTo>
                      <a:pt x="11883877" y="5651444"/>
                      <a:pt x="11883877" y="5652714"/>
                      <a:pt x="11883877" y="5655254"/>
                    </a:cubicBezTo>
                    <a:cubicBezTo>
                      <a:pt x="11989287" y="5656524"/>
                      <a:pt x="12094698" y="5656524"/>
                      <a:pt x="12202648" y="5656524"/>
                    </a:cubicBezTo>
                    <a:close/>
                    <a:moveTo>
                      <a:pt x="105665" y="2757114"/>
                    </a:moveTo>
                    <a:cubicBezTo>
                      <a:pt x="42165" y="3742634"/>
                      <a:pt x="89155" y="4726884"/>
                      <a:pt x="134875" y="5712404"/>
                    </a:cubicBezTo>
                    <a:cubicBezTo>
                      <a:pt x="159005" y="5709864"/>
                      <a:pt x="181865" y="5708594"/>
                      <a:pt x="204725" y="5706054"/>
                    </a:cubicBezTo>
                    <a:cubicBezTo>
                      <a:pt x="161545" y="4724344"/>
                      <a:pt x="183135" y="3738824"/>
                      <a:pt x="105665" y="2757114"/>
                    </a:cubicBezTo>
                    <a:close/>
                    <a:moveTo>
                      <a:pt x="10396708" y="5695894"/>
                    </a:moveTo>
                    <a:cubicBezTo>
                      <a:pt x="9882358" y="5674304"/>
                      <a:pt x="9369277" y="5657794"/>
                      <a:pt x="8854927" y="5673034"/>
                    </a:cubicBezTo>
                    <a:cubicBezTo>
                      <a:pt x="9369277" y="5692084"/>
                      <a:pt x="9882358" y="5745424"/>
                      <a:pt x="10396708" y="5695894"/>
                    </a:cubicBezTo>
                    <a:close/>
                  </a:path>
                </a:pathLst>
              </a:custGeom>
              <a:solidFill>
                <a:srgbClr val="000000"/>
              </a:solidFill>
            </p:spPr>
          </p:sp>
        </p:grpSp>
        <p:sp>
          <p:nvSpPr>
            <p:cNvPr name="TextBox 12" id="12"/>
            <p:cNvSpPr txBox="true"/>
            <p:nvPr/>
          </p:nvSpPr>
          <p:spPr>
            <a:xfrm rot="0">
              <a:off x="993728" y="541952"/>
              <a:ext cx="3682922" cy="615439"/>
            </a:xfrm>
            <a:prstGeom prst="rect">
              <a:avLst/>
            </a:prstGeom>
          </p:spPr>
          <p:txBody>
            <a:bodyPr anchor="t" rtlCol="false" tIns="0" lIns="0" bIns="0" rIns="0">
              <a:spAutoFit/>
            </a:bodyPr>
            <a:lstStyle/>
            <a:p>
              <a:pPr algn="ctr">
                <a:lnSpc>
                  <a:spcPts val="3663"/>
                </a:lnSpc>
                <a:spcBef>
                  <a:spcPct val="0"/>
                </a:spcBef>
              </a:pPr>
              <a:r>
                <a:rPr lang="en-US" b="true" sz="3052">
                  <a:solidFill>
                    <a:srgbClr val="000000"/>
                  </a:solidFill>
                  <a:latin typeface="DM Sans Bold"/>
                  <a:ea typeface="DM Sans Bold"/>
                  <a:cs typeface="DM Sans Bold"/>
                  <a:sym typeface="DM Sans Bold"/>
                </a:rPr>
                <a:t>SLIIT Validated</a:t>
              </a:r>
            </a:p>
          </p:txBody>
        </p:sp>
        <p:sp>
          <p:nvSpPr>
            <p:cNvPr name="TextBox 13" id="13"/>
            <p:cNvSpPr txBox="true"/>
            <p:nvPr/>
          </p:nvSpPr>
          <p:spPr>
            <a:xfrm rot="0">
              <a:off x="402761" y="1424363"/>
              <a:ext cx="7252660" cy="1661685"/>
            </a:xfrm>
            <a:prstGeom prst="rect">
              <a:avLst/>
            </a:prstGeom>
          </p:spPr>
          <p:txBody>
            <a:bodyPr anchor="t" rtlCol="false" tIns="0" lIns="0" bIns="0" rIns="0">
              <a:spAutoFit/>
            </a:bodyPr>
            <a:lstStyle/>
            <a:p>
              <a:pPr algn="l">
                <a:lnSpc>
                  <a:spcPts val="3314"/>
                </a:lnSpc>
                <a:spcBef>
                  <a:spcPct val="0"/>
                </a:spcBef>
              </a:pPr>
              <a:r>
                <a:rPr lang="en-US" b="true" sz="2762">
                  <a:solidFill>
                    <a:srgbClr val="000000"/>
                  </a:solidFill>
                  <a:latin typeface="DM Sans Bold"/>
                  <a:ea typeface="DM Sans Bold"/>
                  <a:cs typeface="DM Sans Bold"/>
                  <a:sym typeface="DM Sans Bold"/>
                </a:rPr>
                <a:t>Reviewed and validated by </a:t>
              </a:r>
            </a:p>
            <a:p>
              <a:pPr algn="l">
                <a:lnSpc>
                  <a:spcPts val="3314"/>
                </a:lnSpc>
                <a:spcBef>
                  <a:spcPct val="0"/>
                </a:spcBef>
              </a:pPr>
              <a:r>
                <a:rPr lang="en-US" b="true" sz="2762">
                  <a:solidFill>
                    <a:srgbClr val="000000"/>
                  </a:solidFill>
                  <a:latin typeface="DM Sans Bold"/>
                  <a:ea typeface="DM Sans Bold"/>
                  <a:cs typeface="DM Sans Bold"/>
                  <a:sym typeface="DM Sans Bold"/>
                </a:rPr>
                <a:t>SLIIT Placement Coordinator </a:t>
              </a:r>
            </a:p>
            <a:p>
              <a:pPr algn="l">
                <a:lnSpc>
                  <a:spcPts val="3314"/>
                </a:lnSpc>
                <a:spcBef>
                  <a:spcPct val="0"/>
                </a:spcBef>
              </a:pPr>
              <a:r>
                <a:rPr lang="en-US" b="true" sz="2762">
                  <a:solidFill>
                    <a:srgbClr val="000000"/>
                  </a:solidFill>
                  <a:latin typeface="DM Sans Bold"/>
                  <a:ea typeface="DM Sans Bold"/>
                  <a:cs typeface="DM Sans Bold"/>
                  <a:sym typeface="DM Sans Bold"/>
                </a:rPr>
                <a:t>and industry experts.</a:t>
              </a:r>
            </a:p>
          </p:txBody>
        </p:sp>
        <p:sp>
          <p:nvSpPr>
            <p:cNvPr name="Freeform 14" id="14"/>
            <p:cNvSpPr/>
            <p:nvPr/>
          </p:nvSpPr>
          <p:spPr>
            <a:xfrm flipH="false" flipV="false" rot="0">
              <a:off x="0" y="0"/>
              <a:ext cx="1014142" cy="1029586"/>
            </a:xfrm>
            <a:custGeom>
              <a:avLst/>
              <a:gdLst/>
              <a:ahLst/>
              <a:cxnLst/>
              <a:rect r="r" b="b" t="t" l="l"/>
              <a:pathLst>
                <a:path h="1029586" w="1014142">
                  <a:moveTo>
                    <a:pt x="0" y="0"/>
                  </a:moveTo>
                  <a:lnTo>
                    <a:pt x="1014142" y="0"/>
                  </a:lnTo>
                  <a:lnTo>
                    <a:pt x="1014142" y="1029586"/>
                  </a:lnTo>
                  <a:lnTo>
                    <a:pt x="0" y="10295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5" id="15"/>
          <p:cNvGrpSpPr/>
          <p:nvPr/>
        </p:nvGrpSpPr>
        <p:grpSpPr>
          <a:xfrm rot="0">
            <a:off x="11434487" y="7014052"/>
            <a:ext cx="6490874" cy="2360112"/>
            <a:chOff x="0" y="0"/>
            <a:chExt cx="17104263" cy="6219190"/>
          </a:xfrm>
        </p:grpSpPr>
        <p:sp>
          <p:nvSpPr>
            <p:cNvPr name="Freeform 16" id="16"/>
            <p:cNvSpPr/>
            <p:nvPr/>
          </p:nvSpPr>
          <p:spPr>
            <a:xfrm flipH="false" flipV="false" rot="0">
              <a:off x="172465" y="404400"/>
              <a:ext cx="16625729" cy="5334730"/>
            </a:xfrm>
            <a:custGeom>
              <a:avLst/>
              <a:gdLst/>
              <a:ahLst/>
              <a:cxnLst/>
              <a:rect r="r" b="b" t="t" l="l"/>
              <a:pathLst>
                <a:path h="5334730" w="16625729">
                  <a:moveTo>
                    <a:pt x="132335" y="5285200"/>
                  </a:moveTo>
                  <a:cubicBezTo>
                    <a:pt x="128525" y="5300440"/>
                    <a:pt x="125985" y="5311870"/>
                    <a:pt x="119635" y="5334730"/>
                  </a:cubicBezTo>
                  <a:cubicBezTo>
                    <a:pt x="75185" y="5234400"/>
                    <a:pt x="91695" y="5310600"/>
                    <a:pt x="23115" y="5245830"/>
                  </a:cubicBezTo>
                  <a:cubicBezTo>
                    <a:pt x="44705" y="5233130"/>
                    <a:pt x="59945" y="5224240"/>
                    <a:pt x="86615" y="5221700"/>
                  </a:cubicBezTo>
                  <a:cubicBezTo>
                    <a:pt x="-100075" y="3568160"/>
                    <a:pt x="82805" y="1904460"/>
                    <a:pt x="20575" y="379190"/>
                  </a:cubicBezTo>
                  <a:cubicBezTo>
                    <a:pt x="57405" y="203930"/>
                    <a:pt x="294895" y="263620"/>
                    <a:pt x="426975" y="228060"/>
                  </a:cubicBezTo>
                  <a:cubicBezTo>
                    <a:pt x="613665" y="207740"/>
                    <a:pt x="800355" y="188690"/>
                    <a:pt x="987045" y="169640"/>
                  </a:cubicBezTo>
                  <a:cubicBezTo>
                    <a:pt x="1486155" y="118840"/>
                    <a:pt x="12740798" y="71850"/>
                    <a:pt x="13242448" y="43910"/>
                  </a:cubicBezTo>
                  <a:cubicBezTo>
                    <a:pt x="14202568" y="-13240"/>
                    <a:pt x="15166498" y="-11970"/>
                    <a:pt x="16127887" y="32480"/>
                  </a:cubicBezTo>
                  <a:cubicBezTo>
                    <a:pt x="16245998" y="57880"/>
                    <a:pt x="16513968" y="21050"/>
                    <a:pt x="16524128" y="179800"/>
                  </a:cubicBezTo>
                  <a:cubicBezTo>
                    <a:pt x="16521587" y="1787620"/>
                    <a:pt x="16610487" y="3419570"/>
                    <a:pt x="16625728" y="5104860"/>
                  </a:cubicBezTo>
                  <a:cubicBezTo>
                    <a:pt x="16625728" y="5140420"/>
                    <a:pt x="16625728" y="5189950"/>
                    <a:pt x="16578737" y="5192490"/>
                  </a:cubicBezTo>
                  <a:cubicBezTo>
                    <a:pt x="16299337" y="5240750"/>
                    <a:pt x="16017398" y="5212810"/>
                    <a:pt x="15735459" y="5222970"/>
                  </a:cubicBezTo>
                  <a:cubicBezTo>
                    <a:pt x="15118237" y="5254720"/>
                    <a:pt x="14504828" y="5349970"/>
                    <a:pt x="13885068" y="5302980"/>
                  </a:cubicBezTo>
                  <a:cubicBezTo>
                    <a:pt x="12886848" y="5242020"/>
                    <a:pt x="1131825" y="5262340"/>
                    <a:pt x="132335" y="5285200"/>
                  </a:cubicBezTo>
                  <a:close/>
                  <a:moveTo>
                    <a:pt x="16583818" y="5162010"/>
                  </a:moveTo>
                  <a:cubicBezTo>
                    <a:pt x="16486028" y="3486880"/>
                    <a:pt x="16403478" y="1802860"/>
                    <a:pt x="16478409" y="257270"/>
                  </a:cubicBezTo>
                  <a:cubicBezTo>
                    <a:pt x="16482218" y="158210"/>
                    <a:pt x="16474598" y="145510"/>
                    <a:pt x="16375539" y="136620"/>
                  </a:cubicBezTo>
                  <a:cubicBezTo>
                    <a:pt x="14960759" y="26130"/>
                    <a:pt x="13533278" y="54070"/>
                    <a:pt x="1366775" y="186150"/>
                  </a:cubicBezTo>
                  <a:cubicBezTo>
                    <a:pt x="956565" y="233140"/>
                    <a:pt x="541275" y="258540"/>
                    <a:pt x="133605" y="325850"/>
                  </a:cubicBezTo>
                  <a:cubicBezTo>
                    <a:pt x="51055" y="352520"/>
                    <a:pt x="92965" y="426180"/>
                    <a:pt x="95505" y="484600"/>
                  </a:cubicBezTo>
                  <a:cubicBezTo>
                    <a:pt x="114555" y="1089120"/>
                    <a:pt x="129795" y="1692370"/>
                    <a:pt x="148845" y="2166080"/>
                  </a:cubicBezTo>
                  <a:cubicBezTo>
                    <a:pt x="200915" y="3152870"/>
                    <a:pt x="199645" y="4143470"/>
                    <a:pt x="249175" y="5130260"/>
                  </a:cubicBezTo>
                  <a:cubicBezTo>
                    <a:pt x="250445" y="5151850"/>
                    <a:pt x="258065" y="5165820"/>
                    <a:pt x="283465" y="5167090"/>
                  </a:cubicBezTo>
                  <a:cubicBezTo>
                    <a:pt x="768605" y="5205190"/>
                    <a:pt x="1253745" y="5153120"/>
                    <a:pt x="1738885" y="5144230"/>
                  </a:cubicBezTo>
                  <a:cubicBezTo>
                    <a:pt x="13543439" y="5076920"/>
                    <a:pt x="14593728" y="5158200"/>
                    <a:pt x="15644018" y="5130260"/>
                  </a:cubicBezTo>
                  <a:cubicBezTo>
                    <a:pt x="15899289" y="5118830"/>
                    <a:pt x="16155828" y="5090890"/>
                    <a:pt x="16411098" y="5107400"/>
                  </a:cubicBezTo>
                  <a:cubicBezTo>
                    <a:pt x="16411098" y="5112480"/>
                    <a:pt x="16412368" y="5116290"/>
                    <a:pt x="16412368" y="5121370"/>
                  </a:cubicBezTo>
                  <a:cubicBezTo>
                    <a:pt x="16362839" y="5132800"/>
                    <a:pt x="16314578" y="5144230"/>
                    <a:pt x="16265048" y="5154390"/>
                  </a:cubicBezTo>
                  <a:cubicBezTo>
                    <a:pt x="16265048" y="5156930"/>
                    <a:pt x="16265048" y="5158200"/>
                    <a:pt x="16265048" y="5160740"/>
                  </a:cubicBezTo>
                  <a:cubicBezTo>
                    <a:pt x="16370459" y="5162010"/>
                    <a:pt x="16475868" y="5162010"/>
                    <a:pt x="16583818" y="5162010"/>
                  </a:cubicBezTo>
                  <a:close/>
                  <a:moveTo>
                    <a:pt x="105665" y="2262600"/>
                  </a:moveTo>
                  <a:cubicBezTo>
                    <a:pt x="42165" y="3248120"/>
                    <a:pt x="89155" y="4232370"/>
                    <a:pt x="134875" y="5217890"/>
                  </a:cubicBezTo>
                  <a:cubicBezTo>
                    <a:pt x="159005" y="5215350"/>
                    <a:pt x="181865" y="5214080"/>
                    <a:pt x="204725" y="5211540"/>
                  </a:cubicBezTo>
                  <a:cubicBezTo>
                    <a:pt x="161545" y="4229830"/>
                    <a:pt x="183135" y="3244310"/>
                    <a:pt x="105665" y="2262600"/>
                  </a:cubicBezTo>
                  <a:close/>
                  <a:moveTo>
                    <a:pt x="14777878" y="5201380"/>
                  </a:moveTo>
                  <a:cubicBezTo>
                    <a:pt x="14263528" y="5179790"/>
                    <a:pt x="13750448" y="5163280"/>
                    <a:pt x="13236098" y="5178520"/>
                  </a:cubicBezTo>
                  <a:cubicBezTo>
                    <a:pt x="13750448" y="5197570"/>
                    <a:pt x="14263528" y="5250910"/>
                    <a:pt x="14777878" y="5201380"/>
                  </a:cubicBezTo>
                  <a:close/>
                </a:path>
              </a:pathLst>
            </a:custGeom>
            <a:solidFill>
              <a:srgbClr val="000000"/>
            </a:solidFill>
          </p:spPr>
        </p:sp>
      </p:grpSp>
      <p:grpSp>
        <p:nvGrpSpPr>
          <p:cNvPr name="Group 17" id="17"/>
          <p:cNvGrpSpPr/>
          <p:nvPr/>
        </p:nvGrpSpPr>
        <p:grpSpPr>
          <a:xfrm rot="0">
            <a:off x="6279767" y="5370049"/>
            <a:ext cx="6297856" cy="2252144"/>
            <a:chOff x="0" y="0"/>
            <a:chExt cx="17391236" cy="6219190"/>
          </a:xfrm>
        </p:grpSpPr>
        <p:sp>
          <p:nvSpPr>
            <p:cNvPr name="Freeform 18" id="18"/>
            <p:cNvSpPr/>
            <p:nvPr/>
          </p:nvSpPr>
          <p:spPr>
            <a:xfrm flipH="false" flipV="false" rot="0">
              <a:off x="172465" y="404400"/>
              <a:ext cx="16912700" cy="5334730"/>
            </a:xfrm>
            <a:custGeom>
              <a:avLst/>
              <a:gdLst/>
              <a:ahLst/>
              <a:cxnLst/>
              <a:rect r="r" b="b" t="t" l="l"/>
              <a:pathLst>
                <a:path h="5334730" w="16912700">
                  <a:moveTo>
                    <a:pt x="132335" y="5285200"/>
                  </a:moveTo>
                  <a:cubicBezTo>
                    <a:pt x="128525" y="5300440"/>
                    <a:pt x="125985" y="5311870"/>
                    <a:pt x="119635" y="5334730"/>
                  </a:cubicBezTo>
                  <a:cubicBezTo>
                    <a:pt x="75185" y="5234400"/>
                    <a:pt x="91695" y="5310600"/>
                    <a:pt x="23115" y="5245830"/>
                  </a:cubicBezTo>
                  <a:cubicBezTo>
                    <a:pt x="44705" y="5233130"/>
                    <a:pt x="59945" y="5224240"/>
                    <a:pt x="86615" y="5221700"/>
                  </a:cubicBezTo>
                  <a:cubicBezTo>
                    <a:pt x="-100075" y="3568160"/>
                    <a:pt x="82805" y="1904460"/>
                    <a:pt x="20575" y="379190"/>
                  </a:cubicBezTo>
                  <a:cubicBezTo>
                    <a:pt x="57405" y="203930"/>
                    <a:pt x="294895" y="263620"/>
                    <a:pt x="426975" y="228060"/>
                  </a:cubicBezTo>
                  <a:cubicBezTo>
                    <a:pt x="613665" y="207740"/>
                    <a:pt x="800355" y="188690"/>
                    <a:pt x="987045" y="169640"/>
                  </a:cubicBezTo>
                  <a:cubicBezTo>
                    <a:pt x="1486155" y="118840"/>
                    <a:pt x="13027771" y="71850"/>
                    <a:pt x="13529421" y="43910"/>
                  </a:cubicBezTo>
                  <a:cubicBezTo>
                    <a:pt x="14489541" y="-13240"/>
                    <a:pt x="15453471" y="-11970"/>
                    <a:pt x="16414861" y="32480"/>
                  </a:cubicBezTo>
                  <a:cubicBezTo>
                    <a:pt x="16532971" y="57880"/>
                    <a:pt x="16800941" y="21050"/>
                    <a:pt x="16811100" y="179800"/>
                  </a:cubicBezTo>
                  <a:cubicBezTo>
                    <a:pt x="16808561" y="1787620"/>
                    <a:pt x="16897461" y="3419570"/>
                    <a:pt x="16912700" y="5104860"/>
                  </a:cubicBezTo>
                  <a:cubicBezTo>
                    <a:pt x="16912700" y="5140420"/>
                    <a:pt x="16912700" y="5189950"/>
                    <a:pt x="16865711" y="5192490"/>
                  </a:cubicBezTo>
                  <a:cubicBezTo>
                    <a:pt x="16586311" y="5240750"/>
                    <a:pt x="16304371" y="5212810"/>
                    <a:pt x="16022430" y="5222970"/>
                  </a:cubicBezTo>
                  <a:cubicBezTo>
                    <a:pt x="15405211" y="5254720"/>
                    <a:pt x="14791800" y="5349970"/>
                    <a:pt x="14172041" y="5302980"/>
                  </a:cubicBezTo>
                  <a:cubicBezTo>
                    <a:pt x="13173821" y="5242020"/>
                    <a:pt x="1131825" y="5262340"/>
                    <a:pt x="132335" y="5285200"/>
                  </a:cubicBezTo>
                  <a:close/>
                  <a:moveTo>
                    <a:pt x="16870791" y="5162010"/>
                  </a:moveTo>
                  <a:cubicBezTo>
                    <a:pt x="16773000" y="3486880"/>
                    <a:pt x="16690450" y="1802860"/>
                    <a:pt x="16765380" y="257270"/>
                  </a:cubicBezTo>
                  <a:cubicBezTo>
                    <a:pt x="16769191" y="158210"/>
                    <a:pt x="16761571" y="145510"/>
                    <a:pt x="16662511" y="136620"/>
                  </a:cubicBezTo>
                  <a:cubicBezTo>
                    <a:pt x="15247730" y="26130"/>
                    <a:pt x="13820251" y="54070"/>
                    <a:pt x="1366775" y="186150"/>
                  </a:cubicBezTo>
                  <a:cubicBezTo>
                    <a:pt x="956565" y="233140"/>
                    <a:pt x="541275" y="258540"/>
                    <a:pt x="133605" y="325850"/>
                  </a:cubicBezTo>
                  <a:cubicBezTo>
                    <a:pt x="51055" y="352520"/>
                    <a:pt x="92965" y="426180"/>
                    <a:pt x="95505" y="484600"/>
                  </a:cubicBezTo>
                  <a:cubicBezTo>
                    <a:pt x="114555" y="1089120"/>
                    <a:pt x="129795" y="1692370"/>
                    <a:pt x="148845" y="2166080"/>
                  </a:cubicBezTo>
                  <a:cubicBezTo>
                    <a:pt x="200915" y="3152870"/>
                    <a:pt x="199645" y="4143470"/>
                    <a:pt x="249175" y="5130260"/>
                  </a:cubicBezTo>
                  <a:cubicBezTo>
                    <a:pt x="250445" y="5151850"/>
                    <a:pt x="258065" y="5165820"/>
                    <a:pt x="283465" y="5167090"/>
                  </a:cubicBezTo>
                  <a:cubicBezTo>
                    <a:pt x="768605" y="5205190"/>
                    <a:pt x="1253745" y="5153120"/>
                    <a:pt x="1738885" y="5144230"/>
                  </a:cubicBezTo>
                  <a:cubicBezTo>
                    <a:pt x="13830411" y="5076920"/>
                    <a:pt x="14880700" y="5158200"/>
                    <a:pt x="15930991" y="5130260"/>
                  </a:cubicBezTo>
                  <a:cubicBezTo>
                    <a:pt x="16186261" y="5118830"/>
                    <a:pt x="16442801" y="5090890"/>
                    <a:pt x="16698071" y="5107400"/>
                  </a:cubicBezTo>
                  <a:cubicBezTo>
                    <a:pt x="16698071" y="5112480"/>
                    <a:pt x="16699341" y="5116290"/>
                    <a:pt x="16699341" y="5121370"/>
                  </a:cubicBezTo>
                  <a:cubicBezTo>
                    <a:pt x="16649811" y="5132800"/>
                    <a:pt x="16601551" y="5144230"/>
                    <a:pt x="16552021" y="5154390"/>
                  </a:cubicBezTo>
                  <a:cubicBezTo>
                    <a:pt x="16552021" y="5156930"/>
                    <a:pt x="16552021" y="5158200"/>
                    <a:pt x="16552021" y="5160740"/>
                  </a:cubicBezTo>
                  <a:cubicBezTo>
                    <a:pt x="16657430" y="5162010"/>
                    <a:pt x="16762841" y="5162010"/>
                    <a:pt x="16870791" y="5162010"/>
                  </a:cubicBezTo>
                  <a:close/>
                  <a:moveTo>
                    <a:pt x="105665" y="2262600"/>
                  </a:moveTo>
                  <a:cubicBezTo>
                    <a:pt x="42165" y="3248120"/>
                    <a:pt x="89155" y="4232370"/>
                    <a:pt x="134875" y="5217890"/>
                  </a:cubicBezTo>
                  <a:cubicBezTo>
                    <a:pt x="159005" y="5215350"/>
                    <a:pt x="181865" y="5214080"/>
                    <a:pt x="204725" y="5211540"/>
                  </a:cubicBezTo>
                  <a:cubicBezTo>
                    <a:pt x="161545" y="4229830"/>
                    <a:pt x="183135" y="3244310"/>
                    <a:pt x="105665" y="2262600"/>
                  </a:cubicBezTo>
                  <a:close/>
                  <a:moveTo>
                    <a:pt x="15064850" y="5201380"/>
                  </a:moveTo>
                  <a:cubicBezTo>
                    <a:pt x="14550500" y="5179790"/>
                    <a:pt x="14037421" y="5163280"/>
                    <a:pt x="13523071" y="5178520"/>
                  </a:cubicBezTo>
                  <a:cubicBezTo>
                    <a:pt x="14037421" y="5197570"/>
                    <a:pt x="14550500" y="5250910"/>
                    <a:pt x="15064850" y="5201380"/>
                  </a:cubicBezTo>
                  <a:close/>
                </a:path>
              </a:pathLst>
            </a:custGeom>
            <a:solidFill>
              <a:srgbClr val="000000"/>
            </a:solidFill>
          </p:spPr>
        </p:sp>
      </p:grpSp>
      <p:grpSp>
        <p:nvGrpSpPr>
          <p:cNvPr name="Group 19" id="19"/>
          <p:cNvGrpSpPr/>
          <p:nvPr/>
        </p:nvGrpSpPr>
        <p:grpSpPr>
          <a:xfrm rot="0">
            <a:off x="355713" y="6740352"/>
            <a:ext cx="5924055" cy="2877812"/>
            <a:chOff x="0" y="0"/>
            <a:chExt cx="7898739" cy="3837083"/>
          </a:xfrm>
        </p:grpSpPr>
        <p:grpSp>
          <p:nvGrpSpPr>
            <p:cNvPr name="Group 20" id="20"/>
            <p:cNvGrpSpPr/>
            <p:nvPr/>
          </p:nvGrpSpPr>
          <p:grpSpPr>
            <a:xfrm rot="0">
              <a:off x="26801" y="0"/>
              <a:ext cx="7559745" cy="3837083"/>
              <a:chOff x="0" y="0"/>
              <a:chExt cx="12724330" cy="6458460"/>
            </a:xfrm>
          </p:grpSpPr>
          <p:sp>
            <p:nvSpPr>
              <p:cNvPr name="Freeform 21" id="21"/>
              <p:cNvSpPr/>
              <p:nvPr/>
            </p:nvSpPr>
            <p:spPr>
              <a:xfrm flipH="false" flipV="false" rot="0">
                <a:off x="172465" y="404400"/>
                <a:ext cx="12245796" cy="5574001"/>
              </a:xfrm>
              <a:custGeom>
                <a:avLst/>
                <a:gdLst/>
                <a:ahLst/>
                <a:cxnLst/>
                <a:rect r="r" b="b" t="t" l="l"/>
                <a:pathLst>
                  <a:path h="5574001" w="12245796">
                    <a:moveTo>
                      <a:pt x="132335" y="5524470"/>
                    </a:moveTo>
                    <a:cubicBezTo>
                      <a:pt x="128525" y="5539710"/>
                      <a:pt x="125985" y="5551140"/>
                      <a:pt x="119635" y="5574000"/>
                    </a:cubicBezTo>
                    <a:cubicBezTo>
                      <a:pt x="75185" y="5473670"/>
                      <a:pt x="91695" y="5549870"/>
                      <a:pt x="23115" y="5485100"/>
                    </a:cubicBezTo>
                    <a:cubicBezTo>
                      <a:pt x="44705" y="5472400"/>
                      <a:pt x="59945" y="5463510"/>
                      <a:pt x="86615" y="5460970"/>
                    </a:cubicBezTo>
                    <a:cubicBezTo>
                      <a:pt x="-100075" y="3807431"/>
                      <a:pt x="82805" y="2143730"/>
                      <a:pt x="20575" y="379190"/>
                    </a:cubicBezTo>
                    <a:cubicBezTo>
                      <a:pt x="57405" y="203930"/>
                      <a:pt x="294895" y="263620"/>
                      <a:pt x="426975" y="228060"/>
                    </a:cubicBezTo>
                    <a:cubicBezTo>
                      <a:pt x="613665" y="207740"/>
                      <a:pt x="800355" y="188690"/>
                      <a:pt x="987045" y="169640"/>
                    </a:cubicBezTo>
                    <a:cubicBezTo>
                      <a:pt x="1486155" y="118840"/>
                      <a:pt x="8360865" y="71850"/>
                      <a:pt x="8862515" y="43910"/>
                    </a:cubicBezTo>
                    <a:cubicBezTo>
                      <a:pt x="9822636" y="-13240"/>
                      <a:pt x="10786565" y="-11970"/>
                      <a:pt x="11747955" y="32480"/>
                    </a:cubicBezTo>
                    <a:cubicBezTo>
                      <a:pt x="11866065" y="57880"/>
                      <a:pt x="12134036" y="21050"/>
                      <a:pt x="12144196" y="179800"/>
                    </a:cubicBezTo>
                    <a:cubicBezTo>
                      <a:pt x="12141655" y="1931647"/>
                      <a:pt x="12230555" y="3658840"/>
                      <a:pt x="12245796" y="5344131"/>
                    </a:cubicBezTo>
                    <a:cubicBezTo>
                      <a:pt x="12245796" y="5379690"/>
                      <a:pt x="12245796" y="5429221"/>
                      <a:pt x="12198805" y="5431760"/>
                    </a:cubicBezTo>
                    <a:cubicBezTo>
                      <a:pt x="11919405" y="5480021"/>
                      <a:pt x="11637465" y="5452081"/>
                      <a:pt x="11355525" y="5462240"/>
                    </a:cubicBezTo>
                    <a:cubicBezTo>
                      <a:pt x="10738305" y="5493990"/>
                      <a:pt x="10124896" y="5589240"/>
                      <a:pt x="9505136" y="5542251"/>
                    </a:cubicBezTo>
                    <a:cubicBezTo>
                      <a:pt x="8506915" y="5481290"/>
                      <a:pt x="1131825" y="5501610"/>
                      <a:pt x="132335" y="5524470"/>
                    </a:cubicBezTo>
                    <a:close/>
                    <a:moveTo>
                      <a:pt x="12203886" y="5401281"/>
                    </a:moveTo>
                    <a:cubicBezTo>
                      <a:pt x="12106096" y="3726151"/>
                      <a:pt x="12023546" y="2042130"/>
                      <a:pt x="12098476" y="257270"/>
                    </a:cubicBezTo>
                    <a:cubicBezTo>
                      <a:pt x="12102286" y="158210"/>
                      <a:pt x="12094665" y="145510"/>
                      <a:pt x="11995605" y="136620"/>
                    </a:cubicBezTo>
                    <a:cubicBezTo>
                      <a:pt x="10580826" y="26130"/>
                      <a:pt x="9153346" y="54070"/>
                      <a:pt x="1366775" y="186150"/>
                    </a:cubicBezTo>
                    <a:cubicBezTo>
                      <a:pt x="956565" y="233140"/>
                      <a:pt x="541275" y="258540"/>
                      <a:pt x="133605" y="325850"/>
                    </a:cubicBezTo>
                    <a:cubicBezTo>
                      <a:pt x="51055" y="352520"/>
                      <a:pt x="92965" y="426180"/>
                      <a:pt x="95505" y="484600"/>
                    </a:cubicBezTo>
                    <a:cubicBezTo>
                      <a:pt x="114555" y="1089120"/>
                      <a:pt x="129795" y="1692370"/>
                      <a:pt x="148845" y="2405350"/>
                    </a:cubicBezTo>
                    <a:cubicBezTo>
                      <a:pt x="200915" y="3392140"/>
                      <a:pt x="199645" y="4382740"/>
                      <a:pt x="249175" y="5369531"/>
                    </a:cubicBezTo>
                    <a:cubicBezTo>
                      <a:pt x="250445" y="5391120"/>
                      <a:pt x="258065" y="5405090"/>
                      <a:pt x="283465" y="5406360"/>
                    </a:cubicBezTo>
                    <a:cubicBezTo>
                      <a:pt x="768605" y="5444460"/>
                      <a:pt x="1253745" y="5392390"/>
                      <a:pt x="1738885" y="5383501"/>
                    </a:cubicBezTo>
                    <a:cubicBezTo>
                      <a:pt x="9163505" y="5316190"/>
                      <a:pt x="10213796" y="5397470"/>
                      <a:pt x="11264086" y="5369531"/>
                    </a:cubicBezTo>
                    <a:cubicBezTo>
                      <a:pt x="11519355" y="5358101"/>
                      <a:pt x="11775896" y="5330160"/>
                      <a:pt x="12031165" y="5346670"/>
                    </a:cubicBezTo>
                    <a:cubicBezTo>
                      <a:pt x="12031165" y="5351751"/>
                      <a:pt x="12032436" y="5355560"/>
                      <a:pt x="12032436" y="5360640"/>
                    </a:cubicBezTo>
                    <a:cubicBezTo>
                      <a:pt x="11982905" y="5372070"/>
                      <a:pt x="11934646" y="5383501"/>
                      <a:pt x="11885115" y="5393660"/>
                    </a:cubicBezTo>
                    <a:cubicBezTo>
                      <a:pt x="11885115" y="5396201"/>
                      <a:pt x="11885115" y="5397470"/>
                      <a:pt x="11885115" y="5400010"/>
                    </a:cubicBezTo>
                    <a:cubicBezTo>
                      <a:pt x="11990525" y="5401281"/>
                      <a:pt x="12095936" y="5401281"/>
                      <a:pt x="12203886" y="5401281"/>
                    </a:cubicBezTo>
                    <a:close/>
                    <a:moveTo>
                      <a:pt x="105665" y="2501870"/>
                    </a:moveTo>
                    <a:cubicBezTo>
                      <a:pt x="42165" y="3487390"/>
                      <a:pt x="89155" y="4471641"/>
                      <a:pt x="134875" y="5457160"/>
                    </a:cubicBezTo>
                    <a:cubicBezTo>
                      <a:pt x="159005" y="5454620"/>
                      <a:pt x="181865" y="5453351"/>
                      <a:pt x="204725" y="5450810"/>
                    </a:cubicBezTo>
                    <a:cubicBezTo>
                      <a:pt x="161545" y="4469101"/>
                      <a:pt x="183135" y="3483581"/>
                      <a:pt x="105665" y="2501870"/>
                    </a:cubicBezTo>
                    <a:close/>
                    <a:moveTo>
                      <a:pt x="10397946" y="5440651"/>
                    </a:moveTo>
                    <a:cubicBezTo>
                      <a:pt x="9883596" y="5419060"/>
                      <a:pt x="9370515" y="5402551"/>
                      <a:pt x="8856165" y="5417791"/>
                    </a:cubicBezTo>
                    <a:cubicBezTo>
                      <a:pt x="9370515" y="5436840"/>
                      <a:pt x="9883596" y="5490181"/>
                      <a:pt x="10397946" y="5440651"/>
                    </a:cubicBezTo>
                    <a:close/>
                  </a:path>
                </a:pathLst>
              </a:custGeom>
              <a:solidFill>
                <a:srgbClr val="000000"/>
              </a:solidFill>
            </p:spPr>
          </p:sp>
        </p:grpSp>
        <p:sp>
          <p:nvSpPr>
            <p:cNvPr name="TextBox 22" id="22"/>
            <p:cNvSpPr txBox="true"/>
            <p:nvPr/>
          </p:nvSpPr>
          <p:spPr>
            <a:xfrm rot="0">
              <a:off x="682412" y="559178"/>
              <a:ext cx="3799979" cy="635000"/>
            </a:xfrm>
            <a:prstGeom prst="rect">
              <a:avLst/>
            </a:prstGeom>
          </p:spPr>
          <p:txBody>
            <a:bodyPr anchor="t" rtlCol="false" tIns="0" lIns="0" bIns="0" rIns="0">
              <a:spAutoFit/>
            </a:bodyPr>
            <a:lstStyle/>
            <a:p>
              <a:pPr algn="ctr">
                <a:lnSpc>
                  <a:spcPts val="3779"/>
                </a:lnSpc>
                <a:spcBef>
                  <a:spcPct val="0"/>
                </a:spcBef>
              </a:pPr>
              <a:r>
                <a:rPr lang="en-US" b="true" sz="3150">
                  <a:solidFill>
                    <a:srgbClr val="000000"/>
                  </a:solidFill>
                  <a:latin typeface="DM Sans Bold"/>
                  <a:ea typeface="DM Sans Bold"/>
                  <a:cs typeface="DM Sans Bold"/>
                  <a:sym typeface="DM Sans Bold"/>
                </a:rPr>
                <a:t>User </a:t>
              </a:r>
              <a:r>
                <a:rPr lang="en-US" b="true" sz="3150">
                  <a:solidFill>
                    <a:srgbClr val="000000"/>
                  </a:solidFill>
                  <a:latin typeface="DM Sans Bold"/>
                  <a:ea typeface="DM Sans Bold"/>
                  <a:cs typeface="DM Sans Bold"/>
                  <a:sym typeface="DM Sans Bold"/>
                </a:rPr>
                <a:t>Tested</a:t>
              </a:r>
            </a:p>
          </p:txBody>
        </p:sp>
        <p:sp>
          <p:nvSpPr>
            <p:cNvPr name="TextBox 23" id="23"/>
            <p:cNvSpPr txBox="true"/>
            <p:nvPr/>
          </p:nvSpPr>
          <p:spPr>
            <a:xfrm rot="0">
              <a:off x="415562" y="1469635"/>
              <a:ext cx="7483177" cy="1676400"/>
            </a:xfrm>
            <a:prstGeom prst="rect">
              <a:avLst/>
            </a:prstGeom>
          </p:spPr>
          <p:txBody>
            <a:bodyPr anchor="t" rtlCol="false" tIns="0" lIns="0" bIns="0" rIns="0">
              <a:spAutoFit/>
            </a:bodyPr>
            <a:lstStyle/>
            <a:p>
              <a:pPr algn="l">
                <a:lnSpc>
                  <a:spcPts val="3311"/>
                </a:lnSpc>
                <a:spcBef>
                  <a:spcPct val="0"/>
                </a:spcBef>
              </a:pPr>
              <a:r>
                <a:rPr lang="en-US" b="true" sz="2760">
                  <a:solidFill>
                    <a:srgbClr val="000000"/>
                  </a:solidFill>
                  <a:latin typeface="DM Sans Bold"/>
                  <a:ea typeface="DM Sans Bold"/>
                  <a:cs typeface="DM Sans Bold"/>
                  <a:sym typeface="DM Sans Bold"/>
                </a:rPr>
                <a:t>4 compreh</a:t>
              </a:r>
              <a:r>
                <a:rPr lang="en-US" b="true" sz="2760">
                  <a:solidFill>
                    <a:srgbClr val="000000"/>
                  </a:solidFill>
                  <a:latin typeface="DM Sans Bold"/>
                  <a:ea typeface="DM Sans Bold"/>
                  <a:cs typeface="DM Sans Bold"/>
                  <a:sym typeface="DM Sans Bold"/>
                </a:rPr>
                <a:t>ensive user tests completed across job seekers and university recruiters.</a:t>
              </a:r>
            </a:p>
          </p:txBody>
        </p:sp>
        <p:sp>
          <p:nvSpPr>
            <p:cNvPr name="Freeform 24" id="24"/>
            <p:cNvSpPr/>
            <p:nvPr/>
          </p:nvSpPr>
          <p:spPr>
            <a:xfrm flipH="false" flipV="false" rot="0">
              <a:off x="0" y="0"/>
              <a:ext cx="1046375" cy="1062310"/>
            </a:xfrm>
            <a:custGeom>
              <a:avLst/>
              <a:gdLst/>
              <a:ahLst/>
              <a:cxnLst/>
              <a:rect r="r" b="b" t="t" l="l"/>
              <a:pathLst>
                <a:path h="1062310" w="1046375">
                  <a:moveTo>
                    <a:pt x="0" y="0"/>
                  </a:moveTo>
                  <a:lnTo>
                    <a:pt x="1046375" y="0"/>
                  </a:lnTo>
                  <a:lnTo>
                    <a:pt x="1046375" y="1062310"/>
                  </a:lnTo>
                  <a:lnTo>
                    <a:pt x="0" y="10623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25" id="25"/>
          <p:cNvGrpSpPr/>
          <p:nvPr/>
        </p:nvGrpSpPr>
        <p:grpSpPr>
          <a:xfrm rot="0">
            <a:off x="11609144" y="3568146"/>
            <a:ext cx="5650156" cy="2360112"/>
            <a:chOff x="0" y="0"/>
            <a:chExt cx="14888867" cy="6219190"/>
          </a:xfrm>
        </p:grpSpPr>
        <p:sp>
          <p:nvSpPr>
            <p:cNvPr name="Freeform 26" id="26"/>
            <p:cNvSpPr/>
            <p:nvPr/>
          </p:nvSpPr>
          <p:spPr>
            <a:xfrm flipH="false" flipV="false" rot="0">
              <a:off x="172465" y="404400"/>
              <a:ext cx="14410332" cy="5334730"/>
            </a:xfrm>
            <a:custGeom>
              <a:avLst/>
              <a:gdLst/>
              <a:ahLst/>
              <a:cxnLst/>
              <a:rect r="r" b="b" t="t" l="l"/>
              <a:pathLst>
                <a:path h="5334730" w="14410332">
                  <a:moveTo>
                    <a:pt x="132335" y="5285200"/>
                  </a:moveTo>
                  <a:cubicBezTo>
                    <a:pt x="128525" y="5300440"/>
                    <a:pt x="125985" y="5311870"/>
                    <a:pt x="119635" y="5334730"/>
                  </a:cubicBezTo>
                  <a:cubicBezTo>
                    <a:pt x="75185" y="5234400"/>
                    <a:pt x="91695" y="5310600"/>
                    <a:pt x="23115" y="5245830"/>
                  </a:cubicBezTo>
                  <a:cubicBezTo>
                    <a:pt x="44705" y="5233130"/>
                    <a:pt x="59945" y="5224240"/>
                    <a:pt x="86615" y="5221700"/>
                  </a:cubicBezTo>
                  <a:cubicBezTo>
                    <a:pt x="-100075" y="3568160"/>
                    <a:pt x="82805" y="1904460"/>
                    <a:pt x="20575" y="379190"/>
                  </a:cubicBezTo>
                  <a:cubicBezTo>
                    <a:pt x="57405" y="203930"/>
                    <a:pt x="294895" y="263620"/>
                    <a:pt x="426975" y="228060"/>
                  </a:cubicBezTo>
                  <a:cubicBezTo>
                    <a:pt x="613665" y="207740"/>
                    <a:pt x="800355" y="188690"/>
                    <a:pt x="987045" y="169640"/>
                  </a:cubicBezTo>
                  <a:cubicBezTo>
                    <a:pt x="1486155" y="118840"/>
                    <a:pt x="10525401" y="71850"/>
                    <a:pt x="11027051" y="43910"/>
                  </a:cubicBezTo>
                  <a:cubicBezTo>
                    <a:pt x="11987172" y="-13240"/>
                    <a:pt x="12951101" y="-11970"/>
                    <a:pt x="13912492" y="32480"/>
                  </a:cubicBezTo>
                  <a:cubicBezTo>
                    <a:pt x="14030601" y="57880"/>
                    <a:pt x="14298573" y="21050"/>
                    <a:pt x="14308732" y="179800"/>
                  </a:cubicBezTo>
                  <a:cubicBezTo>
                    <a:pt x="14306192" y="1787620"/>
                    <a:pt x="14395092" y="3419570"/>
                    <a:pt x="14410332" y="5104860"/>
                  </a:cubicBezTo>
                  <a:cubicBezTo>
                    <a:pt x="14410332" y="5140420"/>
                    <a:pt x="14410332" y="5189950"/>
                    <a:pt x="14363342" y="5192490"/>
                  </a:cubicBezTo>
                  <a:cubicBezTo>
                    <a:pt x="14083942" y="5240750"/>
                    <a:pt x="13802001" y="5212810"/>
                    <a:pt x="13520062" y="5222970"/>
                  </a:cubicBezTo>
                  <a:cubicBezTo>
                    <a:pt x="12902842" y="5254720"/>
                    <a:pt x="12289432" y="5349970"/>
                    <a:pt x="11669672" y="5302980"/>
                  </a:cubicBezTo>
                  <a:cubicBezTo>
                    <a:pt x="10671451" y="5242020"/>
                    <a:pt x="1131825" y="5262340"/>
                    <a:pt x="132335" y="5285200"/>
                  </a:cubicBezTo>
                  <a:close/>
                  <a:moveTo>
                    <a:pt x="14368423" y="5162010"/>
                  </a:moveTo>
                  <a:cubicBezTo>
                    <a:pt x="14270632" y="3486880"/>
                    <a:pt x="14188082" y="1802860"/>
                    <a:pt x="14263012" y="257270"/>
                  </a:cubicBezTo>
                  <a:cubicBezTo>
                    <a:pt x="14266823" y="158210"/>
                    <a:pt x="14259201" y="145510"/>
                    <a:pt x="14160142" y="136620"/>
                  </a:cubicBezTo>
                  <a:cubicBezTo>
                    <a:pt x="12745362" y="26130"/>
                    <a:pt x="11317882" y="54070"/>
                    <a:pt x="1366775" y="186150"/>
                  </a:cubicBezTo>
                  <a:cubicBezTo>
                    <a:pt x="956565" y="233140"/>
                    <a:pt x="541275" y="258540"/>
                    <a:pt x="133605" y="325850"/>
                  </a:cubicBezTo>
                  <a:cubicBezTo>
                    <a:pt x="51055" y="352520"/>
                    <a:pt x="92965" y="426180"/>
                    <a:pt x="95505" y="484600"/>
                  </a:cubicBezTo>
                  <a:cubicBezTo>
                    <a:pt x="114555" y="1089120"/>
                    <a:pt x="129795" y="1692370"/>
                    <a:pt x="148845" y="2166080"/>
                  </a:cubicBezTo>
                  <a:cubicBezTo>
                    <a:pt x="200915" y="3152870"/>
                    <a:pt x="199645" y="4143470"/>
                    <a:pt x="249175" y="5130260"/>
                  </a:cubicBezTo>
                  <a:cubicBezTo>
                    <a:pt x="250445" y="5151850"/>
                    <a:pt x="258065" y="5165820"/>
                    <a:pt x="283465" y="5167090"/>
                  </a:cubicBezTo>
                  <a:cubicBezTo>
                    <a:pt x="768605" y="5205190"/>
                    <a:pt x="1253745" y="5153120"/>
                    <a:pt x="1738885" y="5144230"/>
                  </a:cubicBezTo>
                  <a:cubicBezTo>
                    <a:pt x="11328042" y="5076920"/>
                    <a:pt x="12378332" y="5158200"/>
                    <a:pt x="13428623" y="5130260"/>
                  </a:cubicBezTo>
                  <a:cubicBezTo>
                    <a:pt x="13683892" y="5118830"/>
                    <a:pt x="13940432" y="5090890"/>
                    <a:pt x="14195701" y="5107400"/>
                  </a:cubicBezTo>
                  <a:cubicBezTo>
                    <a:pt x="14195701" y="5112480"/>
                    <a:pt x="14196973" y="5116290"/>
                    <a:pt x="14196973" y="5121370"/>
                  </a:cubicBezTo>
                  <a:cubicBezTo>
                    <a:pt x="14147442" y="5132800"/>
                    <a:pt x="14099182" y="5144230"/>
                    <a:pt x="14049651" y="5154390"/>
                  </a:cubicBezTo>
                  <a:cubicBezTo>
                    <a:pt x="14049651" y="5156930"/>
                    <a:pt x="14049651" y="5158200"/>
                    <a:pt x="14049651" y="5160740"/>
                  </a:cubicBezTo>
                  <a:cubicBezTo>
                    <a:pt x="14155062" y="5162010"/>
                    <a:pt x="14260473" y="5162010"/>
                    <a:pt x="14368423" y="5162010"/>
                  </a:cubicBezTo>
                  <a:close/>
                  <a:moveTo>
                    <a:pt x="105665" y="2262600"/>
                  </a:moveTo>
                  <a:cubicBezTo>
                    <a:pt x="42165" y="3248120"/>
                    <a:pt x="89155" y="4232370"/>
                    <a:pt x="134875" y="5217890"/>
                  </a:cubicBezTo>
                  <a:cubicBezTo>
                    <a:pt x="159005" y="5215350"/>
                    <a:pt x="181865" y="5214080"/>
                    <a:pt x="204725" y="5211540"/>
                  </a:cubicBezTo>
                  <a:cubicBezTo>
                    <a:pt x="161545" y="4229830"/>
                    <a:pt x="183135" y="3244310"/>
                    <a:pt x="105665" y="2262600"/>
                  </a:cubicBezTo>
                  <a:close/>
                  <a:moveTo>
                    <a:pt x="12562482" y="5201380"/>
                  </a:moveTo>
                  <a:cubicBezTo>
                    <a:pt x="12048132" y="5179790"/>
                    <a:pt x="11535051" y="5163280"/>
                    <a:pt x="11020701" y="5178520"/>
                  </a:cubicBezTo>
                  <a:cubicBezTo>
                    <a:pt x="11535051" y="5197570"/>
                    <a:pt x="12048132" y="5250910"/>
                    <a:pt x="12562482" y="5201380"/>
                  </a:cubicBezTo>
                  <a:close/>
                </a:path>
              </a:pathLst>
            </a:custGeom>
            <a:solidFill>
              <a:srgbClr val="000000"/>
            </a:solidFill>
          </p:spPr>
        </p:sp>
      </p:grpSp>
      <p:grpSp>
        <p:nvGrpSpPr>
          <p:cNvPr name="Group 27" id="27"/>
          <p:cNvGrpSpPr/>
          <p:nvPr/>
        </p:nvGrpSpPr>
        <p:grpSpPr>
          <a:xfrm rot="0">
            <a:off x="6279767" y="1873272"/>
            <a:ext cx="5821606" cy="2360112"/>
            <a:chOff x="0" y="0"/>
            <a:chExt cx="15340659" cy="6219190"/>
          </a:xfrm>
        </p:grpSpPr>
        <p:sp>
          <p:nvSpPr>
            <p:cNvPr name="Freeform 28" id="28"/>
            <p:cNvSpPr/>
            <p:nvPr/>
          </p:nvSpPr>
          <p:spPr>
            <a:xfrm flipH="false" flipV="false" rot="0">
              <a:off x="172465" y="404400"/>
              <a:ext cx="14862125" cy="5334730"/>
            </a:xfrm>
            <a:custGeom>
              <a:avLst/>
              <a:gdLst/>
              <a:ahLst/>
              <a:cxnLst/>
              <a:rect r="r" b="b" t="t" l="l"/>
              <a:pathLst>
                <a:path h="5334730" w="14862125">
                  <a:moveTo>
                    <a:pt x="132335" y="5285200"/>
                  </a:moveTo>
                  <a:cubicBezTo>
                    <a:pt x="128525" y="5300440"/>
                    <a:pt x="125985" y="5311870"/>
                    <a:pt x="119635" y="5334730"/>
                  </a:cubicBezTo>
                  <a:cubicBezTo>
                    <a:pt x="75185" y="5234400"/>
                    <a:pt x="91695" y="5310600"/>
                    <a:pt x="23115" y="5245830"/>
                  </a:cubicBezTo>
                  <a:cubicBezTo>
                    <a:pt x="44705" y="5233130"/>
                    <a:pt x="59945" y="5224240"/>
                    <a:pt x="86615" y="5221700"/>
                  </a:cubicBezTo>
                  <a:cubicBezTo>
                    <a:pt x="-100075" y="3568160"/>
                    <a:pt x="82805" y="1904460"/>
                    <a:pt x="20575" y="379190"/>
                  </a:cubicBezTo>
                  <a:cubicBezTo>
                    <a:pt x="57405" y="203930"/>
                    <a:pt x="294895" y="263620"/>
                    <a:pt x="426975" y="228060"/>
                  </a:cubicBezTo>
                  <a:cubicBezTo>
                    <a:pt x="613665" y="207740"/>
                    <a:pt x="800355" y="188690"/>
                    <a:pt x="987045" y="169640"/>
                  </a:cubicBezTo>
                  <a:cubicBezTo>
                    <a:pt x="1486155" y="118840"/>
                    <a:pt x="10977194" y="71850"/>
                    <a:pt x="11478844" y="43910"/>
                  </a:cubicBezTo>
                  <a:cubicBezTo>
                    <a:pt x="12438964" y="-13240"/>
                    <a:pt x="13402894" y="-11970"/>
                    <a:pt x="14364283" y="32480"/>
                  </a:cubicBezTo>
                  <a:cubicBezTo>
                    <a:pt x="14482394" y="57880"/>
                    <a:pt x="14750364" y="21050"/>
                    <a:pt x="14760524" y="179800"/>
                  </a:cubicBezTo>
                  <a:cubicBezTo>
                    <a:pt x="14757983" y="1787620"/>
                    <a:pt x="14846883" y="3419570"/>
                    <a:pt x="14862124" y="5104860"/>
                  </a:cubicBezTo>
                  <a:cubicBezTo>
                    <a:pt x="14862124" y="5140420"/>
                    <a:pt x="14862124" y="5189950"/>
                    <a:pt x="14815133" y="5192490"/>
                  </a:cubicBezTo>
                  <a:cubicBezTo>
                    <a:pt x="14535733" y="5240750"/>
                    <a:pt x="14253794" y="5212810"/>
                    <a:pt x="13971853" y="5222970"/>
                  </a:cubicBezTo>
                  <a:cubicBezTo>
                    <a:pt x="13354633" y="5254720"/>
                    <a:pt x="12741224" y="5349970"/>
                    <a:pt x="12121464" y="5302980"/>
                  </a:cubicBezTo>
                  <a:cubicBezTo>
                    <a:pt x="11123244" y="5242020"/>
                    <a:pt x="1131825" y="5262340"/>
                    <a:pt x="132335" y="5285200"/>
                  </a:cubicBezTo>
                  <a:close/>
                  <a:moveTo>
                    <a:pt x="14820214" y="5162010"/>
                  </a:moveTo>
                  <a:cubicBezTo>
                    <a:pt x="14722424" y="3486880"/>
                    <a:pt x="14639874" y="1802860"/>
                    <a:pt x="14714805" y="257270"/>
                  </a:cubicBezTo>
                  <a:cubicBezTo>
                    <a:pt x="14718614" y="158210"/>
                    <a:pt x="14710994" y="145510"/>
                    <a:pt x="14611933" y="136620"/>
                  </a:cubicBezTo>
                  <a:cubicBezTo>
                    <a:pt x="13197155" y="26130"/>
                    <a:pt x="11769674" y="54070"/>
                    <a:pt x="1366775" y="186150"/>
                  </a:cubicBezTo>
                  <a:cubicBezTo>
                    <a:pt x="956565" y="233140"/>
                    <a:pt x="541275" y="258540"/>
                    <a:pt x="133605" y="325850"/>
                  </a:cubicBezTo>
                  <a:cubicBezTo>
                    <a:pt x="51055" y="352520"/>
                    <a:pt x="92965" y="426180"/>
                    <a:pt x="95505" y="484600"/>
                  </a:cubicBezTo>
                  <a:cubicBezTo>
                    <a:pt x="114555" y="1089120"/>
                    <a:pt x="129795" y="1692370"/>
                    <a:pt x="148845" y="2166080"/>
                  </a:cubicBezTo>
                  <a:cubicBezTo>
                    <a:pt x="200915" y="3152870"/>
                    <a:pt x="199645" y="4143470"/>
                    <a:pt x="249175" y="5130260"/>
                  </a:cubicBezTo>
                  <a:cubicBezTo>
                    <a:pt x="250445" y="5151850"/>
                    <a:pt x="258065" y="5165820"/>
                    <a:pt x="283465" y="5167090"/>
                  </a:cubicBezTo>
                  <a:cubicBezTo>
                    <a:pt x="768605" y="5205190"/>
                    <a:pt x="1253745" y="5153120"/>
                    <a:pt x="1738885" y="5144230"/>
                  </a:cubicBezTo>
                  <a:cubicBezTo>
                    <a:pt x="11779834" y="5076920"/>
                    <a:pt x="12830124" y="5158200"/>
                    <a:pt x="13880414" y="5130260"/>
                  </a:cubicBezTo>
                  <a:cubicBezTo>
                    <a:pt x="14135683" y="5118830"/>
                    <a:pt x="14392224" y="5090890"/>
                    <a:pt x="14647494" y="5107400"/>
                  </a:cubicBezTo>
                  <a:cubicBezTo>
                    <a:pt x="14647494" y="5112480"/>
                    <a:pt x="14648764" y="5116290"/>
                    <a:pt x="14648764" y="5121370"/>
                  </a:cubicBezTo>
                  <a:cubicBezTo>
                    <a:pt x="14599233" y="5132800"/>
                    <a:pt x="14550974" y="5144230"/>
                    <a:pt x="14501444" y="5154390"/>
                  </a:cubicBezTo>
                  <a:cubicBezTo>
                    <a:pt x="14501444" y="5156930"/>
                    <a:pt x="14501444" y="5158200"/>
                    <a:pt x="14501444" y="5160740"/>
                  </a:cubicBezTo>
                  <a:cubicBezTo>
                    <a:pt x="14606853" y="5162010"/>
                    <a:pt x="14712264" y="5162010"/>
                    <a:pt x="14820214" y="5162010"/>
                  </a:cubicBezTo>
                  <a:close/>
                  <a:moveTo>
                    <a:pt x="105665" y="2262600"/>
                  </a:moveTo>
                  <a:cubicBezTo>
                    <a:pt x="42165" y="3248120"/>
                    <a:pt x="89155" y="4232370"/>
                    <a:pt x="134875" y="5217890"/>
                  </a:cubicBezTo>
                  <a:cubicBezTo>
                    <a:pt x="159005" y="5215350"/>
                    <a:pt x="181865" y="5214080"/>
                    <a:pt x="204725" y="5211540"/>
                  </a:cubicBezTo>
                  <a:cubicBezTo>
                    <a:pt x="161545" y="4229830"/>
                    <a:pt x="183135" y="3244310"/>
                    <a:pt x="105665" y="2262600"/>
                  </a:cubicBezTo>
                  <a:close/>
                  <a:moveTo>
                    <a:pt x="13014274" y="5201380"/>
                  </a:moveTo>
                  <a:cubicBezTo>
                    <a:pt x="12499924" y="5179790"/>
                    <a:pt x="11986844" y="5163280"/>
                    <a:pt x="11472494" y="5178520"/>
                  </a:cubicBezTo>
                  <a:cubicBezTo>
                    <a:pt x="11986844" y="5197570"/>
                    <a:pt x="12499924" y="5250910"/>
                    <a:pt x="13014274" y="5201380"/>
                  </a:cubicBezTo>
                  <a:close/>
                </a:path>
              </a:pathLst>
            </a:custGeom>
            <a:solidFill>
              <a:srgbClr val="000000"/>
            </a:solidFill>
          </p:spPr>
        </p:sp>
      </p:grpSp>
      <p:sp>
        <p:nvSpPr>
          <p:cNvPr name="Freeform 29" id="29"/>
          <p:cNvSpPr/>
          <p:nvPr/>
        </p:nvSpPr>
        <p:spPr>
          <a:xfrm flipH="false" flipV="false" rot="0">
            <a:off x="11434487" y="1469388"/>
            <a:ext cx="1143136" cy="1143136"/>
          </a:xfrm>
          <a:custGeom>
            <a:avLst/>
            <a:gdLst/>
            <a:ahLst/>
            <a:cxnLst/>
            <a:rect r="r" b="b" t="t" l="l"/>
            <a:pathLst>
              <a:path h="1143136" w="1143136">
                <a:moveTo>
                  <a:pt x="0" y="0"/>
                </a:moveTo>
                <a:lnTo>
                  <a:pt x="1143137" y="0"/>
                </a:lnTo>
                <a:lnTo>
                  <a:pt x="1143137" y="1143136"/>
                </a:lnTo>
                <a:lnTo>
                  <a:pt x="0" y="114313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false" flipV="false" rot="0">
            <a:off x="16556010" y="3378984"/>
            <a:ext cx="902323" cy="825626"/>
          </a:xfrm>
          <a:custGeom>
            <a:avLst/>
            <a:gdLst/>
            <a:ahLst/>
            <a:cxnLst/>
            <a:rect r="r" b="b" t="t" l="l"/>
            <a:pathLst>
              <a:path h="825626" w="902323">
                <a:moveTo>
                  <a:pt x="0" y="0"/>
                </a:moveTo>
                <a:lnTo>
                  <a:pt x="902324" y="0"/>
                </a:lnTo>
                <a:lnTo>
                  <a:pt x="902324" y="825626"/>
                </a:lnTo>
                <a:lnTo>
                  <a:pt x="0" y="8256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1" id="31"/>
          <p:cNvSpPr/>
          <p:nvPr/>
        </p:nvSpPr>
        <p:spPr>
          <a:xfrm flipH="false" flipV="false" rot="0">
            <a:off x="6050824" y="5153025"/>
            <a:ext cx="956480" cy="731707"/>
          </a:xfrm>
          <a:custGeom>
            <a:avLst/>
            <a:gdLst/>
            <a:ahLst/>
            <a:cxnLst/>
            <a:rect r="r" b="b" t="t" l="l"/>
            <a:pathLst>
              <a:path h="731707" w="956480">
                <a:moveTo>
                  <a:pt x="0" y="0"/>
                </a:moveTo>
                <a:lnTo>
                  <a:pt x="956480" y="0"/>
                </a:lnTo>
                <a:lnTo>
                  <a:pt x="956480" y="731707"/>
                </a:lnTo>
                <a:lnTo>
                  <a:pt x="0" y="73170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17259300" y="6697281"/>
            <a:ext cx="924911" cy="924911"/>
          </a:xfrm>
          <a:custGeom>
            <a:avLst/>
            <a:gdLst/>
            <a:ahLst/>
            <a:cxnLst/>
            <a:rect r="r" b="b" t="t" l="l"/>
            <a:pathLst>
              <a:path h="924911" w="924911">
                <a:moveTo>
                  <a:pt x="0" y="0"/>
                </a:moveTo>
                <a:lnTo>
                  <a:pt x="924911" y="0"/>
                </a:lnTo>
                <a:lnTo>
                  <a:pt x="924911" y="924912"/>
                </a:lnTo>
                <a:lnTo>
                  <a:pt x="0" y="9249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8702854" y="9875514"/>
            <a:ext cx="1914466" cy="282195"/>
          </a:xfrm>
          <a:prstGeom prst="rect">
            <a:avLst/>
          </a:prstGeom>
        </p:spPr>
        <p:txBody>
          <a:bodyPr anchor="t" rtlCol="false" tIns="0" lIns="0" bIns="0" rIns="0">
            <a:spAutoFit/>
          </a:bodyPr>
          <a:lstStyle/>
          <a:p>
            <a:pPr algn="l">
              <a:lnSpc>
                <a:spcPts val="2245"/>
              </a:lnSpc>
            </a:pPr>
            <a:r>
              <a:rPr lang="en-US" sz="1871" b="true">
                <a:solidFill>
                  <a:srgbClr val="002060"/>
                </a:solidFill>
                <a:latin typeface="Aptos Bold"/>
                <a:ea typeface="Aptos Bold"/>
                <a:cs typeface="Aptos Bold"/>
                <a:sym typeface="Aptos Bold"/>
              </a:rPr>
              <a:t>R26-SE-002</a:t>
            </a:r>
          </a:p>
        </p:txBody>
      </p:sp>
      <p:sp>
        <p:nvSpPr>
          <p:cNvPr name="TextBox 34" id="34"/>
          <p:cNvSpPr txBox="true"/>
          <p:nvPr/>
        </p:nvSpPr>
        <p:spPr>
          <a:xfrm rot="0">
            <a:off x="345662" y="159772"/>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35" id="35"/>
          <p:cNvSpPr txBox="true"/>
          <p:nvPr/>
        </p:nvSpPr>
        <p:spPr>
          <a:xfrm rot="0">
            <a:off x="914124" y="2107409"/>
            <a:ext cx="5173104" cy="1704975"/>
          </a:xfrm>
          <a:prstGeom prst="rect">
            <a:avLst/>
          </a:prstGeom>
        </p:spPr>
        <p:txBody>
          <a:bodyPr anchor="t" rtlCol="false" tIns="0" lIns="0" bIns="0" rIns="0">
            <a:spAutoFit/>
          </a:bodyPr>
          <a:lstStyle/>
          <a:p>
            <a:pPr algn="l" marL="0" indent="0" lvl="0">
              <a:lnSpc>
                <a:spcPts val="6718"/>
              </a:lnSpc>
              <a:spcBef>
                <a:spcPct val="0"/>
              </a:spcBef>
            </a:pPr>
            <a:r>
              <a:rPr lang="en-US" b="true" sz="5599" strike="noStrike" u="none">
                <a:solidFill>
                  <a:srgbClr val="1800AD"/>
                </a:solidFill>
                <a:latin typeface="Aptos Bold"/>
                <a:ea typeface="Aptos Bold"/>
                <a:cs typeface="Aptos Bold"/>
                <a:sym typeface="Aptos Bold"/>
              </a:rPr>
              <a:t>Validation &amp; Traction</a:t>
            </a:r>
          </a:p>
        </p:txBody>
      </p:sp>
      <p:sp>
        <p:nvSpPr>
          <p:cNvPr name="TextBox 36" id="36"/>
          <p:cNvSpPr txBox="true"/>
          <p:nvPr/>
        </p:nvSpPr>
        <p:spPr>
          <a:xfrm rot="0">
            <a:off x="12838960" y="2002856"/>
            <a:ext cx="3620170" cy="1704975"/>
          </a:xfrm>
          <a:prstGeom prst="rect">
            <a:avLst/>
          </a:prstGeom>
        </p:spPr>
        <p:txBody>
          <a:bodyPr anchor="t" rtlCol="false" tIns="0" lIns="0" bIns="0" rIns="0">
            <a:spAutoFit/>
          </a:bodyPr>
          <a:lstStyle/>
          <a:p>
            <a:pPr algn="l">
              <a:lnSpc>
                <a:spcPts val="6718"/>
              </a:lnSpc>
              <a:spcBef>
                <a:spcPct val="0"/>
              </a:spcBef>
            </a:pPr>
            <a:r>
              <a:rPr lang="en-US" b="true" sz="5599">
                <a:solidFill>
                  <a:srgbClr val="1800AD"/>
                </a:solidFill>
                <a:latin typeface="Aptos Bold"/>
                <a:ea typeface="Aptos Bold"/>
                <a:cs typeface="Aptos Bold"/>
                <a:sym typeface="Aptos Bold"/>
              </a:rPr>
              <a:t>Business </a:t>
            </a:r>
          </a:p>
          <a:p>
            <a:pPr algn="l">
              <a:lnSpc>
                <a:spcPts val="6718"/>
              </a:lnSpc>
              <a:spcBef>
                <a:spcPct val="0"/>
              </a:spcBef>
            </a:pPr>
            <a:r>
              <a:rPr lang="en-US" b="true" sz="5599">
                <a:solidFill>
                  <a:srgbClr val="1800AD"/>
                </a:solidFill>
                <a:latin typeface="Aptos Bold"/>
                <a:ea typeface="Aptos Bold"/>
                <a:cs typeface="Aptos Bold"/>
                <a:sym typeface="Aptos Bold"/>
              </a:rPr>
              <a:t>Framework</a:t>
            </a:r>
          </a:p>
        </p:txBody>
      </p:sp>
      <p:grpSp>
        <p:nvGrpSpPr>
          <p:cNvPr name="Group 37" id="37"/>
          <p:cNvGrpSpPr/>
          <p:nvPr/>
        </p:nvGrpSpPr>
        <p:grpSpPr>
          <a:xfrm rot="0">
            <a:off x="6060349" y="2299607"/>
            <a:ext cx="7824248" cy="1492190"/>
            <a:chOff x="0" y="0"/>
            <a:chExt cx="10432331" cy="1989587"/>
          </a:xfrm>
        </p:grpSpPr>
        <p:sp>
          <p:nvSpPr>
            <p:cNvPr name="TextBox 38" id="38"/>
            <p:cNvSpPr txBox="true"/>
            <p:nvPr/>
          </p:nvSpPr>
          <p:spPr>
            <a:xfrm rot="0">
              <a:off x="436746" y="0"/>
              <a:ext cx="3840352"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1A4FA0"/>
                  </a:solidFill>
                  <a:latin typeface="DM Sans Bold"/>
                  <a:ea typeface="DM Sans Bold"/>
                  <a:cs typeface="DM Sans Bold"/>
                  <a:sym typeface="DM Sans Bold"/>
                </a:rPr>
                <a:t>Target Market</a:t>
              </a:r>
            </a:p>
          </p:txBody>
        </p:sp>
        <p:sp>
          <p:nvSpPr>
            <p:cNvPr name="TextBox 39" id="39"/>
            <p:cNvSpPr txBox="true"/>
            <p:nvPr/>
          </p:nvSpPr>
          <p:spPr>
            <a:xfrm rot="0">
              <a:off x="0" y="546100"/>
              <a:ext cx="10432331" cy="1443487"/>
            </a:xfrm>
            <a:prstGeom prst="rect">
              <a:avLst/>
            </a:prstGeom>
          </p:spPr>
          <p:txBody>
            <a:bodyPr anchor="t" rtlCol="false" tIns="0" lIns="0" bIns="0" rIns="0">
              <a:spAutoFit/>
            </a:bodyPr>
            <a:lstStyle/>
            <a:p>
              <a:pPr algn="just"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J</a:t>
              </a:r>
              <a:r>
                <a:rPr lang="en-US" b="true" sz="2376">
                  <a:solidFill>
                    <a:srgbClr val="000000"/>
                  </a:solidFill>
                  <a:latin typeface="DM Sans Bold"/>
                  <a:ea typeface="DM Sans Bold"/>
                  <a:cs typeface="DM Sans Bold"/>
                  <a:sym typeface="DM Sans Bold"/>
                </a:rPr>
                <a:t>ob seekers requiring safe listings</a:t>
              </a:r>
            </a:p>
            <a:p>
              <a:pPr algn="just"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Verified recruiters &amp; hiring teams</a:t>
              </a:r>
            </a:p>
            <a:p>
              <a:pPr algn="just"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University career portals &amp; partners</a:t>
              </a:r>
            </a:p>
          </p:txBody>
        </p:sp>
      </p:grpSp>
      <p:grpSp>
        <p:nvGrpSpPr>
          <p:cNvPr name="Group 40" id="40"/>
          <p:cNvGrpSpPr/>
          <p:nvPr/>
        </p:nvGrpSpPr>
        <p:grpSpPr>
          <a:xfrm rot="0">
            <a:off x="11422086" y="4001853"/>
            <a:ext cx="6453918" cy="1492190"/>
            <a:chOff x="0" y="0"/>
            <a:chExt cx="8605224" cy="1989587"/>
          </a:xfrm>
        </p:grpSpPr>
        <p:sp>
          <p:nvSpPr>
            <p:cNvPr name="TextBox 41" id="41"/>
            <p:cNvSpPr txBox="true"/>
            <p:nvPr/>
          </p:nvSpPr>
          <p:spPr>
            <a:xfrm rot="0">
              <a:off x="355523" y="0"/>
              <a:ext cx="3450562"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1A4FA0"/>
                  </a:solidFill>
                  <a:latin typeface="DM Sans Bold"/>
                  <a:ea typeface="DM Sans Bold"/>
                  <a:cs typeface="DM Sans Bold"/>
                  <a:sym typeface="DM Sans Bold"/>
                </a:rPr>
                <a:t>Revenue Model</a:t>
              </a:r>
            </a:p>
          </p:txBody>
        </p:sp>
        <p:sp>
          <p:nvSpPr>
            <p:cNvPr name="TextBox 42" id="42"/>
            <p:cNvSpPr txBox="true"/>
            <p:nvPr/>
          </p:nvSpPr>
          <p:spPr>
            <a:xfrm rot="0">
              <a:off x="0" y="546100"/>
              <a:ext cx="8605224" cy="1443487"/>
            </a:xfrm>
            <a:prstGeom prst="rect">
              <a:avLst/>
            </a:prstGeom>
          </p:spPr>
          <p:txBody>
            <a:bodyPr anchor="t" rtlCol="false" tIns="0" lIns="0" bIns="0" rIns="0">
              <a:spAutoFit/>
            </a:bodyPr>
            <a:lstStyle/>
            <a:p>
              <a:pPr algn="l"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F</a:t>
              </a:r>
              <a:r>
                <a:rPr lang="en-US" b="true" sz="2376">
                  <a:solidFill>
                    <a:srgbClr val="000000"/>
                  </a:solidFill>
                  <a:latin typeface="DM Sans Bold"/>
                  <a:ea typeface="DM Sans Bold"/>
                  <a:cs typeface="DM Sans Bold"/>
                  <a:sym typeface="DM Sans Bold"/>
                </a:rPr>
                <a:t>ree access for job seekers</a:t>
              </a:r>
            </a:p>
            <a:p>
              <a:pPr algn="l"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Subscription tiers for employers</a:t>
              </a:r>
            </a:p>
            <a:p>
              <a:pPr algn="l"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Paid verification API for job portals</a:t>
              </a:r>
            </a:p>
          </p:txBody>
        </p:sp>
      </p:grpSp>
      <p:grpSp>
        <p:nvGrpSpPr>
          <p:cNvPr name="Group 43" id="43"/>
          <p:cNvGrpSpPr/>
          <p:nvPr/>
        </p:nvGrpSpPr>
        <p:grpSpPr>
          <a:xfrm rot="0">
            <a:off x="6087228" y="5589800"/>
            <a:ext cx="8619786" cy="1617766"/>
            <a:chOff x="0" y="0"/>
            <a:chExt cx="11493048" cy="2157021"/>
          </a:xfrm>
        </p:grpSpPr>
        <p:sp>
          <p:nvSpPr>
            <p:cNvPr name="TextBox 44" id="44"/>
            <p:cNvSpPr txBox="true"/>
            <p:nvPr/>
          </p:nvSpPr>
          <p:spPr>
            <a:xfrm rot="0">
              <a:off x="620464" y="0"/>
              <a:ext cx="4335244"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1A4FA0"/>
                  </a:solidFill>
                  <a:latin typeface="DM Sans Bold"/>
                  <a:ea typeface="DM Sans Bold"/>
                  <a:cs typeface="DM Sans Bold"/>
                  <a:sym typeface="DM Sans Bold"/>
                </a:rPr>
                <a:t>Value Delivered</a:t>
              </a:r>
            </a:p>
          </p:txBody>
        </p:sp>
        <p:sp>
          <p:nvSpPr>
            <p:cNvPr name="TextBox 45" id="45"/>
            <p:cNvSpPr txBox="true"/>
            <p:nvPr/>
          </p:nvSpPr>
          <p:spPr>
            <a:xfrm rot="0">
              <a:off x="0" y="516695"/>
              <a:ext cx="11493048" cy="1640326"/>
            </a:xfrm>
            <a:prstGeom prst="rect">
              <a:avLst/>
            </a:prstGeom>
          </p:spPr>
          <p:txBody>
            <a:bodyPr anchor="t" rtlCol="false" tIns="0" lIns="0" bIns="0" rIns="0">
              <a:spAutoFit/>
            </a:bodyPr>
            <a:lstStyle/>
            <a:p>
              <a:pPr algn="l" marL="585596" indent="-292798" lvl="1">
                <a:lnSpc>
                  <a:spcPts val="3254"/>
                </a:lnSpc>
                <a:spcBef>
                  <a:spcPct val="0"/>
                </a:spcBef>
                <a:buFont typeface="Arial"/>
                <a:buChar char="•"/>
              </a:pPr>
              <a:r>
                <a:rPr lang="en-US" b="true" sz="2712">
                  <a:solidFill>
                    <a:srgbClr val="000000"/>
                  </a:solidFill>
                  <a:latin typeface="DM Sans Bold"/>
                  <a:ea typeface="DM Sans Bold"/>
                  <a:cs typeface="DM Sans Bold"/>
                  <a:sym typeface="DM Sans Bold"/>
                </a:rPr>
                <a:t>100%</a:t>
              </a:r>
              <a:r>
                <a:rPr lang="en-US" b="true" sz="2712">
                  <a:solidFill>
                    <a:srgbClr val="000000"/>
                  </a:solidFill>
                  <a:latin typeface="DM Sans Bold"/>
                  <a:ea typeface="DM Sans Bold"/>
                  <a:cs typeface="DM Sans Bold"/>
                  <a:sym typeface="DM Sans Bold"/>
                </a:rPr>
                <a:t> scam-free job discovery</a:t>
              </a:r>
            </a:p>
            <a:p>
              <a:pPr algn="l" marL="585596" indent="-292798" lvl="1">
                <a:lnSpc>
                  <a:spcPts val="3254"/>
                </a:lnSpc>
                <a:spcBef>
                  <a:spcPct val="0"/>
                </a:spcBef>
                <a:buFont typeface="Arial"/>
                <a:buChar char="•"/>
              </a:pPr>
              <a:r>
                <a:rPr lang="en-US" b="true" sz="2712">
                  <a:solidFill>
                    <a:srgbClr val="000000"/>
                  </a:solidFill>
                  <a:latin typeface="DM Sans Bold"/>
                  <a:ea typeface="DM Sans Bold"/>
                  <a:cs typeface="DM Sans Bold"/>
                  <a:sym typeface="DM Sans Bold"/>
                </a:rPr>
                <a:t>Trusted, pre-vetted employers</a:t>
              </a:r>
            </a:p>
            <a:p>
              <a:pPr algn="l" marL="585596" indent="-292798" lvl="1">
                <a:lnSpc>
                  <a:spcPts val="3254"/>
                </a:lnSpc>
                <a:spcBef>
                  <a:spcPct val="0"/>
                </a:spcBef>
                <a:buFont typeface="Arial"/>
                <a:buChar char="•"/>
              </a:pPr>
              <a:r>
                <a:rPr lang="en-US" b="true" sz="2712">
                  <a:solidFill>
                    <a:srgbClr val="000000"/>
                  </a:solidFill>
                  <a:latin typeface="DM Sans Bold"/>
                  <a:ea typeface="DM Sans Bold"/>
                  <a:cs typeface="DM Sans Bold"/>
                  <a:sym typeface="DM Sans Bold"/>
                </a:rPr>
                <a:t>Protection for user data &amp; credentials</a:t>
              </a:r>
            </a:p>
          </p:txBody>
        </p:sp>
      </p:grpSp>
      <p:grpSp>
        <p:nvGrpSpPr>
          <p:cNvPr name="Group 46" id="46"/>
          <p:cNvGrpSpPr/>
          <p:nvPr/>
        </p:nvGrpSpPr>
        <p:grpSpPr>
          <a:xfrm rot="0">
            <a:off x="11279187" y="7417116"/>
            <a:ext cx="6596817" cy="1492696"/>
            <a:chOff x="0" y="0"/>
            <a:chExt cx="8795756" cy="1990262"/>
          </a:xfrm>
        </p:grpSpPr>
        <p:sp>
          <p:nvSpPr>
            <p:cNvPr name="TextBox 47" id="47"/>
            <p:cNvSpPr txBox="true"/>
            <p:nvPr/>
          </p:nvSpPr>
          <p:spPr>
            <a:xfrm rot="0">
              <a:off x="407084" y="0"/>
              <a:ext cx="3292304"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1A4FA0"/>
                  </a:solidFill>
                  <a:latin typeface="DM Sans Bold"/>
                  <a:ea typeface="DM Sans Bold"/>
                  <a:cs typeface="DM Sans Bold"/>
                  <a:sym typeface="DM Sans Bold"/>
                </a:rPr>
                <a:t>Differentiators</a:t>
              </a:r>
            </a:p>
          </p:txBody>
        </p:sp>
        <p:sp>
          <p:nvSpPr>
            <p:cNvPr name="TextBox 48" id="48"/>
            <p:cNvSpPr txBox="true"/>
            <p:nvPr/>
          </p:nvSpPr>
          <p:spPr>
            <a:xfrm rot="0">
              <a:off x="0" y="546775"/>
              <a:ext cx="8795756" cy="1443487"/>
            </a:xfrm>
            <a:prstGeom prst="rect">
              <a:avLst/>
            </a:prstGeom>
          </p:spPr>
          <p:txBody>
            <a:bodyPr anchor="t" rtlCol="false" tIns="0" lIns="0" bIns="0" rIns="0">
              <a:spAutoFit/>
            </a:bodyPr>
            <a:lstStyle/>
            <a:p>
              <a:pPr algn="l"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End-t</a:t>
              </a:r>
              <a:r>
                <a:rPr lang="en-US" b="true" sz="2376">
                  <a:solidFill>
                    <a:srgbClr val="000000"/>
                  </a:solidFill>
                  <a:latin typeface="DM Sans Bold"/>
                  <a:ea typeface="DM Sans Bold"/>
                  <a:cs typeface="DM Sans Bold"/>
                  <a:sym typeface="DM Sans Bold"/>
                </a:rPr>
                <a:t>o-end employer &amp; message checks</a:t>
              </a:r>
            </a:p>
            <a:p>
              <a:pPr algn="l"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4-layer AI verification engine</a:t>
              </a:r>
            </a:p>
            <a:p>
              <a:pPr algn="l" marL="513094" indent="-256547" lvl="1">
                <a:lnSpc>
                  <a:spcPts val="2851"/>
                </a:lnSpc>
                <a:spcBef>
                  <a:spcPct val="0"/>
                </a:spcBef>
                <a:buFont typeface="Arial"/>
                <a:buChar char="•"/>
              </a:pPr>
              <a:r>
                <a:rPr lang="en-US" b="true" sz="2376">
                  <a:solidFill>
                    <a:srgbClr val="000000"/>
                  </a:solidFill>
                  <a:latin typeface="DM Sans Bold"/>
                  <a:ea typeface="DM Sans Bold"/>
                  <a:cs typeface="DM Sans Bold"/>
                  <a:sym typeface="DM Sans Bold"/>
                </a:rPr>
                <a:t>Tailored Sri Lankan job market focus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0" y="9258300"/>
            <a:ext cx="3557588" cy="1028700"/>
            <a:chOff x="0" y="0"/>
            <a:chExt cx="4743450" cy="1371600"/>
          </a:xfrm>
        </p:grpSpPr>
        <p:sp>
          <p:nvSpPr>
            <p:cNvPr name="Freeform 4" id="4"/>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3"/>
              <a:stretch>
                <a:fillRect l="0" t="-11864" r="0" b="-11860"/>
              </a:stretch>
            </a:blipFill>
          </p:spPr>
        </p:sp>
      </p:grpSp>
      <p:grpSp>
        <p:nvGrpSpPr>
          <p:cNvPr name="Group 5" id="5"/>
          <p:cNvGrpSpPr/>
          <p:nvPr/>
        </p:nvGrpSpPr>
        <p:grpSpPr>
          <a:xfrm rot="0">
            <a:off x="-1239148" y="406170"/>
            <a:ext cx="11906412" cy="1357354"/>
            <a:chOff x="0" y="0"/>
            <a:chExt cx="15875215" cy="1809806"/>
          </a:xfrm>
        </p:grpSpPr>
        <p:sp>
          <p:nvSpPr>
            <p:cNvPr name="Freeform 6" id="6"/>
            <p:cNvSpPr/>
            <p:nvPr/>
          </p:nvSpPr>
          <p:spPr>
            <a:xfrm flipH="false" flipV="false" rot="0">
              <a:off x="0" y="0"/>
              <a:ext cx="15875217" cy="1809804"/>
            </a:xfrm>
            <a:custGeom>
              <a:avLst/>
              <a:gdLst/>
              <a:ahLst/>
              <a:cxnLst/>
              <a:rect r="r" b="b" t="t" l="l"/>
              <a:pathLst>
                <a:path h="1809804" w="15875217">
                  <a:moveTo>
                    <a:pt x="0" y="0"/>
                  </a:moveTo>
                  <a:lnTo>
                    <a:pt x="15875217" y="0"/>
                  </a:lnTo>
                  <a:lnTo>
                    <a:pt x="15875217" y="1809804"/>
                  </a:lnTo>
                  <a:lnTo>
                    <a:pt x="0" y="1809804"/>
                  </a:lnTo>
                  <a:close/>
                </a:path>
              </a:pathLst>
            </a:custGeom>
            <a:blipFill>
              <a:blip r:embed="rId4">
                <a:alphaModFix amt="0"/>
              </a:blip>
              <a:stretch>
                <a:fillRect l="0" t="-40224" r="44791" b="-48497"/>
              </a:stretch>
            </a:blipFill>
          </p:spPr>
        </p:sp>
        <p:sp>
          <p:nvSpPr>
            <p:cNvPr name="TextBox 7" id="7"/>
            <p:cNvSpPr txBox="true"/>
            <p:nvPr/>
          </p:nvSpPr>
          <p:spPr>
            <a:xfrm>
              <a:off x="0" y="85725"/>
              <a:ext cx="15875215" cy="1724081"/>
            </a:xfrm>
            <a:prstGeom prst="rect">
              <a:avLst/>
            </a:prstGeom>
          </p:spPr>
          <p:txBody>
            <a:bodyPr anchor="b" rtlCol="false" tIns="0" lIns="0" bIns="0" rIns="0"/>
            <a:lstStyle/>
            <a:p>
              <a:pPr algn="ctr">
                <a:lnSpc>
                  <a:spcPts val="7776"/>
                </a:lnSpc>
              </a:pPr>
              <a:r>
                <a:rPr lang="en-US" sz="7200" b="true">
                  <a:solidFill>
                    <a:srgbClr val="002060"/>
                  </a:solidFill>
                  <a:latin typeface="Aptos Bold"/>
                  <a:ea typeface="Aptos Bold"/>
                  <a:cs typeface="Aptos Bold"/>
                  <a:sym typeface="Aptos Bold"/>
                </a:rPr>
                <a:t>Milestones to Market</a:t>
              </a:r>
            </a:p>
          </p:txBody>
        </p:sp>
      </p:grpSp>
      <p:sp>
        <p:nvSpPr>
          <p:cNvPr name="Freeform 8" id="8"/>
          <p:cNvSpPr/>
          <p:nvPr/>
        </p:nvSpPr>
        <p:spPr>
          <a:xfrm flipH="false" flipV="false" rot="0">
            <a:off x="345662" y="1635147"/>
            <a:ext cx="4745974" cy="128378"/>
          </a:xfrm>
          <a:custGeom>
            <a:avLst/>
            <a:gdLst/>
            <a:ahLst/>
            <a:cxnLst/>
            <a:rect r="r" b="b" t="t" l="l"/>
            <a:pathLst>
              <a:path h="128378" w="4745974">
                <a:moveTo>
                  <a:pt x="0" y="0"/>
                </a:moveTo>
                <a:lnTo>
                  <a:pt x="4745974" y="0"/>
                </a:lnTo>
                <a:lnTo>
                  <a:pt x="4745974" y="128377"/>
                </a:lnTo>
                <a:lnTo>
                  <a:pt x="0" y="128377"/>
                </a:lnTo>
                <a:lnTo>
                  <a:pt x="0" y="0"/>
                </a:lnTo>
                <a:close/>
              </a:path>
            </a:pathLst>
          </a:custGeom>
          <a:blipFill>
            <a:blip r:embed="rId5">
              <a:extLst>
                <a:ext uri="{96DAC541-7B7A-43D3-8B79-37D633B846F1}">
                  <asvg:svgBlip xmlns:asvg="http://schemas.microsoft.com/office/drawing/2016/SVG/main" r:embed="rId6"/>
                </a:ext>
              </a:extLst>
            </a:blip>
            <a:stretch>
              <a:fillRect l="0" t="-157441" r="0" b="-157434"/>
            </a:stretch>
          </a:blipFill>
        </p:spPr>
      </p:sp>
      <p:grpSp>
        <p:nvGrpSpPr>
          <p:cNvPr name="Group 9" id="9"/>
          <p:cNvGrpSpPr/>
          <p:nvPr/>
        </p:nvGrpSpPr>
        <p:grpSpPr>
          <a:xfrm rot="0">
            <a:off x="848178" y="2493432"/>
            <a:ext cx="4323338" cy="2862394"/>
            <a:chOff x="0" y="0"/>
            <a:chExt cx="5764450" cy="3816525"/>
          </a:xfrm>
        </p:grpSpPr>
        <p:grpSp>
          <p:nvGrpSpPr>
            <p:cNvPr name="Group 10" id="10"/>
            <p:cNvGrpSpPr/>
            <p:nvPr/>
          </p:nvGrpSpPr>
          <p:grpSpPr>
            <a:xfrm rot="0">
              <a:off x="0" y="177262"/>
              <a:ext cx="5620561" cy="3639263"/>
              <a:chOff x="0" y="0"/>
              <a:chExt cx="11488741" cy="7438858"/>
            </a:xfrm>
          </p:grpSpPr>
          <p:sp>
            <p:nvSpPr>
              <p:cNvPr name="Freeform 11" id="11"/>
              <p:cNvSpPr/>
              <p:nvPr/>
            </p:nvSpPr>
            <p:spPr>
              <a:xfrm flipH="false" flipV="false" rot="0">
                <a:off x="172465" y="404400"/>
                <a:ext cx="11010206" cy="6554398"/>
              </a:xfrm>
              <a:custGeom>
                <a:avLst/>
                <a:gdLst/>
                <a:ahLst/>
                <a:cxnLst/>
                <a:rect r="r" b="b" t="t" l="l"/>
                <a:pathLst>
                  <a:path h="6554398" w="11010206">
                    <a:moveTo>
                      <a:pt x="132335" y="6504868"/>
                    </a:moveTo>
                    <a:cubicBezTo>
                      <a:pt x="128525" y="6520108"/>
                      <a:pt x="125985" y="6531538"/>
                      <a:pt x="119635" y="6554398"/>
                    </a:cubicBezTo>
                    <a:cubicBezTo>
                      <a:pt x="75185" y="6454068"/>
                      <a:pt x="91695" y="6530268"/>
                      <a:pt x="23115" y="6465498"/>
                    </a:cubicBezTo>
                    <a:cubicBezTo>
                      <a:pt x="44705" y="6452798"/>
                      <a:pt x="59945" y="6443908"/>
                      <a:pt x="86615" y="6441368"/>
                    </a:cubicBezTo>
                    <a:cubicBezTo>
                      <a:pt x="-100075" y="4787828"/>
                      <a:pt x="82805" y="3124128"/>
                      <a:pt x="20575" y="379190"/>
                    </a:cubicBezTo>
                    <a:cubicBezTo>
                      <a:pt x="57405" y="203930"/>
                      <a:pt x="294895" y="263620"/>
                      <a:pt x="426975" y="228060"/>
                    </a:cubicBezTo>
                    <a:cubicBezTo>
                      <a:pt x="613665" y="207740"/>
                      <a:pt x="800355" y="188690"/>
                      <a:pt x="987045" y="169640"/>
                    </a:cubicBezTo>
                    <a:cubicBezTo>
                      <a:pt x="1486155" y="118840"/>
                      <a:pt x="7125276" y="71850"/>
                      <a:pt x="7626926" y="43910"/>
                    </a:cubicBezTo>
                    <a:cubicBezTo>
                      <a:pt x="8587046" y="-13240"/>
                      <a:pt x="9550976" y="-11970"/>
                      <a:pt x="10512366" y="32480"/>
                    </a:cubicBezTo>
                    <a:cubicBezTo>
                      <a:pt x="10630476" y="57880"/>
                      <a:pt x="10898446" y="21050"/>
                      <a:pt x="10908606" y="179800"/>
                    </a:cubicBezTo>
                    <a:cubicBezTo>
                      <a:pt x="10906066" y="2521790"/>
                      <a:pt x="10994966" y="4639238"/>
                      <a:pt x="11010206" y="6324528"/>
                    </a:cubicBezTo>
                    <a:cubicBezTo>
                      <a:pt x="11010206" y="6360088"/>
                      <a:pt x="11010206" y="6409618"/>
                      <a:pt x="10963216" y="6412158"/>
                    </a:cubicBezTo>
                    <a:cubicBezTo>
                      <a:pt x="10683816" y="6460418"/>
                      <a:pt x="10401876" y="6432478"/>
                      <a:pt x="10119935" y="6442638"/>
                    </a:cubicBezTo>
                    <a:cubicBezTo>
                      <a:pt x="9502716" y="6474388"/>
                      <a:pt x="8889306" y="6569638"/>
                      <a:pt x="8269546" y="6522648"/>
                    </a:cubicBezTo>
                    <a:cubicBezTo>
                      <a:pt x="7271326" y="6461688"/>
                      <a:pt x="1131825" y="6482008"/>
                      <a:pt x="132335" y="6504868"/>
                    </a:cubicBezTo>
                    <a:close/>
                    <a:moveTo>
                      <a:pt x="10968296" y="6381678"/>
                    </a:moveTo>
                    <a:cubicBezTo>
                      <a:pt x="10870506" y="4706548"/>
                      <a:pt x="10787956" y="3022528"/>
                      <a:pt x="10862886" y="257270"/>
                    </a:cubicBezTo>
                    <a:cubicBezTo>
                      <a:pt x="10866696" y="158210"/>
                      <a:pt x="10859076" y="145510"/>
                      <a:pt x="10760016" y="136620"/>
                    </a:cubicBezTo>
                    <a:cubicBezTo>
                      <a:pt x="9345236" y="26130"/>
                      <a:pt x="7917756" y="54070"/>
                      <a:pt x="1366775" y="186150"/>
                    </a:cubicBezTo>
                    <a:cubicBezTo>
                      <a:pt x="956565" y="233140"/>
                      <a:pt x="541275" y="258540"/>
                      <a:pt x="133605" y="325850"/>
                    </a:cubicBezTo>
                    <a:cubicBezTo>
                      <a:pt x="51055" y="352520"/>
                      <a:pt x="92965" y="426180"/>
                      <a:pt x="95505" y="484600"/>
                    </a:cubicBezTo>
                    <a:cubicBezTo>
                      <a:pt x="114555" y="1089120"/>
                      <a:pt x="129795" y="1692370"/>
                      <a:pt x="148845" y="3385748"/>
                    </a:cubicBezTo>
                    <a:cubicBezTo>
                      <a:pt x="200915" y="4372538"/>
                      <a:pt x="199645" y="5363138"/>
                      <a:pt x="249175" y="6349928"/>
                    </a:cubicBezTo>
                    <a:cubicBezTo>
                      <a:pt x="250445" y="6371518"/>
                      <a:pt x="258065" y="6385488"/>
                      <a:pt x="283465" y="6386758"/>
                    </a:cubicBezTo>
                    <a:cubicBezTo>
                      <a:pt x="768605" y="6424858"/>
                      <a:pt x="1253745" y="6372788"/>
                      <a:pt x="1738885" y="6363898"/>
                    </a:cubicBezTo>
                    <a:cubicBezTo>
                      <a:pt x="7927916" y="6296588"/>
                      <a:pt x="8978206" y="6377868"/>
                      <a:pt x="10028496" y="6349928"/>
                    </a:cubicBezTo>
                    <a:cubicBezTo>
                      <a:pt x="10283766" y="6338498"/>
                      <a:pt x="10540306" y="6310558"/>
                      <a:pt x="10795576" y="6327068"/>
                    </a:cubicBezTo>
                    <a:cubicBezTo>
                      <a:pt x="10795576" y="6332148"/>
                      <a:pt x="10796846" y="6335958"/>
                      <a:pt x="10796846" y="6341038"/>
                    </a:cubicBezTo>
                    <a:cubicBezTo>
                      <a:pt x="10747316" y="6352468"/>
                      <a:pt x="10699056" y="6363898"/>
                      <a:pt x="10649526" y="6374058"/>
                    </a:cubicBezTo>
                    <a:cubicBezTo>
                      <a:pt x="10649526" y="6376598"/>
                      <a:pt x="10649526" y="6377868"/>
                      <a:pt x="10649526" y="6380408"/>
                    </a:cubicBezTo>
                    <a:cubicBezTo>
                      <a:pt x="10754935" y="6381678"/>
                      <a:pt x="10860346" y="6381678"/>
                      <a:pt x="10968296" y="6381678"/>
                    </a:cubicBezTo>
                    <a:close/>
                    <a:moveTo>
                      <a:pt x="105665" y="3482268"/>
                    </a:moveTo>
                    <a:cubicBezTo>
                      <a:pt x="42165" y="4467788"/>
                      <a:pt x="89155" y="5452039"/>
                      <a:pt x="134875" y="6437558"/>
                    </a:cubicBezTo>
                    <a:cubicBezTo>
                      <a:pt x="159005" y="6435018"/>
                      <a:pt x="181865" y="6433748"/>
                      <a:pt x="204725" y="6431208"/>
                    </a:cubicBezTo>
                    <a:cubicBezTo>
                      <a:pt x="161545" y="5449498"/>
                      <a:pt x="183135" y="4463978"/>
                      <a:pt x="105665" y="3482268"/>
                    </a:cubicBezTo>
                    <a:close/>
                    <a:moveTo>
                      <a:pt x="9162356" y="6421048"/>
                    </a:moveTo>
                    <a:cubicBezTo>
                      <a:pt x="8648006" y="6399458"/>
                      <a:pt x="8134926" y="6382948"/>
                      <a:pt x="7620576" y="6398189"/>
                    </a:cubicBezTo>
                    <a:cubicBezTo>
                      <a:pt x="8134926" y="6417238"/>
                      <a:pt x="8648006" y="6470578"/>
                      <a:pt x="9162356" y="6421048"/>
                    </a:cubicBezTo>
                    <a:close/>
                  </a:path>
                </a:pathLst>
              </a:custGeom>
              <a:solidFill>
                <a:srgbClr val="000000"/>
              </a:solidFill>
            </p:spPr>
          </p:sp>
        </p:grpSp>
        <p:sp>
          <p:nvSpPr>
            <p:cNvPr name="Freeform 12" id="12"/>
            <p:cNvSpPr/>
            <p:nvPr/>
          </p:nvSpPr>
          <p:spPr>
            <a:xfrm flipH="false" flipV="false" rot="0">
              <a:off x="4843405" y="0"/>
              <a:ext cx="921045" cy="954451"/>
            </a:xfrm>
            <a:custGeom>
              <a:avLst/>
              <a:gdLst/>
              <a:ahLst/>
              <a:cxnLst/>
              <a:rect r="r" b="b" t="t" l="l"/>
              <a:pathLst>
                <a:path h="954451" w="921045">
                  <a:moveTo>
                    <a:pt x="0" y="0"/>
                  </a:moveTo>
                  <a:lnTo>
                    <a:pt x="921045" y="0"/>
                  </a:lnTo>
                  <a:lnTo>
                    <a:pt x="921045" y="954451"/>
                  </a:lnTo>
                  <a:lnTo>
                    <a:pt x="0" y="9544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833726" y="1215616"/>
              <a:ext cx="3942060"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4AAD"/>
                  </a:solidFill>
                  <a:latin typeface="DM Sans Bold"/>
                  <a:ea typeface="DM Sans Bold"/>
                  <a:cs typeface="DM Sans Bold"/>
                  <a:sym typeface="DM Sans Bold"/>
                </a:rPr>
                <a:t>Build and validate</a:t>
              </a:r>
            </a:p>
          </p:txBody>
        </p:sp>
        <p:sp>
          <p:nvSpPr>
            <p:cNvPr name="TextBox 14" id="14"/>
            <p:cNvSpPr txBox="true"/>
            <p:nvPr/>
          </p:nvSpPr>
          <p:spPr>
            <a:xfrm rot="0">
              <a:off x="305585" y="2060394"/>
              <a:ext cx="4998343" cy="10922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Develop core features </a:t>
              </a:r>
            </a:p>
            <a:p>
              <a:pPr algn="ctr">
                <a:lnSpc>
                  <a:spcPts val="3254"/>
                </a:lnSpc>
                <a:spcBef>
                  <a:spcPct val="0"/>
                </a:spcBef>
              </a:pPr>
              <a:r>
                <a:rPr lang="en-US" b="true" sz="2712">
                  <a:solidFill>
                    <a:srgbClr val="002060"/>
                  </a:solidFill>
                  <a:latin typeface="DM Sans Bold"/>
                  <a:ea typeface="DM Sans Bold"/>
                  <a:cs typeface="DM Sans Bold"/>
                  <a:sym typeface="DM Sans Bold"/>
                </a:rPr>
                <a:t>&amp; validate</a:t>
              </a:r>
            </a:p>
          </p:txBody>
        </p:sp>
        <p:sp>
          <p:nvSpPr>
            <p:cNvPr name="TextBox 15" id="15"/>
            <p:cNvSpPr txBox="true"/>
            <p:nvPr/>
          </p:nvSpPr>
          <p:spPr>
            <a:xfrm rot="0">
              <a:off x="1938626" y="517116"/>
              <a:ext cx="1732260"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PHASE 1</a:t>
              </a:r>
            </a:p>
          </p:txBody>
        </p:sp>
      </p:grpSp>
      <p:grpSp>
        <p:nvGrpSpPr>
          <p:cNvPr name="Group 16" id="16"/>
          <p:cNvGrpSpPr/>
          <p:nvPr/>
        </p:nvGrpSpPr>
        <p:grpSpPr>
          <a:xfrm rot="0">
            <a:off x="6997789" y="2493432"/>
            <a:ext cx="4292421" cy="2862394"/>
            <a:chOff x="0" y="0"/>
            <a:chExt cx="5723228" cy="3816525"/>
          </a:xfrm>
        </p:grpSpPr>
        <p:grpSp>
          <p:nvGrpSpPr>
            <p:cNvPr name="Group 17" id="17"/>
            <p:cNvGrpSpPr/>
            <p:nvPr/>
          </p:nvGrpSpPr>
          <p:grpSpPr>
            <a:xfrm rot="0">
              <a:off x="0" y="177262"/>
              <a:ext cx="5537314" cy="3639263"/>
              <a:chOff x="0" y="0"/>
              <a:chExt cx="11318581" cy="7438858"/>
            </a:xfrm>
          </p:grpSpPr>
          <p:sp>
            <p:nvSpPr>
              <p:cNvPr name="Freeform 18" id="18"/>
              <p:cNvSpPr/>
              <p:nvPr/>
            </p:nvSpPr>
            <p:spPr>
              <a:xfrm flipH="false" flipV="false" rot="0">
                <a:off x="172465" y="404400"/>
                <a:ext cx="10840046" cy="6554398"/>
              </a:xfrm>
              <a:custGeom>
                <a:avLst/>
                <a:gdLst/>
                <a:ahLst/>
                <a:cxnLst/>
                <a:rect r="r" b="b" t="t" l="l"/>
                <a:pathLst>
                  <a:path h="6554398" w="10840046">
                    <a:moveTo>
                      <a:pt x="132335" y="6504868"/>
                    </a:moveTo>
                    <a:cubicBezTo>
                      <a:pt x="128525" y="6520108"/>
                      <a:pt x="125985" y="6531538"/>
                      <a:pt x="119635" y="6554398"/>
                    </a:cubicBezTo>
                    <a:cubicBezTo>
                      <a:pt x="75185" y="6454068"/>
                      <a:pt x="91695" y="6530268"/>
                      <a:pt x="23115" y="6465498"/>
                    </a:cubicBezTo>
                    <a:cubicBezTo>
                      <a:pt x="44705" y="6452798"/>
                      <a:pt x="59945" y="6443908"/>
                      <a:pt x="86615" y="6441368"/>
                    </a:cubicBezTo>
                    <a:cubicBezTo>
                      <a:pt x="-100075" y="4787828"/>
                      <a:pt x="82805" y="3124128"/>
                      <a:pt x="20575" y="379190"/>
                    </a:cubicBezTo>
                    <a:cubicBezTo>
                      <a:pt x="57405" y="203930"/>
                      <a:pt x="294895" y="263620"/>
                      <a:pt x="426975" y="228060"/>
                    </a:cubicBezTo>
                    <a:cubicBezTo>
                      <a:pt x="613665" y="207740"/>
                      <a:pt x="800355" y="188690"/>
                      <a:pt x="987045" y="169640"/>
                    </a:cubicBezTo>
                    <a:cubicBezTo>
                      <a:pt x="1486155" y="118840"/>
                      <a:pt x="6955116" y="71850"/>
                      <a:pt x="7456766" y="43910"/>
                    </a:cubicBezTo>
                    <a:cubicBezTo>
                      <a:pt x="8416886" y="-13240"/>
                      <a:pt x="9380816" y="-11970"/>
                      <a:pt x="10342206" y="32480"/>
                    </a:cubicBezTo>
                    <a:cubicBezTo>
                      <a:pt x="10460316" y="57880"/>
                      <a:pt x="10728286" y="21050"/>
                      <a:pt x="10738446" y="179800"/>
                    </a:cubicBezTo>
                    <a:cubicBezTo>
                      <a:pt x="10735906" y="2521790"/>
                      <a:pt x="10824806" y="4639238"/>
                      <a:pt x="10840046" y="6324528"/>
                    </a:cubicBezTo>
                    <a:cubicBezTo>
                      <a:pt x="10840046" y="6360088"/>
                      <a:pt x="10840046" y="6409618"/>
                      <a:pt x="10793056" y="6412158"/>
                    </a:cubicBezTo>
                    <a:cubicBezTo>
                      <a:pt x="10513656" y="6460418"/>
                      <a:pt x="10231716" y="6432478"/>
                      <a:pt x="9949776" y="6442638"/>
                    </a:cubicBezTo>
                    <a:cubicBezTo>
                      <a:pt x="9332556" y="6474388"/>
                      <a:pt x="8719146" y="6569638"/>
                      <a:pt x="8099386" y="6522648"/>
                    </a:cubicBezTo>
                    <a:cubicBezTo>
                      <a:pt x="7101166" y="6461688"/>
                      <a:pt x="1131825" y="6482008"/>
                      <a:pt x="132335" y="6504868"/>
                    </a:cubicBezTo>
                    <a:close/>
                    <a:moveTo>
                      <a:pt x="10798136" y="6381678"/>
                    </a:moveTo>
                    <a:cubicBezTo>
                      <a:pt x="10700346" y="4706548"/>
                      <a:pt x="10617796" y="3022528"/>
                      <a:pt x="10692726" y="257270"/>
                    </a:cubicBezTo>
                    <a:cubicBezTo>
                      <a:pt x="10696536" y="158210"/>
                      <a:pt x="10688916" y="145510"/>
                      <a:pt x="10589856" y="136620"/>
                    </a:cubicBezTo>
                    <a:cubicBezTo>
                      <a:pt x="9175076" y="26130"/>
                      <a:pt x="7747597" y="54070"/>
                      <a:pt x="1366775" y="186150"/>
                    </a:cubicBezTo>
                    <a:cubicBezTo>
                      <a:pt x="956565" y="233140"/>
                      <a:pt x="541275" y="258540"/>
                      <a:pt x="133605" y="325850"/>
                    </a:cubicBezTo>
                    <a:cubicBezTo>
                      <a:pt x="51055" y="352520"/>
                      <a:pt x="92965" y="426180"/>
                      <a:pt x="95505" y="484600"/>
                    </a:cubicBezTo>
                    <a:cubicBezTo>
                      <a:pt x="114555" y="1089120"/>
                      <a:pt x="129795" y="1692370"/>
                      <a:pt x="148845" y="3385748"/>
                    </a:cubicBezTo>
                    <a:cubicBezTo>
                      <a:pt x="200915" y="4372538"/>
                      <a:pt x="199645" y="5363138"/>
                      <a:pt x="249175" y="6349928"/>
                    </a:cubicBezTo>
                    <a:cubicBezTo>
                      <a:pt x="250445" y="6371518"/>
                      <a:pt x="258065" y="6385488"/>
                      <a:pt x="283465" y="6386758"/>
                    </a:cubicBezTo>
                    <a:cubicBezTo>
                      <a:pt x="768605" y="6424858"/>
                      <a:pt x="1253745" y="6372788"/>
                      <a:pt x="1738885" y="6363898"/>
                    </a:cubicBezTo>
                    <a:cubicBezTo>
                      <a:pt x="7757756" y="6296588"/>
                      <a:pt x="8808046" y="6377868"/>
                      <a:pt x="9858336" y="6349928"/>
                    </a:cubicBezTo>
                    <a:cubicBezTo>
                      <a:pt x="10113606" y="6338498"/>
                      <a:pt x="10370147" y="6310558"/>
                      <a:pt x="10625416" y="6327068"/>
                    </a:cubicBezTo>
                    <a:cubicBezTo>
                      <a:pt x="10625416" y="6332148"/>
                      <a:pt x="10626686" y="6335958"/>
                      <a:pt x="10626686" y="6341038"/>
                    </a:cubicBezTo>
                    <a:cubicBezTo>
                      <a:pt x="10577156" y="6352468"/>
                      <a:pt x="10528897" y="6363898"/>
                      <a:pt x="10479366" y="6374058"/>
                    </a:cubicBezTo>
                    <a:cubicBezTo>
                      <a:pt x="10479366" y="6376598"/>
                      <a:pt x="10479366" y="6377868"/>
                      <a:pt x="10479366" y="6380408"/>
                    </a:cubicBezTo>
                    <a:cubicBezTo>
                      <a:pt x="10584776" y="6381678"/>
                      <a:pt x="10690186" y="6381678"/>
                      <a:pt x="10798136" y="6381678"/>
                    </a:cubicBezTo>
                    <a:close/>
                    <a:moveTo>
                      <a:pt x="105665" y="3482268"/>
                    </a:moveTo>
                    <a:cubicBezTo>
                      <a:pt x="42165" y="4467788"/>
                      <a:pt x="89155" y="5452039"/>
                      <a:pt x="134875" y="6437558"/>
                    </a:cubicBezTo>
                    <a:cubicBezTo>
                      <a:pt x="159005" y="6435018"/>
                      <a:pt x="181865" y="6433748"/>
                      <a:pt x="204725" y="6431208"/>
                    </a:cubicBezTo>
                    <a:cubicBezTo>
                      <a:pt x="161545" y="5449498"/>
                      <a:pt x="183135" y="4463978"/>
                      <a:pt x="105665" y="3482268"/>
                    </a:cubicBezTo>
                    <a:close/>
                    <a:moveTo>
                      <a:pt x="8992196" y="6421048"/>
                    </a:moveTo>
                    <a:cubicBezTo>
                      <a:pt x="8477846" y="6399458"/>
                      <a:pt x="7964766" y="6382948"/>
                      <a:pt x="7450416" y="6398189"/>
                    </a:cubicBezTo>
                    <a:cubicBezTo>
                      <a:pt x="7964766" y="6417238"/>
                      <a:pt x="8477846" y="6470578"/>
                      <a:pt x="8992196" y="6421048"/>
                    </a:cubicBezTo>
                    <a:close/>
                  </a:path>
                </a:pathLst>
              </a:custGeom>
              <a:solidFill>
                <a:srgbClr val="000000"/>
              </a:solidFill>
            </p:spPr>
          </p:sp>
        </p:grpSp>
        <p:sp>
          <p:nvSpPr>
            <p:cNvPr name="Freeform 19" id="19"/>
            <p:cNvSpPr/>
            <p:nvPr/>
          </p:nvSpPr>
          <p:spPr>
            <a:xfrm flipH="false" flipV="false" rot="0">
              <a:off x="4769728" y="0"/>
              <a:ext cx="953500" cy="867685"/>
            </a:xfrm>
            <a:custGeom>
              <a:avLst/>
              <a:gdLst/>
              <a:ahLst/>
              <a:cxnLst/>
              <a:rect r="r" b="b" t="t" l="l"/>
              <a:pathLst>
                <a:path h="867685" w="953500">
                  <a:moveTo>
                    <a:pt x="0" y="0"/>
                  </a:moveTo>
                  <a:lnTo>
                    <a:pt x="953500" y="0"/>
                  </a:lnTo>
                  <a:lnTo>
                    <a:pt x="953500" y="867685"/>
                  </a:lnTo>
                  <a:lnTo>
                    <a:pt x="0" y="867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723660" y="1291816"/>
              <a:ext cx="4089995"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4AAD"/>
                  </a:solidFill>
                  <a:latin typeface="DM Sans Bold"/>
                  <a:ea typeface="DM Sans Bold"/>
                  <a:cs typeface="DM Sans Bold"/>
                  <a:sym typeface="DM Sans Bold"/>
                </a:rPr>
                <a:t>Integrate and pilot</a:t>
              </a:r>
            </a:p>
          </p:txBody>
        </p:sp>
        <p:sp>
          <p:nvSpPr>
            <p:cNvPr name="TextBox 21" id="21"/>
            <p:cNvSpPr txBox="true"/>
            <p:nvPr/>
          </p:nvSpPr>
          <p:spPr>
            <a:xfrm rot="0">
              <a:off x="626988" y="2060394"/>
              <a:ext cx="4110050" cy="10922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Connect systems </a:t>
              </a:r>
            </a:p>
            <a:p>
              <a:pPr algn="ctr">
                <a:lnSpc>
                  <a:spcPts val="3254"/>
                </a:lnSpc>
                <a:spcBef>
                  <a:spcPct val="0"/>
                </a:spcBef>
              </a:pPr>
              <a:r>
                <a:rPr lang="en-US" b="true" sz="2712">
                  <a:solidFill>
                    <a:srgbClr val="002060"/>
                  </a:solidFill>
                  <a:latin typeface="DM Sans Bold"/>
                  <a:ea typeface="DM Sans Bold"/>
                  <a:cs typeface="DM Sans Bold"/>
                  <a:sym typeface="DM Sans Bold"/>
                </a:rPr>
                <a:t>&amp; run SLIIT pilot</a:t>
              </a:r>
            </a:p>
          </p:txBody>
        </p:sp>
        <p:sp>
          <p:nvSpPr>
            <p:cNvPr name="TextBox 22" id="22"/>
            <p:cNvSpPr txBox="true"/>
            <p:nvPr/>
          </p:nvSpPr>
          <p:spPr>
            <a:xfrm rot="0">
              <a:off x="2060911" y="594635"/>
              <a:ext cx="1836043"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PHASE 2</a:t>
              </a:r>
            </a:p>
          </p:txBody>
        </p:sp>
      </p:grpSp>
      <p:grpSp>
        <p:nvGrpSpPr>
          <p:cNvPr name="Group 23" id="23"/>
          <p:cNvGrpSpPr/>
          <p:nvPr/>
        </p:nvGrpSpPr>
        <p:grpSpPr>
          <a:xfrm rot="0">
            <a:off x="13365967" y="2493432"/>
            <a:ext cx="3893333" cy="2862394"/>
            <a:chOff x="0" y="0"/>
            <a:chExt cx="5191111" cy="3816525"/>
          </a:xfrm>
        </p:grpSpPr>
        <p:grpSp>
          <p:nvGrpSpPr>
            <p:cNvPr name="Group 24" id="24"/>
            <p:cNvGrpSpPr/>
            <p:nvPr/>
          </p:nvGrpSpPr>
          <p:grpSpPr>
            <a:xfrm rot="0">
              <a:off x="0" y="119465"/>
              <a:ext cx="4932050" cy="3697060"/>
              <a:chOff x="0" y="0"/>
              <a:chExt cx="10081388" cy="7556998"/>
            </a:xfrm>
          </p:grpSpPr>
          <p:sp>
            <p:nvSpPr>
              <p:cNvPr name="Freeform 25" id="25"/>
              <p:cNvSpPr/>
              <p:nvPr/>
            </p:nvSpPr>
            <p:spPr>
              <a:xfrm flipH="false" flipV="false" rot="0">
                <a:off x="172465" y="404400"/>
                <a:ext cx="9602853" cy="6672538"/>
              </a:xfrm>
              <a:custGeom>
                <a:avLst/>
                <a:gdLst/>
                <a:ahLst/>
                <a:cxnLst/>
                <a:rect r="r" b="b" t="t" l="l"/>
                <a:pathLst>
                  <a:path h="6672538" w="9602853">
                    <a:moveTo>
                      <a:pt x="132335" y="6623007"/>
                    </a:moveTo>
                    <a:cubicBezTo>
                      <a:pt x="128525" y="6638248"/>
                      <a:pt x="125985" y="6649678"/>
                      <a:pt x="119635" y="6672538"/>
                    </a:cubicBezTo>
                    <a:cubicBezTo>
                      <a:pt x="75185" y="6572207"/>
                      <a:pt x="91695" y="6648407"/>
                      <a:pt x="23115" y="6583638"/>
                    </a:cubicBezTo>
                    <a:cubicBezTo>
                      <a:pt x="44705" y="6570938"/>
                      <a:pt x="59945" y="6562048"/>
                      <a:pt x="86615" y="6559507"/>
                    </a:cubicBezTo>
                    <a:cubicBezTo>
                      <a:pt x="-100075" y="4905968"/>
                      <a:pt x="82805" y="3242268"/>
                      <a:pt x="20575" y="379190"/>
                    </a:cubicBezTo>
                    <a:cubicBezTo>
                      <a:pt x="57405" y="203930"/>
                      <a:pt x="294895" y="263620"/>
                      <a:pt x="426975" y="228060"/>
                    </a:cubicBezTo>
                    <a:cubicBezTo>
                      <a:pt x="613665" y="207740"/>
                      <a:pt x="800355" y="188690"/>
                      <a:pt x="987045" y="169640"/>
                    </a:cubicBezTo>
                    <a:cubicBezTo>
                      <a:pt x="1486155" y="118840"/>
                      <a:pt x="5717923" y="71850"/>
                      <a:pt x="6219573" y="43910"/>
                    </a:cubicBezTo>
                    <a:cubicBezTo>
                      <a:pt x="7179692" y="-13240"/>
                      <a:pt x="8143623" y="-11970"/>
                      <a:pt x="9105012" y="32480"/>
                    </a:cubicBezTo>
                    <a:cubicBezTo>
                      <a:pt x="9223123" y="57880"/>
                      <a:pt x="9491092" y="21050"/>
                      <a:pt x="9501252" y="179800"/>
                    </a:cubicBezTo>
                    <a:cubicBezTo>
                      <a:pt x="9498712" y="2592903"/>
                      <a:pt x="9587612" y="4757378"/>
                      <a:pt x="9602852" y="6442668"/>
                    </a:cubicBezTo>
                    <a:cubicBezTo>
                      <a:pt x="9602852" y="6478228"/>
                      <a:pt x="9602852" y="6527758"/>
                      <a:pt x="9555862" y="6530298"/>
                    </a:cubicBezTo>
                    <a:cubicBezTo>
                      <a:pt x="9276462" y="6578558"/>
                      <a:pt x="8994523" y="6550618"/>
                      <a:pt x="8712583" y="6560778"/>
                    </a:cubicBezTo>
                    <a:cubicBezTo>
                      <a:pt x="8095362" y="6592528"/>
                      <a:pt x="7481952" y="6687778"/>
                      <a:pt x="6862192" y="6640788"/>
                    </a:cubicBezTo>
                    <a:cubicBezTo>
                      <a:pt x="5863973" y="6579828"/>
                      <a:pt x="1131825" y="6600148"/>
                      <a:pt x="132335" y="6623007"/>
                    </a:cubicBezTo>
                    <a:close/>
                    <a:moveTo>
                      <a:pt x="9560942" y="6499818"/>
                    </a:moveTo>
                    <a:cubicBezTo>
                      <a:pt x="9463152" y="4824688"/>
                      <a:pt x="9380602" y="3140668"/>
                      <a:pt x="9455533" y="257270"/>
                    </a:cubicBezTo>
                    <a:cubicBezTo>
                      <a:pt x="9459342" y="158210"/>
                      <a:pt x="9451723" y="145510"/>
                      <a:pt x="9352663" y="136620"/>
                    </a:cubicBezTo>
                    <a:cubicBezTo>
                      <a:pt x="7937883" y="26130"/>
                      <a:pt x="6510403" y="54070"/>
                      <a:pt x="1366775" y="186150"/>
                    </a:cubicBezTo>
                    <a:cubicBezTo>
                      <a:pt x="956565" y="233140"/>
                      <a:pt x="541275" y="258540"/>
                      <a:pt x="133605" y="325850"/>
                    </a:cubicBezTo>
                    <a:cubicBezTo>
                      <a:pt x="51055" y="352520"/>
                      <a:pt x="92965" y="426180"/>
                      <a:pt x="95505" y="484600"/>
                    </a:cubicBezTo>
                    <a:cubicBezTo>
                      <a:pt x="114555" y="1089120"/>
                      <a:pt x="129795" y="1692370"/>
                      <a:pt x="148845" y="3503888"/>
                    </a:cubicBezTo>
                    <a:cubicBezTo>
                      <a:pt x="200915" y="4490678"/>
                      <a:pt x="199645" y="5481278"/>
                      <a:pt x="249175" y="6468068"/>
                    </a:cubicBezTo>
                    <a:cubicBezTo>
                      <a:pt x="250445" y="6489657"/>
                      <a:pt x="258065" y="6503628"/>
                      <a:pt x="283465" y="6504898"/>
                    </a:cubicBezTo>
                    <a:cubicBezTo>
                      <a:pt x="768605" y="6542998"/>
                      <a:pt x="1253745" y="6490928"/>
                      <a:pt x="1738885" y="6482038"/>
                    </a:cubicBezTo>
                    <a:cubicBezTo>
                      <a:pt x="6520563" y="6414728"/>
                      <a:pt x="7570852" y="6496007"/>
                      <a:pt x="8621142" y="6468068"/>
                    </a:cubicBezTo>
                    <a:cubicBezTo>
                      <a:pt x="8876413" y="6456638"/>
                      <a:pt x="9132953" y="6428698"/>
                      <a:pt x="9388223" y="6445207"/>
                    </a:cubicBezTo>
                    <a:cubicBezTo>
                      <a:pt x="9388223" y="6450288"/>
                      <a:pt x="9389492" y="6454098"/>
                      <a:pt x="9389492" y="6459178"/>
                    </a:cubicBezTo>
                    <a:cubicBezTo>
                      <a:pt x="9339963" y="6470607"/>
                      <a:pt x="9291703" y="6482038"/>
                      <a:pt x="9242173" y="6492198"/>
                    </a:cubicBezTo>
                    <a:cubicBezTo>
                      <a:pt x="9242173" y="6494738"/>
                      <a:pt x="9242173" y="6496007"/>
                      <a:pt x="9242173" y="6498548"/>
                    </a:cubicBezTo>
                    <a:cubicBezTo>
                      <a:pt x="9347583" y="6499818"/>
                      <a:pt x="9452992" y="6499818"/>
                      <a:pt x="9560942" y="6499818"/>
                    </a:cubicBezTo>
                    <a:close/>
                    <a:moveTo>
                      <a:pt x="105665" y="3600408"/>
                    </a:moveTo>
                    <a:cubicBezTo>
                      <a:pt x="42165" y="4585928"/>
                      <a:pt x="89155" y="5570178"/>
                      <a:pt x="134875" y="6555698"/>
                    </a:cubicBezTo>
                    <a:cubicBezTo>
                      <a:pt x="159005" y="6553157"/>
                      <a:pt x="181865" y="6551888"/>
                      <a:pt x="204725" y="6549348"/>
                    </a:cubicBezTo>
                    <a:cubicBezTo>
                      <a:pt x="161545" y="5567638"/>
                      <a:pt x="183135" y="4582118"/>
                      <a:pt x="105665" y="3600408"/>
                    </a:cubicBezTo>
                    <a:close/>
                    <a:moveTo>
                      <a:pt x="7755002" y="6539188"/>
                    </a:moveTo>
                    <a:cubicBezTo>
                      <a:pt x="7240652" y="6517598"/>
                      <a:pt x="6727573" y="6501088"/>
                      <a:pt x="6213223" y="6516328"/>
                    </a:cubicBezTo>
                    <a:cubicBezTo>
                      <a:pt x="6727573" y="6535378"/>
                      <a:pt x="7240652" y="6588718"/>
                      <a:pt x="7755002" y="6539188"/>
                    </a:cubicBezTo>
                    <a:close/>
                  </a:path>
                </a:pathLst>
              </a:custGeom>
              <a:solidFill>
                <a:srgbClr val="000000"/>
              </a:solidFill>
            </p:spPr>
          </p:sp>
        </p:grpSp>
        <p:sp>
          <p:nvSpPr>
            <p:cNvPr name="Freeform 26" id="26"/>
            <p:cNvSpPr/>
            <p:nvPr/>
          </p:nvSpPr>
          <p:spPr>
            <a:xfrm flipH="false" flipV="false" rot="0">
              <a:off x="4077017" y="0"/>
              <a:ext cx="1114093" cy="779865"/>
            </a:xfrm>
            <a:custGeom>
              <a:avLst/>
              <a:gdLst/>
              <a:ahLst/>
              <a:cxnLst/>
              <a:rect r="r" b="b" t="t" l="l"/>
              <a:pathLst>
                <a:path h="779865" w="1114093">
                  <a:moveTo>
                    <a:pt x="0" y="0"/>
                  </a:moveTo>
                  <a:lnTo>
                    <a:pt x="1114094" y="0"/>
                  </a:lnTo>
                  <a:lnTo>
                    <a:pt x="1114094" y="779865"/>
                  </a:lnTo>
                  <a:lnTo>
                    <a:pt x="0" y="7798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7" id="27"/>
            <p:cNvSpPr txBox="true"/>
            <p:nvPr/>
          </p:nvSpPr>
          <p:spPr>
            <a:xfrm rot="0">
              <a:off x="853446" y="1215616"/>
              <a:ext cx="2823865"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4AAD"/>
                  </a:solidFill>
                  <a:latin typeface="DM Sans Bold"/>
                  <a:ea typeface="DM Sans Bold"/>
                  <a:cs typeface="DM Sans Bold"/>
                  <a:sym typeface="DM Sans Bold"/>
                </a:rPr>
                <a:t>Partnerships</a:t>
              </a:r>
            </a:p>
          </p:txBody>
        </p:sp>
        <p:sp>
          <p:nvSpPr>
            <p:cNvPr name="TextBox 28" id="28"/>
            <p:cNvSpPr txBox="true"/>
            <p:nvPr/>
          </p:nvSpPr>
          <p:spPr>
            <a:xfrm rot="0">
              <a:off x="262175" y="2060394"/>
              <a:ext cx="4455772" cy="10922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Engage universities </a:t>
              </a:r>
            </a:p>
            <a:p>
              <a:pPr algn="ctr">
                <a:lnSpc>
                  <a:spcPts val="3254"/>
                </a:lnSpc>
                <a:spcBef>
                  <a:spcPct val="0"/>
                </a:spcBef>
              </a:pPr>
              <a:r>
                <a:rPr lang="en-US" b="true" sz="2712">
                  <a:solidFill>
                    <a:srgbClr val="002060"/>
                  </a:solidFill>
                  <a:latin typeface="DM Sans Bold"/>
                  <a:ea typeface="DM Sans Bold"/>
                  <a:cs typeface="DM Sans Bold"/>
                  <a:sym typeface="DM Sans Bold"/>
                </a:rPr>
                <a:t>&amp; job portals</a:t>
              </a:r>
            </a:p>
          </p:txBody>
        </p:sp>
        <p:sp>
          <p:nvSpPr>
            <p:cNvPr name="TextBox 29" id="29"/>
            <p:cNvSpPr txBox="true"/>
            <p:nvPr/>
          </p:nvSpPr>
          <p:spPr>
            <a:xfrm rot="0">
              <a:off x="1341602" y="517116"/>
              <a:ext cx="1847552"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PHASE 3</a:t>
              </a:r>
            </a:p>
          </p:txBody>
        </p:sp>
      </p:grpSp>
      <p:grpSp>
        <p:nvGrpSpPr>
          <p:cNvPr name="Group 30" id="30"/>
          <p:cNvGrpSpPr/>
          <p:nvPr/>
        </p:nvGrpSpPr>
        <p:grpSpPr>
          <a:xfrm rot="0">
            <a:off x="3926277" y="5971434"/>
            <a:ext cx="3612324" cy="3032439"/>
            <a:chOff x="0" y="0"/>
            <a:chExt cx="4816432" cy="4043252"/>
          </a:xfrm>
        </p:grpSpPr>
        <p:grpSp>
          <p:nvGrpSpPr>
            <p:cNvPr name="Group 31" id="31"/>
            <p:cNvGrpSpPr/>
            <p:nvPr/>
          </p:nvGrpSpPr>
          <p:grpSpPr>
            <a:xfrm rot="0">
              <a:off x="0" y="333036"/>
              <a:ext cx="4579924" cy="3710216"/>
              <a:chOff x="0" y="0"/>
              <a:chExt cx="9361622" cy="7583889"/>
            </a:xfrm>
          </p:grpSpPr>
          <p:sp>
            <p:nvSpPr>
              <p:cNvPr name="Freeform 32" id="32"/>
              <p:cNvSpPr/>
              <p:nvPr/>
            </p:nvSpPr>
            <p:spPr>
              <a:xfrm flipH="false" flipV="false" rot="0">
                <a:off x="172465" y="404400"/>
                <a:ext cx="8883087" cy="6699430"/>
              </a:xfrm>
              <a:custGeom>
                <a:avLst/>
                <a:gdLst/>
                <a:ahLst/>
                <a:cxnLst/>
                <a:rect r="r" b="b" t="t" l="l"/>
                <a:pathLst>
                  <a:path h="6699430" w="8883087">
                    <a:moveTo>
                      <a:pt x="132335" y="6649899"/>
                    </a:moveTo>
                    <a:cubicBezTo>
                      <a:pt x="128525" y="6665139"/>
                      <a:pt x="125985" y="6676569"/>
                      <a:pt x="119635" y="6699429"/>
                    </a:cubicBezTo>
                    <a:cubicBezTo>
                      <a:pt x="75185" y="6599099"/>
                      <a:pt x="91695" y="6675299"/>
                      <a:pt x="23115" y="6610529"/>
                    </a:cubicBezTo>
                    <a:cubicBezTo>
                      <a:pt x="44705" y="6597829"/>
                      <a:pt x="59945" y="6588939"/>
                      <a:pt x="86615" y="6586399"/>
                    </a:cubicBezTo>
                    <a:cubicBezTo>
                      <a:pt x="-100075" y="4932859"/>
                      <a:pt x="82805" y="3269159"/>
                      <a:pt x="20575" y="379190"/>
                    </a:cubicBezTo>
                    <a:cubicBezTo>
                      <a:pt x="57405" y="203930"/>
                      <a:pt x="294895" y="263620"/>
                      <a:pt x="426975" y="228060"/>
                    </a:cubicBezTo>
                    <a:cubicBezTo>
                      <a:pt x="613665" y="207740"/>
                      <a:pt x="800355" y="188690"/>
                      <a:pt x="987045" y="169640"/>
                    </a:cubicBezTo>
                    <a:cubicBezTo>
                      <a:pt x="1486155" y="118840"/>
                      <a:pt x="4998157" y="71850"/>
                      <a:pt x="5499807" y="43910"/>
                    </a:cubicBezTo>
                    <a:cubicBezTo>
                      <a:pt x="6459927" y="-13240"/>
                      <a:pt x="7423857" y="-11970"/>
                      <a:pt x="8385247" y="32480"/>
                    </a:cubicBezTo>
                    <a:cubicBezTo>
                      <a:pt x="8503357" y="57880"/>
                      <a:pt x="8771327" y="21050"/>
                      <a:pt x="8781487" y="179800"/>
                    </a:cubicBezTo>
                    <a:cubicBezTo>
                      <a:pt x="8778947" y="2609090"/>
                      <a:pt x="8867847" y="4784269"/>
                      <a:pt x="8883087" y="6469559"/>
                    </a:cubicBezTo>
                    <a:cubicBezTo>
                      <a:pt x="8883087" y="6505119"/>
                      <a:pt x="8883087" y="6554649"/>
                      <a:pt x="8836097" y="6557189"/>
                    </a:cubicBezTo>
                    <a:cubicBezTo>
                      <a:pt x="8556697" y="6605449"/>
                      <a:pt x="8274757" y="6577509"/>
                      <a:pt x="7992816" y="6587669"/>
                    </a:cubicBezTo>
                    <a:cubicBezTo>
                      <a:pt x="7375597" y="6619419"/>
                      <a:pt x="6762187" y="6714669"/>
                      <a:pt x="6142427" y="6667679"/>
                    </a:cubicBezTo>
                    <a:cubicBezTo>
                      <a:pt x="5144207" y="6606719"/>
                      <a:pt x="1131825" y="6627039"/>
                      <a:pt x="132335" y="6649899"/>
                    </a:cubicBezTo>
                    <a:close/>
                    <a:moveTo>
                      <a:pt x="8841177" y="6526709"/>
                    </a:moveTo>
                    <a:cubicBezTo>
                      <a:pt x="8743387" y="4851579"/>
                      <a:pt x="8660837" y="3167559"/>
                      <a:pt x="8735767" y="257270"/>
                    </a:cubicBezTo>
                    <a:cubicBezTo>
                      <a:pt x="8739577" y="158210"/>
                      <a:pt x="8731957" y="145510"/>
                      <a:pt x="8632897" y="136620"/>
                    </a:cubicBezTo>
                    <a:cubicBezTo>
                      <a:pt x="7218117" y="26130"/>
                      <a:pt x="5790637" y="54070"/>
                      <a:pt x="1366775" y="186150"/>
                    </a:cubicBezTo>
                    <a:cubicBezTo>
                      <a:pt x="956565" y="233140"/>
                      <a:pt x="541275" y="258540"/>
                      <a:pt x="133605" y="325850"/>
                    </a:cubicBezTo>
                    <a:cubicBezTo>
                      <a:pt x="51055" y="352520"/>
                      <a:pt x="92965" y="426180"/>
                      <a:pt x="95505" y="484600"/>
                    </a:cubicBezTo>
                    <a:cubicBezTo>
                      <a:pt x="114555" y="1089120"/>
                      <a:pt x="129795" y="1692370"/>
                      <a:pt x="148845" y="3530779"/>
                    </a:cubicBezTo>
                    <a:cubicBezTo>
                      <a:pt x="200915" y="4517569"/>
                      <a:pt x="199645" y="5508169"/>
                      <a:pt x="249175" y="6494959"/>
                    </a:cubicBezTo>
                    <a:cubicBezTo>
                      <a:pt x="250445" y="6516549"/>
                      <a:pt x="258065" y="6530519"/>
                      <a:pt x="283465" y="6531789"/>
                    </a:cubicBezTo>
                    <a:cubicBezTo>
                      <a:pt x="768605" y="6569889"/>
                      <a:pt x="1253745" y="6517819"/>
                      <a:pt x="1738885" y="6508929"/>
                    </a:cubicBezTo>
                    <a:cubicBezTo>
                      <a:pt x="5800797" y="6441619"/>
                      <a:pt x="6851087" y="6522899"/>
                      <a:pt x="7901377" y="6494959"/>
                    </a:cubicBezTo>
                    <a:cubicBezTo>
                      <a:pt x="8156647" y="6483529"/>
                      <a:pt x="8413187" y="6455589"/>
                      <a:pt x="8668457" y="6472099"/>
                    </a:cubicBezTo>
                    <a:cubicBezTo>
                      <a:pt x="8668457" y="6477179"/>
                      <a:pt x="8669727" y="6480989"/>
                      <a:pt x="8669727" y="6486069"/>
                    </a:cubicBezTo>
                    <a:cubicBezTo>
                      <a:pt x="8620197" y="6497499"/>
                      <a:pt x="8571937" y="6508929"/>
                      <a:pt x="8522407" y="6519089"/>
                    </a:cubicBezTo>
                    <a:cubicBezTo>
                      <a:pt x="8522407" y="6521629"/>
                      <a:pt x="8522407" y="6522899"/>
                      <a:pt x="8522407" y="6525439"/>
                    </a:cubicBezTo>
                    <a:cubicBezTo>
                      <a:pt x="8627816" y="6526709"/>
                      <a:pt x="8733227" y="6526709"/>
                      <a:pt x="8841177" y="6526709"/>
                    </a:cubicBezTo>
                    <a:close/>
                    <a:moveTo>
                      <a:pt x="105665" y="3627299"/>
                    </a:moveTo>
                    <a:cubicBezTo>
                      <a:pt x="42165" y="4612819"/>
                      <a:pt x="89155" y="5597069"/>
                      <a:pt x="134875" y="6582589"/>
                    </a:cubicBezTo>
                    <a:cubicBezTo>
                      <a:pt x="159005" y="6580049"/>
                      <a:pt x="181865" y="6578779"/>
                      <a:pt x="204725" y="6576239"/>
                    </a:cubicBezTo>
                    <a:cubicBezTo>
                      <a:pt x="161545" y="5594529"/>
                      <a:pt x="183135" y="4609009"/>
                      <a:pt x="105665" y="3627299"/>
                    </a:cubicBezTo>
                    <a:close/>
                    <a:moveTo>
                      <a:pt x="7035237" y="6566079"/>
                    </a:moveTo>
                    <a:cubicBezTo>
                      <a:pt x="6520887" y="6544489"/>
                      <a:pt x="6007807" y="6527979"/>
                      <a:pt x="5493457" y="6543219"/>
                    </a:cubicBezTo>
                    <a:cubicBezTo>
                      <a:pt x="6007807" y="6562269"/>
                      <a:pt x="6520887" y="6615609"/>
                      <a:pt x="7035237" y="6566079"/>
                    </a:cubicBezTo>
                    <a:close/>
                  </a:path>
                </a:pathLst>
              </a:custGeom>
              <a:solidFill>
                <a:srgbClr val="000000"/>
              </a:solidFill>
            </p:spPr>
          </p:sp>
        </p:grpSp>
        <p:sp>
          <p:nvSpPr>
            <p:cNvPr name="Freeform 33" id="33"/>
            <p:cNvSpPr/>
            <p:nvPr/>
          </p:nvSpPr>
          <p:spPr>
            <a:xfrm flipH="false" flipV="false" rot="0">
              <a:off x="3822733" y="0"/>
              <a:ext cx="993700" cy="1003737"/>
            </a:xfrm>
            <a:custGeom>
              <a:avLst/>
              <a:gdLst/>
              <a:ahLst/>
              <a:cxnLst/>
              <a:rect r="r" b="b" t="t" l="l"/>
              <a:pathLst>
                <a:path h="1003737" w="993700">
                  <a:moveTo>
                    <a:pt x="0" y="0"/>
                  </a:moveTo>
                  <a:lnTo>
                    <a:pt x="993699" y="0"/>
                  </a:lnTo>
                  <a:lnTo>
                    <a:pt x="993699" y="1003737"/>
                  </a:lnTo>
                  <a:lnTo>
                    <a:pt x="0" y="100373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4" id="34"/>
            <p:cNvSpPr txBox="true"/>
            <p:nvPr/>
          </p:nvSpPr>
          <p:spPr>
            <a:xfrm rot="0">
              <a:off x="605297" y="1429187"/>
              <a:ext cx="2980928"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4AAD"/>
                  </a:solidFill>
                  <a:latin typeface="DM Sans Bold"/>
                  <a:ea typeface="DM Sans Bold"/>
                  <a:cs typeface="DM Sans Bold"/>
                  <a:sym typeface="DM Sans Bold"/>
                </a:rPr>
                <a:t>Public launch</a:t>
              </a:r>
            </a:p>
          </p:txBody>
        </p:sp>
        <p:sp>
          <p:nvSpPr>
            <p:cNvPr name="TextBox 35" id="35"/>
            <p:cNvSpPr txBox="true"/>
            <p:nvPr/>
          </p:nvSpPr>
          <p:spPr>
            <a:xfrm rot="0">
              <a:off x="451389" y="2330887"/>
              <a:ext cx="3677146" cy="10922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Deploy web app </a:t>
              </a:r>
            </a:p>
            <a:p>
              <a:pPr algn="ctr">
                <a:lnSpc>
                  <a:spcPts val="3254"/>
                </a:lnSpc>
                <a:spcBef>
                  <a:spcPct val="0"/>
                </a:spcBef>
              </a:pPr>
              <a:r>
                <a:rPr lang="en-US" b="true" sz="2712">
                  <a:solidFill>
                    <a:srgbClr val="002060"/>
                  </a:solidFill>
                  <a:latin typeface="DM Sans Bold"/>
                  <a:ea typeface="DM Sans Bold"/>
                  <a:cs typeface="DM Sans Bold"/>
                  <a:sym typeface="DM Sans Bold"/>
                </a:rPr>
                <a:t>&amp; reach seekers</a:t>
              </a:r>
            </a:p>
          </p:txBody>
        </p:sp>
        <p:sp>
          <p:nvSpPr>
            <p:cNvPr name="TextBox 36" id="36"/>
            <p:cNvSpPr txBox="true"/>
            <p:nvPr/>
          </p:nvSpPr>
          <p:spPr>
            <a:xfrm rot="0">
              <a:off x="1161666" y="730687"/>
              <a:ext cx="1868190"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PHASE 4</a:t>
              </a:r>
            </a:p>
          </p:txBody>
        </p:sp>
      </p:grpSp>
      <p:grpSp>
        <p:nvGrpSpPr>
          <p:cNvPr name="Group 37" id="37"/>
          <p:cNvGrpSpPr/>
          <p:nvPr/>
        </p:nvGrpSpPr>
        <p:grpSpPr>
          <a:xfrm rot="0">
            <a:off x="10323302" y="5971434"/>
            <a:ext cx="4020301" cy="3032439"/>
            <a:chOff x="0" y="0"/>
            <a:chExt cx="5360401" cy="4043252"/>
          </a:xfrm>
        </p:grpSpPr>
        <p:grpSp>
          <p:nvGrpSpPr>
            <p:cNvPr name="Group 38" id="38"/>
            <p:cNvGrpSpPr/>
            <p:nvPr/>
          </p:nvGrpSpPr>
          <p:grpSpPr>
            <a:xfrm rot="0">
              <a:off x="0" y="333036"/>
              <a:ext cx="5171195" cy="3710216"/>
              <a:chOff x="0" y="0"/>
              <a:chExt cx="10570212" cy="7583889"/>
            </a:xfrm>
          </p:grpSpPr>
          <p:sp>
            <p:nvSpPr>
              <p:cNvPr name="Freeform 39" id="39"/>
              <p:cNvSpPr/>
              <p:nvPr/>
            </p:nvSpPr>
            <p:spPr>
              <a:xfrm flipH="false" flipV="false" rot="0">
                <a:off x="172465" y="404400"/>
                <a:ext cx="10091677" cy="6699430"/>
              </a:xfrm>
              <a:custGeom>
                <a:avLst/>
                <a:gdLst/>
                <a:ahLst/>
                <a:cxnLst/>
                <a:rect r="r" b="b" t="t" l="l"/>
                <a:pathLst>
                  <a:path h="6699430" w="10091677">
                    <a:moveTo>
                      <a:pt x="132335" y="6649899"/>
                    </a:moveTo>
                    <a:cubicBezTo>
                      <a:pt x="128525" y="6665139"/>
                      <a:pt x="125985" y="6676569"/>
                      <a:pt x="119635" y="6699429"/>
                    </a:cubicBezTo>
                    <a:cubicBezTo>
                      <a:pt x="75185" y="6599099"/>
                      <a:pt x="91695" y="6675299"/>
                      <a:pt x="23115" y="6610529"/>
                    </a:cubicBezTo>
                    <a:cubicBezTo>
                      <a:pt x="44705" y="6597829"/>
                      <a:pt x="59945" y="6588939"/>
                      <a:pt x="86615" y="6586399"/>
                    </a:cubicBezTo>
                    <a:cubicBezTo>
                      <a:pt x="-100075" y="4932859"/>
                      <a:pt x="82805" y="3269159"/>
                      <a:pt x="20575" y="379190"/>
                    </a:cubicBezTo>
                    <a:cubicBezTo>
                      <a:pt x="57405" y="203930"/>
                      <a:pt x="294895" y="263620"/>
                      <a:pt x="426975" y="228060"/>
                    </a:cubicBezTo>
                    <a:cubicBezTo>
                      <a:pt x="613665" y="207740"/>
                      <a:pt x="800355" y="188690"/>
                      <a:pt x="987045" y="169640"/>
                    </a:cubicBezTo>
                    <a:cubicBezTo>
                      <a:pt x="1486155" y="118840"/>
                      <a:pt x="6206747" y="71850"/>
                      <a:pt x="6708397" y="43910"/>
                    </a:cubicBezTo>
                    <a:cubicBezTo>
                      <a:pt x="7668517" y="-13240"/>
                      <a:pt x="8632447" y="-11970"/>
                      <a:pt x="9593837" y="32480"/>
                    </a:cubicBezTo>
                    <a:cubicBezTo>
                      <a:pt x="9711947" y="57880"/>
                      <a:pt x="9979917" y="21050"/>
                      <a:pt x="9990077" y="179800"/>
                    </a:cubicBezTo>
                    <a:cubicBezTo>
                      <a:pt x="9987537" y="2609090"/>
                      <a:pt x="10076437" y="4784269"/>
                      <a:pt x="10091677" y="6469559"/>
                    </a:cubicBezTo>
                    <a:cubicBezTo>
                      <a:pt x="10091677" y="6505119"/>
                      <a:pt x="10091677" y="6554649"/>
                      <a:pt x="10044687" y="6557189"/>
                    </a:cubicBezTo>
                    <a:cubicBezTo>
                      <a:pt x="9765287" y="6605449"/>
                      <a:pt x="9483347" y="6577509"/>
                      <a:pt x="9201407" y="6587669"/>
                    </a:cubicBezTo>
                    <a:cubicBezTo>
                      <a:pt x="8584187" y="6619419"/>
                      <a:pt x="7970777" y="6714669"/>
                      <a:pt x="7351017" y="6667679"/>
                    </a:cubicBezTo>
                    <a:cubicBezTo>
                      <a:pt x="6352797" y="6606719"/>
                      <a:pt x="1131825" y="6627039"/>
                      <a:pt x="132335" y="6649899"/>
                    </a:cubicBezTo>
                    <a:close/>
                    <a:moveTo>
                      <a:pt x="10049767" y="6526709"/>
                    </a:moveTo>
                    <a:cubicBezTo>
                      <a:pt x="9951977" y="4851579"/>
                      <a:pt x="9869427" y="3167559"/>
                      <a:pt x="9944357" y="257270"/>
                    </a:cubicBezTo>
                    <a:cubicBezTo>
                      <a:pt x="9948167" y="158210"/>
                      <a:pt x="9940547" y="145510"/>
                      <a:pt x="9841487" y="136620"/>
                    </a:cubicBezTo>
                    <a:cubicBezTo>
                      <a:pt x="8426707" y="26130"/>
                      <a:pt x="6999227" y="54070"/>
                      <a:pt x="1366775" y="186150"/>
                    </a:cubicBezTo>
                    <a:cubicBezTo>
                      <a:pt x="956565" y="233140"/>
                      <a:pt x="541275" y="258540"/>
                      <a:pt x="133605" y="325850"/>
                    </a:cubicBezTo>
                    <a:cubicBezTo>
                      <a:pt x="51055" y="352520"/>
                      <a:pt x="92965" y="426180"/>
                      <a:pt x="95505" y="484600"/>
                    </a:cubicBezTo>
                    <a:cubicBezTo>
                      <a:pt x="114555" y="1089120"/>
                      <a:pt x="129795" y="1692370"/>
                      <a:pt x="148845" y="3530779"/>
                    </a:cubicBezTo>
                    <a:cubicBezTo>
                      <a:pt x="200915" y="4517569"/>
                      <a:pt x="199645" y="5508169"/>
                      <a:pt x="249175" y="6494959"/>
                    </a:cubicBezTo>
                    <a:cubicBezTo>
                      <a:pt x="250445" y="6516549"/>
                      <a:pt x="258065" y="6530519"/>
                      <a:pt x="283465" y="6531789"/>
                    </a:cubicBezTo>
                    <a:cubicBezTo>
                      <a:pt x="768605" y="6569889"/>
                      <a:pt x="1253745" y="6517819"/>
                      <a:pt x="1738885" y="6508929"/>
                    </a:cubicBezTo>
                    <a:cubicBezTo>
                      <a:pt x="7009387" y="6441619"/>
                      <a:pt x="8059677" y="6522899"/>
                      <a:pt x="9109967" y="6494959"/>
                    </a:cubicBezTo>
                    <a:cubicBezTo>
                      <a:pt x="9365237" y="6483529"/>
                      <a:pt x="9621777" y="6455589"/>
                      <a:pt x="9877047" y="6472099"/>
                    </a:cubicBezTo>
                    <a:cubicBezTo>
                      <a:pt x="9877047" y="6477179"/>
                      <a:pt x="9878317" y="6480989"/>
                      <a:pt x="9878317" y="6486069"/>
                    </a:cubicBezTo>
                    <a:cubicBezTo>
                      <a:pt x="9828787" y="6497499"/>
                      <a:pt x="9780527" y="6508929"/>
                      <a:pt x="9730997" y="6519089"/>
                    </a:cubicBezTo>
                    <a:cubicBezTo>
                      <a:pt x="9730997" y="6521629"/>
                      <a:pt x="9730997" y="6522899"/>
                      <a:pt x="9730997" y="6525439"/>
                    </a:cubicBezTo>
                    <a:cubicBezTo>
                      <a:pt x="9836407" y="6526709"/>
                      <a:pt x="9941817" y="6526709"/>
                      <a:pt x="10049767" y="6526709"/>
                    </a:cubicBezTo>
                    <a:close/>
                    <a:moveTo>
                      <a:pt x="105665" y="3627299"/>
                    </a:moveTo>
                    <a:cubicBezTo>
                      <a:pt x="42165" y="4612819"/>
                      <a:pt x="89155" y="5597069"/>
                      <a:pt x="134875" y="6582589"/>
                    </a:cubicBezTo>
                    <a:cubicBezTo>
                      <a:pt x="159005" y="6580049"/>
                      <a:pt x="181865" y="6578779"/>
                      <a:pt x="204725" y="6576239"/>
                    </a:cubicBezTo>
                    <a:cubicBezTo>
                      <a:pt x="161545" y="5594529"/>
                      <a:pt x="183135" y="4609009"/>
                      <a:pt x="105665" y="3627299"/>
                    </a:cubicBezTo>
                    <a:close/>
                    <a:moveTo>
                      <a:pt x="8243827" y="6566079"/>
                    </a:moveTo>
                    <a:cubicBezTo>
                      <a:pt x="7729477" y="6544489"/>
                      <a:pt x="7216397" y="6527979"/>
                      <a:pt x="6702047" y="6543219"/>
                    </a:cubicBezTo>
                    <a:cubicBezTo>
                      <a:pt x="7216397" y="6562269"/>
                      <a:pt x="7729477" y="6615609"/>
                      <a:pt x="8243827" y="6566079"/>
                    </a:cubicBezTo>
                    <a:close/>
                  </a:path>
                </a:pathLst>
              </a:custGeom>
              <a:solidFill>
                <a:srgbClr val="000000"/>
              </a:solidFill>
            </p:spPr>
          </p:sp>
        </p:grpSp>
        <p:sp>
          <p:nvSpPr>
            <p:cNvPr name="Freeform 40" id="40"/>
            <p:cNvSpPr/>
            <p:nvPr/>
          </p:nvSpPr>
          <p:spPr>
            <a:xfrm flipH="false" flipV="false" rot="0">
              <a:off x="4441056" y="0"/>
              <a:ext cx="919346" cy="1201759"/>
            </a:xfrm>
            <a:custGeom>
              <a:avLst/>
              <a:gdLst/>
              <a:ahLst/>
              <a:cxnLst/>
              <a:rect r="r" b="b" t="t" l="l"/>
              <a:pathLst>
                <a:path h="1201759" w="919346">
                  <a:moveTo>
                    <a:pt x="0" y="0"/>
                  </a:moveTo>
                  <a:lnTo>
                    <a:pt x="919345" y="0"/>
                  </a:lnTo>
                  <a:lnTo>
                    <a:pt x="919345" y="1201759"/>
                  </a:lnTo>
                  <a:lnTo>
                    <a:pt x="0" y="120175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41" id="41"/>
            <p:cNvSpPr txBox="true"/>
            <p:nvPr/>
          </p:nvSpPr>
          <p:spPr>
            <a:xfrm rot="0">
              <a:off x="1672947" y="1429187"/>
              <a:ext cx="1208286"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4AAD"/>
                  </a:solidFill>
                  <a:latin typeface="DM Sans Bold"/>
                  <a:ea typeface="DM Sans Bold"/>
                  <a:cs typeface="DM Sans Bold"/>
                  <a:sym typeface="DM Sans Bold"/>
                </a:rPr>
                <a:t>Scale</a:t>
              </a:r>
            </a:p>
          </p:txBody>
        </p:sp>
        <p:sp>
          <p:nvSpPr>
            <p:cNvPr name="TextBox 42" id="42"/>
            <p:cNvSpPr txBox="true"/>
            <p:nvPr/>
          </p:nvSpPr>
          <p:spPr>
            <a:xfrm rot="0">
              <a:off x="344815" y="2330887"/>
              <a:ext cx="4276030" cy="10922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Expand &amp; enhance </a:t>
              </a:r>
            </a:p>
            <a:p>
              <a:pPr algn="ctr">
                <a:lnSpc>
                  <a:spcPts val="3254"/>
                </a:lnSpc>
                <a:spcBef>
                  <a:spcPct val="0"/>
                </a:spcBef>
              </a:pPr>
              <a:r>
                <a:rPr lang="en-US" b="true" sz="2712">
                  <a:solidFill>
                    <a:srgbClr val="002060"/>
                  </a:solidFill>
                  <a:latin typeface="DM Sans Bold"/>
                  <a:ea typeface="DM Sans Bold"/>
                  <a:cs typeface="DM Sans Bold"/>
                  <a:sym typeface="DM Sans Bold"/>
                </a:rPr>
                <a:t>recommendation</a:t>
              </a:r>
            </a:p>
          </p:txBody>
        </p:sp>
        <p:sp>
          <p:nvSpPr>
            <p:cNvPr name="TextBox 43" id="43"/>
            <p:cNvSpPr txBox="true"/>
            <p:nvPr/>
          </p:nvSpPr>
          <p:spPr>
            <a:xfrm rot="0">
              <a:off x="1347807" y="730687"/>
              <a:ext cx="1858566" cy="546100"/>
            </a:xfrm>
            <a:prstGeom prst="rect">
              <a:avLst/>
            </a:prstGeom>
          </p:spPr>
          <p:txBody>
            <a:bodyPr anchor="t" rtlCol="false" tIns="0" lIns="0" bIns="0" rIns="0">
              <a:spAutoFit/>
            </a:bodyPr>
            <a:lstStyle/>
            <a:p>
              <a:pPr algn="ctr">
                <a:lnSpc>
                  <a:spcPts val="3254"/>
                </a:lnSpc>
                <a:spcBef>
                  <a:spcPct val="0"/>
                </a:spcBef>
              </a:pPr>
              <a:r>
                <a:rPr lang="en-US" b="true" sz="2712">
                  <a:solidFill>
                    <a:srgbClr val="002060"/>
                  </a:solidFill>
                  <a:latin typeface="DM Sans Bold"/>
                  <a:ea typeface="DM Sans Bold"/>
                  <a:cs typeface="DM Sans Bold"/>
                  <a:sym typeface="DM Sans Bold"/>
                </a:rPr>
                <a:t>PHASE 5</a:t>
              </a:r>
            </a:p>
          </p:txBody>
        </p:sp>
      </p:grpSp>
      <p:sp>
        <p:nvSpPr>
          <p:cNvPr name="Freeform 44" id="44"/>
          <p:cNvSpPr/>
          <p:nvPr/>
        </p:nvSpPr>
        <p:spPr>
          <a:xfrm flipH="false" flipV="false" rot="0">
            <a:off x="5133416" y="3701265"/>
            <a:ext cx="1684382" cy="564268"/>
          </a:xfrm>
          <a:custGeom>
            <a:avLst/>
            <a:gdLst/>
            <a:ahLst/>
            <a:cxnLst/>
            <a:rect r="r" b="b" t="t" l="l"/>
            <a:pathLst>
              <a:path h="564268" w="1684382">
                <a:moveTo>
                  <a:pt x="0" y="0"/>
                </a:moveTo>
                <a:lnTo>
                  <a:pt x="1684382" y="0"/>
                </a:lnTo>
                <a:lnTo>
                  <a:pt x="1684382" y="564268"/>
                </a:lnTo>
                <a:lnTo>
                  <a:pt x="0" y="56426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45" id="45"/>
          <p:cNvSpPr/>
          <p:nvPr/>
        </p:nvSpPr>
        <p:spPr>
          <a:xfrm flipH="false" flipV="false" rot="0">
            <a:off x="11491262" y="3701265"/>
            <a:ext cx="1684382" cy="564268"/>
          </a:xfrm>
          <a:custGeom>
            <a:avLst/>
            <a:gdLst/>
            <a:ahLst/>
            <a:cxnLst/>
            <a:rect r="r" b="b" t="t" l="l"/>
            <a:pathLst>
              <a:path h="564268" w="1684382">
                <a:moveTo>
                  <a:pt x="0" y="0"/>
                </a:moveTo>
                <a:lnTo>
                  <a:pt x="1684382" y="0"/>
                </a:lnTo>
                <a:lnTo>
                  <a:pt x="1684382" y="564268"/>
                </a:lnTo>
                <a:lnTo>
                  <a:pt x="0" y="56426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46" id="46"/>
          <p:cNvSpPr/>
          <p:nvPr/>
        </p:nvSpPr>
        <p:spPr>
          <a:xfrm flipH="false" flipV="false" rot="0">
            <a:off x="8088761" y="7371276"/>
            <a:ext cx="1684382" cy="564268"/>
          </a:xfrm>
          <a:custGeom>
            <a:avLst/>
            <a:gdLst/>
            <a:ahLst/>
            <a:cxnLst/>
            <a:rect r="r" b="b" t="t" l="l"/>
            <a:pathLst>
              <a:path h="564268" w="1684382">
                <a:moveTo>
                  <a:pt x="0" y="0"/>
                </a:moveTo>
                <a:lnTo>
                  <a:pt x="1684382" y="0"/>
                </a:lnTo>
                <a:lnTo>
                  <a:pt x="1684382" y="564268"/>
                </a:lnTo>
                <a:lnTo>
                  <a:pt x="0" y="56426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47" id="47"/>
          <p:cNvSpPr/>
          <p:nvPr/>
        </p:nvSpPr>
        <p:spPr>
          <a:xfrm flipH="false" flipV="false" rot="0">
            <a:off x="1028700" y="2880036"/>
            <a:ext cx="547741" cy="553273"/>
          </a:xfrm>
          <a:custGeom>
            <a:avLst/>
            <a:gdLst/>
            <a:ahLst/>
            <a:cxnLst/>
            <a:rect r="r" b="b" t="t" l="l"/>
            <a:pathLst>
              <a:path h="553273" w="547741">
                <a:moveTo>
                  <a:pt x="0" y="0"/>
                </a:moveTo>
                <a:lnTo>
                  <a:pt x="547741" y="0"/>
                </a:lnTo>
                <a:lnTo>
                  <a:pt x="547741" y="553273"/>
                </a:lnTo>
                <a:lnTo>
                  <a:pt x="0" y="5532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48" id="48"/>
          <p:cNvSpPr/>
          <p:nvPr/>
        </p:nvSpPr>
        <p:spPr>
          <a:xfrm flipH="false" flipV="false" rot="0">
            <a:off x="4084947" y="6491819"/>
            <a:ext cx="497998" cy="516060"/>
          </a:xfrm>
          <a:custGeom>
            <a:avLst/>
            <a:gdLst/>
            <a:ahLst/>
            <a:cxnLst/>
            <a:rect r="r" b="b" t="t" l="l"/>
            <a:pathLst>
              <a:path h="516060" w="497998">
                <a:moveTo>
                  <a:pt x="0" y="0"/>
                </a:moveTo>
                <a:lnTo>
                  <a:pt x="497998" y="0"/>
                </a:lnTo>
                <a:lnTo>
                  <a:pt x="497998" y="516059"/>
                </a:lnTo>
                <a:lnTo>
                  <a:pt x="0" y="516059"/>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49" id="49"/>
          <p:cNvSpPr/>
          <p:nvPr/>
        </p:nvSpPr>
        <p:spPr>
          <a:xfrm flipH="false" flipV="false" rot="0">
            <a:off x="10480570" y="6491819"/>
            <a:ext cx="492837" cy="516060"/>
          </a:xfrm>
          <a:custGeom>
            <a:avLst/>
            <a:gdLst/>
            <a:ahLst/>
            <a:cxnLst/>
            <a:rect r="r" b="b" t="t" l="l"/>
            <a:pathLst>
              <a:path h="516060" w="492837">
                <a:moveTo>
                  <a:pt x="0" y="0"/>
                </a:moveTo>
                <a:lnTo>
                  <a:pt x="492837" y="0"/>
                </a:lnTo>
                <a:lnTo>
                  <a:pt x="492837" y="516059"/>
                </a:lnTo>
                <a:lnTo>
                  <a:pt x="0" y="51605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50" id="50"/>
          <p:cNvSpPr/>
          <p:nvPr/>
        </p:nvSpPr>
        <p:spPr>
          <a:xfrm flipH="false" flipV="false" rot="0">
            <a:off x="7238514" y="2920440"/>
            <a:ext cx="465379" cy="472466"/>
          </a:xfrm>
          <a:custGeom>
            <a:avLst/>
            <a:gdLst/>
            <a:ahLst/>
            <a:cxnLst/>
            <a:rect r="r" b="b" t="t" l="l"/>
            <a:pathLst>
              <a:path h="472466" w="465379">
                <a:moveTo>
                  <a:pt x="0" y="0"/>
                </a:moveTo>
                <a:lnTo>
                  <a:pt x="465379" y="0"/>
                </a:lnTo>
                <a:lnTo>
                  <a:pt x="465379" y="472466"/>
                </a:lnTo>
                <a:lnTo>
                  <a:pt x="0" y="47246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51" id="51"/>
          <p:cNvSpPr/>
          <p:nvPr/>
        </p:nvSpPr>
        <p:spPr>
          <a:xfrm flipH="false" flipV="false" rot="0">
            <a:off x="13568826" y="2880036"/>
            <a:ext cx="445146" cy="451925"/>
          </a:xfrm>
          <a:custGeom>
            <a:avLst/>
            <a:gdLst/>
            <a:ahLst/>
            <a:cxnLst/>
            <a:rect r="r" b="b" t="t" l="l"/>
            <a:pathLst>
              <a:path h="451925" w="445146">
                <a:moveTo>
                  <a:pt x="0" y="0"/>
                </a:moveTo>
                <a:lnTo>
                  <a:pt x="445147" y="0"/>
                </a:lnTo>
                <a:lnTo>
                  <a:pt x="445147" y="451925"/>
                </a:lnTo>
                <a:lnTo>
                  <a:pt x="0" y="45192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TextBox 52" id="52"/>
          <p:cNvSpPr txBox="true"/>
          <p:nvPr/>
        </p:nvSpPr>
        <p:spPr>
          <a:xfrm rot="0">
            <a:off x="8553112" y="9950995"/>
            <a:ext cx="1770190" cy="327728"/>
          </a:xfrm>
          <a:prstGeom prst="rect">
            <a:avLst/>
          </a:prstGeom>
        </p:spPr>
        <p:txBody>
          <a:bodyPr anchor="t" rtlCol="false" tIns="0" lIns="0" bIns="0" rIns="0">
            <a:spAutoFit/>
          </a:bodyPr>
          <a:lstStyle/>
          <a:p>
            <a:pPr algn="l">
              <a:lnSpc>
                <a:spcPts val="2607"/>
              </a:lnSpc>
            </a:pPr>
            <a:r>
              <a:rPr lang="en-US" sz="2173" b="true">
                <a:solidFill>
                  <a:srgbClr val="002060"/>
                </a:solidFill>
                <a:latin typeface="Aptos Bold"/>
                <a:ea typeface="Aptos Bold"/>
                <a:cs typeface="Aptos Bold"/>
                <a:sym typeface="Aptos Bold"/>
              </a:rPr>
              <a:t>R26-SE-002</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0" y="9298999"/>
            <a:ext cx="3295797" cy="1020917"/>
            <a:chOff x="0" y="0"/>
            <a:chExt cx="5044440" cy="1562583"/>
          </a:xfrm>
        </p:grpSpPr>
        <p:sp>
          <p:nvSpPr>
            <p:cNvPr name="Freeform 4" id="4"/>
            <p:cNvSpPr/>
            <p:nvPr/>
          </p:nvSpPr>
          <p:spPr>
            <a:xfrm flipH="false" flipV="false" rot="0">
              <a:off x="0" y="0"/>
              <a:ext cx="5044440" cy="1562608"/>
            </a:xfrm>
            <a:custGeom>
              <a:avLst/>
              <a:gdLst/>
              <a:ahLst/>
              <a:cxnLst/>
              <a:rect r="r" b="b" t="t" l="l"/>
              <a:pathLst>
                <a:path h="1562608" w="5044440">
                  <a:moveTo>
                    <a:pt x="0" y="0"/>
                  </a:moveTo>
                  <a:lnTo>
                    <a:pt x="5044440" y="0"/>
                  </a:lnTo>
                  <a:lnTo>
                    <a:pt x="5044440" y="1562608"/>
                  </a:lnTo>
                  <a:lnTo>
                    <a:pt x="0" y="1562608"/>
                  </a:lnTo>
                  <a:lnTo>
                    <a:pt x="0" y="0"/>
                  </a:lnTo>
                  <a:close/>
                </a:path>
              </a:pathLst>
            </a:custGeom>
            <a:blipFill>
              <a:blip r:embed="rId3"/>
              <a:stretch>
                <a:fillRect l="0" t="-7749" r="0" b="-7747"/>
              </a:stretch>
            </a:blipFill>
          </p:spPr>
        </p:sp>
      </p:grpSp>
      <p:sp>
        <p:nvSpPr>
          <p:cNvPr name="Freeform 5" id="5"/>
          <p:cNvSpPr/>
          <p:nvPr/>
        </p:nvSpPr>
        <p:spPr>
          <a:xfrm flipH="false" flipV="false" rot="0">
            <a:off x="14209128" y="292125"/>
            <a:ext cx="3928798" cy="4254538"/>
          </a:xfrm>
          <a:custGeom>
            <a:avLst/>
            <a:gdLst/>
            <a:ahLst/>
            <a:cxnLst/>
            <a:rect r="r" b="b" t="t" l="l"/>
            <a:pathLst>
              <a:path h="4254538" w="3928798">
                <a:moveTo>
                  <a:pt x="0" y="0"/>
                </a:moveTo>
                <a:lnTo>
                  <a:pt x="3928798" y="0"/>
                </a:lnTo>
                <a:lnTo>
                  <a:pt x="3928798" y="4254538"/>
                </a:lnTo>
                <a:lnTo>
                  <a:pt x="0" y="4254538"/>
                </a:lnTo>
                <a:lnTo>
                  <a:pt x="0" y="0"/>
                </a:lnTo>
                <a:close/>
              </a:path>
            </a:pathLst>
          </a:custGeom>
          <a:blipFill>
            <a:blip r:embed="rId4"/>
            <a:stretch>
              <a:fillRect l="0" t="-6978" r="0" b="-16146"/>
            </a:stretch>
          </a:blipFill>
        </p:spPr>
      </p:sp>
      <p:grpSp>
        <p:nvGrpSpPr>
          <p:cNvPr name="Group 6" id="6"/>
          <p:cNvGrpSpPr/>
          <p:nvPr/>
        </p:nvGrpSpPr>
        <p:grpSpPr>
          <a:xfrm rot="0">
            <a:off x="2047493" y="5590359"/>
            <a:ext cx="14449657" cy="3782050"/>
            <a:chOff x="0" y="0"/>
            <a:chExt cx="3805671" cy="996096"/>
          </a:xfrm>
        </p:grpSpPr>
        <p:sp>
          <p:nvSpPr>
            <p:cNvPr name="Freeform 7" id="7"/>
            <p:cNvSpPr/>
            <p:nvPr/>
          </p:nvSpPr>
          <p:spPr>
            <a:xfrm flipH="false" flipV="false" rot="0">
              <a:off x="0" y="0"/>
              <a:ext cx="3805671" cy="996096"/>
            </a:xfrm>
            <a:custGeom>
              <a:avLst/>
              <a:gdLst/>
              <a:ahLst/>
              <a:cxnLst/>
              <a:rect r="r" b="b" t="t" l="l"/>
              <a:pathLst>
                <a:path h="996096" w="3805671">
                  <a:moveTo>
                    <a:pt x="8037" y="0"/>
                  </a:moveTo>
                  <a:lnTo>
                    <a:pt x="3797634" y="0"/>
                  </a:lnTo>
                  <a:cubicBezTo>
                    <a:pt x="3799765" y="0"/>
                    <a:pt x="3801810" y="847"/>
                    <a:pt x="3803317" y="2354"/>
                  </a:cubicBezTo>
                  <a:cubicBezTo>
                    <a:pt x="3804824" y="3861"/>
                    <a:pt x="3805671" y="5905"/>
                    <a:pt x="3805671" y="8037"/>
                  </a:cubicBezTo>
                  <a:lnTo>
                    <a:pt x="3805671" y="988059"/>
                  </a:lnTo>
                  <a:cubicBezTo>
                    <a:pt x="3805671" y="990190"/>
                    <a:pt x="3804824" y="992234"/>
                    <a:pt x="3803317" y="993742"/>
                  </a:cubicBezTo>
                  <a:cubicBezTo>
                    <a:pt x="3801810" y="995249"/>
                    <a:pt x="3799765" y="996096"/>
                    <a:pt x="3797634" y="996096"/>
                  </a:cubicBezTo>
                  <a:lnTo>
                    <a:pt x="8037" y="996096"/>
                  </a:lnTo>
                  <a:cubicBezTo>
                    <a:pt x="5905" y="996096"/>
                    <a:pt x="3861" y="995249"/>
                    <a:pt x="2354" y="993742"/>
                  </a:cubicBezTo>
                  <a:cubicBezTo>
                    <a:pt x="847" y="992234"/>
                    <a:pt x="0" y="990190"/>
                    <a:pt x="0" y="988059"/>
                  </a:cubicBezTo>
                  <a:lnTo>
                    <a:pt x="0" y="8037"/>
                  </a:lnTo>
                  <a:cubicBezTo>
                    <a:pt x="0" y="5905"/>
                    <a:pt x="847" y="3861"/>
                    <a:pt x="2354" y="2354"/>
                  </a:cubicBezTo>
                  <a:cubicBezTo>
                    <a:pt x="3861" y="847"/>
                    <a:pt x="5905" y="0"/>
                    <a:pt x="8037" y="0"/>
                  </a:cubicBezTo>
                  <a:close/>
                </a:path>
              </a:pathLst>
            </a:custGeom>
            <a:solidFill>
              <a:srgbClr val="D9D9D9"/>
            </a:solidFill>
          </p:spPr>
        </p:sp>
        <p:sp>
          <p:nvSpPr>
            <p:cNvPr name="TextBox 8" id="8"/>
            <p:cNvSpPr txBox="true"/>
            <p:nvPr/>
          </p:nvSpPr>
          <p:spPr>
            <a:xfrm>
              <a:off x="0" y="-47625"/>
              <a:ext cx="3805671" cy="1043721"/>
            </a:xfrm>
            <a:prstGeom prst="rect">
              <a:avLst/>
            </a:prstGeom>
          </p:spPr>
          <p:txBody>
            <a:bodyPr anchor="ctr" rtlCol="false" tIns="50800" lIns="50800" bIns="50800" rIns="50800"/>
            <a:lstStyle/>
            <a:p>
              <a:pPr algn="ctr">
                <a:lnSpc>
                  <a:spcPts val="3149"/>
                </a:lnSpc>
              </a:pPr>
            </a:p>
          </p:txBody>
        </p:sp>
      </p:grpSp>
      <p:sp>
        <p:nvSpPr>
          <p:cNvPr name="TextBox 9" id="9"/>
          <p:cNvSpPr txBox="true"/>
          <p:nvPr/>
        </p:nvSpPr>
        <p:spPr>
          <a:xfrm rot="0">
            <a:off x="2234591" y="3903760"/>
            <a:ext cx="13337459" cy="5448300"/>
          </a:xfrm>
          <a:prstGeom prst="rect">
            <a:avLst/>
          </a:prstGeom>
        </p:spPr>
        <p:txBody>
          <a:bodyPr anchor="t" rtlCol="false" tIns="0" lIns="0" bIns="0" rIns="0">
            <a:spAutoFit/>
          </a:bodyPr>
          <a:lstStyle/>
          <a:p>
            <a:pPr algn="ctr">
              <a:lnSpc>
                <a:spcPts val="3046"/>
              </a:lnSpc>
              <a:spcBef>
                <a:spcPct val="0"/>
              </a:spcBef>
            </a:pPr>
            <a:r>
              <a:rPr lang="en-US" b="true" sz="2538">
                <a:solidFill>
                  <a:srgbClr val="1800AD"/>
                </a:solidFill>
                <a:latin typeface="DM Sans Bold"/>
                <a:ea typeface="DM Sans Bold"/>
                <a:cs typeface="DM Sans Bold"/>
                <a:sym typeface="DM Sans Bold"/>
              </a:rPr>
              <a:t>Purp</a:t>
            </a:r>
            <a:r>
              <a:rPr lang="en-US" b="true" sz="2538">
                <a:solidFill>
                  <a:srgbClr val="1800AD"/>
                </a:solidFill>
                <a:latin typeface="DM Sans Bold"/>
                <a:ea typeface="DM Sans Bold"/>
                <a:cs typeface="DM Sans Bold"/>
                <a:sym typeface="DM Sans Bold"/>
              </a:rPr>
              <a:t>ose:</a:t>
            </a:r>
          </a:p>
          <a:p>
            <a:pPr algn="ctr">
              <a:lnSpc>
                <a:spcPts val="3046"/>
              </a:lnSpc>
              <a:spcBef>
                <a:spcPct val="0"/>
              </a:spcBef>
            </a:pPr>
          </a:p>
          <a:p>
            <a:pPr algn="ctr">
              <a:lnSpc>
                <a:spcPts val="3046"/>
              </a:lnSpc>
              <a:spcBef>
                <a:spcPct val="0"/>
              </a:spcBef>
            </a:pPr>
            <a:r>
              <a:rPr lang="en-US" b="true" sz="2538">
                <a:solidFill>
                  <a:srgbClr val="000000"/>
                </a:solidFill>
                <a:latin typeface="DM Sans Bold"/>
                <a:ea typeface="DM Sans Bold"/>
                <a:cs typeface="DM Sans Bold"/>
                <a:sym typeface="DM Sans Bold"/>
              </a:rPr>
              <a:t> Detects fraudulent job postings on Sri Lankan online employment platforms to protect job seekers. It is the first layer of defense in the CareerNet platform.</a:t>
            </a:r>
          </a:p>
          <a:p>
            <a:pPr algn="ctr">
              <a:lnSpc>
                <a:spcPts val="3046"/>
              </a:lnSpc>
              <a:spcBef>
                <a:spcPct val="0"/>
              </a:spcBef>
            </a:pPr>
          </a:p>
          <a:p>
            <a:pPr algn="ctr">
              <a:lnSpc>
                <a:spcPts val="3166"/>
              </a:lnSpc>
              <a:spcBef>
                <a:spcPct val="0"/>
              </a:spcBef>
            </a:pPr>
            <a:r>
              <a:rPr lang="en-US" b="true" sz="2638">
                <a:solidFill>
                  <a:srgbClr val="1800AD"/>
                </a:solidFill>
                <a:latin typeface="DM Sans Bold"/>
                <a:ea typeface="DM Sans Bold"/>
                <a:cs typeface="DM Sans Bold"/>
                <a:sym typeface="DM Sans Bold"/>
              </a:rPr>
              <a:t>Technical Approach:</a:t>
            </a:r>
          </a:p>
          <a:p>
            <a:pPr algn="ctr">
              <a:lnSpc>
                <a:spcPts val="3046"/>
              </a:lnSpc>
              <a:spcBef>
                <a:spcPct val="0"/>
              </a:spcBef>
            </a:pPr>
          </a:p>
          <a:p>
            <a:pPr algn="l" marL="548166" indent="-274083" lvl="1">
              <a:lnSpc>
                <a:spcPts val="3757"/>
              </a:lnSpc>
              <a:spcBef>
                <a:spcPct val="0"/>
              </a:spcBef>
              <a:buFont typeface="Arial"/>
              <a:buChar char="•"/>
            </a:pPr>
            <a:r>
              <a:rPr lang="en-US" b="true" sz="2538">
                <a:solidFill>
                  <a:srgbClr val="000000"/>
                </a:solidFill>
                <a:latin typeface="DM Sans Bold"/>
                <a:ea typeface="DM Sans Bold"/>
                <a:cs typeface="DM Sans Bold"/>
                <a:sym typeface="DM Sans Bold"/>
              </a:rPr>
              <a:t>Combined dataset: 4,590 job postings from EMSCAD, ikman.lk and topjobs.lk, which covers the Sri Lankan job market.</a:t>
            </a:r>
          </a:p>
          <a:p>
            <a:pPr algn="l" marL="548166" indent="-274083" lvl="1">
              <a:lnSpc>
                <a:spcPts val="3757"/>
              </a:lnSpc>
              <a:spcBef>
                <a:spcPct val="0"/>
              </a:spcBef>
              <a:buFont typeface="Arial"/>
              <a:buChar char="•"/>
            </a:pPr>
            <a:r>
              <a:rPr lang="en-US" b="true" sz="2538">
                <a:solidFill>
                  <a:srgbClr val="000000"/>
                </a:solidFill>
                <a:latin typeface="DM Sans Bold"/>
                <a:ea typeface="DM Sans Bold"/>
                <a:cs typeface="DM Sans Bold"/>
                <a:sym typeface="DM Sans Bold"/>
              </a:rPr>
              <a:t>XLM-RoBERTa (fine-tuned): Reads the text of each job post and classifies it as legitimate or fake.</a:t>
            </a:r>
          </a:p>
          <a:p>
            <a:pPr algn="l" marL="548166" indent="-274083" lvl="1">
              <a:lnSpc>
                <a:spcPts val="3757"/>
              </a:lnSpc>
              <a:spcBef>
                <a:spcPct val="0"/>
              </a:spcBef>
              <a:buFont typeface="Arial"/>
              <a:buChar char="•"/>
            </a:pPr>
            <a:r>
              <a:rPr lang="en-US" b="true" sz="2538">
                <a:solidFill>
                  <a:srgbClr val="000000"/>
                </a:solidFill>
                <a:latin typeface="DM Sans Bold"/>
                <a:ea typeface="DM Sans Bold"/>
                <a:cs typeface="DM Sans Bold"/>
                <a:sym typeface="DM Sans Bold"/>
              </a:rPr>
              <a:t>CareerNet app: Shows the result to the job seeker and passes it to job ranking.</a:t>
            </a:r>
          </a:p>
          <a:p>
            <a:pPr algn="ctr">
              <a:lnSpc>
                <a:spcPts val="3046"/>
              </a:lnSpc>
              <a:spcBef>
                <a:spcPct val="0"/>
              </a:spcBef>
            </a:pPr>
          </a:p>
        </p:txBody>
      </p:sp>
      <p:sp>
        <p:nvSpPr>
          <p:cNvPr name="TextBox 10" id="10"/>
          <p:cNvSpPr txBox="true"/>
          <p:nvPr/>
        </p:nvSpPr>
        <p:spPr>
          <a:xfrm rot="0">
            <a:off x="345662" y="88628"/>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11" id="11"/>
          <p:cNvSpPr txBox="true"/>
          <p:nvPr/>
        </p:nvSpPr>
        <p:spPr>
          <a:xfrm rot="0">
            <a:off x="5253735" y="1789347"/>
            <a:ext cx="4671218" cy="501585"/>
          </a:xfrm>
          <a:prstGeom prst="rect">
            <a:avLst/>
          </a:prstGeom>
        </p:spPr>
        <p:txBody>
          <a:bodyPr anchor="t" rtlCol="false" tIns="0" lIns="0" bIns="0" rIns="0">
            <a:spAutoFit/>
          </a:bodyPr>
          <a:lstStyle/>
          <a:p>
            <a:pPr algn="ctr" marL="0" indent="0" lvl="0">
              <a:lnSpc>
                <a:spcPts val="3853"/>
              </a:lnSpc>
              <a:spcBef>
                <a:spcPct val="0"/>
              </a:spcBef>
            </a:pPr>
            <a:r>
              <a:rPr lang="en-US" b="true" sz="2752" spc="77">
                <a:solidFill>
                  <a:srgbClr val="000000"/>
                </a:solidFill>
                <a:latin typeface="Poppins Medium"/>
                <a:ea typeface="Poppins Medium"/>
                <a:cs typeface="Poppins Medium"/>
                <a:sym typeface="Poppins Medium"/>
              </a:rPr>
              <a:t>COMP</a:t>
            </a:r>
            <a:r>
              <a:rPr lang="en-US" b="true" sz="2752" spc="77" strike="noStrike" u="none">
                <a:solidFill>
                  <a:srgbClr val="000000"/>
                </a:solidFill>
                <a:latin typeface="Poppins Medium"/>
                <a:ea typeface="Poppins Medium"/>
                <a:cs typeface="Poppins Medium"/>
                <a:sym typeface="Poppins Medium"/>
              </a:rPr>
              <a:t>ONENT 01</a:t>
            </a:r>
          </a:p>
        </p:txBody>
      </p:sp>
      <p:sp>
        <p:nvSpPr>
          <p:cNvPr name="TextBox 12" id="12"/>
          <p:cNvSpPr txBox="true"/>
          <p:nvPr/>
        </p:nvSpPr>
        <p:spPr>
          <a:xfrm rot="0">
            <a:off x="4393116" y="2576683"/>
            <a:ext cx="7134638" cy="701294"/>
          </a:xfrm>
          <a:prstGeom prst="rect">
            <a:avLst/>
          </a:prstGeom>
        </p:spPr>
        <p:txBody>
          <a:bodyPr anchor="t" rtlCol="false" tIns="0" lIns="0" bIns="0" rIns="0">
            <a:spAutoFit/>
          </a:bodyPr>
          <a:lstStyle/>
          <a:p>
            <a:pPr algn="just" marL="0" indent="0" lvl="0">
              <a:lnSpc>
                <a:spcPts val="5446"/>
              </a:lnSpc>
              <a:spcBef>
                <a:spcPct val="0"/>
              </a:spcBef>
            </a:pPr>
            <a:r>
              <a:rPr lang="en-US" b="true" sz="3890" spc="108">
                <a:solidFill>
                  <a:srgbClr val="004AAD"/>
                </a:solidFill>
                <a:latin typeface="Poppins Bold"/>
                <a:ea typeface="Poppins Bold"/>
                <a:cs typeface="Poppins Bold"/>
                <a:sym typeface="Poppins Bold"/>
              </a:rPr>
              <a:t>FAKE JOB POST DETECTION</a:t>
            </a:r>
          </a:p>
        </p:txBody>
      </p:sp>
      <p:sp>
        <p:nvSpPr>
          <p:cNvPr name="TextBox 13" id="13"/>
          <p:cNvSpPr txBox="true"/>
          <p:nvPr/>
        </p:nvSpPr>
        <p:spPr>
          <a:xfrm rot="0">
            <a:off x="4538130" y="779063"/>
            <a:ext cx="6102429" cy="695960"/>
          </a:xfrm>
          <a:prstGeom prst="rect">
            <a:avLst/>
          </a:prstGeom>
        </p:spPr>
        <p:txBody>
          <a:bodyPr anchor="t" rtlCol="false" tIns="0" lIns="0" bIns="0" rIns="0">
            <a:spAutoFit/>
          </a:bodyPr>
          <a:lstStyle/>
          <a:p>
            <a:pPr algn="just">
              <a:lnSpc>
                <a:spcPts val="5740"/>
              </a:lnSpc>
              <a:spcBef>
                <a:spcPct val="0"/>
              </a:spcBef>
            </a:pPr>
            <a:r>
              <a:rPr lang="en-US" b="true" sz="4100">
                <a:solidFill>
                  <a:srgbClr val="092A5E"/>
                </a:solidFill>
                <a:latin typeface="Canva Sans Bold"/>
                <a:ea typeface="Canva Sans Bold"/>
                <a:cs typeface="Canva Sans Bold"/>
                <a:sym typeface="Canva Sans Bold"/>
              </a:rPr>
              <a:t>IT22113740 | Santhosh S</a:t>
            </a:r>
          </a:p>
        </p:txBody>
      </p:sp>
      <p:sp>
        <p:nvSpPr>
          <p:cNvPr name="TextBox 14" id="14"/>
          <p:cNvSpPr txBox="true"/>
          <p:nvPr/>
        </p:nvSpPr>
        <p:spPr>
          <a:xfrm rot="0">
            <a:off x="5881854" y="9939743"/>
            <a:ext cx="6524292" cy="656415"/>
          </a:xfrm>
          <a:prstGeom prst="rect">
            <a:avLst/>
          </a:prstGeom>
        </p:spPr>
        <p:txBody>
          <a:bodyPr anchor="t" rtlCol="false" tIns="0" lIns="0" bIns="0" rIns="0">
            <a:spAutoFit/>
          </a:bodyPr>
          <a:lstStyle/>
          <a:p>
            <a:pPr algn="ctr">
              <a:lnSpc>
                <a:spcPts val="2669"/>
              </a:lnSpc>
            </a:pPr>
            <a:r>
              <a:rPr lang="en-US" b="true" sz="1906">
                <a:solidFill>
                  <a:srgbClr val="000000"/>
                </a:solidFill>
                <a:latin typeface="Canva Sans Bold"/>
                <a:ea typeface="Canva Sans Bold"/>
                <a:cs typeface="Canva Sans Bold"/>
                <a:sym typeface="Canva Sans Bold"/>
              </a:rPr>
              <a:t>IT22113740 | Santhosh S | R26-SE-002</a:t>
            </a:r>
          </a:p>
          <a:p>
            <a:pPr algn="ctr">
              <a:lnSpc>
                <a:spcPts val="266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sp>
        <p:nvSpPr>
          <p:cNvPr name="Freeform 3" id="3"/>
          <p:cNvSpPr/>
          <p:nvPr/>
        </p:nvSpPr>
        <p:spPr>
          <a:xfrm flipH="false" flipV="false" rot="0">
            <a:off x="14346937" y="343948"/>
            <a:ext cx="3696787" cy="4236130"/>
          </a:xfrm>
          <a:custGeom>
            <a:avLst/>
            <a:gdLst/>
            <a:ahLst/>
            <a:cxnLst/>
            <a:rect r="r" b="b" t="t" l="l"/>
            <a:pathLst>
              <a:path h="4236130" w="3696787">
                <a:moveTo>
                  <a:pt x="0" y="0"/>
                </a:moveTo>
                <a:lnTo>
                  <a:pt x="3696787" y="0"/>
                </a:lnTo>
                <a:lnTo>
                  <a:pt x="3696787" y="4236130"/>
                </a:lnTo>
                <a:lnTo>
                  <a:pt x="0" y="4236130"/>
                </a:lnTo>
                <a:lnTo>
                  <a:pt x="0" y="0"/>
                </a:lnTo>
                <a:close/>
              </a:path>
            </a:pathLst>
          </a:custGeom>
          <a:blipFill>
            <a:blip r:embed="rId3"/>
            <a:stretch>
              <a:fillRect l="-42207" t="-101672" r="-49454" b="-21340"/>
            </a:stretch>
          </a:blipFill>
        </p:spPr>
      </p:sp>
      <p:sp>
        <p:nvSpPr>
          <p:cNvPr name="TextBox 4" id="4"/>
          <p:cNvSpPr txBox="true"/>
          <p:nvPr/>
        </p:nvSpPr>
        <p:spPr>
          <a:xfrm rot="0">
            <a:off x="5673380" y="9886403"/>
            <a:ext cx="6524292" cy="656336"/>
          </a:xfrm>
          <a:prstGeom prst="rect">
            <a:avLst/>
          </a:prstGeom>
        </p:spPr>
        <p:txBody>
          <a:bodyPr anchor="t" rtlCol="false" tIns="0" lIns="0" bIns="0" rIns="0">
            <a:spAutoFit/>
          </a:bodyPr>
          <a:lstStyle/>
          <a:p>
            <a:pPr algn="ctr">
              <a:lnSpc>
                <a:spcPts val="2674"/>
              </a:lnSpc>
            </a:pPr>
            <a:r>
              <a:rPr lang="en-US" sz="1910" b="true">
                <a:solidFill>
                  <a:srgbClr val="000000"/>
                </a:solidFill>
                <a:latin typeface="Canva Sans Bold"/>
                <a:ea typeface="Canva Sans Bold"/>
                <a:cs typeface="Canva Sans Bold"/>
                <a:sym typeface="Canva Sans Bold"/>
              </a:rPr>
              <a:t>IT22251664 | Nipuni Bandara | R26-SE-002</a:t>
            </a:r>
          </a:p>
          <a:p>
            <a:pPr algn="ctr">
              <a:lnSpc>
                <a:spcPts val="2674"/>
              </a:lnSpc>
              <a:spcBef>
                <a:spcPct val="0"/>
              </a:spcBef>
            </a:pPr>
          </a:p>
        </p:txBody>
      </p:sp>
      <p:sp>
        <p:nvSpPr>
          <p:cNvPr name="TextBox 5" id="5"/>
          <p:cNvSpPr txBox="true"/>
          <p:nvPr/>
        </p:nvSpPr>
        <p:spPr>
          <a:xfrm rot="0">
            <a:off x="5350218" y="1829797"/>
            <a:ext cx="4671218" cy="501585"/>
          </a:xfrm>
          <a:prstGeom prst="rect">
            <a:avLst/>
          </a:prstGeom>
        </p:spPr>
        <p:txBody>
          <a:bodyPr anchor="t" rtlCol="false" tIns="0" lIns="0" bIns="0" rIns="0">
            <a:spAutoFit/>
          </a:bodyPr>
          <a:lstStyle/>
          <a:p>
            <a:pPr algn="ctr" marL="0" indent="0" lvl="0">
              <a:lnSpc>
                <a:spcPts val="3853"/>
              </a:lnSpc>
              <a:spcBef>
                <a:spcPct val="0"/>
              </a:spcBef>
            </a:pPr>
            <a:r>
              <a:rPr lang="en-US" b="true" sz="2752" spc="77">
                <a:solidFill>
                  <a:srgbClr val="000000"/>
                </a:solidFill>
                <a:latin typeface="Poppins Medium"/>
                <a:ea typeface="Poppins Medium"/>
                <a:cs typeface="Poppins Medium"/>
                <a:sym typeface="Poppins Medium"/>
              </a:rPr>
              <a:t>COMP</a:t>
            </a:r>
            <a:r>
              <a:rPr lang="en-US" b="true" sz="2752" spc="77" strike="noStrike" u="none">
                <a:solidFill>
                  <a:srgbClr val="000000"/>
                </a:solidFill>
                <a:latin typeface="Poppins Medium"/>
                <a:ea typeface="Poppins Medium"/>
                <a:cs typeface="Poppins Medium"/>
                <a:sym typeface="Poppins Medium"/>
              </a:rPr>
              <a:t>ONENT 02</a:t>
            </a:r>
          </a:p>
        </p:txBody>
      </p:sp>
      <p:sp>
        <p:nvSpPr>
          <p:cNvPr name="TextBox 6" id="6"/>
          <p:cNvSpPr txBox="true"/>
          <p:nvPr/>
        </p:nvSpPr>
        <p:spPr>
          <a:xfrm rot="0">
            <a:off x="3295797" y="2531880"/>
            <a:ext cx="10043266" cy="701294"/>
          </a:xfrm>
          <a:prstGeom prst="rect">
            <a:avLst/>
          </a:prstGeom>
        </p:spPr>
        <p:txBody>
          <a:bodyPr anchor="t" rtlCol="false" tIns="0" lIns="0" bIns="0" rIns="0">
            <a:spAutoFit/>
          </a:bodyPr>
          <a:lstStyle/>
          <a:p>
            <a:pPr algn="just" marL="0" indent="0" lvl="0">
              <a:lnSpc>
                <a:spcPts val="5446"/>
              </a:lnSpc>
              <a:spcBef>
                <a:spcPct val="0"/>
              </a:spcBef>
            </a:pPr>
            <a:r>
              <a:rPr lang="en-US" b="true" sz="3890" spc="108">
                <a:solidFill>
                  <a:srgbClr val="004AAD"/>
                </a:solidFill>
                <a:latin typeface="Poppins Bold"/>
                <a:ea typeface="Poppins Bold"/>
                <a:cs typeface="Poppins Bold"/>
                <a:sym typeface="Poppins Bold"/>
              </a:rPr>
              <a:t>EMPLOYER LEGITIMACY VERIFICATION</a:t>
            </a:r>
          </a:p>
        </p:txBody>
      </p:sp>
      <p:sp>
        <p:nvSpPr>
          <p:cNvPr name="TextBox 7" id="7"/>
          <p:cNvSpPr txBox="true"/>
          <p:nvPr/>
        </p:nvSpPr>
        <p:spPr>
          <a:xfrm rot="0">
            <a:off x="4286882" y="800442"/>
            <a:ext cx="7284958" cy="695960"/>
          </a:xfrm>
          <a:prstGeom prst="rect">
            <a:avLst/>
          </a:prstGeom>
        </p:spPr>
        <p:txBody>
          <a:bodyPr anchor="t" rtlCol="false" tIns="0" lIns="0" bIns="0" rIns="0">
            <a:spAutoFit/>
          </a:bodyPr>
          <a:lstStyle/>
          <a:p>
            <a:pPr algn="just">
              <a:lnSpc>
                <a:spcPts val="5740"/>
              </a:lnSpc>
              <a:spcBef>
                <a:spcPct val="0"/>
              </a:spcBef>
            </a:pPr>
            <a:r>
              <a:rPr lang="en-US" b="true" sz="4100">
                <a:solidFill>
                  <a:srgbClr val="092A5E"/>
                </a:solidFill>
                <a:latin typeface="Canva Sans Bold"/>
                <a:ea typeface="Canva Sans Bold"/>
                <a:cs typeface="Canva Sans Bold"/>
                <a:sym typeface="Canva Sans Bold"/>
              </a:rPr>
              <a:t>IT22251664 | Nipuni Bandara</a:t>
            </a:r>
          </a:p>
        </p:txBody>
      </p:sp>
      <p:sp>
        <p:nvSpPr>
          <p:cNvPr name="TextBox 8" id="8"/>
          <p:cNvSpPr txBox="true"/>
          <p:nvPr/>
        </p:nvSpPr>
        <p:spPr>
          <a:xfrm rot="0">
            <a:off x="345662" y="88628"/>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grpSp>
        <p:nvGrpSpPr>
          <p:cNvPr name="Group 9" id="9"/>
          <p:cNvGrpSpPr/>
          <p:nvPr/>
        </p:nvGrpSpPr>
        <p:grpSpPr>
          <a:xfrm rot="0">
            <a:off x="0" y="9298999"/>
            <a:ext cx="3295797" cy="1020917"/>
            <a:chOff x="0" y="0"/>
            <a:chExt cx="5044440" cy="1562583"/>
          </a:xfrm>
        </p:grpSpPr>
        <p:sp>
          <p:nvSpPr>
            <p:cNvPr name="Freeform 10" id="10"/>
            <p:cNvSpPr/>
            <p:nvPr/>
          </p:nvSpPr>
          <p:spPr>
            <a:xfrm flipH="false" flipV="false" rot="0">
              <a:off x="0" y="0"/>
              <a:ext cx="5044440" cy="1562608"/>
            </a:xfrm>
            <a:custGeom>
              <a:avLst/>
              <a:gdLst/>
              <a:ahLst/>
              <a:cxnLst/>
              <a:rect r="r" b="b" t="t" l="l"/>
              <a:pathLst>
                <a:path h="1562608" w="5044440">
                  <a:moveTo>
                    <a:pt x="0" y="0"/>
                  </a:moveTo>
                  <a:lnTo>
                    <a:pt x="5044440" y="0"/>
                  </a:lnTo>
                  <a:lnTo>
                    <a:pt x="5044440" y="1562608"/>
                  </a:lnTo>
                  <a:lnTo>
                    <a:pt x="0" y="1562608"/>
                  </a:lnTo>
                  <a:lnTo>
                    <a:pt x="0" y="0"/>
                  </a:lnTo>
                  <a:close/>
                </a:path>
              </a:pathLst>
            </a:custGeom>
            <a:blipFill>
              <a:blip r:embed="rId4"/>
              <a:stretch>
                <a:fillRect l="0" t="-7749" r="0" b="-7747"/>
              </a:stretch>
            </a:blipFill>
          </p:spPr>
        </p:sp>
      </p:grpSp>
      <p:grpSp>
        <p:nvGrpSpPr>
          <p:cNvPr name="Group 11" id="11"/>
          <p:cNvGrpSpPr/>
          <p:nvPr/>
        </p:nvGrpSpPr>
        <p:grpSpPr>
          <a:xfrm rot="0">
            <a:off x="2049662" y="5901388"/>
            <a:ext cx="14971619" cy="3908070"/>
            <a:chOff x="0" y="0"/>
            <a:chExt cx="3943143" cy="1029286"/>
          </a:xfrm>
        </p:grpSpPr>
        <p:sp>
          <p:nvSpPr>
            <p:cNvPr name="Freeform 12" id="12"/>
            <p:cNvSpPr/>
            <p:nvPr/>
          </p:nvSpPr>
          <p:spPr>
            <a:xfrm flipH="false" flipV="false" rot="0">
              <a:off x="0" y="0"/>
              <a:ext cx="3943143" cy="1029286"/>
            </a:xfrm>
            <a:custGeom>
              <a:avLst/>
              <a:gdLst/>
              <a:ahLst/>
              <a:cxnLst/>
              <a:rect r="r" b="b" t="t" l="l"/>
              <a:pathLst>
                <a:path h="1029286" w="3943143">
                  <a:moveTo>
                    <a:pt x="7757" y="0"/>
                  </a:moveTo>
                  <a:lnTo>
                    <a:pt x="3935386" y="0"/>
                  </a:lnTo>
                  <a:cubicBezTo>
                    <a:pt x="3937443" y="0"/>
                    <a:pt x="3939416" y="817"/>
                    <a:pt x="3940871" y="2272"/>
                  </a:cubicBezTo>
                  <a:cubicBezTo>
                    <a:pt x="3942325" y="3726"/>
                    <a:pt x="3943143" y="5699"/>
                    <a:pt x="3943143" y="7757"/>
                  </a:cubicBezTo>
                  <a:lnTo>
                    <a:pt x="3943143" y="1021529"/>
                  </a:lnTo>
                  <a:cubicBezTo>
                    <a:pt x="3943143" y="1025813"/>
                    <a:pt x="3939670" y="1029286"/>
                    <a:pt x="3935386" y="1029286"/>
                  </a:cubicBezTo>
                  <a:lnTo>
                    <a:pt x="7757" y="1029286"/>
                  </a:lnTo>
                  <a:cubicBezTo>
                    <a:pt x="3473" y="1029286"/>
                    <a:pt x="0" y="1025813"/>
                    <a:pt x="0" y="1021529"/>
                  </a:cubicBezTo>
                  <a:lnTo>
                    <a:pt x="0" y="7757"/>
                  </a:lnTo>
                  <a:cubicBezTo>
                    <a:pt x="0" y="5699"/>
                    <a:pt x="817" y="3726"/>
                    <a:pt x="2272" y="2272"/>
                  </a:cubicBezTo>
                  <a:cubicBezTo>
                    <a:pt x="3726" y="817"/>
                    <a:pt x="5699" y="0"/>
                    <a:pt x="7757" y="0"/>
                  </a:cubicBezTo>
                  <a:close/>
                </a:path>
              </a:pathLst>
            </a:custGeom>
            <a:solidFill>
              <a:srgbClr val="D9D9D9"/>
            </a:solidFill>
          </p:spPr>
        </p:sp>
        <p:sp>
          <p:nvSpPr>
            <p:cNvPr name="TextBox 13" id="13"/>
            <p:cNvSpPr txBox="true"/>
            <p:nvPr/>
          </p:nvSpPr>
          <p:spPr>
            <a:xfrm>
              <a:off x="0" y="-47625"/>
              <a:ext cx="3943143" cy="1076911"/>
            </a:xfrm>
            <a:prstGeom prst="rect">
              <a:avLst/>
            </a:prstGeom>
          </p:spPr>
          <p:txBody>
            <a:bodyPr anchor="ctr" rtlCol="false" tIns="50800" lIns="50800" bIns="50800" rIns="50800"/>
            <a:lstStyle/>
            <a:p>
              <a:pPr algn="ctr">
                <a:lnSpc>
                  <a:spcPts val="3149"/>
                </a:lnSpc>
              </a:pPr>
            </a:p>
          </p:txBody>
        </p:sp>
      </p:grpSp>
      <p:sp>
        <p:nvSpPr>
          <p:cNvPr name="TextBox 14" id="14"/>
          <p:cNvSpPr txBox="true"/>
          <p:nvPr/>
        </p:nvSpPr>
        <p:spPr>
          <a:xfrm rot="0">
            <a:off x="2495025" y="4163205"/>
            <a:ext cx="14153428" cy="5476095"/>
          </a:xfrm>
          <a:prstGeom prst="rect">
            <a:avLst/>
          </a:prstGeom>
        </p:spPr>
        <p:txBody>
          <a:bodyPr anchor="t" rtlCol="false" tIns="0" lIns="0" bIns="0" rIns="0">
            <a:spAutoFit/>
          </a:bodyPr>
          <a:lstStyle/>
          <a:p>
            <a:pPr algn="ctr">
              <a:lnSpc>
                <a:spcPts val="3049"/>
              </a:lnSpc>
            </a:pPr>
            <a:r>
              <a:rPr lang="en-US" sz="2540" b="true">
                <a:solidFill>
                  <a:srgbClr val="1800AD"/>
                </a:solidFill>
                <a:latin typeface="DM Sans Bold"/>
                <a:ea typeface="DM Sans Bold"/>
                <a:cs typeface="DM Sans Bold"/>
                <a:sym typeface="DM Sans Bold"/>
              </a:rPr>
              <a:t>Purpose:</a:t>
            </a:r>
          </a:p>
          <a:p>
            <a:pPr algn="ctr">
              <a:lnSpc>
                <a:spcPts val="3049"/>
              </a:lnSpc>
            </a:pPr>
          </a:p>
          <a:p>
            <a:pPr algn="ctr">
              <a:lnSpc>
                <a:spcPts val="3049"/>
              </a:lnSpc>
            </a:pPr>
            <a:r>
              <a:rPr lang="en-US" sz="2540" b="true">
                <a:solidFill>
                  <a:srgbClr val="000000"/>
                </a:solidFill>
                <a:latin typeface="DM Sans Bold"/>
                <a:ea typeface="DM Sans Bold"/>
                <a:cs typeface="DM Sans Bold"/>
                <a:sym typeface="DM Sans Bold"/>
              </a:rPr>
              <a:t> Checks whether a company is real before a job seeker applies and gives a clear Low, Medium, or High risk verdict with reasons.</a:t>
            </a:r>
          </a:p>
          <a:p>
            <a:pPr algn="ctr">
              <a:lnSpc>
                <a:spcPts val="3049"/>
              </a:lnSpc>
            </a:pPr>
          </a:p>
          <a:p>
            <a:pPr algn="ctr">
              <a:lnSpc>
                <a:spcPts val="3049"/>
              </a:lnSpc>
            </a:pPr>
            <a:r>
              <a:rPr lang="en-US" sz="2540" b="true">
                <a:solidFill>
                  <a:srgbClr val="1800AD"/>
                </a:solidFill>
                <a:latin typeface="DM Sans Bold"/>
                <a:ea typeface="DM Sans Bold"/>
                <a:cs typeface="DM Sans Bold"/>
                <a:sym typeface="DM Sans Bold"/>
              </a:rPr>
              <a:t>Technical Approach:</a:t>
            </a:r>
          </a:p>
          <a:p>
            <a:pPr algn="ctr">
              <a:lnSpc>
                <a:spcPts val="3049"/>
              </a:lnSpc>
            </a:pPr>
          </a:p>
          <a:p>
            <a:pPr algn="just" marL="548586" indent="-274293" lvl="1">
              <a:lnSpc>
                <a:spcPts val="3811"/>
              </a:lnSpc>
              <a:buFont typeface="Arial"/>
              <a:buChar char="•"/>
            </a:pPr>
            <a:r>
              <a:rPr lang="en-US" b="true" sz="2540">
                <a:solidFill>
                  <a:srgbClr val="000000"/>
                </a:solidFill>
                <a:latin typeface="DM Sans Bold"/>
                <a:ea typeface="DM Sans Bold"/>
                <a:cs typeface="DM Sans Bold"/>
                <a:sym typeface="DM Sans Bold"/>
              </a:rPr>
              <a:t>R</a:t>
            </a:r>
            <a:r>
              <a:rPr lang="en-US" b="true" sz="2540">
                <a:solidFill>
                  <a:srgbClr val="000000"/>
                </a:solidFill>
                <a:latin typeface="DM Sans Bold"/>
                <a:ea typeface="DM Sans Bold"/>
                <a:cs typeface="DM Sans Bold"/>
                <a:sym typeface="DM Sans Bold"/>
              </a:rPr>
              <a:t>egistry check (CSE, SLAASMB, eROC): Is the company officially registered?</a:t>
            </a:r>
          </a:p>
          <a:p>
            <a:pPr algn="just" marL="548586" indent="-274293" lvl="1">
              <a:lnSpc>
                <a:spcPts val="3811"/>
              </a:lnSpc>
              <a:buFont typeface="Arial"/>
              <a:buChar char="•"/>
            </a:pPr>
            <a:r>
              <a:rPr lang="en-US" b="true" sz="2540">
                <a:solidFill>
                  <a:srgbClr val="000000"/>
                </a:solidFill>
                <a:latin typeface="DM Sans Bold"/>
                <a:ea typeface="DM Sans Bold"/>
                <a:cs typeface="DM Sans Bold"/>
                <a:sym typeface="DM Sans Bold"/>
              </a:rPr>
              <a:t>Website and reputation check: Does the company have a real website and good reviews online?</a:t>
            </a:r>
          </a:p>
          <a:p>
            <a:pPr algn="just" marL="548586" indent="-274293" lvl="1">
              <a:lnSpc>
                <a:spcPts val="3811"/>
              </a:lnSpc>
              <a:spcBef>
                <a:spcPct val="0"/>
              </a:spcBef>
              <a:buFont typeface="Arial"/>
              <a:buChar char="•"/>
            </a:pPr>
            <a:r>
              <a:rPr lang="en-US" b="true" sz="2540">
                <a:solidFill>
                  <a:srgbClr val="000000"/>
                </a:solidFill>
                <a:latin typeface="DM Sans Bold"/>
                <a:ea typeface="DM Sans Bold"/>
                <a:cs typeface="DM Sans Bold"/>
                <a:sym typeface="DM Sans Bold"/>
              </a:rPr>
              <a:t>Random Forest model: Learns from past real and fake companies to score each company. Weighted score: Combines all checks into one score: Low (70+), Medium (45–69), or High (below 45).</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grpSp>
        <p:nvGrpSpPr>
          <p:cNvPr name="Group 3" id="3"/>
          <p:cNvGrpSpPr/>
          <p:nvPr/>
        </p:nvGrpSpPr>
        <p:grpSpPr>
          <a:xfrm rot="0">
            <a:off x="1727920" y="5821106"/>
            <a:ext cx="14415212" cy="3798918"/>
            <a:chOff x="0" y="0"/>
            <a:chExt cx="3796599" cy="1000538"/>
          </a:xfrm>
        </p:grpSpPr>
        <p:sp>
          <p:nvSpPr>
            <p:cNvPr name="Freeform 4" id="4"/>
            <p:cNvSpPr/>
            <p:nvPr/>
          </p:nvSpPr>
          <p:spPr>
            <a:xfrm flipH="false" flipV="false" rot="0">
              <a:off x="0" y="0"/>
              <a:ext cx="3796599" cy="1000538"/>
            </a:xfrm>
            <a:custGeom>
              <a:avLst/>
              <a:gdLst/>
              <a:ahLst/>
              <a:cxnLst/>
              <a:rect r="r" b="b" t="t" l="l"/>
              <a:pathLst>
                <a:path h="1000538" w="3796599">
                  <a:moveTo>
                    <a:pt x="8056" y="0"/>
                  </a:moveTo>
                  <a:lnTo>
                    <a:pt x="3788543" y="0"/>
                  </a:lnTo>
                  <a:cubicBezTo>
                    <a:pt x="3792992" y="0"/>
                    <a:pt x="3796599" y="3607"/>
                    <a:pt x="3796599" y="8056"/>
                  </a:cubicBezTo>
                  <a:lnTo>
                    <a:pt x="3796599" y="992482"/>
                  </a:lnTo>
                  <a:cubicBezTo>
                    <a:pt x="3796599" y="994619"/>
                    <a:pt x="3795750" y="996668"/>
                    <a:pt x="3794239" y="998179"/>
                  </a:cubicBezTo>
                  <a:cubicBezTo>
                    <a:pt x="3792729" y="999689"/>
                    <a:pt x="3790679" y="1000538"/>
                    <a:pt x="3788543" y="1000538"/>
                  </a:cubicBezTo>
                  <a:lnTo>
                    <a:pt x="8056" y="1000538"/>
                  </a:lnTo>
                  <a:cubicBezTo>
                    <a:pt x="3607" y="1000538"/>
                    <a:pt x="0" y="996931"/>
                    <a:pt x="0" y="992482"/>
                  </a:cubicBezTo>
                  <a:lnTo>
                    <a:pt x="0" y="8056"/>
                  </a:lnTo>
                  <a:cubicBezTo>
                    <a:pt x="0" y="3607"/>
                    <a:pt x="3607" y="0"/>
                    <a:pt x="8056" y="0"/>
                  </a:cubicBezTo>
                  <a:close/>
                </a:path>
              </a:pathLst>
            </a:custGeom>
            <a:solidFill>
              <a:srgbClr val="D9D9D9"/>
            </a:solidFill>
          </p:spPr>
        </p:sp>
        <p:sp>
          <p:nvSpPr>
            <p:cNvPr name="TextBox 5" id="5"/>
            <p:cNvSpPr txBox="true"/>
            <p:nvPr/>
          </p:nvSpPr>
          <p:spPr>
            <a:xfrm>
              <a:off x="0" y="-47625"/>
              <a:ext cx="3796599" cy="1048163"/>
            </a:xfrm>
            <a:prstGeom prst="rect">
              <a:avLst/>
            </a:prstGeom>
          </p:spPr>
          <p:txBody>
            <a:bodyPr anchor="ctr" rtlCol="false" tIns="50800" lIns="50800" bIns="50800" rIns="50800"/>
            <a:lstStyle/>
            <a:p>
              <a:pPr algn="ctr">
                <a:lnSpc>
                  <a:spcPts val="3149"/>
                </a:lnSpc>
              </a:pPr>
            </a:p>
          </p:txBody>
        </p:sp>
      </p:grpSp>
      <p:grpSp>
        <p:nvGrpSpPr>
          <p:cNvPr name="Group 6" id="6"/>
          <p:cNvGrpSpPr/>
          <p:nvPr/>
        </p:nvGrpSpPr>
        <p:grpSpPr>
          <a:xfrm rot="0">
            <a:off x="0" y="9298999"/>
            <a:ext cx="3295797" cy="1020917"/>
            <a:chOff x="0" y="0"/>
            <a:chExt cx="5044440" cy="1562583"/>
          </a:xfrm>
        </p:grpSpPr>
        <p:sp>
          <p:nvSpPr>
            <p:cNvPr name="Freeform 7" id="7"/>
            <p:cNvSpPr/>
            <p:nvPr/>
          </p:nvSpPr>
          <p:spPr>
            <a:xfrm flipH="false" flipV="false" rot="0">
              <a:off x="0" y="0"/>
              <a:ext cx="5044440" cy="1562608"/>
            </a:xfrm>
            <a:custGeom>
              <a:avLst/>
              <a:gdLst/>
              <a:ahLst/>
              <a:cxnLst/>
              <a:rect r="r" b="b" t="t" l="l"/>
              <a:pathLst>
                <a:path h="1562608" w="5044440">
                  <a:moveTo>
                    <a:pt x="0" y="0"/>
                  </a:moveTo>
                  <a:lnTo>
                    <a:pt x="5044440" y="0"/>
                  </a:lnTo>
                  <a:lnTo>
                    <a:pt x="5044440" y="1562608"/>
                  </a:lnTo>
                  <a:lnTo>
                    <a:pt x="0" y="1562608"/>
                  </a:lnTo>
                  <a:lnTo>
                    <a:pt x="0" y="0"/>
                  </a:lnTo>
                  <a:close/>
                </a:path>
              </a:pathLst>
            </a:custGeom>
            <a:blipFill>
              <a:blip r:embed="rId3"/>
              <a:stretch>
                <a:fillRect l="0" t="-7749" r="0" b="-7747"/>
              </a:stretch>
            </a:blipFill>
          </p:spPr>
        </p:sp>
      </p:grpSp>
      <p:sp>
        <p:nvSpPr>
          <p:cNvPr name="Freeform 8" id="8"/>
          <p:cNvSpPr/>
          <p:nvPr/>
        </p:nvSpPr>
        <p:spPr>
          <a:xfrm flipH="false" flipV="false" rot="0">
            <a:off x="14761727" y="196397"/>
            <a:ext cx="3318742" cy="4094605"/>
          </a:xfrm>
          <a:custGeom>
            <a:avLst/>
            <a:gdLst/>
            <a:ahLst/>
            <a:cxnLst/>
            <a:rect r="r" b="b" t="t" l="l"/>
            <a:pathLst>
              <a:path h="4094605" w="3318742">
                <a:moveTo>
                  <a:pt x="0" y="0"/>
                </a:moveTo>
                <a:lnTo>
                  <a:pt x="3318742" y="0"/>
                </a:lnTo>
                <a:lnTo>
                  <a:pt x="3318742" y="4094605"/>
                </a:lnTo>
                <a:lnTo>
                  <a:pt x="0" y="4094605"/>
                </a:lnTo>
                <a:lnTo>
                  <a:pt x="0" y="0"/>
                </a:lnTo>
                <a:close/>
              </a:path>
            </a:pathLst>
          </a:custGeom>
          <a:blipFill>
            <a:blip r:embed="rId4"/>
            <a:stretch>
              <a:fillRect l="0" t="-10888" r="-2609" b="0"/>
            </a:stretch>
          </a:blipFill>
        </p:spPr>
      </p:sp>
      <p:sp>
        <p:nvSpPr>
          <p:cNvPr name="TextBox 9" id="9"/>
          <p:cNvSpPr txBox="true"/>
          <p:nvPr/>
        </p:nvSpPr>
        <p:spPr>
          <a:xfrm rot="0">
            <a:off x="345662" y="88628"/>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10" id="10"/>
          <p:cNvSpPr txBox="true"/>
          <p:nvPr/>
        </p:nvSpPr>
        <p:spPr>
          <a:xfrm rot="0">
            <a:off x="5673380" y="9886403"/>
            <a:ext cx="6524292" cy="656336"/>
          </a:xfrm>
          <a:prstGeom prst="rect">
            <a:avLst/>
          </a:prstGeom>
        </p:spPr>
        <p:txBody>
          <a:bodyPr anchor="t" rtlCol="false" tIns="0" lIns="0" bIns="0" rIns="0">
            <a:spAutoFit/>
          </a:bodyPr>
          <a:lstStyle/>
          <a:p>
            <a:pPr algn="ctr">
              <a:lnSpc>
                <a:spcPts val="2674"/>
              </a:lnSpc>
            </a:pPr>
            <a:r>
              <a:rPr lang="en-US" sz="1910" b="true">
                <a:solidFill>
                  <a:srgbClr val="000000"/>
                </a:solidFill>
                <a:latin typeface="Canva Sans Bold"/>
                <a:ea typeface="Canva Sans Bold"/>
                <a:cs typeface="Canva Sans Bold"/>
                <a:sym typeface="Canva Sans Bold"/>
              </a:rPr>
              <a:t>IT22224002 | Kajanthan U | R26-SE-002</a:t>
            </a:r>
          </a:p>
          <a:p>
            <a:pPr algn="ctr">
              <a:lnSpc>
                <a:spcPts val="2674"/>
              </a:lnSpc>
              <a:spcBef>
                <a:spcPct val="0"/>
              </a:spcBef>
            </a:pPr>
          </a:p>
        </p:txBody>
      </p:sp>
      <p:sp>
        <p:nvSpPr>
          <p:cNvPr name="TextBox 11" id="11"/>
          <p:cNvSpPr txBox="true"/>
          <p:nvPr/>
        </p:nvSpPr>
        <p:spPr>
          <a:xfrm rot="0">
            <a:off x="4941786" y="1753647"/>
            <a:ext cx="4671218" cy="501585"/>
          </a:xfrm>
          <a:prstGeom prst="rect">
            <a:avLst/>
          </a:prstGeom>
        </p:spPr>
        <p:txBody>
          <a:bodyPr anchor="t" rtlCol="false" tIns="0" lIns="0" bIns="0" rIns="0">
            <a:spAutoFit/>
          </a:bodyPr>
          <a:lstStyle/>
          <a:p>
            <a:pPr algn="ctr" marL="0" indent="0" lvl="0">
              <a:lnSpc>
                <a:spcPts val="3853"/>
              </a:lnSpc>
              <a:spcBef>
                <a:spcPct val="0"/>
              </a:spcBef>
            </a:pPr>
            <a:r>
              <a:rPr lang="en-US" b="true" sz="2752" spc="77">
                <a:solidFill>
                  <a:srgbClr val="000000"/>
                </a:solidFill>
                <a:latin typeface="Poppins Medium"/>
                <a:ea typeface="Poppins Medium"/>
                <a:cs typeface="Poppins Medium"/>
                <a:sym typeface="Poppins Medium"/>
              </a:rPr>
              <a:t>COMP</a:t>
            </a:r>
            <a:r>
              <a:rPr lang="en-US" b="true" sz="2752" spc="77" strike="noStrike" u="none">
                <a:solidFill>
                  <a:srgbClr val="000000"/>
                </a:solidFill>
                <a:latin typeface="Poppins Medium"/>
                <a:ea typeface="Poppins Medium"/>
                <a:cs typeface="Poppins Medium"/>
                <a:sym typeface="Poppins Medium"/>
              </a:rPr>
              <a:t>ONENT 03</a:t>
            </a:r>
          </a:p>
        </p:txBody>
      </p:sp>
      <p:sp>
        <p:nvSpPr>
          <p:cNvPr name="TextBox 12" id="12"/>
          <p:cNvSpPr txBox="true"/>
          <p:nvPr/>
        </p:nvSpPr>
        <p:spPr>
          <a:xfrm rot="0">
            <a:off x="3295797" y="2483471"/>
            <a:ext cx="10043266" cy="701294"/>
          </a:xfrm>
          <a:prstGeom prst="rect">
            <a:avLst/>
          </a:prstGeom>
        </p:spPr>
        <p:txBody>
          <a:bodyPr anchor="t" rtlCol="false" tIns="0" lIns="0" bIns="0" rIns="0">
            <a:spAutoFit/>
          </a:bodyPr>
          <a:lstStyle/>
          <a:p>
            <a:pPr algn="just" marL="0" indent="0" lvl="0">
              <a:lnSpc>
                <a:spcPts val="5446"/>
              </a:lnSpc>
              <a:spcBef>
                <a:spcPct val="0"/>
              </a:spcBef>
            </a:pPr>
            <a:r>
              <a:rPr lang="en-US" b="true" sz="3890" spc="108">
                <a:solidFill>
                  <a:srgbClr val="004AAD"/>
                </a:solidFill>
                <a:latin typeface="Poppins Bold"/>
                <a:ea typeface="Poppins Bold"/>
                <a:cs typeface="Poppins Bold"/>
                <a:sym typeface="Poppins Bold"/>
              </a:rPr>
              <a:t>SCAM COMMUNICATION DETECTION</a:t>
            </a:r>
          </a:p>
        </p:txBody>
      </p:sp>
      <p:sp>
        <p:nvSpPr>
          <p:cNvPr name="TextBox 13" id="13"/>
          <p:cNvSpPr txBox="true"/>
          <p:nvPr/>
        </p:nvSpPr>
        <p:spPr>
          <a:xfrm rot="0">
            <a:off x="4244108" y="762367"/>
            <a:ext cx="6480810" cy="695960"/>
          </a:xfrm>
          <a:prstGeom prst="rect">
            <a:avLst/>
          </a:prstGeom>
        </p:spPr>
        <p:txBody>
          <a:bodyPr anchor="t" rtlCol="false" tIns="0" lIns="0" bIns="0" rIns="0">
            <a:spAutoFit/>
          </a:bodyPr>
          <a:lstStyle/>
          <a:p>
            <a:pPr algn="just">
              <a:lnSpc>
                <a:spcPts val="5740"/>
              </a:lnSpc>
              <a:spcBef>
                <a:spcPct val="0"/>
              </a:spcBef>
            </a:pPr>
            <a:r>
              <a:rPr lang="en-US" b="true" sz="4100">
                <a:solidFill>
                  <a:srgbClr val="092A5E"/>
                </a:solidFill>
                <a:latin typeface="Canva Sans Bold"/>
                <a:ea typeface="Canva Sans Bold"/>
                <a:cs typeface="Canva Sans Bold"/>
                <a:sym typeface="Canva Sans Bold"/>
              </a:rPr>
              <a:t>IT22224002 | Kajanthan U</a:t>
            </a:r>
          </a:p>
        </p:txBody>
      </p:sp>
      <p:sp>
        <p:nvSpPr>
          <p:cNvPr name="TextBox 14" id="14"/>
          <p:cNvSpPr txBox="true"/>
          <p:nvPr/>
        </p:nvSpPr>
        <p:spPr>
          <a:xfrm rot="0">
            <a:off x="2219171" y="3735101"/>
            <a:ext cx="13177200" cy="6705600"/>
          </a:xfrm>
          <a:prstGeom prst="rect">
            <a:avLst/>
          </a:prstGeom>
        </p:spPr>
        <p:txBody>
          <a:bodyPr anchor="t" rtlCol="false" tIns="0" lIns="0" bIns="0" rIns="0">
            <a:spAutoFit/>
          </a:bodyPr>
          <a:lstStyle/>
          <a:p>
            <a:pPr algn="ctr">
              <a:lnSpc>
                <a:spcPts val="3010"/>
              </a:lnSpc>
              <a:spcBef>
                <a:spcPct val="0"/>
              </a:spcBef>
            </a:pPr>
            <a:r>
              <a:rPr lang="en-US" b="true" sz="2508">
                <a:solidFill>
                  <a:srgbClr val="1800AD"/>
                </a:solidFill>
                <a:latin typeface="DM Sans Bold"/>
                <a:ea typeface="DM Sans Bold"/>
                <a:cs typeface="DM Sans Bold"/>
                <a:sym typeface="DM Sans Bold"/>
              </a:rPr>
              <a:t>Purp</a:t>
            </a:r>
            <a:r>
              <a:rPr lang="en-US" b="true" sz="2508">
                <a:solidFill>
                  <a:srgbClr val="1800AD"/>
                </a:solidFill>
                <a:latin typeface="DM Sans Bold"/>
                <a:ea typeface="DM Sans Bold"/>
                <a:cs typeface="DM Sans Bold"/>
                <a:sym typeface="DM Sans Bold"/>
              </a:rPr>
              <a:t>ose:</a:t>
            </a:r>
          </a:p>
          <a:p>
            <a:pPr algn="ctr">
              <a:lnSpc>
                <a:spcPts val="3010"/>
              </a:lnSpc>
              <a:spcBef>
                <a:spcPct val="0"/>
              </a:spcBef>
            </a:pPr>
          </a:p>
          <a:p>
            <a:pPr algn="ctr">
              <a:lnSpc>
                <a:spcPts val="3010"/>
              </a:lnSpc>
              <a:spcBef>
                <a:spcPct val="0"/>
              </a:spcBef>
            </a:pPr>
            <a:r>
              <a:rPr lang="en-US" b="true" sz="2508">
                <a:solidFill>
                  <a:srgbClr val="000000"/>
                </a:solidFill>
                <a:latin typeface="DM Sans Bold"/>
                <a:ea typeface="DM Sans Bold"/>
                <a:cs typeface="DM Sans Bold"/>
                <a:sym typeface="DM Sans Bold"/>
              </a:rPr>
              <a:t>Detects scam messages from recruiters in chats and screenshots, names the pressure tactic being used, and warns the job seeker in real time. It protects job seekers after they apply, inside the CareerNet chat.</a:t>
            </a:r>
          </a:p>
          <a:p>
            <a:pPr algn="ctr">
              <a:lnSpc>
                <a:spcPts val="3010"/>
              </a:lnSpc>
              <a:spcBef>
                <a:spcPct val="0"/>
              </a:spcBef>
            </a:pPr>
          </a:p>
          <a:p>
            <a:pPr algn="ctr">
              <a:lnSpc>
                <a:spcPts val="3010"/>
              </a:lnSpc>
              <a:spcBef>
                <a:spcPct val="0"/>
              </a:spcBef>
            </a:pPr>
            <a:r>
              <a:rPr lang="en-US" b="true" sz="2508">
                <a:solidFill>
                  <a:srgbClr val="1800AD"/>
                </a:solidFill>
                <a:latin typeface="DM Sans Bold"/>
                <a:ea typeface="DM Sans Bold"/>
                <a:cs typeface="DM Sans Bold"/>
                <a:sym typeface="DM Sans Bold"/>
              </a:rPr>
              <a:t>Technical approach:</a:t>
            </a:r>
          </a:p>
          <a:p>
            <a:pPr algn="ctr">
              <a:lnSpc>
                <a:spcPts val="3010"/>
              </a:lnSpc>
              <a:spcBef>
                <a:spcPct val="0"/>
              </a:spcBef>
            </a:pPr>
          </a:p>
          <a:p>
            <a:pPr algn="l" marL="541579" indent="-270790" lvl="1">
              <a:lnSpc>
                <a:spcPts val="3712"/>
              </a:lnSpc>
              <a:spcBef>
                <a:spcPct val="0"/>
              </a:spcBef>
              <a:buFont typeface="Arial"/>
              <a:buChar char="•"/>
            </a:pPr>
            <a:r>
              <a:rPr lang="en-US" b="true" sz="2508">
                <a:solidFill>
                  <a:srgbClr val="000000"/>
                </a:solidFill>
                <a:latin typeface="DM Sans Bold"/>
                <a:ea typeface="DM Sans Bold"/>
                <a:cs typeface="DM Sans Bold"/>
                <a:sym typeface="DM Sans Bold"/>
              </a:rPr>
              <a:t>Tw</a:t>
            </a:r>
            <a:r>
              <a:rPr lang="en-US" b="true" sz="2508">
                <a:solidFill>
                  <a:srgbClr val="000000"/>
                </a:solidFill>
                <a:latin typeface="DM Sans Bold"/>
                <a:ea typeface="DM Sans Bold"/>
                <a:cs typeface="DM Sans Bold"/>
                <a:sym typeface="DM Sans Bold"/>
              </a:rPr>
              <a:t>o-phase DistilBERT: Phase 1 decides scam or legitimate. Phase 2 detects 4 pressure tactics: urgency, FOMO, sunk cost and social proof.</a:t>
            </a:r>
          </a:p>
          <a:p>
            <a:pPr algn="l" marL="541579" indent="-270790" lvl="1">
              <a:lnSpc>
                <a:spcPts val="3712"/>
              </a:lnSpc>
              <a:spcBef>
                <a:spcPct val="0"/>
              </a:spcBef>
              <a:buFont typeface="Arial"/>
              <a:buChar char="•"/>
            </a:pPr>
            <a:r>
              <a:rPr lang="en-US" b="true" sz="2508">
                <a:solidFill>
                  <a:srgbClr val="000000"/>
                </a:solidFill>
                <a:latin typeface="DM Sans Bold"/>
                <a:ea typeface="DM Sans Bold"/>
                <a:cs typeface="DM Sans Bold"/>
                <a:sym typeface="DM Sans Bold"/>
              </a:rPr>
              <a:t>Real</a:t>
            </a:r>
            <a:r>
              <a:rPr lang="en-US" b="true" sz="2508">
                <a:solidFill>
                  <a:srgbClr val="000000"/>
                </a:solidFill>
                <a:latin typeface="DM Sans Bold"/>
                <a:ea typeface="DM Sans Bold"/>
                <a:cs typeface="DM Sans Bold"/>
                <a:sym typeface="DM Sans Bold"/>
              </a:rPr>
              <a:t>-time chat (Socket.IO): every recruiter message is checked as it arrives, with a red warning and a notification.</a:t>
            </a:r>
          </a:p>
          <a:p>
            <a:pPr algn="l" marL="541579" indent="-270790" lvl="1">
              <a:lnSpc>
                <a:spcPts val="3712"/>
              </a:lnSpc>
              <a:spcBef>
                <a:spcPct val="0"/>
              </a:spcBef>
              <a:buFont typeface="Arial"/>
              <a:buChar char="•"/>
            </a:pPr>
            <a:r>
              <a:rPr lang="en-US" b="true" sz="2508">
                <a:solidFill>
                  <a:srgbClr val="000000"/>
                </a:solidFill>
                <a:latin typeface="DM Sans Bold"/>
                <a:ea typeface="DM Sans Bold"/>
                <a:cs typeface="DM Sans Bold"/>
                <a:sym typeface="DM Sans Bold"/>
              </a:rPr>
              <a:t>OCR for screenshots: EasyOCR, with Tesseract as fallback, reads WhatsApp and Telegram screenshots.</a:t>
            </a:r>
          </a:p>
          <a:p>
            <a:pPr algn="l">
              <a:lnSpc>
                <a:spcPts val="3712"/>
              </a:lnSpc>
              <a:spcBef>
                <a:spcPct val="0"/>
              </a:spcBef>
            </a:pPr>
          </a:p>
          <a:p>
            <a:pPr algn="ctr">
              <a:lnSpc>
                <a:spcPts val="301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5" t="0" r="-675" b="0"/>
            </a:stretch>
          </a:blipFill>
        </p:spPr>
      </p:sp>
      <p:sp>
        <p:nvSpPr>
          <p:cNvPr name="Freeform 3" id="3"/>
          <p:cNvSpPr/>
          <p:nvPr/>
        </p:nvSpPr>
        <p:spPr>
          <a:xfrm flipH="false" flipV="false" rot="0">
            <a:off x="14209128" y="183134"/>
            <a:ext cx="3891602" cy="4094264"/>
          </a:xfrm>
          <a:custGeom>
            <a:avLst/>
            <a:gdLst/>
            <a:ahLst/>
            <a:cxnLst/>
            <a:rect r="r" b="b" t="t" l="l"/>
            <a:pathLst>
              <a:path h="4094264" w="3891602">
                <a:moveTo>
                  <a:pt x="0" y="0"/>
                </a:moveTo>
                <a:lnTo>
                  <a:pt x="3891602" y="0"/>
                </a:lnTo>
                <a:lnTo>
                  <a:pt x="3891602" y="4094264"/>
                </a:lnTo>
                <a:lnTo>
                  <a:pt x="0" y="4094264"/>
                </a:lnTo>
                <a:lnTo>
                  <a:pt x="0" y="0"/>
                </a:lnTo>
                <a:close/>
              </a:path>
            </a:pathLst>
          </a:custGeom>
          <a:blipFill>
            <a:blip r:embed="rId3"/>
            <a:stretch>
              <a:fillRect l="-22285" t="-36949" r="-27929" b="0"/>
            </a:stretch>
          </a:blipFill>
        </p:spPr>
      </p:sp>
      <p:grpSp>
        <p:nvGrpSpPr>
          <p:cNvPr name="Group 4" id="4"/>
          <p:cNvGrpSpPr/>
          <p:nvPr/>
        </p:nvGrpSpPr>
        <p:grpSpPr>
          <a:xfrm rot="0">
            <a:off x="0" y="9298999"/>
            <a:ext cx="3295797" cy="1020917"/>
            <a:chOff x="0" y="0"/>
            <a:chExt cx="5044440" cy="1562583"/>
          </a:xfrm>
        </p:grpSpPr>
        <p:sp>
          <p:nvSpPr>
            <p:cNvPr name="Freeform 5" id="5"/>
            <p:cNvSpPr/>
            <p:nvPr/>
          </p:nvSpPr>
          <p:spPr>
            <a:xfrm flipH="false" flipV="false" rot="0">
              <a:off x="0" y="0"/>
              <a:ext cx="5044440" cy="1562608"/>
            </a:xfrm>
            <a:custGeom>
              <a:avLst/>
              <a:gdLst/>
              <a:ahLst/>
              <a:cxnLst/>
              <a:rect r="r" b="b" t="t" l="l"/>
              <a:pathLst>
                <a:path h="1562608" w="5044440">
                  <a:moveTo>
                    <a:pt x="0" y="0"/>
                  </a:moveTo>
                  <a:lnTo>
                    <a:pt x="5044440" y="0"/>
                  </a:lnTo>
                  <a:lnTo>
                    <a:pt x="5044440" y="1562608"/>
                  </a:lnTo>
                  <a:lnTo>
                    <a:pt x="0" y="1562608"/>
                  </a:lnTo>
                  <a:lnTo>
                    <a:pt x="0" y="0"/>
                  </a:lnTo>
                  <a:close/>
                </a:path>
              </a:pathLst>
            </a:custGeom>
            <a:blipFill>
              <a:blip r:embed="rId4"/>
              <a:stretch>
                <a:fillRect l="0" t="-7749" r="0" b="-7747"/>
              </a:stretch>
            </a:blipFill>
          </p:spPr>
        </p:sp>
      </p:grpSp>
      <p:sp>
        <p:nvSpPr>
          <p:cNvPr name="TextBox 6" id="6"/>
          <p:cNvSpPr txBox="true"/>
          <p:nvPr/>
        </p:nvSpPr>
        <p:spPr>
          <a:xfrm rot="0">
            <a:off x="345662" y="159772"/>
            <a:ext cx="13863466" cy="368894"/>
          </a:xfrm>
          <a:prstGeom prst="rect">
            <a:avLst/>
          </a:prstGeom>
        </p:spPr>
        <p:txBody>
          <a:bodyPr anchor="t" rtlCol="false" tIns="0" lIns="0" bIns="0" rIns="0">
            <a:spAutoFit/>
          </a:bodyPr>
          <a:lstStyle/>
          <a:p>
            <a:pPr algn="l">
              <a:lnSpc>
                <a:spcPts val="2766"/>
              </a:lnSpc>
            </a:pPr>
            <a:r>
              <a:rPr lang="en-US" sz="1976" spc="561">
                <a:solidFill>
                  <a:srgbClr val="000000"/>
                </a:solidFill>
                <a:latin typeface="Open Sans"/>
                <a:ea typeface="Open Sans"/>
                <a:cs typeface="Open Sans"/>
                <a:sym typeface="Open Sans"/>
              </a:rPr>
              <a:t>AI-POWERED JOB SCAM DETECTION ECOSYSTEM</a:t>
            </a:r>
          </a:p>
        </p:txBody>
      </p:sp>
      <p:sp>
        <p:nvSpPr>
          <p:cNvPr name="TextBox 7" id="7"/>
          <p:cNvSpPr txBox="true"/>
          <p:nvPr/>
        </p:nvSpPr>
        <p:spPr>
          <a:xfrm rot="0">
            <a:off x="5673380" y="9886403"/>
            <a:ext cx="6524292" cy="656336"/>
          </a:xfrm>
          <a:prstGeom prst="rect">
            <a:avLst/>
          </a:prstGeom>
        </p:spPr>
        <p:txBody>
          <a:bodyPr anchor="t" rtlCol="false" tIns="0" lIns="0" bIns="0" rIns="0">
            <a:spAutoFit/>
          </a:bodyPr>
          <a:lstStyle/>
          <a:p>
            <a:pPr algn="ctr">
              <a:lnSpc>
                <a:spcPts val="2674"/>
              </a:lnSpc>
            </a:pPr>
            <a:r>
              <a:rPr lang="en-US" sz="1910" b="true">
                <a:solidFill>
                  <a:srgbClr val="000000"/>
                </a:solidFill>
                <a:latin typeface="Canva Sans Bold"/>
                <a:ea typeface="Canva Sans Bold"/>
                <a:cs typeface="Canva Sans Bold"/>
                <a:sym typeface="Canva Sans Bold"/>
              </a:rPr>
              <a:t>IT22288618 | Methmi Chethya | R26-SE-002</a:t>
            </a:r>
          </a:p>
          <a:p>
            <a:pPr algn="ctr">
              <a:lnSpc>
                <a:spcPts val="2674"/>
              </a:lnSpc>
              <a:spcBef>
                <a:spcPct val="0"/>
              </a:spcBef>
            </a:pPr>
          </a:p>
        </p:txBody>
      </p:sp>
      <p:sp>
        <p:nvSpPr>
          <p:cNvPr name="TextBox 8" id="8"/>
          <p:cNvSpPr txBox="true"/>
          <p:nvPr/>
        </p:nvSpPr>
        <p:spPr>
          <a:xfrm rot="0">
            <a:off x="5157736" y="1910578"/>
            <a:ext cx="4671218" cy="501585"/>
          </a:xfrm>
          <a:prstGeom prst="rect">
            <a:avLst/>
          </a:prstGeom>
        </p:spPr>
        <p:txBody>
          <a:bodyPr anchor="t" rtlCol="false" tIns="0" lIns="0" bIns="0" rIns="0">
            <a:spAutoFit/>
          </a:bodyPr>
          <a:lstStyle/>
          <a:p>
            <a:pPr algn="ctr" marL="0" indent="0" lvl="0">
              <a:lnSpc>
                <a:spcPts val="3853"/>
              </a:lnSpc>
              <a:spcBef>
                <a:spcPct val="0"/>
              </a:spcBef>
            </a:pPr>
            <a:r>
              <a:rPr lang="en-US" b="true" sz="2752" spc="77">
                <a:solidFill>
                  <a:srgbClr val="000000"/>
                </a:solidFill>
                <a:latin typeface="Poppins Medium"/>
                <a:ea typeface="Poppins Medium"/>
                <a:cs typeface="Poppins Medium"/>
                <a:sym typeface="Poppins Medium"/>
              </a:rPr>
              <a:t>COMP</a:t>
            </a:r>
            <a:r>
              <a:rPr lang="en-US" b="true" sz="2752" spc="77" strike="noStrike" u="none">
                <a:solidFill>
                  <a:srgbClr val="000000"/>
                </a:solidFill>
                <a:latin typeface="Poppins Medium"/>
                <a:ea typeface="Poppins Medium"/>
                <a:cs typeface="Poppins Medium"/>
                <a:sym typeface="Poppins Medium"/>
              </a:rPr>
              <a:t>ONENT 04</a:t>
            </a:r>
          </a:p>
        </p:txBody>
      </p:sp>
      <p:sp>
        <p:nvSpPr>
          <p:cNvPr name="TextBox 9" id="9"/>
          <p:cNvSpPr txBox="true"/>
          <p:nvPr/>
        </p:nvSpPr>
        <p:spPr>
          <a:xfrm rot="0">
            <a:off x="3295797" y="2645707"/>
            <a:ext cx="10043266" cy="701294"/>
          </a:xfrm>
          <a:prstGeom prst="rect">
            <a:avLst/>
          </a:prstGeom>
        </p:spPr>
        <p:txBody>
          <a:bodyPr anchor="t" rtlCol="false" tIns="0" lIns="0" bIns="0" rIns="0">
            <a:spAutoFit/>
          </a:bodyPr>
          <a:lstStyle/>
          <a:p>
            <a:pPr algn="just" marL="0" indent="0" lvl="0">
              <a:lnSpc>
                <a:spcPts val="5446"/>
              </a:lnSpc>
              <a:spcBef>
                <a:spcPct val="0"/>
              </a:spcBef>
            </a:pPr>
            <a:r>
              <a:rPr lang="en-US" b="true" sz="3890" spc="108">
                <a:solidFill>
                  <a:srgbClr val="004AAD"/>
                </a:solidFill>
                <a:latin typeface="Poppins Bold"/>
                <a:ea typeface="Poppins Bold"/>
                <a:cs typeface="Poppins Bold"/>
                <a:sym typeface="Poppins Bold"/>
              </a:rPr>
              <a:t>JOB RECOMMENDATION AND RANKING</a:t>
            </a:r>
          </a:p>
        </p:txBody>
      </p:sp>
      <p:sp>
        <p:nvSpPr>
          <p:cNvPr name="TextBox 10" id="10"/>
          <p:cNvSpPr txBox="true"/>
          <p:nvPr/>
        </p:nvSpPr>
        <p:spPr>
          <a:xfrm rot="0">
            <a:off x="4308269" y="952500"/>
            <a:ext cx="7555945" cy="695960"/>
          </a:xfrm>
          <a:prstGeom prst="rect">
            <a:avLst/>
          </a:prstGeom>
        </p:spPr>
        <p:txBody>
          <a:bodyPr anchor="t" rtlCol="false" tIns="0" lIns="0" bIns="0" rIns="0">
            <a:spAutoFit/>
          </a:bodyPr>
          <a:lstStyle/>
          <a:p>
            <a:pPr algn="just">
              <a:lnSpc>
                <a:spcPts val="5740"/>
              </a:lnSpc>
              <a:spcBef>
                <a:spcPct val="0"/>
              </a:spcBef>
            </a:pPr>
            <a:r>
              <a:rPr lang="en-US" b="true" sz="4100">
                <a:solidFill>
                  <a:srgbClr val="092A5E"/>
                </a:solidFill>
                <a:latin typeface="Canva Sans Bold"/>
                <a:ea typeface="Canva Sans Bold"/>
                <a:cs typeface="Canva Sans Bold"/>
                <a:sym typeface="Canva Sans Bold"/>
              </a:rPr>
              <a:t>IT22288618 | Methmi Chethya</a:t>
            </a:r>
          </a:p>
        </p:txBody>
      </p:sp>
      <p:grpSp>
        <p:nvGrpSpPr>
          <p:cNvPr name="Group 11" id="11"/>
          <p:cNvGrpSpPr/>
          <p:nvPr/>
        </p:nvGrpSpPr>
        <p:grpSpPr>
          <a:xfrm rot="0">
            <a:off x="1990060" y="5744248"/>
            <a:ext cx="14937175" cy="3885912"/>
            <a:chOff x="0" y="0"/>
            <a:chExt cx="3934071" cy="1023450"/>
          </a:xfrm>
        </p:grpSpPr>
        <p:sp>
          <p:nvSpPr>
            <p:cNvPr name="Freeform 12" id="12"/>
            <p:cNvSpPr/>
            <p:nvPr/>
          </p:nvSpPr>
          <p:spPr>
            <a:xfrm flipH="false" flipV="false" rot="0">
              <a:off x="0" y="0"/>
              <a:ext cx="3934071" cy="1023450"/>
            </a:xfrm>
            <a:custGeom>
              <a:avLst/>
              <a:gdLst/>
              <a:ahLst/>
              <a:cxnLst/>
              <a:rect r="r" b="b" t="t" l="l"/>
              <a:pathLst>
                <a:path h="1023450" w="3934071">
                  <a:moveTo>
                    <a:pt x="7774" y="0"/>
                  </a:moveTo>
                  <a:lnTo>
                    <a:pt x="3926296" y="0"/>
                  </a:lnTo>
                  <a:cubicBezTo>
                    <a:pt x="3930590" y="0"/>
                    <a:pt x="3934071" y="3481"/>
                    <a:pt x="3934071" y="7774"/>
                  </a:cubicBezTo>
                  <a:lnTo>
                    <a:pt x="3934071" y="1015676"/>
                  </a:lnTo>
                  <a:cubicBezTo>
                    <a:pt x="3934071" y="1017737"/>
                    <a:pt x="3933252" y="1019715"/>
                    <a:pt x="3931794" y="1021173"/>
                  </a:cubicBezTo>
                  <a:cubicBezTo>
                    <a:pt x="3930336" y="1022631"/>
                    <a:pt x="3928358" y="1023450"/>
                    <a:pt x="3926296" y="1023450"/>
                  </a:cubicBezTo>
                  <a:lnTo>
                    <a:pt x="7774" y="1023450"/>
                  </a:lnTo>
                  <a:cubicBezTo>
                    <a:pt x="5713" y="1023450"/>
                    <a:pt x="3735" y="1022631"/>
                    <a:pt x="2277" y="1021173"/>
                  </a:cubicBezTo>
                  <a:cubicBezTo>
                    <a:pt x="819" y="1019715"/>
                    <a:pt x="0" y="1017737"/>
                    <a:pt x="0" y="1015676"/>
                  </a:cubicBezTo>
                  <a:lnTo>
                    <a:pt x="0" y="7774"/>
                  </a:lnTo>
                  <a:cubicBezTo>
                    <a:pt x="0" y="5713"/>
                    <a:pt x="819" y="3735"/>
                    <a:pt x="2277" y="2277"/>
                  </a:cubicBezTo>
                  <a:cubicBezTo>
                    <a:pt x="3735" y="819"/>
                    <a:pt x="5713" y="0"/>
                    <a:pt x="7774" y="0"/>
                  </a:cubicBezTo>
                  <a:close/>
                </a:path>
              </a:pathLst>
            </a:custGeom>
            <a:solidFill>
              <a:srgbClr val="D9D9D9"/>
            </a:solidFill>
          </p:spPr>
        </p:sp>
        <p:sp>
          <p:nvSpPr>
            <p:cNvPr name="TextBox 13" id="13"/>
            <p:cNvSpPr txBox="true"/>
            <p:nvPr/>
          </p:nvSpPr>
          <p:spPr>
            <a:xfrm>
              <a:off x="0" y="-47625"/>
              <a:ext cx="3934071" cy="1071075"/>
            </a:xfrm>
            <a:prstGeom prst="rect">
              <a:avLst/>
            </a:prstGeom>
          </p:spPr>
          <p:txBody>
            <a:bodyPr anchor="ctr" rtlCol="false" tIns="50800" lIns="50800" bIns="50800" rIns="50800"/>
            <a:lstStyle/>
            <a:p>
              <a:pPr algn="ctr">
                <a:lnSpc>
                  <a:spcPts val="3149"/>
                </a:lnSpc>
              </a:pPr>
            </a:p>
          </p:txBody>
        </p:sp>
      </p:grpSp>
      <p:sp>
        <p:nvSpPr>
          <p:cNvPr name="TextBox 14" id="14"/>
          <p:cNvSpPr txBox="true"/>
          <p:nvPr/>
        </p:nvSpPr>
        <p:spPr>
          <a:xfrm rot="0">
            <a:off x="1990060" y="3851826"/>
            <a:ext cx="15269240" cy="5153025"/>
          </a:xfrm>
          <a:prstGeom prst="rect">
            <a:avLst/>
          </a:prstGeom>
        </p:spPr>
        <p:txBody>
          <a:bodyPr anchor="t" rtlCol="false" tIns="0" lIns="0" bIns="0" rIns="0">
            <a:spAutoFit/>
          </a:bodyPr>
          <a:lstStyle/>
          <a:p>
            <a:pPr algn="ctr">
              <a:lnSpc>
                <a:spcPts val="3488"/>
              </a:lnSpc>
              <a:spcBef>
                <a:spcPct val="0"/>
              </a:spcBef>
            </a:pPr>
            <a:r>
              <a:rPr lang="en-US" b="true" sz="2906">
                <a:solidFill>
                  <a:srgbClr val="1800AD"/>
                </a:solidFill>
                <a:latin typeface="DM Sans Bold"/>
                <a:ea typeface="DM Sans Bold"/>
                <a:cs typeface="DM Sans Bold"/>
                <a:sym typeface="DM Sans Bold"/>
              </a:rPr>
              <a:t>Purp</a:t>
            </a:r>
            <a:r>
              <a:rPr lang="en-US" b="true" sz="2906">
                <a:solidFill>
                  <a:srgbClr val="1800AD"/>
                </a:solidFill>
                <a:latin typeface="DM Sans Bold"/>
                <a:ea typeface="DM Sans Bold"/>
                <a:cs typeface="DM Sans Bold"/>
                <a:sym typeface="DM Sans Bold"/>
              </a:rPr>
              <a:t>ose :</a:t>
            </a:r>
          </a:p>
          <a:p>
            <a:pPr algn="ctr">
              <a:lnSpc>
                <a:spcPts val="3488"/>
              </a:lnSpc>
              <a:spcBef>
                <a:spcPct val="0"/>
              </a:spcBef>
            </a:pPr>
          </a:p>
          <a:p>
            <a:pPr algn="ctr">
              <a:lnSpc>
                <a:spcPts val="3488"/>
              </a:lnSpc>
              <a:spcBef>
                <a:spcPct val="0"/>
              </a:spcBef>
            </a:pPr>
            <a:r>
              <a:rPr lang="en-US" b="true" sz="2906">
                <a:solidFill>
                  <a:srgbClr val="0F1F3D"/>
                </a:solidFill>
                <a:latin typeface="DM Sans Bold"/>
                <a:ea typeface="DM Sans Bold"/>
                <a:cs typeface="DM Sans Bold"/>
                <a:sym typeface="DM Sans Bold"/>
              </a:rPr>
              <a:t>Ranks relevant jobs while considering fraud risks to</a:t>
            </a:r>
          </a:p>
          <a:p>
            <a:pPr algn="ctr">
              <a:lnSpc>
                <a:spcPts val="3488"/>
              </a:lnSpc>
              <a:spcBef>
                <a:spcPct val="0"/>
              </a:spcBef>
            </a:pPr>
            <a:r>
              <a:rPr lang="en-US" b="true" sz="2906">
                <a:solidFill>
                  <a:srgbClr val="0F1F3D"/>
                </a:solidFill>
                <a:latin typeface="DM Sans Bold"/>
                <a:ea typeface="DM Sans Bold"/>
                <a:cs typeface="DM Sans Bold"/>
                <a:sym typeface="DM Sans Bold"/>
              </a:rPr>
              <a:t>recommend safer opportunities.</a:t>
            </a:r>
          </a:p>
          <a:p>
            <a:pPr algn="ctr">
              <a:lnSpc>
                <a:spcPts val="3488"/>
              </a:lnSpc>
              <a:spcBef>
                <a:spcPct val="0"/>
              </a:spcBef>
            </a:pPr>
          </a:p>
          <a:p>
            <a:pPr algn="ctr">
              <a:lnSpc>
                <a:spcPts val="3488"/>
              </a:lnSpc>
              <a:spcBef>
                <a:spcPct val="0"/>
              </a:spcBef>
            </a:pPr>
            <a:r>
              <a:rPr lang="en-US" b="true" sz="2906">
                <a:solidFill>
                  <a:srgbClr val="1800AD"/>
                </a:solidFill>
                <a:latin typeface="DM Sans Bold"/>
                <a:ea typeface="DM Sans Bold"/>
                <a:cs typeface="DM Sans Bold"/>
                <a:sym typeface="DM Sans Bold"/>
              </a:rPr>
              <a:t>Technical approach :</a:t>
            </a:r>
          </a:p>
          <a:p>
            <a:pPr algn="ctr">
              <a:lnSpc>
                <a:spcPts val="3488"/>
              </a:lnSpc>
              <a:spcBef>
                <a:spcPct val="0"/>
              </a:spcBef>
            </a:pPr>
          </a:p>
          <a:p>
            <a:pPr algn="l" marL="627561" indent="-313781" lvl="1">
              <a:lnSpc>
                <a:spcPts val="4360"/>
              </a:lnSpc>
              <a:spcBef>
                <a:spcPct val="0"/>
              </a:spcBef>
              <a:buFont typeface="Arial"/>
              <a:buChar char="•"/>
            </a:pPr>
            <a:r>
              <a:rPr lang="en-US" b="true" sz="2906">
                <a:solidFill>
                  <a:srgbClr val="0F1F3D"/>
                </a:solidFill>
                <a:latin typeface="DM Sans Bold"/>
                <a:ea typeface="DM Sans Bold"/>
                <a:cs typeface="DM Sans Bold"/>
                <a:sym typeface="DM Sans Bold"/>
              </a:rPr>
              <a:t>TF-IDF + cosine similarity: Match job descriptions with user skills.</a:t>
            </a:r>
          </a:p>
          <a:p>
            <a:pPr algn="l" marL="627561" indent="-313781" lvl="1">
              <a:lnSpc>
                <a:spcPts val="4360"/>
              </a:lnSpc>
              <a:spcBef>
                <a:spcPct val="0"/>
              </a:spcBef>
              <a:buFont typeface="Arial"/>
              <a:buChar char="•"/>
            </a:pPr>
            <a:r>
              <a:rPr lang="en-US" b="true" sz="2906">
                <a:solidFill>
                  <a:srgbClr val="0F1F3D"/>
                </a:solidFill>
                <a:latin typeface="DM Sans Bold"/>
                <a:ea typeface="DM Sans Bold"/>
                <a:cs typeface="DM Sans Bold"/>
                <a:sym typeface="DM Sans Bold"/>
              </a:rPr>
              <a:t>Entropy Weight Method (EWM): Calculate weights for the fraud-risk indicators.</a:t>
            </a:r>
          </a:p>
          <a:p>
            <a:pPr algn="l" marL="627561" indent="-313781" lvl="1">
              <a:lnSpc>
                <a:spcPts val="4360"/>
              </a:lnSpc>
              <a:spcBef>
                <a:spcPct val="0"/>
              </a:spcBef>
              <a:buFont typeface="Arial"/>
              <a:buChar char="•"/>
            </a:pPr>
            <a:r>
              <a:rPr lang="en-US" b="true" sz="2906">
                <a:solidFill>
                  <a:srgbClr val="0F1F3D"/>
                </a:solidFill>
                <a:latin typeface="DM Sans Bold"/>
                <a:ea typeface="DM Sans Bold"/>
                <a:cs typeface="DM Sans Bold"/>
                <a:sym typeface="DM Sans Bold"/>
              </a:rPr>
              <a:t>TOPSIS: Rank candidate jobs using the defined ranking criteria.</a:t>
            </a:r>
          </a:p>
          <a:p>
            <a:pPr algn="ctr">
              <a:lnSpc>
                <a:spcPts val="348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grpSp>
        <p:nvGrpSpPr>
          <p:cNvPr name="Group 3" id="3"/>
          <p:cNvGrpSpPr/>
          <p:nvPr/>
        </p:nvGrpSpPr>
        <p:grpSpPr>
          <a:xfrm rot="0">
            <a:off x="914400" y="1811541"/>
            <a:ext cx="3453708" cy="2354466"/>
            <a:chOff x="0" y="0"/>
            <a:chExt cx="4604944" cy="3139288"/>
          </a:xfrm>
        </p:grpSpPr>
        <p:sp>
          <p:nvSpPr>
            <p:cNvPr name="Freeform 4" id="4"/>
            <p:cNvSpPr/>
            <p:nvPr/>
          </p:nvSpPr>
          <p:spPr>
            <a:xfrm flipH="false" flipV="false" rot="0">
              <a:off x="0" y="0"/>
              <a:ext cx="4604893" cy="3139313"/>
            </a:xfrm>
            <a:custGeom>
              <a:avLst/>
              <a:gdLst/>
              <a:ahLst/>
              <a:cxnLst/>
              <a:rect r="r" b="b" t="t" l="l"/>
              <a:pathLst>
                <a:path h="3139313" w="4604893">
                  <a:moveTo>
                    <a:pt x="0" y="248666"/>
                  </a:moveTo>
                  <a:cubicBezTo>
                    <a:pt x="0" y="111379"/>
                    <a:pt x="111379" y="0"/>
                    <a:pt x="248666" y="0"/>
                  </a:cubicBezTo>
                  <a:lnTo>
                    <a:pt x="4356227" y="0"/>
                  </a:lnTo>
                  <a:cubicBezTo>
                    <a:pt x="4493514" y="0"/>
                    <a:pt x="4604893" y="111379"/>
                    <a:pt x="4604893" y="248666"/>
                  </a:cubicBezTo>
                  <a:lnTo>
                    <a:pt x="4604893" y="2890647"/>
                  </a:lnTo>
                  <a:cubicBezTo>
                    <a:pt x="4604893" y="3027934"/>
                    <a:pt x="4493514" y="3139313"/>
                    <a:pt x="4356227" y="3139313"/>
                  </a:cubicBezTo>
                  <a:lnTo>
                    <a:pt x="248666" y="3139313"/>
                  </a:lnTo>
                  <a:cubicBezTo>
                    <a:pt x="111379" y="3139313"/>
                    <a:pt x="0" y="3027934"/>
                    <a:pt x="0" y="2890647"/>
                  </a:cubicBezTo>
                  <a:close/>
                </a:path>
              </a:pathLst>
            </a:custGeom>
            <a:solidFill>
              <a:srgbClr val="F0F6FC"/>
            </a:solidFill>
            <a:ln w="9525" cap="sq">
              <a:solidFill>
                <a:srgbClr val="1A4FA0"/>
              </a:solidFill>
              <a:prstDash val="sysDot"/>
              <a:miter/>
            </a:ln>
          </p:spPr>
        </p:sp>
      </p:grpSp>
      <p:grpSp>
        <p:nvGrpSpPr>
          <p:cNvPr name="Group 5" id="5"/>
          <p:cNvGrpSpPr/>
          <p:nvPr/>
        </p:nvGrpSpPr>
        <p:grpSpPr>
          <a:xfrm rot="0">
            <a:off x="4558608" y="1811541"/>
            <a:ext cx="5259581" cy="2354466"/>
            <a:chOff x="0" y="0"/>
            <a:chExt cx="7012775" cy="3139288"/>
          </a:xfrm>
        </p:grpSpPr>
        <p:sp>
          <p:nvSpPr>
            <p:cNvPr name="Freeform 6" id="6"/>
            <p:cNvSpPr/>
            <p:nvPr/>
          </p:nvSpPr>
          <p:spPr>
            <a:xfrm flipH="false" flipV="false" rot="0">
              <a:off x="0" y="0"/>
              <a:ext cx="7012801" cy="3139313"/>
            </a:xfrm>
            <a:custGeom>
              <a:avLst/>
              <a:gdLst/>
              <a:ahLst/>
              <a:cxnLst/>
              <a:rect r="r" b="b" t="t" l="l"/>
              <a:pathLst>
                <a:path h="3139313" w="7012801">
                  <a:moveTo>
                    <a:pt x="0" y="248666"/>
                  </a:moveTo>
                  <a:cubicBezTo>
                    <a:pt x="0" y="111379"/>
                    <a:pt x="106004" y="0"/>
                    <a:pt x="236665" y="0"/>
                  </a:cubicBezTo>
                  <a:lnTo>
                    <a:pt x="6776134" y="0"/>
                  </a:lnTo>
                  <a:cubicBezTo>
                    <a:pt x="6906795" y="0"/>
                    <a:pt x="7012801" y="111379"/>
                    <a:pt x="7012801" y="248666"/>
                  </a:cubicBezTo>
                  <a:lnTo>
                    <a:pt x="7012801" y="2890647"/>
                  </a:lnTo>
                  <a:cubicBezTo>
                    <a:pt x="7012801" y="3027934"/>
                    <a:pt x="6906795" y="3139313"/>
                    <a:pt x="6776134" y="3139313"/>
                  </a:cubicBezTo>
                  <a:lnTo>
                    <a:pt x="236665" y="3139313"/>
                  </a:lnTo>
                  <a:cubicBezTo>
                    <a:pt x="106004" y="3139313"/>
                    <a:pt x="0" y="3027934"/>
                    <a:pt x="0" y="2890647"/>
                  </a:cubicBezTo>
                  <a:close/>
                </a:path>
              </a:pathLst>
            </a:custGeom>
            <a:solidFill>
              <a:srgbClr val="F0F6FC"/>
            </a:solidFill>
            <a:ln w="9525" cap="sq">
              <a:solidFill>
                <a:srgbClr val="1A4FA0"/>
              </a:solidFill>
              <a:prstDash val="sysDot"/>
              <a:miter/>
            </a:ln>
          </p:spPr>
        </p:sp>
      </p:grpSp>
      <p:grpSp>
        <p:nvGrpSpPr>
          <p:cNvPr name="Group 7" id="7"/>
          <p:cNvGrpSpPr/>
          <p:nvPr/>
        </p:nvGrpSpPr>
        <p:grpSpPr>
          <a:xfrm rot="0">
            <a:off x="10075374" y="1811541"/>
            <a:ext cx="4197577" cy="2354466"/>
            <a:chOff x="0" y="0"/>
            <a:chExt cx="5596770" cy="3139288"/>
          </a:xfrm>
        </p:grpSpPr>
        <p:sp>
          <p:nvSpPr>
            <p:cNvPr name="Freeform 8" id="8"/>
            <p:cNvSpPr/>
            <p:nvPr/>
          </p:nvSpPr>
          <p:spPr>
            <a:xfrm flipH="false" flipV="false" rot="0">
              <a:off x="0" y="0"/>
              <a:ext cx="5596782" cy="3139313"/>
            </a:xfrm>
            <a:custGeom>
              <a:avLst/>
              <a:gdLst/>
              <a:ahLst/>
              <a:cxnLst/>
              <a:rect r="r" b="b" t="t" l="l"/>
              <a:pathLst>
                <a:path h="3139313" w="5596782">
                  <a:moveTo>
                    <a:pt x="0" y="248666"/>
                  </a:moveTo>
                  <a:cubicBezTo>
                    <a:pt x="0" y="111379"/>
                    <a:pt x="135363" y="0"/>
                    <a:pt x="302212" y="0"/>
                  </a:cubicBezTo>
                  <a:lnTo>
                    <a:pt x="5294573" y="0"/>
                  </a:lnTo>
                  <a:cubicBezTo>
                    <a:pt x="5461423" y="0"/>
                    <a:pt x="5596782" y="111379"/>
                    <a:pt x="5596782" y="248666"/>
                  </a:cubicBezTo>
                  <a:lnTo>
                    <a:pt x="5596782" y="2890647"/>
                  </a:lnTo>
                  <a:cubicBezTo>
                    <a:pt x="5596782" y="3027934"/>
                    <a:pt x="5461423" y="3139313"/>
                    <a:pt x="5294573" y="3139313"/>
                  </a:cubicBezTo>
                  <a:lnTo>
                    <a:pt x="302212" y="3139313"/>
                  </a:lnTo>
                  <a:cubicBezTo>
                    <a:pt x="135363" y="3139313"/>
                    <a:pt x="0" y="3027934"/>
                    <a:pt x="0" y="2890647"/>
                  </a:cubicBezTo>
                  <a:close/>
                </a:path>
              </a:pathLst>
            </a:custGeom>
            <a:solidFill>
              <a:srgbClr val="F0F6FC"/>
            </a:solidFill>
            <a:ln w="9525" cap="sq">
              <a:solidFill>
                <a:srgbClr val="1A4FA0"/>
              </a:solidFill>
              <a:prstDash val="sysDot"/>
              <a:miter/>
            </a:ln>
          </p:spPr>
        </p:sp>
      </p:grpSp>
      <p:grpSp>
        <p:nvGrpSpPr>
          <p:cNvPr name="Group 9" id="9"/>
          <p:cNvGrpSpPr/>
          <p:nvPr/>
        </p:nvGrpSpPr>
        <p:grpSpPr>
          <a:xfrm rot="0">
            <a:off x="14557915" y="1811541"/>
            <a:ext cx="3453851" cy="2354466"/>
            <a:chOff x="0" y="0"/>
            <a:chExt cx="4605134" cy="3139288"/>
          </a:xfrm>
        </p:grpSpPr>
        <p:sp>
          <p:nvSpPr>
            <p:cNvPr name="Freeform 10" id="10"/>
            <p:cNvSpPr/>
            <p:nvPr/>
          </p:nvSpPr>
          <p:spPr>
            <a:xfrm flipH="false" flipV="false" rot="0">
              <a:off x="0" y="0"/>
              <a:ext cx="4605147" cy="3139313"/>
            </a:xfrm>
            <a:custGeom>
              <a:avLst/>
              <a:gdLst/>
              <a:ahLst/>
              <a:cxnLst/>
              <a:rect r="r" b="b" t="t" l="l"/>
              <a:pathLst>
                <a:path h="3139313" w="4605147">
                  <a:moveTo>
                    <a:pt x="0" y="248666"/>
                  </a:moveTo>
                  <a:cubicBezTo>
                    <a:pt x="0" y="111379"/>
                    <a:pt x="111379" y="0"/>
                    <a:pt x="248666" y="0"/>
                  </a:cubicBezTo>
                  <a:lnTo>
                    <a:pt x="4356481" y="0"/>
                  </a:lnTo>
                  <a:cubicBezTo>
                    <a:pt x="4493768" y="0"/>
                    <a:pt x="4605147" y="111379"/>
                    <a:pt x="4605147" y="248666"/>
                  </a:cubicBezTo>
                  <a:lnTo>
                    <a:pt x="4605147" y="2890647"/>
                  </a:lnTo>
                  <a:cubicBezTo>
                    <a:pt x="4605147" y="3027934"/>
                    <a:pt x="4493768" y="3139313"/>
                    <a:pt x="4356481" y="3139313"/>
                  </a:cubicBezTo>
                  <a:lnTo>
                    <a:pt x="248666" y="3139313"/>
                  </a:lnTo>
                  <a:cubicBezTo>
                    <a:pt x="111379" y="3139313"/>
                    <a:pt x="0" y="3027934"/>
                    <a:pt x="0" y="2890647"/>
                  </a:cubicBezTo>
                  <a:close/>
                </a:path>
              </a:pathLst>
            </a:custGeom>
            <a:solidFill>
              <a:srgbClr val="F0F6FC"/>
            </a:solidFill>
            <a:ln w="9525" cap="sq">
              <a:solidFill>
                <a:srgbClr val="1A4FA0"/>
              </a:solidFill>
              <a:prstDash val="sysDot"/>
              <a:miter/>
            </a:ln>
          </p:spPr>
        </p:sp>
      </p:grpSp>
      <p:grpSp>
        <p:nvGrpSpPr>
          <p:cNvPr name="Group 11" id="11"/>
          <p:cNvGrpSpPr/>
          <p:nvPr/>
        </p:nvGrpSpPr>
        <p:grpSpPr>
          <a:xfrm rot="0">
            <a:off x="914400" y="4733715"/>
            <a:ext cx="4953000" cy="3360372"/>
            <a:chOff x="0" y="0"/>
            <a:chExt cx="6604000" cy="4480496"/>
          </a:xfrm>
        </p:grpSpPr>
        <p:sp>
          <p:nvSpPr>
            <p:cNvPr name="Freeform 12" id="12"/>
            <p:cNvSpPr/>
            <p:nvPr/>
          </p:nvSpPr>
          <p:spPr>
            <a:xfrm flipH="false" flipV="false" rot="0">
              <a:off x="0" y="0"/>
              <a:ext cx="6604000" cy="4480447"/>
            </a:xfrm>
            <a:custGeom>
              <a:avLst/>
              <a:gdLst/>
              <a:ahLst/>
              <a:cxnLst/>
              <a:rect r="r" b="b" t="t" l="l"/>
              <a:pathLst>
                <a:path h="4480447" w="6604000">
                  <a:moveTo>
                    <a:pt x="0" y="196675"/>
                  </a:moveTo>
                  <a:cubicBezTo>
                    <a:pt x="0" y="88110"/>
                    <a:pt x="113792" y="0"/>
                    <a:pt x="254000" y="0"/>
                  </a:cubicBezTo>
                  <a:lnTo>
                    <a:pt x="6350000" y="0"/>
                  </a:lnTo>
                  <a:cubicBezTo>
                    <a:pt x="6490335" y="0"/>
                    <a:pt x="6604000" y="88110"/>
                    <a:pt x="6604000" y="196675"/>
                  </a:cubicBezTo>
                  <a:lnTo>
                    <a:pt x="6604000" y="4283772"/>
                  </a:lnTo>
                  <a:cubicBezTo>
                    <a:pt x="6604000" y="4392435"/>
                    <a:pt x="6490208" y="4480447"/>
                    <a:pt x="6350000" y="4480447"/>
                  </a:cubicBezTo>
                  <a:lnTo>
                    <a:pt x="254000" y="4480447"/>
                  </a:lnTo>
                  <a:cubicBezTo>
                    <a:pt x="113665" y="4480447"/>
                    <a:pt x="0" y="4392337"/>
                    <a:pt x="0" y="4283772"/>
                  </a:cubicBezTo>
                  <a:close/>
                </a:path>
              </a:pathLst>
            </a:custGeom>
            <a:solidFill>
              <a:srgbClr val="F0F6FC"/>
            </a:solidFill>
            <a:ln w="9525" cap="sq">
              <a:solidFill>
                <a:srgbClr val="1A4FA0"/>
              </a:solidFill>
              <a:prstDash val="sysDot"/>
              <a:miter/>
            </a:ln>
          </p:spPr>
        </p:sp>
      </p:grpSp>
      <p:grpSp>
        <p:nvGrpSpPr>
          <p:cNvPr name="Group 13" id="13"/>
          <p:cNvGrpSpPr/>
          <p:nvPr/>
        </p:nvGrpSpPr>
        <p:grpSpPr>
          <a:xfrm rot="0">
            <a:off x="6057900" y="4733715"/>
            <a:ext cx="5562600" cy="3360372"/>
            <a:chOff x="0" y="0"/>
            <a:chExt cx="7416800" cy="4480496"/>
          </a:xfrm>
        </p:grpSpPr>
        <p:sp>
          <p:nvSpPr>
            <p:cNvPr name="Freeform 14" id="14"/>
            <p:cNvSpPr/>
            <p:nvPr/>
          </p:nvSpPr>
          <p:spPr>
            <a:xfrm flipH="false" flipV="false" rot="0">
              <a:off x="0" y="0"/>
              <a:ext cx="7416800" cy="4480447"/>
            </a:xfrm>
            <a:custGeom>
              <a:avLst/>
              <a:gdLst/>
              <a:ahLst/>
              <a:cxnLst/>
              <a:rect r="r" b="b" t="t" l="l"/>
              <a:pathLst>
                <a:path h="4480447" w="7416800">
                  <a:moveTo>
                    <a:pt x="0" y="192151"/>
                  </a:moveTo>
                  <a:cubicBezTo>
                    <a:pt x="0" y="86045"/>
                    <a:pt x="111125" y="0"/>
                    <a:pt x="248158" y="0"/>
                  </a:cubicBezTo>
                  <a:lnTo>
                    <a:pt x="7168642" y="0"/>
                  </a:lnTo>
                  <a:cubicBezTo>
                    <a:pt x="7305675" y="0"/>
                    <a:pt x="7416800" y="86045"/>
                    <a:pt x="7416800" y="192151"/>
                  </a:cubicBezTo>
                  <a:lnTo>
                    <a:pt x="7416800" y="4288296"/>
                  </a:lnTo>
                  <a:cubicBezTo>
                    <a:pt x="7416800" y="4394402"/>
                    <a:pt x="7305675" y="4480447"/>
                    <a:pt x="7168642" y="4480447"/>
                  </a:cubicBezTo>
                  <a:lnTo>
                    <a:pt x="248158" y="4480447"/>
                  </a:lnTo>
                  <a:cubicBezTo>
                    <a:pt x="111125" y="4480560"/>
                    <a:pt x="0" y="4394500"/>
                    <a:pt x="0" y="4288296"/>
                  </a:cubicBezTo>
                  <a:close/>
                </a:path>
              </a:pathLst>
            </a:custGeom>
            <a:solidFill>
              <a:srgbClr val="F0F6FC"/>
            </a:solidFill>
            <a:ln w="9525" cap="sq">
              <a:solidFill>
                <a:srgbClr val="1A4FA0"/>
              </a:solidFill>
              <a:prstDash val="sysDot"/>
              <a:miter/>
            </a:ln>
          </p:spPr>
        </p:sp>
      </p:grpSp>
      <p:grpSp>
        <p:nvGrpSpPr>
          <p:cNvPr name="Group 15" id="15"/>
          <p:cNvGrpSpPr/>
          <p:nvPr/>
        </p:nvGrpSpPr>
        <p:grpSpPr>
          <a:xfrm rot="0">
            <a:off x="11811000" y="4733715"/>
            <a:ext cx="5562600" cy="3360372"/>
            <a:chOff x="0" y="0"/>
            <a:chExt cx="7416800" cy="4480496"/>
          </a:xfrm>
        </p:grpSpPr>
        <p:sp>
          <p:nvSpPr>
            <p:cNvPr name="Freeform 16" id="16"/>
            <p:cNvSpPr/>
            <p:nvPr/>
          </p:nvSpPr>
          <p:spPr>
            <a:xfrm flipH="false" flipV="false" rot="0">
              <a:off x="0" y="0"/>
              <a:ext cx="7416800" cy="4480447"/>
            </a:xfrm>
            <a:custGeom>
              <a:avLst/>
              <a:gdLst/>
              <a:ahLst/>
              <a:cxnLst/>
              <a:rect r="r" b="b" t="t" l="l"/>
              <a:pathLst>
                <a:path h="4480447" w="7416800">
                  <a:moveTo>
                    <a:pt x="0" y="192151"/>
                  </a:moveTo>
                  <a:cubicBezTo>
                    <a:pt x="0" y="86045"/>
                    <a:pt x="111125" y="0"/>
                    <a:pt x="248158" y="0"/>
                  </a:cubicBezTo>
                  <a:lnTo>
                    <a:pt x="7168642" y="0"/>
                  </a:lnTo>
                  <a:cubicBezTo>
                    <a:pt x="7305675" y="0"/>
                    <a:pt x="7416800" y="86045"/>
                    <a:pt x="7416800" y="192151"/>
                  </a:cubicBezTo>
                  <a:lnTo>
                    <a:pt x="7416800" y="4288296"/>
                  </a:lnTo>
                  <a:cubicBezTo>
                    <a:pt x="7416800" y="4394402"/>
                    <a:pt x="7305675" y="4480447"/>
                    <a:pt x="7168642" y="4480447"/>
                  </a:cubicBezTo>
                  <a:lnTo>
                    <a:pt x="248158" y="4480447"/>
                  </a:lnTo>
                  <a:cubicBezTo>
                    <a:pt x="111125" y="4480560"/>
                    <a:pt x="0" y="4394500"/>
                    <a:pt x="0" y="4288296"/>
                  </a:cubicBezTo>
                  <a:close/>
                </a:path>
              </a:pathLst>
            </a:custGeom>
            <a:solidFill>
              <a:srgbClr val="F0F6FC"/>
            </a:solidFill>
            <a:ln w="9525" cap="sq">
              <a:solidFill>
                <a:srgbClr val="1A4FA0"/>
              </a:solidFill>
              <a:prstDash val="sysDot"/>
              <a:miter/>
            </a:ln>
          </p:spPr>
        </p:sp>
      </p:grpSp>
      <p:grpSp>
        <p:nvGrpSpPr>
          <p:cNvPr name="Group 17" id="17"/>
          <p:cNvGrpSpPr/>
          <p:nvPr/>
        </p:nvGrpSpPr>
        <p:grpSpPr>
          <a:xfrm rot="0">
            <a:off x="800100" y="8440769"/>
            <a:ext cx="16459200" cy="752475"/>
            <a:chOff x="0" y="0"/>
            <a:chExt cx="21945600" cy="1003300"/>
          </a:xfrm>
        </p:grpSpPr>
        <p:sp>
          <p:nvSpPr>
            <p:cNvPr name="Freeform 18" id="18"/>
            <p:cNvSpPr/>
            <p:nvPr/>
          </p:nvSpPr>
          <p:spPr>
            <a:xfrm flipH="false" flipV="false" rot="0">
              <a:off x="0" y="0"/>
              <a:ext cx="21945600" cy="1003300"/>
            </a:xfrm>
            <a:custGeom>
              <a:avLst/>
              <a:gdLst/>
              <a:ahLst/>
              <a:cxnLst/>
              <a:rect r="r" b="b" t="t" l="l"/>
              <a:pathLst>
                <a:path h="1003300" w="21945600">
                  <a:moveTo>
                    <a:pt x="0" y="254000"/>
                  </a:moveTo>
                  <a:cubicBezTo>
                    <a:pt x="0" y="113665"/>
                    <a:pt x="113665" y="0"/>
                    <a:pt x="254000" y="0"/>
                  </a:cubicBezTo>
                  <a:lnTo>
                    <a:pt x="21691600" y="0"/>
                  </a:lnTo>
                  <a:cubicBezTo>
                    <a:pt x="21831936" y="0"/>
                    <a:pt x="21945600" y="113665"/>
                    <a:pt x="21945600" y="254000"/>
                  </a:cubicBezTo>
                  <a:lnTo>
                    <a:pt x="21945600" y="749300"/>
                  </a:lnTo>
                  <a:cubicBezTo>
                    <a:pt x="21945600" y="889635"/>
                    <a:pt x="21831936" y="1003300"/>
                    <a:pt x="21691600" y="1003300"/>
                  </a:cubicBezTo>
                  <a:lnTo>
                    <a:pt x="254000" y="1003300"/>
                  </a:lnTo>
                  <a:cubicBezTo>
                    <a:pt x="113665" y="1003300"/>
                    <a:pt x="0" y="889635"/>
                    <a:pt x="0" y="749300"/>
                  </a:cubicBezTo>
                  <a:close/>
                </a:path>
              </a:pathLst>
            </a:custGeom>
            <a:solidFill>
              <a:srgbClr val="FFF9EC"/>
            </a:solidFill>
          </p:spPr>
        </p:sp>
        <p:sp>
          <p:nvSpPr>
            <p:cNvPr name="TextBox 19" id="19"/>
            <p:cNvSpPr txBox="true"/>
            <p:nvPr/>
          </p:nvSpPr>
          <p:spPr>
            <a:xfrm>
              <a:off x="0" y="-38100"/>
              <a:ext cx="21945600" cy="1041400"/>
            </a:xfrm>
            <a:prstGeom prst="rect">
              <a:avLst/>
            </a:prstGeom>
          </p:spPr>
          <p:txBody>
            <a:bodyPr anchor="ctr" rtlCol="false" tIns="50800" lIns="50800" bIns="50800" rIns="50800"/>
            <a:lstStyle/>
            <a:p>
              <a:pPr algn="l">
                <a:lnSpc>
                  <a:spcPts val="2925"/>
                </a:lnSpc>
              </a:pPr>
              <a:r>
                <a:rPr lang="en-US" sz="2250" b="true">
                  <a:solidFill>
                    <a:srgbClr val="14213D"/>
                  </a:solidFill>
                  <a:latin typeface="Arial Bold"/>
                  <a:ea typeface="Arial Bold"/>
                  <a:cs typeface="Arial Bold"/>
                  <a:sym typeface="Arial Bold"/>
                </a:rPr>
                <a:t>Value: one app tells a job seeker if the post, the employer and the chat look safe, and ranks safer jobs first.</a:t>
              </a:r>
            </a:p>
          </p:txBody>
        </p:sp>
      </p:grpSp>
      <p:grpSp>
        <p:nvGrpSpPr>
          <p:cNvPr name="Group 20" id="20"/>
          <p:cNvGrpSpPr/>
          <p:nvPr/>
        </p:nvGrpSpPr>
        <p:grpSpPr>
          <a:xfrm rot="0">
            <a:off x="0" y="9258300"/>
            <a:ext cx="3557588" cy="1028700"/>
            <a:chOff x="0" y="0"/>
            <a:chExt cx="4743450" cy="1371600"/>
          </a:xfrm>
        </p:grpSpPr>
        <p:sp>
          <p:nvSpPr>
            <p:cNvPr name="Freeform 21" id="21"/>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3"/>
              <a:stretch>
                <a:fillRect l="0" t="-11864" r="0" b="-11860"/>
              </a:stretch>
            </a:blipFill>
          </p:spPr>
        </p:sp>
      </p:grpSp>
      <p:sp>
        <p:nvSpPr>
          <p:cNvPr name="TextBox 22" id="22"/>
          <p:cNvSpPr txBox="true"/>
          <p:nvPr/>
        </p:nvSpPr>
        <p:spPr>
          <a:xfrm rot="0">
            <a:off x="914400" y="514350"/>
            <a:ext cx="16952976" cy="441874"/>
          </a:xfrm>
          <a:prstGeom prst="rect">
            <a:avLst/>
          </a:prstGeom>
        </p:spPr>
        <p:txBody>
          <a:bodyPr anchor="t" rtlCol="false" tIns="0" lIns="0" bIns="0" rIns="0">
            <a:spAutoFit/>
          </a:bodyPr>
          <a:lstStyle/>
          <a:p>
            <a:pPr algn="l">
              <a:lnSpc>
                <a:spcPts val="2729"/>
              </a:lnSpc>
            </a:pPr>
            <a:r>
              <a:rPr lang="en-US" b="true" sz="1950" spc="225">
                <a:solidFill>
                  <a:srgbClr val="1A4FA0"/>
                </a:solidFill>
                <a:latin typeface="Arial Bold"/>
                <a:ea typeface="Arial Bold"/>
                <a:cs typeface="Arial Bold"/>
                <a:sym typeface="Arial Bold"/>
              </a:rPr>
              <a:t>WHOLE SYSTEM: FOUR COMPONENTS, ONE APP</a:t>
            </a:r>
          </a:p>
        </p:txBody>
      </p:sp>
      <p:sp>
        <p:nvSpPr>
          <p:cNvPr name="TextBox 23" id="23"/>
          <p:cNvSpPr txBox="true"/>
          <p:nvPr/>
        </p:nvSpPr>
        <p:spPr>
          <a:xfrm rot="0">
            <a:off x="914400" y="1003849"/>
            <a:ext cx="16952976" cy="617191"/>
          </a:xfrm>
          <a:prstGeom prst="rect">
            <a:avLst/>
          </a:prstGeom>
        </p:spPr>
        <p:txBody>
          <a:bodyPr anchor="t" rtlCol="false" tIns="0" lIns="0" bIns="0" rIns="0">
            <a:spAutoFit/>
          </a:bodyPr>
          <a:lstStyle/>
          <a:p>
            <a:pPr algn="l">
              <a:lnSpc>
                <a:spcPts val="4785"/>
              </a:lnSpc>
            </a:pPr>
            <a:r>
              <a:rPr lang="en-US" sz="4350" b="true">
                <a:solidFill>
                  <a:srgbClr val="0F1F3D"/>
                </a:solidFill>
                <a:latin typeface="Arial Bold"/>
                <a:ea typeface="Arial Bold"/>
                <a:cs typeface="Arial Bold"/>
                <a:sym typeface="Arial Bold"/>
              </a:rPr>
              <a:t>Results, user acceptance and limitations</a:t>
            </a:r>
          </a:p>
        </p:txBody>
      </p:sp>
      <p:sp>
        <p:nvSpPr>
          <p:cNvPr name="TextBox 24" id="24"/>
          <p:cNvSpPr txBox="true"/>
          <p:nvPr/>
        </p:nvSpPr>
        <p:spPr>
          <a:xfrm rot="0">
            <a:off x="1171575" y="1992516"/>
            <a:ext cx="3027531" cy="735216"/>
          </a:xfrm>
          <a:prstGeom prst="rect">
            <a:avLst/>
          </a:prstGeom>
        </p:spPr>
        <p:txBody>
          <a:bodyPr anchor="t" rtlCol="false" tIns="0" lIns="0" bIns="0" rIns="0">
            <a:spAutoFit/>
          </a:bodyPr>
          <a:lstStyle/>
          <a:p>
            <a:pPr algn="l">
              <a:lnSpc>
                <a:spcPts val="2520"/>
              </a:lnSpc>
            </a:pPr>
            <a:r>
              <a:rPr lang="en-US" b="true" sz="1800" spc="75">
                <a:solidFill>
                  <a:srgbClr val="5B6B8C"/>
                </a:solidFill>
                <a:latin typeface="Arial Bold"/>
                <a:ea typeface="Arial Bold"/>
                <a:cs typeface="Arial Bold"/>
                <a:sym typeface="Arial Bold"/>
              </a:rPr>
              <a:t>FAKE JOB POST DETECTION</a:t>
            </a:r>
          </a:p>
        </p:txBody>
      </p:sp>
      <p:sp>
        <p:nvSpPr>
          <p:cNvPr name="TextBox 25" id="25"/>
          <p:cNvSpPr txBox="true"/>
          <p:nvPr/>
        </p:nvSpPr>
        <p:spPr>
          <a:xfrm rot="0">
            <a:off x="1171575" y="2832497"/>
            <a:ext cx="3027531" cy="714375"/>
          </a:xfrm>
          <a:prstGeom prst="rect">
            <a:avLst/>
          </a:prstGeom>
        </p:spPr>
        <p:txBody>
          <a:bodyPr anchor="t" rtlCol="false" tIns="0" lIns="0" bIns="0" rIns="0">
            <a:spAutoFit/>
          </a:bodyPr>
          <a:lstStyle/>
          <a:p>
            <a:pPr algn="l">
              <a:lnSpc>
                <a:spcPts val="6000"/>
              </a:lnSpc>
            </a:pPr>
            <a:r>
              <a:rPr lang="en-US" sz="6000" b="true">
                <a:solidFill>
                  <a:srgbClr val="1A4FA0"/>
                </a:solidFill>
                <a:latin typeface="Arial Bold"/>
                <a:ea typeface="Arial Bold"/>
                <a:cs typeface="Arial Bold"/>
                <a:sym typeface="Arial Bold"/>
              </a:rPr>
              <a:t>88.5%</a:t>
            </a:r>
          </a:p>
        </p:txBody>
      </p:sp>
      <p:sp>
        <p:nvSpPr>
          <p:cNvPr name="TextBox 26" id="26"/>
          <p:cNvSpPr txBox="true"/>
          <p:nvPr/>
        </p:nvSpPr>
        <p:spPr>
          <a:xfrm rot="0">
            <a:off x="1171575" y="3527822"/>
            <a:ext cx="3027531" cy="398116"/>
          </a:xfrm>
          <a:prstGeom prst="rect">
            <a:avLst/>
          </a:prstGeom>
        </p:spPr>
        <p:txBody>
          <a:bodyPr anchor="t" rtlCol="false" tIns="0" lIns="0" bIns="0" rIns="0">
            <a:spAutoFit/>
          </a:bodyPr>
          <a:lstStyle/>
          <a:p>
            <a:pPr algn="l">
              <a:lnSpc>
                <a:spcPts val="2535"/>
              </a:lnSpc>
            </a:pPr>
            <a:r>
              <a:rPr lang="en-US" sz="1950">
                <a:solidFill>
                  <a:srgbClr val="2A3752"/>
                </a:solidFill>
                <a:latin typeface="Arial"/>
                <a:ea typeface="Arial"/>
                <a:cs typeface="Arial"/>
                <a:sym typeface="Arial"/>
              </a:rPr>
              <a:t>test accuracy</a:t>
            </a:r>
          </a:p>
        </p:txBody>
      </p:sp>
      <p:sp>
        <p:nvSpPr>
          <p:cNvPr name="TextBox 27" id="27"/>
          <p:cNvSpPr txBox="true"/>
          <p:nvPr/>
        </p:nvSpPr>
        <p:spPr>
          <a:xfrm rot="0">
            <a:off x="4815783" y="1992516"/>
            <a:ext cx="5259591" cy="325755"/>
          </a:xfrm>
          <a:prstGeom prst="rect">
            <a:avLst/>
          </a:prstGeom>
        </p:spPr>
        <p:txBody>
          <a:bodyPr anchor="t" rtlCol="false" tIns="0" lIns="0" bIns="0" rIns="0">
            <a:spAutoFit/>
          </a:bodyPr>
          <a:lstStyle/>
          <a:p>
            <a:pPr algn="l">
              <a:lnSpc>
                <a:spcPts val="2520"/>
              </a:lnSpc>
            </a:pPr>
            <a:r>
              <a:rPr lang="en-US" b="true" sz="1800" spc="75">
                <a:solidFill>
                  <a:srgbClr val="5B6B8C"/>
                </a:solidFill>
                <a:latin typeface="Arial Bold"/>
                <a:ea typeface="Arial Bold"/>
                <a:cs typeface="Arial Bold"/>
                <a:sym typeface="Arial Bold"/>
              </a:rPr>
              <a:t>EMPLOYER VERIFICATION · 300 UNSEEN</a:t>
            </a:r>
          </a:p>
        </p:txBody>
      </p:sp>
      <p:sp>
        <p:nvSpPr>
          <p:cNvPr name="TextBox 28" id="28"/>
          <p:cNvSpPr txBox="true"/>
          <p:nvPr/>
        </p:nvSpPr>
        <p:spPr>
          <a:xfrm rot="0">
            <a:off x="4815783" y="2512514"/>
            <a:ext cx="1791891" cy="714375"/>
          </a:xfrm>
          <a:prstGeom prst="rect">
            <a:avLst/>
          </a:prstGeom>
        </p:spPr>
        <p:txBody>
          <a:bodyPr anchor="t" rtlCol="false" tIns="0" lIns="0" bIns="0" rIns="0">
            <a:spAutoFit/>
          </a:bodyPr>
          <a:lstStyle/>
          <a:p>
            <a:pPr algn="l">
              <a:lnSpc>
                <a:spcPts val="6000"/>
              </a:lnSpc>
            </a:pPr>
            <a:r>
              <a:rPr lang="en-US" sz="6000" b="true">
                <a:solidFill>
                  <a:srgbClr val="1A4FA0"/>
                </a:solidFill>
                <a:latin typeface="Arial Bold"/>
                <a:ea typeface="Arial Bold"/>
                <a:cs typeface="Arial Bold"/>
                <a:sym typeface="Arial Bold"/>
              </a:rPr>
              <a:t>87%</a:t>
            </a:r>
          </a:p>
        </p:txBody>
      </p:sp>
      <p:sp>
        <p:nvSpPr>
          <p:cNvPr name="TextBox 29" id="29"/>
          <p:cNvSpPr txBox="true"/>
          <p:nvPr/>
        </p:nvSpPr>
        <p:spPr>
          <a:xfrm rot="0">
            <a:off x="4815783" y="3188789"/>
            <a:ext cx="1601391" cy="398116"/>
          </a:xfrm>
          <a:prstGeom prst="rect">
            <a:avLst/>
          </a:prstGeom>
        </p:spPr>
        <p:txBody>
          <a:bodyPr anchor="t" rtlCol="false" tIns="0" lIns="0" bIns="0" rIns="0">
            <a:spAutoFit/>
          </a:bodyPr>
          <a:lstStyle/>
          <a:p>
            <a:pPr algn="l">
              <a:lnSpc>
                <a:spcPts val="2535"/>
              </a:lnSpc>
            </a:pPr>
            <a:r>
              <a:rPr lang="en-US" sz="1950">
                <a:solidFill>
                  <a:srgbClr val="2A3752"/>
                </a:solidFill>
                <a:latin typeface="Arial"/>
                <a:ea typeface="Arial"/>
                <a:cs typeface="Arial"/>
                <a:sym typeface="Arial"/>
              </a:rPr>
              <a:t>accuracy</a:t>
            </a:r>
          </a:p>
        </p:txBody>
      </p:sp>
      <p:sp>
        <p:nvSpPr>
          <p:cNvPr name="TextBox 30" id="30"/>
          <p:cNvSpPr txBox="true"/>
          <p:nvPr/>
        </p:nvSpPr>
        <p:spPr>
          <a:xfrm rot="0">
            <a:off x="6607673" y="2428723"/>
            <a:ext cx="2015433" cy="398116"/>
          </a:xfrm>
          <a:prstGeom prst="rect">
            <a:avLst/>
          </a:prstGeom>
        </p:spPr>
        <p:txBody>
          <a:bodyPr anchor="t" rtlCol="false" tIns="0" lIns="0" bIns="0" rIns="0">
            <a:spAutoFit/>
          </a:bodyPr>
          <a:lstStyle/>
          <a:p>
            <a:pPr algn="l">
              <a:lnSpc>
                <a:spcPts val="2535"/>
              </a:lnSpc>
            </a:pPr>
            <a:r>
              <a:rPr lang="en-US" sz="1950" b="true">
                <a:solidFill>
                  <a:srgbClr val="0F1F3D"/>
                </a:solidFill>
                <a:latin typeface="Arial Bold"/>
                <a:ea typeface="Arial Bold"/>
                <a:cs typeface="Arial Bold"/>
                <a:sym typeface="Arial Bold"/>
              </a:rPr>
              <a:t>Precision</a:t>
            </a:r>
            <a:r>
              <a:rPr lang="en-US" sz="1950">
                <a:solidFill>
                  <a:srgbClr val="2A3752"/>
                </a:solidFill>
                <a:latin typeface="Arial"/>
                <a:ea typeface="Arial"/>
                <a:cs typeface="Arial"/>
                <a:sym typeface="Arial"/>
              </a:rPr>
              <a:t> 84%</a:t>
            </a:r>
          </a:p>
        </p:txBody>
      </p:sp>
      <p:sp>
        <p:nvSpPr>
          <p:cNvPr name="TextBox 31" id="31"/>
          <p:cNvSpPr txBox="true"/>
          <p:nvPr/>
        </p:nvSpPr>
        <p:spPr>
          <a:xfrm rot="0">
            <a:off x="6607673" y="2788739"/>
            <a:ext cx="1755724" cy="398116"/>
          </a:xfrm>
          <a:prstGeom prst="rect">
            <a:avLst/>
          </a:prstGeom>
        </p:spPr>
        <p:txBody>
          <a:bodyPr anchor="t" rtlCol="false" tIns="0" lIns="0" bIns="0" rIns="0">
            <a:spAutoFit/>
          </a:bodyPr>
          <a:lstStyle/>
          <a:p>
            <a:pPr algn="l">
              <a:lnSpc>
                <a:spcPts val="2535"/>
              </a:lnSpc>
            </a:pPr>
            <a:r>
              <a:rPr lang="en-US" sz="1950" b="true">
                <a:solidFill>
                  <a:srgbClr val="0F1F3D"/>
                </a:solidFill>
                <a:latin typeface="Arial Bold"/>
                <a:ea typeface="Arial Bold"/>
                <a:cs typeface="Arial Bold"/>
                <a:sym typeface="Arial Bold"/>
              </a:rPr>
              <a:t>Recall</a:t>
            </a:r>
            <a:r>
              <a:rPr lang="en-US" sz="1950">
                <a:solidFill>
                  <a:srgbClr val="2A3752"/>
                </a:solidFill>
                <a:latin typeface="Arial"/>
                <a:ea typeface="Arial"/>
                <a:cs typeface="Arial"/>
                <a:sym typeface="Arial"/>
              </a:rPr>
              <a:t> 78%</a:t>
            </a:r>
          </a:p>
        </p:txBody>
      </p:sp>
      <p:sp>
        <p:nvSpPr>
          <p:cNvPr name="TextBox 32" id="32"/>
          <p:cNvSpPr txBox="true"/>
          <p:nvPr/>
        </p:nvSpPr>
        <p:spPr>
          <a:xfrm rot="0">
            <a:off x="6607673" y="3148755"/>
            <a:ext cx="1755724" cy="398116"/>
          </a:xfrm>
          <a:prstGeom prst="rect">
            <a:avLst/>
          </a:prstGeom>
        </p:spPr>
        <p:txBody>
          <a:bodyPr anchor="t" rtlCol="false" tIns="0" lIns="0" bIns="0" rIns="0">
            <a:spAutoFit/>
          </a:bodyPr>
          <a:lstStyle/>
          <a:p>
            <a:pPr algn="l">
              <a:lnSpc>
                <a:spcPts val="2535"/>
              </a:lnSpc>
            </a:pPr>
            <a:r>
              <a:rPr lang="en-US" sz="1950" b="true">
                <a:solidFill>
                  <a:srgbClr val="0F1F3D"/>
                </a:solidFill>
                <a:latin typeface="Arial Bold"/>
                <a:ea typeface="Arial Bold"/>
                <a:cs typeface="Arial Bold"/>
                <a:sym typeface="Arial Bold"/>
              </a:rPr>
              <a:t>F1</a:t>
            </a:r>
            <a:r>
              <a:rPr lang="en-US" sz="1950">
                <a:solidFill>
                  <a:srgbClr val="2A3752"/>
                </a:solidFill>
                <a:latin typeface="Arial"/>
                <a:ea typeface="Arial"/>
                <a:cs typeface="Arial"/>
                <a:sym typeface="Arial"/>
              </a:rPr>
              <a:t> 0.81</a:t>
            </a:r>
          </a:p>
        </p:txBody>
      </p:sp>
      <p:sp>
        <p:nvSpPr>
          <p:cNvPr name="TextBox 33" id="33"/>
          <p:cNvSpPr txBox="true"/>
          <p:nvPr/>
        </p:nvSpPr>
        <p:spPr>
          <a:xfrm rot="0">
            <a:off x="4734820" y="3567855"/>
            <a:ext cx="4973841" cy="327660"/>
          </a:xfrm>
          <a:prstGeom prst="rect">
            <a:avLst/>
          </a:prstGeom>
        </p:spPr>
        <p:txBody>
          <a:bodyPr anchor="t" rtlCol="false" tIns="0" lIns="0" bIns="0" rIns="0">
            <a:spAutoFit/>
          </a:bodyPr>
          <a:lstStyle/>
          <a:p>
            <a:pPr algn="l">
              <a:lnSpc>
                <a:spcPts val="2535"/>
              </a:lnSpc>
            </a:pPr>
            <a:r>
              <a:rPr lang="en-US" sz="1950" b="true">
                <a:solidFill>
                  <a:srgbClr val="1A4FA0"/>
                </a:solidFill>
                <a:latin typeface="Arial Bold"/>
                <a:ea typeface="Arial Bold"/>
                <a:cs typeface="Arial Bold"/>
                <a:sym typeface="Arial Bold"/>
              </a:rPr>
              <a:t>0 of 105 scams marked as safe on testing</a:t>
            </a:r>
          </a:p>
        </p:txBody>
      </p:sp>
      <p:sp>
        <p:nvSpPr>
          <p:cNvPr name="TextBox 34" id="34"/>
          <p:cNvSpPr txBox="true"/>
          <p:nvPr/>
        </p:nvSpPr>
        <p:spPr>
          <a:xfrm rot="0">
            <a:off x="10284914" y="1992516"/>
            <a:ext cx="3187151" cy="325755"/>
          </a:xfrm>
          <a:prstGeom prst="rect">
            <a:avLst/>
          </a:prstGeom>
        </p:spPr>
        <p:txBody>
          <a:bodyPr anchor="t" rtlCol="false" tIns="0" lIns="0" bIns="0" rIns="0">
            <a:spAutoFit/>
          </a:bodyPr>
          <a:lstStyle/>
          <a:p>
            <a:pPr algn="l">
              <a:lnSpc>
                <a:spcPts val="2520"/>
              </a:lnSpc>
            </a:pPr>
            <a:r>
              <a:rPr lang="en-US" b="true" sz="1800" spc="75">
                <a:solidFill>
                  <a:srgbClr val="5B6B8C"/>
                </a:solidFill>
                <a:latin typeface="Arial Bold"/>
                <a:ea typeface="Arial Bold"/>
                <a:cs typeface="Arial Bold"/>
                <a:sym typeface="Arial Bold"/>
              </a:rPr>
              <a:t>SCAM CONVERSATIONS</a:t>
            </a:r>
          </a:p>
        </p:txBody>
      </p:sp>
      <p:sp>
        <p:nvSpPr>
          <p:cNvPr name="TextBox 35" id="35"/>
          <p:cNvSpPr txBox="true"/>
          <p:nvPr/>
        </p:nvSpPr>
        <p:spPr>
          <a:xfrm rot="0">
            <a:off x="14662699" y="1992516"/>
            <a:ext cx="3027693" cy="735216"/>
          </a:xfrm>
          <a:prstGeom prst="rect">
            <a:avLst/>
          </a:prstGeom>
        </p:spPr>
        <p:txBody>
          <a:bodyPr anchor="t" rtlCol="false" tIns="0" lIns="0" bIns="0" rIns="0">
            <a:spAutoFit/>
          </a:bodyPr>
          <a:lstStyle/>
          <a:p>
            <a:pPr algn="l">
              <a:lnSpc>
                <a:spcPts val="2520"/>
              </a:lnSpc>
            </a:pPr>
            <a:r>
              <a:rPr lang="en-US" b="true" sz="1800" spc="75">
                <a:solidFill>
                  <a:srgbClr val="5B6B8C"/>
                </a:solidFill>
                <a:latin typeface="Arial Bold"/>
                <a:ea typeface="Arial Bold"/>
                <a:cs typeface="Arial Bold"/>
                <a:sym typeface="Arial Bold"/>
              </a:rPr>
              <a:t>FRAUD-AWARE RANKING</a:t>
            </a:r>
          </a:p>
        </p:txBody>
      </p:sp>
      <p:sp>
        <p:nvSpPr>
          <p:cNvPr name="TextBox 36" id="36"/>
          <p:cNvSpPr txBox="true"/>
          <p:nvPr/>
        </p:nvSpPr>
        <p:spPr>
          <a:xfrm rot="0">
            <a:off x="1200150" y="4962315"/>
            <a:ext cx="4512945" cy="468516"/>
          </a:xfrm>
          <a:prstGeom prst="rect">
            <a:avLst/>
          </a:prstGeom>
        </p:spPr>
        <p:txBody>
          <a:bodyPr anchor="t" rtlCol="false" tIns="0" lIns="0" bIns="0" rIns="0">
            <a:spAutoFit/>
          </a:bodyPr>
          <a:lstStyle/>
          <a:p>
            <a:pPr algn="l">
              <a:lnSpc>
                <a:spcPts val="3240"/>
              </a:lnSpc>
            </a:pPr>
            <a:r>
              <a:rPr lang="en-US" sz="2700" b="true">
                <a:solidFill>
                  <a:srgbClr val="14213D"/>
                </a:solidFill>
                <a:latin typeface="Arial Bold"/>
                <a:ea typeface="Arial Bold"/>
                <a:cs typeface="Arial Bold"/>
                <a:sym typeface="Arial Bold"/>
              </a:rPr>
              <a:t>User evidence</a:t>
            </a:r>
          </a:p>
        </p:txBody>
      </p:sp>
      <p:sp>
        <p:nvSpPr>
          <p:cNvPr name="TextBox 37" id="37"/>
          <p:cNvSpPr txBox="true"/>
          <p:nvPr/>
        </p:nvSpPr>
        <p:spPr>
          <a:xfrm rot="0">
            <a:off x="6353175" y="4971840"/>
            <a:ext cx="5121212" cy="468516"/>
          </a:xfrm>
          <a:prstGeom prst="rect">
            <a:avLst/>
          </a:prstGeom>
        </p:spPr>
        <p:txBody>
          <a:bodyPr anchor="t" rtlCol="false" tIns="0" lIns="0" bIns="0" rIns="0">
            <a:spAutoFit/>
          </a:bodyPr>
          <a:lstStyle/>
          <a:p>
            <a:pPr algn="l">
              <a:lnSpc>
                <a:spcPts val="3240"/>
              </a:lnSpc>
            </a:pPr>
            <a:r>
              <a:rPr lang="en-US" sz="2700" b="true">
                <a:solidFill>
                  <a:srgbClr val="0F1F3D"/>
                </a:solidFill>
                <a:latin typeface="Arial Bold"/>
                <a:ea typeface="Arial Bold"/>
                <a:cs typeface="Arial Bold"/>
                <a:sym typeface="Arial Bold"/>
              </a:rPr>
              <a:t>Limitations</a:t>
            </a:r>
          </a:p>
        </p:txBody>
      </p:sp>
      <p:sp>
        <p:nvSpPr>
          <p:cNvPr name="TextBox 38" id="38"/>
          <p:cNvSpPr txBox="true"/>
          <p:nvPr/>
        </p:nvSpPr>
        <p:spPr>
          <a:xfrm rot="0">
            <a:off x="12106275" y="4971840"/>
            <a:ext cx="5121212" cy="468516"/>
          </a:xfrm>
          <a:prstGeom prst="rect">
            <a:avLst/>
          </a:prstGeom>
        </p:spPr>
        <p:txBody>
          <a:bodyPr anchor="t" rtlCol="false" tIns="0" lIns="0" bIns="0" rIns="0">
            <a:spAutoFit/>
          </a:bodyPr>
          <a:lstStyle/>
          <a:p>
            <a:pPr algn="l">
              <a:lnSpc>
                <a:spcPts val="3240"/>
              </a:lnSpc>
            </a:pPr>
            <a:r>
              <a:rPr lang="en-US" sz="2700" b="true">
                <a:solidFill>
                  <a:srgbClr val="1A4FA0"/>
                </a:solidFill>
                <a:latin typeface="Arial Bold"/>
                <a:ea typeface="Arial Bold"/>
                <a:cs typeface="Arial Bold"/>
                <a:sym typeface="Arial Bold"/>
              </a:rPr>
              <a:t>Next steps</a:t>
            </a:r>
          </a:p>
        </p:txBody>
      </p:sp>
      <p:sp>
        <p:nvSpPr>
          <p:cNvPr name="TextBox 39" id="39"/>
          <p:cNvSpPr txBox="true"/>
          <p:nvPr/>
        </p:nvSpPr>
        <p:spPr>
          <a:xfrm rot="0">
            <a:off x="12174162" y="5621331"/>
            <a:ext cx="4962716" cy="1402717"/>
          </a:xfrm>
          <a:prstGeom prst="rect">
            <a:avLst/>
          </a:prstGeom>
        </p:spPr>
        <p:txBody>
          <a:bodyPr anchor="t" rtlCol="false" tIns="0" lIns="0" bIns="0" rIns="0">
            <a:spAutoFit/>
          </a:bodyPr>
          <a:lstStyle/>
          <a:p>
            <a:pPr algn="l" marL="425289" indent="-212645" lvl="1">
              <a:lnSpc>
                <a:spcPts val="5874"/>
              </a:lnSpc>
              <a:buFont typeface="Arial"/>
              <a:buChar char="•"/>
            </a:pPr>
            <a:r>
              <a:rPr lang="en-US" sz="2349">
                <a:solidFill>
                  <a:srgbClr val="2A3752"/>
                </a:solidFill>
                <a:latin typeface="Arial"/>
                <a:ea typeface="Arial"/>
                <a:cs typeface="Arial"/>
                <a:sym typeface="Arial"/>
              </a:rPr>
              <a:t>Run a larger user study.</a:t>
            </a:r>
          </a:p>
          <a:p>
            <a:pPr algn="l" marL="425289" indent="-212645" lvl="1">
              <a:lnSpc>
                <a:spcPts val="5874"/>
              </a:lnSpc>
              <a:buFont typeface="Arial"/>
              <a:buChar char="•"/>
            </a:pPr>
            <a:r>
              <a:rPr lang="en-US" sz="2349">
                <a:solidFill>
                  <a:srgbClr val="2A3752"/>
                </a:solidFill>
                <a:latin typeface="Arial"/>
                <a:ea typeface="Arial"/>
                <a:cs typeface="Arial"/>
                <a:sym typeface="Arial"/>
              </a:rPr>
              <a:t>Publish to the Sri Lanka industry</a:t>
            </a:r>
          </a:p>
        </p:txBody>
      </p:sp>
      <p:sp>
        <p:nvSpPr>
          <p:cNvPr name="TextBox 40" id="40"/>
          <p:cNvSpPr txBox="true"/>
          <p:nvPr/>
        </p:nvSpPr>
        <p:spPr>
          <a:xfrm rot="0">
            <a:off x="12252388" y="7357423"/>
            <a:ext cx="5121212" cy="325755"/>
          </a:xfrm>
          <a:prstGeom prst="rect">
            <a:avLst/>
          </a:prstGeom>
        </p:spPr>
        <p:txBody>
          <a:bodyPr anchor="t" rtlCol="false" tIns="0" lIns="0" bIns="0" rIns="0">
            <a:spAutoFit/>
          </a:bodyPr>
          <a:lstStyle/>
          <a:p>
            <a:pPr algn="l">
              <a:lnSpc>
                <a:spcPts val="2520"/>
              </a:lnSpc>
            </a:pPr>
            <a:r>
              <a:rPr lang="en-US" sz="1800">
                <a:solidFill>
                  <a:srgbClr val="5B6B8C"/>
                </a:solidFill>
                <a:latin typeface="Arial"/>
                <a:ea typeface="Arial"/>
                <a:cs typeface="Arial"/>
                <a:sym typeface="Arial"/>
              </a:rPr>
              <a:t>Results are for Sri Lankan jobs only.</a:t>
            </a:r>
          </a:p>
        </p:txBody>
      </p:sp>
      <p:sp>
        <p:nvSpPr>
          <p:cNvPr name="TextBox 41" id="41"/>
          <p:cNvSpPr txBox="true"/>
          <p:nvPr/>
        </p:nvSpPr>
        <p:spPr>
          <a:xfrm rot="0">
            <a:off x="10303964" y="2548680"/>
            <a:ext cx="1525191" cy="828675"/>
          </a:xfrm>
          <a:prstGeom prst="rect">
            <a:avLst/>
          </a:prstGeom>
        </p:spPr>
        <p:txBody>
          <a:bodyPr anchor="t" rtlCol="false" tIns="0" lIns="0" bIns="0" rIns="0">
            <a:spAutoFit/>
          </a:bodyPr>
          <a:lstStyle/>
          <a:p>
            <a:pPr algn="l">
              <a:lnSpc>
                <a:spcPts val="6000"/>
              </a:lnSpc>
            </a:pPr>
            <a:r>
              <a:rPr lang="en-US" sz="6000" b="true">
                <a:solidFill>
                  <a:srgbClr val="1A4FA0"/>
                </a:solidFill>
                <a:latin typeface="Arial Bold"/>
                <a:ea typeface="Arial Bold"/>
                <a:cs typeface="Arial Bold"/>
                <a:sym typeface="Arial Bold"/>
              </a:rPr>
              <a:t>81%</a:t>
            </a:r>
          </a:p>
        </p:txBody>
      </p:sp>
      <p:sp>
        <p:nvSpPr>
          <p:cNvPr name="TextBox 42" id="42"/>
          <p:cNvSpPr txBox="true"/>
          <p:nvPr/>
        </p:nvSpPr>
        <p:spPr>
          <a:xfrm rot="0">
            <a:off x="10359414" y="3177330"/>
            <a:ext cx="1601391" cy="327660"/>
          </a:xfrm>
          <a:prstGeom prst="rect">
            <a:avLst/>
          </a:prstGeom>
        </p:spPr>
        <p:txBody>
          <a:bodyPr anchor="t" rtlCol="false" tIns="0" lIns="0" bIns="0" rIns="0">
            <a:spAutoFit/>
          </a:bodyPr>
          <a:lstStyle/>
          <a:p>
            <a:pPr algn="l">
              <a:lnSpc>
                <a:spcPts val="2535"/>
              </a:lnSpc>
            </a:pPr>
            <a:r>
              <a:rPr lang="en-US" sz="1950">
                <a:solidFill>
                  <a:srgbClr val="2A3752"/>
                </a:solidFill>
                <a:latin typeface="Arial"/>
                <a:ea typeface="Arial"/>
                <a:cs typeface="Arial"/>
                <a:sym typeface="Arial"/>
              </a:rPr>
              <a:t>accuracy</a:t>
            </a:r>
          </a:p>
        </p:txBody>
      </p:sp>
      <p:sp>
        <p:nvSpPr>
          <p:cNvPr name="TextBox 43" id="43"/>
          <p:cNvSpPr txBox="true"/>
          <p:nvPr/>
        </p:nvSpPr>
        <p:spPr>
          <a:xfrm rot="0">
            <a:off x="12019655" y="2466827"/>
            <a:ext cx="2015433" cy="327660"/>
          </a:xfrm>
          <a:prstGeom prst="rect">
            <a:avLst/>
          </a:prstGeom>
        </p:spPr>
        <p:txBody>
          <a:bodyPr anchor="t" rtlCol="false" tIns="0" lIns="0" bIns="0" rIns="0">
            <a:spAutoFit/>
          </a:bodyPr>
          <a:lstStyle/>
          <a:p>
            <a:pPr algn="l">
              <a:lnSpc>
                <a:spcPts val="2535"/>
              </a:lnSpc>
            </a:pPr>
            <a:r>
              <a:rPr lang="en-US" sz="1950" b="true">
                <a:solidFill>
                  <a:srgbClr val="0F1F3D"/>
                </a:solidFill>
                <a:latin typeface="Arial Bold"/>
                <a:ea typeface="Arial Bold"/>
                <a:cs typeface="Arial Bold"/>
                <a:sym typeface="Arial Bold"/>
              </a:rPr>
              <a:t>S</a:t>
            </a:r>
            <a:r>
              <a:rPr lang="en-US" sz="1950" b="true">
                <a:solidFill>
                  <a:srgbClr val="0F1F3D"/>
                </a:solidFill>
                <a:latin typeface="Arial Bold"/>
                <a:ea typeface="Arial Bold"/>
                <a:cs typeface="Arial Bold"/>
                <a:sym typeface="Arial Bold"/>
              </a:rPr>
              <a:t>cam F1 </a:t>
            </a:r>
            <a:r>
              <a:rPr lang="en-US" sz="1950">
                <a:solidFill>
                  <a:srgbClr val="0F1F3D"/>
                </a:solidFill>
                <a:latin typeface="Arial"/>
                <a:ea typeface="Arial"/>
                <a:cs typeface="Arial"/>
                <a:sym typeface="Arial"/>
              </a:rPr>
              <a:t>0.86%</a:t>
            </a:r>
          </a:p>
        </p:txBody>
      </p:sp>
      <p:sp>
        <p:nvSpPr>
          <p:cNvPr name="TextBox 44" id="44"/>
          <p:cNvSpPr txBox="true"/>
          <p:nvPr/>
        </p:nvSpPr>
        <p:spPr>
          <a:xfrm rot="0">
            <a:off x="12019655" y="2805894"/>
            <a:ext cx="2015433" cy="327660"/>
          </a:xfrm>
          <a:prstGeom prst="rect">
            <a:avLst/>
          </a:prstGeom>
        </p:spPr>
        <p:txBody>
          <a:bodyPr anchor="t" rtlCol="false" tIns="0" lIns="0" bIns="0" rIns="0">
            <a:spAutoFit/>
          </a:bodyPr>
          <a:lstStyle/>
          <a:p>
            <a:pPr algn="l">
              <a:lnSpc>
                <a:spcPts val="2535"/>
              </a:lnSpc>
            </a:pPr>
            <a:r>
              <a:rPr lang="en-US" sz="1950" b="true">
                <a:solidFill>
                  <a:srgbClr val="0F1F3D"/>
                </a:solidFill>
                <a:latin typeface="Arial Bold"/>
                <a:ea typeface="Arial Bold"/>
                <a:cs typeface="Arial Bold"/>
                <a:sym typeface="Arial Bold"/>
              </a:rPr>
              <a:t>Re</a:t>
            </a:r>
            <a:r>
              <a:rPr lang="en-US" sz="1950" b="true">
                <a:solidFill>
                  <a:srgbClr val="0F1F3D"/>
                </a:solidFill>
                <a:latin typeface="Arial Bold"/>
                <a:ea typeface="Arial Bold"/>
                <a:cs typeface="Arial Bold"/>
                <a:sym typeface="Arial Bold"/>
              </a:rPr>
              <a:t>call  </a:t>
            </a:r>
            <a:r>
              <a:rPr lang="en-US" sz="1950">
                <a:solidFill>
                  <a:srgbClr val="0F1F3D"/>
                </a:solidFill>
                <a:latin typeface="Arial"/>
                <a:ea typeface="Arial"/>
                <a:cs typeface="Arial"/>
                <a:sym typeface="Arial"/>
              </a:rPr>
              <a:t>0.86%</a:t>
            </a:r>
          </a:p>
        </p:txBody>
      </p:sp>
      <p:sp>
        <p:nvSpPr>
          <p:cNvPr name="TextBox 45" id="45"/>
          <p:cNvSpPr txBox="true"/>
          <p:nvPr/>
        </p:nvSpPr>
        <p:spPr>
          <a:xfrm rot="0">
            <a:off x="12019655" y="3144960"/>
            <a:ext cx="2015433" cy="327660"/>
          </a:xfrm>
          <a:prstGeom prst="rect">
            <a:avLst/>
          </a:prstGeom>
        </p:spPr>
        <p:txBody>
          <a:bodyPr anchor="t" rtlCol="false" tIns="0" lIns="0" bIns="0" rIns="0">
            <a:spAutoFit/>
          </a:bodyPr>
          <a:lstStyle/>
          <a:p>
            <a:pPr algn="l">
              <a:lnSpc>
                <a:spcPts val="2535"/>
              </a:lnSpc>
            </a:pPr>
            <a:r>
              <a:rPr lang="en-US" sz="1950" b="true">
                <a:solidFill>
                  <a:srgbClr val="0F1F3D"/>
                </a:solidFill>
                <a:latin typeface="Arial Bold"/>
                <a:ea typeface="Arial Bold"/>
                <a:cs typeface="Arial Bold"/>
                <a:sym typeface="Arial Bold"/>
              </a:rPr>
              <a:t>T</a:t>
            </a:r>
            <a:r>
              <a:rPr lang="en-US" sz="1950" b="true">
                <a:solidFill>
                  <a:srgbClr val="0F1F3D"/>
                </a:solidFill>
                <a:latin typeface="Arial Bold"/>
                <a:ea typeface="Arial Bold"/>
                <a:cs typeface="Arial Bold"/>
                <a:sym typeface="Arial Bold"/>
              </a:rPr>
              <a:t>actic F1 </a:t>
            </a:r>
            <a:r>
              <a:rPr lang="en-US" sz="1950">
                <a:solidFill>
                  <a:srgbClr val="0F1F3D"/>
                </a:solidFill>
                <a:latin typeface="Arial"/>
                <a:ea typeface="Arial"/>
                <a:cs typeface="Arial"/>
                <a:sym typeface="Arial"/>
              </a:rPr>
              <a:t>0.83</a:t>
            </a:r>
          </a:p>
        </p:txBody>
      </p:sp>
      <p:sp>
        <p:nvSpPr>
          <p:cNvPr name="TextBox 46" id="46"/>
          <p:cNvSpPr txBox="true"/>
          <p:nvPr/>
        </p:nvSpPr>
        <p:spPr>
          <a:xfrm rot="0">
            <a:off x="10303964" y="3558330"/>
            <a:ext cx="5162293" cy="956310"/>
          </a:xfrm>
          <a:prstGeom prst="rect">
            <a:avLst/>
          </a:prstGeom>
        </p:spPr>
        <p:txBody>
          <a:bodyPr anchor="t" rtlCol="false" tIns="0" lIns="0" bIns="0" rIns="0">
            <a:spAutoFit/>
          </a:bodyPr>
          <a:lstStyle/>
          <a:p>
            <a:pPr algn="l">
              <a:lnSpc>
                <a:spcPts val="2535"/>
              </a:lnSpc>
            </a:pPr>
            <a:r>
              <a:rPr lang="en-US" sz="1950" b="true">
                <a:solidFill>
                  <a:srgbClr val="1A4FA0"/>
                </a:solidFill>
                <a:latin typeface="Arial Bold"/>
                <a:ea typeface="Arial Bold"/>
                <a:cs typeface="Arial Bold"/>
                <a:sym typeface="Arial Bold"/>
              </a:rPr>
              <a:t>9</a:t>
            </a:r>
            <a:r>
              <a:rPr lang="en-US" sz="1950" b="true">
                <a:solidFill>
                  <a:srgbClr val="1A4FA0"/>
                </a:solidFill>
                <a:latin typeface="Arial Bold"/>
                <a:ea typeface="Arial Bold"/>
                <a:cs typeface="Arial Bold"/>
                <a:sym typeface="Arial Bold"/>
              </a:rPr>
              <a:t>0.8% of external scams caught</a:t>
            </a:r>
          </a:p>
          <a:p>
            <a:pPr algn="l">
              <a:lnSpc>
                <a:spcPts val="2535"/>
              </a:lnSpc>
            </a:pPr>
          </a:p>
          <a:p>
            <a:pPr algn="l">
              <a:lnSpc>
                <a:spcPts val="2535"/>
              </a:lnSpc>
            </a:pPr>
          </a:p>
        </p:txBody>
      </p:sp>
      <p:sp>
        <p:nvSpPr>
          <p:cNvPr name="TextBox 47" id="47"/>
          <p:cNvSpPr txBox="true"/>
          <p:nvPr/>
        </p:nvSpPr>
        <p:spPr>
          <a:xfrm rot="0">
            <a:off x="1130253" y="5383206"/>
            <a:ext cx="4521294" cy="2533015"/>
          </a:xfrm>
          <a:prstGeom prst="rect">
            <a:avLst/>
          </a:prstGeom>
        </p:spPr>
        <p:txBody>
          <a:bodyPr anchor="t" rtlCol="false" tIns="0" lIns="0" bIns="0" rIns="0">
            <a:spAutoFit/>
          </a:bodyPr>
          <a:lstStyle/>
          <a:p>
            <a:pPr algn="l" marL="389095" indent="-194548" lvl="1">
              <a:lnSpc>
                <a:spcPts val="4084"/>
              </a:lnSpc>
              <a:buFont typeface="Arial"/>
              <a:buChar char="•"/>
            </a:pPr>
            <a:r>
              <a:rPr lang="en-US" sz="2149">
                <a:solidFill>
                  <a:srgbClr val="2A3752"/>
                </a:solidFill>
                <a:latin typeface="Arial"/>
                <a:ea typeface="Arial"/>
                <a:cs typeface="Arial"/>
                <a:sym typeface="Arial"/>
              </a:rPr>
              <a:t>Tested with real recruiters and job seekers and got their feedback</a:t>
            </a:r>
          </a:p>
          <a:p>
            <a:pPr algn="l" marL="389095" indent="-194548" lvl="1">
              <a:lnSpc>
                <a:spcPts val="4084"/>
              </a:lnSpc>
              <a:buFont typeface="Arial"/>
              <a:buChar char="•"/>
            </a:pPr>
            <a:r>
              <a:rPr lang="en-US" sz="2149">
                <a:solidFill>
                  <a:srgbClr val="2A3752"/>
                </a:solidFill>
                <a:latin typeface="Arial"/>
                <a:ea typeface="Arial"/>
                <a:cs typeface="Arial"/>
                <a:sym typeface="Arial"/>
              </a:rPr>
              <a:t>Tested and validated with industry connecting person at the university</a:t>
            </a:r>
          </a:p>
        </p:txBody>
      </p:sp>
      <p:sp>
        <p:nvSpPr>
          <p:cNvPr name="TextBox 48" id="48"/>
          <p:cNvSpPr txBox="true"/>
          <p:nvPr/>
        </p:nvSpPr>
        <p:spPr>
          <a:xfrm rot="0">
            <a:off x="8553112" y="9950995"/>
            <a:ext cx="1770190" cy="327728"/>
          </a:xfrm>
          <a:prstGeom prst="rect">
            <a:avLst/>
          </a:prstGeom>
        </p:spPr>
        <p:txBody>
          <a:bodyPr anchor="t" rtlCol="false" tIns="0" lIns="0" bIns="0" rIns="0">
            <a:spAutoFit/>
          </a:bodyPr>
          <a:lstStyle/>
          <a:p>
            <a:pPr algn="l">
              <a:lnSpc>
                <a:spcPts val="2607"/>
              </a:lnSpc>
            </a:pPr>
            <a:r>
              <a:rPr lang="en-US" sz="2173" b="true">
                <a:solidFill>
                  <a:srgbClr val="002060"/>
                </a:solidFill>
                <a:latin typeface="Aptos Bold"/>
                <a:ea typeface="Aptos Bold"/>
                <a:cs typeface="Aptos Bold"/>
                <a:sym typeface="Aptos Bold"/>
              </a:rPr>
              <a:t>R26-SE-002</a:t>
            </a:r>
          </a:p>
        </p:txBody>
      </p:sp>
      <p:sp>
        <p:nvSpPr>
          <p:cNvPr name="TextBox 49" id="49"/>
          <p:cNvSpPr txBox="true"/>
          <p:nvPr/>
        </p:nvSpPr>
        <p:spPr>
          <a:xfrm rot="0">
            <a:off x="14703662" y="2718197"/>
            <a:ext cx="2584490" cy="828675"/>
          </a:xfrm>
          <a:prstGeom prst="rect">
            <a:avLst/>
          </a:prstGeom>
        </p:spPr>
        <p:txBody>
          <a:bodyPr anchor="t" rtlCol="false" tIns="0" lIns="0" bIns="0" rIns="0">
            <a:spAutoFit/>
          </a:bodyPr>
          <a:lstStyle/>
          <a:p>
            <a:pPr algn="l">
              <a:lnSpc>
                <a:spcPts val="6000"/>
              </a:lnSpc>
            </a:pPr>
            <a:r>
              <a:rPr lang="en-US" sz="6000" b="true">
                <a:solidFill>
                  <a:srgbClr val="1A4FA0"/>
                </a:solidFill>
                <a:latin typeface="Arial Bold"/>
                <a:ea typeface="Arial Bold"/>
                <a:cs typeface="Arial Bold"/>
                <a:sym typeface="Arial Bold"/>
              </a:rPr>
              <a:t>10.52%</a:t>
            </a:r>
          </a:p>
        </p:txBody>
      </p:sp>
      <p:sp>
        <p:nvSpPr>
          <p:cNvPr name="TextBox 50" id="50"/>
          <p:cNvSpPr txBox="true"/>
          <p:nvPr/>
        </p:nvSpPr>
        <p:spPr>
          <a:xfrm rot="0">
            <a:off x="14812994" y="3508772"/>
            <a:ext cx="3419465" cy="956310"/>
          </a:xfrm>
          <a:prstGeom prst="rect">
            <a:avLst/>
          </a:prstGeom>
        </p:spPr>
        <p:txBody>
          <a:bodyPr anchor="t" rtlCol="false" tIns="0" lIns="0" bIns="0" rIns="0">
            <a:spAutoFit/>
          </a:bodyPr>
          <a:lstStyle/>
          <a:p>
            <a:pPr algn="l">
              <a:lnSpc>
                <a:spcPts val="2535"/>
              </a:lnSpc>
            </a:pPr>
            <a:r>
              <a:rPr lang="en-US" sz="1950" b="true">
                <a:solidFill>
                  <a:srgbClr val="1A4FA0"/>
                </a:solidFill>
                <a:latin typeface="Arial Bold"/>
                <a:ea typeface="Arial Bold"/>
                <a:cs typeface="Arial Bold"/>
                <a:sym typeface="Arial Bold"/>
              </a:rPr>
              <a:t>reduction</a:t>
            </a:r>
            <a:r>
              <a:rPr lang="en-US" sz="1950" b="true">
                <a:solidFill>
                  <a:srgbClr val="1A4FA0"/>
                </a:solidFill>
                <a:latin typeface="Arial Bold"/>
                <a:ea typeface="Arial Bold"/>
                <a:cs typeface="Arial Bold"/>
                <a:sym typeface="Arial Bold"/>
              </a:rPr>
              <a:t> in average risk</a:t>
            </a:r>
          </a:p>
          <a:p>
            <a:pPr algn="l">
              <a:lnSpc>
                <a:spcPts val="2535"/>
              </a:lnSpc>
            </a:pPr>
          </a:p>
          <a:p>
            <a:pPr algn="l">
              <a:lnSpc>
                <a:spcPts val="2535"/>
              </a:lnSpc>
            </a:pPr>
          </a:p>
        </p:txBody>
      </p:sp>
      <p:sp>
        <p:nvSpPr>
          <p:cNvPr name="TextBox 51" id="51"/>
          <p:cNvSpPr txBox="true"/>
          <p:nvPr/>
        </p:nvSpPr>
        <p:spPr>
          <a:xfrm rot="0">
            <a:off x="6256605" y="5440356"/>
            <a:ext cx="5217782" cy="2533015"/>
          </a:xfrm>
          <a:prstGeom prst="rect">
            <a:avLst/>
          </a:prstGeom>
        </p:spPr>
        <p:txBody>
          <a:bodyPr anchor="t" rtlCol="false" tIns="0" lIns="0" bIns="0" rIns="0">
            <a:spAutoFit/>
          </a:bodyPr>
          <a:lstStyle/>
          <a:p>
            <a:pPr algn="l" marL="389095" indent="-194548" lvl="1">
              <a:lnSpc>
                <a:spcPts val="4084"/>
              </a:lnSpc>
              <a:spcBef>
                <a:spcPct val="0"/>
              </a:spcBef>
              <a:buFont typeface="Arial"/>
              <a:buChar char="•"/>
            </a:pPr>
            <a:r>
              <a:rPr lang="en-US" sz="2149" strike="noStrike" u="none">
                <a:solidFill>
                  <a:srgbClr val="2A3752"/>
                </a:solidFill>
                <a:latin typeface="Arial"/>
                <a:ea typeface="Arial"/>
                <a:cs typeface="Arial"/>
                <a:sym typeface="Arial"/>
              </a:rPr>
              <a:t>Develop the application into a professional social networking platform similar to LinkedIn</a:t>
            </a:r>
          </a:p>
          <a:p>
            <a:pPr algn="l" marL="389095" indent="-194548" lvl="1">
              <a:lnSpc>
                <a:spcPts val="4084"/>
              </a:lnSpc>
              <a:spcBef>
                <a:spcPct val="0"/>
              </a:spcBef>
              <a:buFont typeface="Arial"/>
              <a:buChar char="•"/>
            </a:pPr>
            <a:r>
              <a:rPr lang="en-US" sz="2149" strike="noStrike" u="none">
                <a:solidFill>
                  <a:srgbClr val="2A3752"/>
                </a:solidFill>
                <a:latin typeface="Arial"/>
                <a:ea typeface="Arial"/>
                <a:cs typeface="Arial"/>
                <a:sym typeface="Arial"/>
              </a:rPr>
              <a:t>Integrate AI agents to automate processes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04961" y="1999250"/>
            <a:ext cx="8381839" cy="3548963"/>
            <a:chOff x="0" y="0"/>
            <a:chExt cx="2207563" cy="934706"/>
          </a:xfrm>
        </p:grpSpPr>
        <p:sp>
          <p:nvSpPr>
            <p:cNvPr name="Freeform 3" id="3"/>
            <p:cNvSpPr/>
            <p:nvPr/>
          </p:nvSpPr>
          <p:spPr>
            <a:xfrm flipH="false" flipV="false" rot="0">
              <a:off x="0" y="0"/>
              <a:ext cx="2207563" cy="934706"/>
            </a:xfrm>
            <a:custGeom>
              <a:avLst/>
              <a:gdLst/>
              <a:ahLst/>
              <a:cxnLst/>
              <a:rect r="r" b="b" t="t" l="l"/>
              <a:pathLst>
                <a:path h="934706" w="2207563">
                  <a:moveTo>
                    <a:pt x="13855" y="0"/>
                  </a:moveTo>
                  <a:lnTo>
                    <a:pt x="2193708" y="0"/>
                  </a:lnTo>
                  <a:cubicBezTo>
                    <a:pt x="2201360" y="0"/>
                    <a:pt x="2207563" y="6203"/>
                    <a:pt x="2207563" y="13855"/>
                  </a:cubicBezTo>
                  <a:lnTo>
                    <a:pt x="2207563" y="920851"/>
                  </a:lnTo>
                  <a:cubicBezTo>
                    <a:pt x="2207563" y="928503"/>
                    <a:pt x="2201360" y="934706"/>
                    <a:pt x="2193708" y="934706"/>
                  </a:cubicBezTo>
                  <a:lnTo>
                    <a:pt x="13855" y="934706"/>
                  </a:lnTo>
                  <a:cubicBezTo>
                    <a:pt x="6203" y="934706"/>
                    <a:pt x="0" y="928503"/>
                    <a:pt x="0" y="920851"/>
                  </a:cubicBezTo>
                  <a:lnTo>
                    <a:pt x="0" y="13855"/>
                  </a:lnTo>
                  <a:cubicBezTo>
                    <a:pt x="0" y="6203"/>
                    <a:pt x="6203" y="0"/>
                    <a:pt x="13855" y="0"/>
                  </a:cubicBezTo>
                  <a:close/>
                </a:path>
              </a:pathLst>
            </a:custGeom>
            <a:solidFill>
              <a:srgbClr val="00B7FF"/>
            </a:solidFill>
          </p:spPr>
        </p:sp>
        <p:sp>
          <p:nvSpPr>
            <p:cNvPr name="TextBox 4" id="4"/>
            <p:cNvSpPr txBox="true"/>
            <p:nvPr/>
          </p:nvSpPr>
          <p:spPr>
            <a:xfrm>
              <a:off x="0" y="-47625"/>
              <a:ext cx="2207563" cy="982331"/>
            </a:xfrm>
            <a:prstGeom prst="rect">
              <a:avLst/>
            </a:prstGeom>
          </p:spPr>
          <p:txBody>
            <a:bodyPr anchor="ctr" rtlCol="false" tIns="50800" lIns="50800" bIns="50800" rIns="50800"/>
            <a:lstStyle/>
            <a:p>
              <a:pPr algn="ctr">
                <a:lnSpc>
                  <a:spcPts val="3149"/>
                </a:lnSpc>
              </a:pPr>
            </a:p>
          </p:txBody>
        </p:sp>
      </p:grpSp>
      <p:sp>
        <p:nvSpPr>
          <p:cNvPr name="TextBox 5" id="5"/>
          <p:cNvSpPr txBox="true"/>
          <p:nvPr/>
        </p:nvSpPr>
        <p:spPr>
          <a:xfrm rot="0">
            <a:off x="1484032" y="3237888"/>
            <a:ext cx="7057787" cy="2137411"/>
          </a:xfrm>
          <a:prstGeom prst="rect">
            <a:avLst/>
          </a:prstGeom>
        </p:spPr>
        <p:txBody>
          <a:bodyPr anchor="t" rtlCol="false" tIns="0" lIns="0" bIns="0" rIns="0">
            <a:spAutoFit/>
          </a:bodyPr>
          <a:lstStyle/>
          <a:p>
            <a:pPr algn="l" marL="550555" indent="-275277" lvl="1">
              <a:lnSpc>
                <a:spcPts val="2805"/>
              </a:lnSpc>
              <a:buFont typeface="Arial"/>
              <a:buChar char="•"/>
            </a:pPr>
            <a:r>
              <a:rPr lang="en-US" sz="2550">
                <a:solidFill>
                  <a:srgbClr val="0F1F3D"/>
                </a:solidFill>
                <a:latin typeface="Arial"/>
                <a:ea typeface="Arial"/>
                <a:cs typeface="Arial"/>
                <a:sym typeface="Arial"/>
              </a:rPr>
              <a:t>Mobile -  React Native </a:t>
            </a:r>
          </a:p>
          <a:p>
            <a:pPr algn="l" marL="550555" indent="-275277" lvl="1">
              <a:lnSpc>
                <a:spcPts val="2805"/>
              </a:lnSpc>
              <a:buFont typeface="Arial"/>
              <a:buChar char="•"/>
            </a:pPr>
            <a:r>
              <a:rPr lang="en-US" sz="2550">
                <a:solidFill>
                  <a:srgbClr val="0F1F3D"/>
                </a:solidFill>
                <a:latin typeface="Arial"/>
                <a:ea typeface="Arial"/>
                <a:cs typeface="Arial"/>
                <a:sym typeface="Arial"/>
              </a:rPr>
              <a:t>Web: Next.js </a:t>
            </a:r>
          </a:p>
          <a:p>
            <a:pPr algn="l" marL="550555" indent="-275277" lvl="1">
              <a:lnSpc>
                <a:spcPts val="2805"/>
              </a:lnSpc>
              <a:buFont typeface="Arial"/>
              <a:buChar char="•"/>
            </a:pPr>
            <a:r>
              <a:rPr lang="en-US" sz="2550">
                <a:solidFill>
                  <a:srgbClr val="0F1F3D"/>
                </a:solidFill>
                <a:latin typeface="Arial"/>
                <a:ea typeface="Arial"/>
                <a:cs typeface="Arial"/>
                <a:sym typeface="Arial"/>
              </a:rPr>
              <a:t>Backend: Node.js/Express + Python/FastAPI </a:t>
            </a:r>
          </a:p>
          <a:p>
            <a:pPr algn="l" marL="550555" indent="-275277" lvl="1">
              <a:lnSpc>
                <a:spcPts val="2805"/>
              </a:lnSpc>
              <a:buFont typeface="Arial"/>
              <a:buChar char="•"/>
            </a:pPr>
            <a:r>
              <a:rPr lang="en-US" sz="2550">
                <a:solidFill>
                  <a:srgbClr val="0F1F3D"/>
                </a:solidFill>
                <a:latin typeface="Arial"/>
                <a:ea typeface="Arial"/>
                <a:cs typeface="Arial"/>
                <a:sym typeface="Arial"/>
              </a:rPr>
              <a:t>Data: MongoDB, Cloudinary, JWT + bcrypt </a:t>
            </a:r>
          </a:p>
          <a:p>
            <a:pPr algn="l" marL="550555" indent="-275277" lvl="1">
              <a:lnSpc>
                <a:spcPts val="2805"/>
              </a:lnSpc>
              <a:buFont typeface="Arial"/>
              <a:buChar char="•"/>
            </a:pPr>
            <a:r>
              <a:rPr lang="en-US" sz="2550">
                <a:solidFill>
                  <a:srgbClr val="0F1F3D"/>
                </a:solidFill>
                <a:latin typeface="Arial"/>
                <a:ea typeface="Arial"/>
                <a:cs typeface="Arial"/>
                <a:sym typeface="Arial"/>
              </a:rPr>
              <a:t>CI: GitHub Actions </a:t>
            </a:r>
          </a:p>
          <a:p>
            <a:pPr algn="l">
              <a:lnSpc>
                <a:spcPts val="2805"/>
              </a:lnSpc>
            </a:pPr>
          </a:p>
        </p:txBody>
      </p:sp>
      <p:sp>
        <p:nvSpPr>
          <p:cNvPr name="Freeform 6" id="6"/>
          <p:cNvSpPr/>
          <p:nvPr/>
        </p:nvSpPr>
        <p:spPr>
          <a:xfrm flipH="false" flipV="false" rot="0">
            <a:off x="457200" y="3228363"/>
            <a:ext cx="1180960" cy="1651692"/>
          </a:xfrm>
          <a:custGeom>
            <a:avLst/>
            <a:gdLst/>
            <a:ahLst/>
            <a:cxnLst/>
            <a:rect r="r" b="b" t="t" l="l"/>
            <a:pathLst>
              <a:path h="1651692" w="1180960">
                <a:moveTo>
                  <a:pt x="0" y="0"/>
                </a:moveTo>
                <a:lnTo>
                  <a:pt x="1180960" y="0"/>
                </a:lnTo>
                <a:lnTo>
                  <a:pt x="1180960" y="1651692"/>
                </a:lnTo>
                <a:lnTo>
                  <a:pt x="0" y="16516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8924925" y="1804104"/>
            <a:ext cx="9130532" cy="4195271"/>
            <a:chOff x="0" y="0"/>
            <a:chExt cx="2404749" cy="1104927"/>
          </a:xfrm>
        </p:grpSpPr>
        <p:sp>
          <p:nvSpPr>
            <p:cNvPr name="Freeform 8" id="8"/>
            <p:cNvSpPr/>
            <p:nvPr/>
          </p:nvSpPr>
          <p:spPr>
            <a:xfrm flipH="false" flipV="false" rot="0">
              <a:off x="0" y="0"/>
              <a:ext cx="2404749" cy="1104927"/>
            </a:xfrm>
            <a:custGeom>
              <a:avLst/>
              <a:gdLst/>
              <a:ahLst/>
              <a:cxnLst/>
              <a:rect r="r" b="b" t="t" l="l"/>
              <a:pathLst>
                <a:path h="1104927" w="2404749">
                  <a:moveTo>
                    <a:pt x="12719" y="0"/>
                  </a:moveTo>
                  <a:lnTo>
                    <a:pt x="2392030" y="0"/>
                  </a:lnTo>
                  <a:cubicBezTo>
                    <a:pt x="2395404" y="0"/>
                    <a:pt x="2398639" y="1340"/>
                    <a:pt x="2401024" y="3725"/>
                  </a:cubicBezTo>
                  <a:cubicBezTo>
                    <a:pt x="2403409" y="6110"/>
                    <a:pt x="2404749" y="9346"/>
                    <a:pt x="2404749" y="12719"/>
                  </a:cubicBezTo>
                  <a:lnTo>
                    <a:pt x="2404749" y="1092209"/>
                  </a:lnTo>
                  <a:cubicBezTo>
                    <a:pt x="2404749" y="1099233"/>
                    <a:pt x="2399055" y="1104927"/>
                    <a:pt x="2392030" y="1104927"/>
                  </a:cubicBezTo>
                  <a:lnTo>
                    <a:pt x="12719" y="1104927"/>
                  </a:lnTo>
                  <a:cubicBezTo>
                    <a:pt x="9346" y="1104927"/>
                    <a:pt x="6110" y="1103587"/>
                    <a:pt x="3725" y="1101202"/>
                  </a:cubicBezTo>
                  <a:cubicBezTo>
                    <a:pt x="1340" y="1098817"/>
                    <a:pt x="0" y="1095582"/>
                    <a:pt x="0" y="1092209"/>
                  </a:cubicBezTo>
                  <a:lnTo>
                    <a:pt x="0" y="12719"/>
                  </a:lnTo>
                  <a:cubicBezTo>
                    <a:pt x="0" y="9346"/>
                    <a:pt x="1340" y="6110"/>
                    <a:pt x="3725" y="3725"/>
                  </a:cubicBezTo>
                  <a:cubicBezTo>
                    <a:pt x="6110" y="1340"/>
                    <a:pt x="9346" y="0"/>
                    <a:pt x="12719" y="0"/>
                  </a:cubicBezTo>
                  <a:close/>
                </a:path>
              </a:pathLst>
            </a:custGeom>
            <a:solidFill>
              <a:srgbClr val="5CE1E6"/>
            </a:solidFill>
          </p:spPr>
        </p:sp>
        <p:sp>
          <p:nvSpPr>
            <p:cNvPr name="TextBox 9" id="9"/>
            <p:cNvSpPr txBox="true"/>
            <p:nvPr/>
          </p:nvSpPr>
          <p:spPr>
            <a:xfrm>
              <a:off x="0" y="-47625"/>
              <a:ext cx="2404749" cy="1152552"/>
            </a:xfrm>
            <a:prstGeom prst="rect">
              <a:avLst/>
            </a:prstGeom>
          </p:spPr>
          <p:txBody>
            <a:bodyPr anchor="ctr" rtlCol="false" tIns="50800" lIns="50800" bIns="50800" rIns="50800"/>
            <a:lstStyle/>
            <a:p>
              <a:pPr algn="ctr">
                <a:lnSpc>
                  <a:spcPts val="3149"/>
                </a:lnSpc>
              </a:pPr>
            </a:p>
          </p:txBody>
        </p:sp>
      </p:grpSp>
      <p:sp>
        <p:nvSpPr>
          <p:cNvPr name="TextBox 10" id="10"/>
          <p:cNvSpPr txBox="true"/>
          <p:nvPr/>
        </p:nvSpPr>
        <p:spPr>
          <a:xfrm rot="0">
            <a:off x="10417720" y="3042742"/>
            <a:ext cx="7870280" cy="3194686"/>
          </a:xfrm>
          <a:prstGeom prst="rect">
            <a:avLst/>
          </a:prstGeom>
        </p:spPr>
        <p:txBody>
          <a:bodyPr anchor="t" rtlCol="false" tIns="0" lIns="0" bIns="0" rIns="0">
            <a:spAutoFit/>
          </a:bodyPr>
          <a:lstStyle/>
          <a:p>
            <a:pPr algn="l" marL="550555" indent="-275277" lvl="1">
              <a:lnSpc>
                <a:spcPts val="2805"/>
              </a:lnSpc>
              <a:buFont typeface="Arial"/>
              <a:buChar char="•"/>
            </a:pPr>
            <a:r>
              <a:rPr lang="en-US" sz="2550">
                <a:solidFill>
                  <a:srgbClr val="0F1F3D"/>
                </a:solidFill>
                <a:latin typeface="Arial"/>
                <a:ea typeface="Arial"/>
                <a:cs typeface="Arial"/>
                <a:sym typeface="Arial"/>
              </a:rPr>
              <a:t>Recruiter messages: DistilBERT +  OCR</a:t>
            </a:r>
          </a:p>
          <a:p>
            <a:pPr algn="l" marL="550555" indent="-275277" lvl="1">
              <a:lnSpc>
                <a:spcPts val="2805"/>
              </a:lnSpc>
              <a:buFont typeface="Arial"/>
              <a:buChar char="•"/>
            </a:pPr>
            <a:r>
              <a:rPr lang="en-US" sz="2550">
                <a:solidFill>
                  <a:srgbClr val="0F1F3D"/>
                </a:solidFill>
                <a:latin typeface="Arial"/>
                <a:ea typeface="Arial"/>
                <a:cs typeface="Arial"/>
                <a:sym typeface="Arial"/>
              </a:rPr>
              <a:t>Job posts: XLM-RoBERTa</a:t>
            </a:r>
          </a:p>
          <a:p>
            <a:pPr algn="l" marL="550555" indent="-275277" lvl="1">
              <a:lnSpc>
                <a:spcPts val="2805"/>
              </a:lnSpc>
              <a:buFont typeface="Arial"/>
              <a:buChar char="•"/>
            </a:pPr>
            <a:r>
              <a:rPr lang="en-US" sz="2550">
                <a:solidFill>
                  <a:srgbClr val="0F1F3D"/>
                </a:solidFill>
                <a:latin typeface="Arial"/>
                <a:ea typeface="Arial"/>
                <a:cs typeface="Arial"/>
                <a:sym typeface="Arial"/>
              </a:rPr>
              <a:t>Employer: Random Forest</a:t>
            </a:r>
          </a:p>
          <a:p>
            <a:pPr algn="l" marL="550555" indent="-275277" lvl="1">
              <a:lnSpc>
                <a:spcPts val="2805"/>
              </a:lnSpc>
              <a:buFont typeface="Arial"/>
              <a:buChar char="•"/>
            </a:pPr>
            <a:r>
              <a:rPr lang="en-US" sz="2550">
                <a:solidFill>
                  <a:srgbClr val="0F1F3D"/>
                </a:solidFill>
                <a:latin typeface="Arial"/>
                <a:ea typeface="Arial"/>
                <a:cs typeface="Arial"/>
                <a:sym typeface="Arial"/>
              </a:rPr>
              <a:t>Job match: TF-IDF + cosine, Entropy weighting, TOPSIS</a:t>
            </a:r>
          </a:p>
          <a:p>
            <a:pPr algn="l" marL="550555" indent="-275277" lvl="1">
              <a:lnSpc>
                <a:spcPts val="2805"/>
              </a:lnSpc>
              <a:buFont typeface="Arial"/>
              <a:buChar char="•"/>
            </a:pPr>
            <a:r>
              <a:rPr lang="en-US" sz="2550">
                <a:solidFill>
                  <a:srgbClr val="0F1F3D"/>
                </a:solidFill>
                <a:latin typeface="Arial"/>
                <a:ea typeface="Arial"/>
                <a:cs typeface="Arial"/>
                <a:sym typeface="Arial"/>
              </a:rPr>
              <a:t>Assistant: Gemini understands the question; the models decide</a:t>
            </a:r>
          </a:p>
          <a:p>
            <a:pPr algn="l">
              <a:lnSpc>
                <a:spcPts val="2805"/>
              </a:lnSpc>
            </a:pPr>
          </a:p>
          <a:p>
            <a:pPr algn="l">
              <a:lnSpc>
                <a:spcPts val="2805"/>
              </a:lnSpc>
            </a:pPr>
          </a:p>
        </p:txBody>
      </p:sp>
      <p:sp>
        <p:nvSpPr>
          <p:cNvPr name="Freeform 11" id="11"/>
          <p:cNvSpPr/>
          <p:nvPr/>
        </p:nvSpPr>
        <p:spPr>
          <a:xfrm flipH="false" flipV="false" rot="0">
            <a:off x="8924925" y="3102992"/>
            <a:ext cx="1750240" cy="1902434"/>
          </a:xfrm>
          <a:custGeom>
            <a:avLst/>
            <a:gdLst/>
            <a:ahLst/>
            <a:cxnLst/>
            <a:rect r="r" b="b" t="t" l="l"/>
            <a:pathLst>
              <a:path h="1902434" w="1750240">
                <a:moveTo>
                  <a:pt x="0" y="0"/>
                </a:moveTo>
                <a:lnTo>
                  <a:pt x="1750240" y="0"/>
                </a:lnTo>
                <a:lnTo>
                  <a:pt x="1750240" y="1902434"/>
                </a:lnTo>
                <a:lnTo>
                  <a:pt x="0" y="1902434"/>
                </a:lnTo>
                <a:lnTo>
                  <a:pt x="0" y="0"/>
                </a:lnTo>
                <a:close/>
              </a:path>
            </a:pathLst>
          </a:custGeom>
          <a:blipFill>
            <a:blip r:embed="rId4"/>
            <a:stretch>
              <a:fillRect l="0" t="0" r="0" b="0"/>
            </a:stretch>
          </a:blipFill>
        </p:spPr>
      </p:sp>
      <p:grpSp>
        <p:nvGrpSpPr>
          <p:cNvPr name="Group 12" id="12"/>
          <p:cNvGrpSpPr/>
          <p:nvPr/>
        </p:nvGrpSpPr>
        <p:grpSpPr>
          <a:xfrm rot="0">
            <a:off x="4966921" y="6327871"/>
            <a:ext cx="8972165" cy="3585921"/>
            <a:chOff x="0" y="0"/>
            <a:chExt cx="2363039" cy="944440"/>
          </a:xfrm>
        </p:grpSpPr>
        <p:sp>
          <p:nvSpPr>
            <p:cNvPr name="Freeform 13" id="13"/>
            <p:cNvSpPr/>
            <p:nvPr/>
          </p:nvSpPr>
          <p:spPr>
            <a:xfrm flipH="false" flipV="false" rot="0">
              <a:off x="0" y="0"/>
              <a:ext cx="2363039" cy="944440"/>
            </a:xfrm>
            <a:custGeom>
              <a:avLst/>
              <a:gdLst/>
              <a:ahLst/>
              <a:cxnLst/>
              <a:rect r="r" b="b" t="t" l="l"/>
              <a:pathLst>
                <a:path h="944440" w="2363039">
                  <a:moveTo>
                    <a:pt x="12943" y="0"/>
                  </a:moveTo>
                  <a:lnTo>
                    <a:pt x="2350096" y="0"/>
                  </a:lnTo>
                  <a:cubicBezTo>
                    <a:pt x="2353529" y="0"/>
                    <a:pt x="2356821" y="1364"/>
                    <a:pt x="2359248" y="3791"/>
                  </a:cubicBezTo>
                  <a:cubicBezTo>
                    <a:pt x="2361676" y="6218"/>
                    <a:pt x="2363039" y="9510"/>
                    <a:pt x="2363039" y="12943"/>
                  </a:cubicBezTo>
                  <a:lnTo>
                    <a:pt x="2363039" y="931497"/>
                  </a:lnTo>
                  <a:cubicBezTo>
                    <a:pt x="2363039" y="934930"/>
                    <a:pt x="2361676" y="938222"/>
                    <a:pt x="2359248" y="940649"/>
                  </a:cubicBezTo>
                  <a:cubicBezTo>
                    <a:pt x="2356821" y="943076"/>
                    <a:pt x="2353529" y="944440"/>
                    <a:pt x="2350096" y="944440"/>
                  </a:cubicBezTo>
                  <a:lnTo>
                    <a:pt x="12943" y="944440"/>
                  </a:lnTo>
                  <a:cubicBezTo>
                    <a:pt x="9510" y="944440"/>
                    <a:pt x="6218" y="943076"/>
                    <a:pt x="3791" y="940649"/>
                  </a:cubicBezTo>
                  <a:cubicBezTo>
                    <a:pt x="1364" y="938222"/>
                    <a:pt x="0" y="934930"/>
                    <a:pt x="0" y="931497"/>
                  </a:cubicBezTo>
                  <a:lnTo>
                    <a:pt x="0" y="12943"/>
                  </a:lnTo>
                  <a:cubicBezTo>
                    <a:pt x="0" y="9510"/>
                    <a:pt x="1364" y="6218"/>
                    <a:pt x="3791" y="3791"/>
                  </a:cubicBezTo>
                  <a:cubicBezTo>
                    <a:pt x="6218" y="1364"/>
                    <a:pt x="9510" y="0"/>
                    <a:pt x="12943" y="0"/>
                  </a:cubicBezTo>
                  <a:close/>
                </a:path>
              </a:pathLst>
            </a:custGeom>
            <a:solidFill>
              <a:srgbClr val="C9D6EE"/>
            </a:solidFill>
          </p:spPr>
        </p:sp>
        <p:sp>
          <p:nvSpPr>
            <p:cNvPr name="TextBox 14" id="14"/>
            <p:cNvSpPr txBox="true"/>
            <p:nvPr/>
          </p:nvSpPr>
          <p:spPr>
            <a:xfrm>
              <a:off x="0" y="-47625"/>
              <a:ext cx="2363039" cy="992065"/>
            </a:xfrm>
            <a:prstGeom prst="rect">
              <a:avLst/>
            </a:prstGeom>
          </p:spPr>
          <p:txBody>
            <a:bodyPr anchor="ctr" rtlCol="false" tIns="50800" lIns="50800" bIns="50800" rIns="50800"/>
            <a:lstStyle/>
            <a:p>
              <a:pPr algn="ctr">
                <a:lnSpc>
                  <a:spcPts val="3149"/>
                </a:lnSpc>
              </a:pPr>
            </a:p>
          </p:txBody>
        </p:sp>
      </p:grpSp>
      <p:sp>
        <p:nvSpPr>
          <p:cNvPr name="TextBox 15" id="15"/>
          <p:cNvSpPr txBox="true"/>
          <p:nvPr/>
        </p:nvSpPr>
        <p:spPr>
          <a:xfrm rot="0">
            <a:off x="6611302" y="7797164"/>
            <a:ext cx="7120295" cy="2489836"/>
          </a:xfrm>
          <a:prstGeom prst="rect">
            <a:avLst/>
          </a:prstGeom>
        </p:spPr>
        <p:txBody>
          <a:bodyPr anchor="t" rtlCol="false" tIns="0" lIns="0" bIns="0" rIns="0">
            <a:spAutoFit/>
          </a:bodyPr>
          <a:lstStyle/>
          <a:p>
            <a:pPr algn="l" marL="550555" indent="-275277" lvl="1">
              <a:lnSpc>
                <a:spcPts val="2805"/>
              </a:lnSpc>
              <a:buFont typeface="Arial"/>
              <a:buChar char="•"/>
            </a:pPr>
            <a:r>
              <a:rPr lang="en-US" sz="2550">
                <a:solidFill>
                  <a:srgbClr val="0F1F3D"/>
                </a:solidFill>
                <a:latin typeface="Arial"/>
                <a:ea typeface="Arial"/>
                <a:cs typeface="Arial"/>
                <a:sym typeface="Arial"/>
              </a:rPr>
              <a:t>Unit: Vitest (Node), Pytest (Python)</a:t>
            </a:r>
          </a:p>
          <a:p>
            <a:pPr algn="l" marL="550555" indent="-275277" lvl="1">
              <a:lnSpc>
                <a:spcPts val="2805"/>
              </a:lnSpc>
              <a:buFont typeface="Arial"/>
              <a:buChar char="•"/>
            </a:pPr>
            <a:r>
              <a:rPr lang="en-US" sz="2550">
                <a:solidFill>
                  <a:srgbClr val="0F1F3D"/>
                </a:solidFill>
                <a:latin typeface="Arial"/>
                <a:ea typeface="Arial"/>
                <a:cs typeface="Arial"/>
                <a:sym typeface="Arial"/>
              </a:rPr>
              <a:t>Integration: Pytest API tests (mocked models)</a:t>
            </a:r>
          </a:p>
          <a:p>
            <a:pPr algn="l" marL="550555" indent="-275277" lvl="1">
              <a:lnSpc>
                <a:spcPts val="2805"/>
              </a:lnSpc>
              <a:buFont typeface="Arial"/>
              <a:buChar char="•"/>
            </a:pPr>
            <a:r>
              <a:rPr lang="en-US" sz="2550">
                <a:solidFill>
                  <a:srgbClr val="0F1F3D"/>
                </a:solidFill>
                <a:latin typeface="Arial"/>
                <a:ea typeface="Arial"/>
                <a:cs typeface="Arial"/>
                <a:sym typeface="Arial"/>
              </a:rPr>
              <a:t>User Acceptance Testing </a:t>
            </a:r>
          </a:p>
          <a:p>
            <a:pPr algn="l" marL="550555" indent="-275277" lvl="1">
              <a:lnSpc>
                <a:spcPts val="2805"/>
              </a:lnSpc>
              <a:buFont typeface="Arial"/>
              <a:buChar char="•"/>
            </a:pPr>
            <a:r>
              <a:rPr lang="en-US" sz="2550">
                <a:solidFill>
                  <a:srgbClr val="0F1F3D"/>
                </a:solidFill>
                <a:latin typeface="Arial"/>
                <a:ea typeface="Arial"/>
                <a:cs typeface="Arial"/>
                <a:sym typeface="Arial"/>
              </a:rPr>
              <a:t>CI: each service tested on every push</a:t>
            </a:r>
          </a:p>
          <a:p>
            <a:pPr algn="l">
              <a:lnSpc>
                <a:spcPts val="2805"/>
              </a:lnSpc>
            </a:pPr>
          </a:p>
          <a:p>
            <a:pPr algn="l">
              <a:lnSpc>
                <a:spcPts val="2805"/>
              </a:lnSpc>
            </a:pPr>
          </a:p>
          <a:p>
            <a:pPr algn="l">
              <a:lnSpc>
                <a:spcPts val="2805"/>
              </a:lnSpc>
            </a:pPr>
          </a:p>
        </p:txBody>
      </p:sp>
      <p:sp>
        <p:nvSpPr>
          <p:cNvPr name="Freeform 16" id="16"/>
          <p:cNvSpPr/>
          <p:nvPr/>
        </p:nvSpPr>
        <p:spPr>
          <a:xfrm flipH="false" flipV="false" rot="0">
            <a:off x="5281577" y="7428768"/>
            <a:ext cx="1329725" cy="1662157"/>
          </a:xfrm>
          <a:custGeom>
            <a:avLst/>
            <a:gdLst/>
            <a:ahLst/>
            <a:cxnLst/>
            <a:rect r="r" b="b" t="t" l="l"/>
            <a:pathLst>
              <a:path h="1662157" w="1329725">
                <a:moveTo>
                  <a:pt x="0" y="0"/>
                </a:moveTo>
                <a:lnTo>
                  <a:pt x="1329725" y="0"/>
                </a:lnTo>
                <a:lnTo>
                  <a:pt x="1329725" y="1662157"/>
                </a:lnTo>
                <a:lnTo>
                  <a:pt x="0" y="16621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914400" y="514350"/>
            <a:ext cx="16952976" cy="350520"/>
          </a:xfrm>
          <a:prstGeom prst="rect">
            <a:avLst/>
          </a:prstGeom>
        </p:spPr>
        <p:txBody>
          <a:bodyPr anchor="t" rtlCol="false" tIns="0" lIns="0" bIns="0" rIns="0">
            <a:spAutoFit/>
          </a:bodyPr>
          <a:lstStyle/>
          <a:p>
            <a:pPr algn="l">
              <a:lnSpc>
                <a:spcPts val="2729"/>
              </a:lnSpc>
            </a:pPr>
            <a:r>
              <a:rPr lang="en-US" b="true" sz="1950" spc="225">
                <a:solidFill>
                  <a:srgbClr val="1A4FA0"/>
                </a:solidFill>
                <a:latin typeface="Arial Bold"/>
                <a:ea typeface="Arial Bold"/>
                <a:cs typeface="Arial Bold"/>
                <a:sym typeface="Arial Bold"/>
              </a:rPr>
              <a:t>WHOLE SYSTEM: FOUR COMPONENTS, ONE APP</a:t>
            </a:r>
          </a:p>
        </p:txBody>
      </p:sp>
      <p:sp>
        <p:nvSpPr>
          <p:cNvPr name="TextBox 18" id="18"/>
          <p:cNvSpPr txBox="true"/>
          <p:nvPr/>
        </p:nvSpPr>
        <p:spPr>
          <a:xfrm rot="0">
            <a:off x="914400" y="1003849"/>
            <a:ext cx="9209127" cy="626745"/>
          </a:xfrm>
          <a:prstGeom prst="rect">
            <a:avLst/>
          </a:prstGeom>
        </p:spPr>
        <p:txBody>
          <a:bodyPr anchor="t" rtlCol="false" tIns="0" lIns="0" bIns="0" rIns="0">
            <a:spAutoFit/>
          </a:bodyPr>
          <a:lstStyle/>
          <a:p>
            <a:pPr algn="l">
              <a:lnSpc>
                <a:spcPts val="4785"/>
              </a:lnSpc>
            </a:pPr>
            <a:r>
              <a:rPr lang="en-US" sz="4350" b="true">
                <a:solidFill>
                  <a:srgbClr val="0F1F3D"/>
                </a:solidFill>
                <a:latin typeface="Arial Bold"/>
                <a:ea typeface="Arial Bold"/>
                <a:cs typeface="Arial Bold"/>
                <a:sym typeface="Arial Bold"/>
              </a:rPr>
              <a:t>Technologies, models and testings</a:t>
            </a:r>
          </a:p>
        </p:txBody>
      </p:sp>
      <p:sp>
        <p:nvSpPr>
          <p:cNvPr name="TextBox 19" id="19"/>
          <p:cNvSpPr txBox="true"/>
          <p:nvPr/>
        </p:nvSpPr>
        <p:spPr>
          <a:xfrm rot="0">
            <a:off x="1897252" y="2523792"/>
            <a:ext cx="3069669" cy="571500"/>
          </a:xfrm>
          <a:prstGeom prst="rect">
            <a:avLst/>
          </a:prstGeom>
        </p:spPr>
        <p:txBody>
          <a:bodyPr anchor="t" rtlCol="false" tIns="0" lIns="0" bIns="0" rIns="0">
            <a:spAutoFit/>
          </a:bodyPr>
          <a:lstStyle/>
          <a:p>
            <a:pPr algn="l">
              <a:lnSpc>
                <a:spcPts val="4125"/>
              </a:lnSpc>
            </a:pPr>
            <a:r>
              <a:rPr lang="en-US" b="true" sz="3750" u="sng">
                <a:solidFill>
                  <a:srgbClr val="0F1F3D"/>
                </a:solidFill>
                <a:latin typeface="Arial Bold"/>
                <a:ea typeface="Arial Bold"/>
                <a:cs typeface="Arial Bold"/>
                <a:sym typeface="Arial Bold"/>
              </a:rPr>
              <a:t>T</a:t>
            </a:r>
            <a:r>
              <a:rPr lang="en-US" b="true" sz="3750" u="sng">
                <a:solidFill>
                  <a:srgbClr val="0F1F3D"/>
                </a:solidFill>
                <a:latin typeface="Arial Bold"/>
                <a:ea typeface="Arial Bold"/>
                <a:cs typeface="Arial Bold"/>
                <a:sym typeface="Arial Bold"/>
              </a:rPr>
              <a:t>echnologies</a:t>
            </a:r>
          </a:p>
        </p:txBody>
      </p:sp>
      <p:sp>
        <p:nvSpPr>
          <p:cNvPr name="TextBox 20" id="20"/>
          <p:cNvSpPr txBox="true"/>
          <p:nvPr/>
        </p:nvSpPr>
        <p:spPr>
          <a:xfrm rot="0">
            <a:off x="10830940" y="2328647"/>
            <a:ext cx="2249329" cy="571500"/>
          </a:xfrm>
          <a:prstGeom prst="rect">
            <a:avLst/>
          </a:prstGeom>
        </p:spPr>
        <p:txBody>
          <a:bodyPr anchor="t" rtlCol="false" tIns="0" lIns="0" bIns="0" rIns="0">
            <a:spAutoFit/>
          </a:bodyPr>
          <a:lstStyle/>
          <a:p>
            <a:pPr algn="l">
              <a:lnSpc>
                <a:spcPts val="4125"/>
              </a:lnSpc>
            </a:pPr>
            <a:r>
              <a:rPr lang="en-US" b="true" sz="3750" u="sng">
                <a:solidFill>
                  <a:srgbClr val="0F1F3D"/>
                </a:solidFill>
                <a:latin typeface="Arial Bold"/>
                <a:ea typeface="Arial Bold"/>
                <a:cs typeface="Arial Bold"/>
                <a:sym typeface="Arial Bold"/>
              </a:rPr>
              <a:t>AI Mod</a:t>
            </a:r>
            <a:r>
              <a:rPr lang="en-US" b="true" sz="3750" u="sng">
                <a:solidFill>
                  <a:srgbClr val="0F1F3D"/>
                </a:solidFill>
                <a:latin typeface="Arial Bold"/>
                <a:ea typeface="Arial Bold"/>
                <a:cs typeface="Arial Bold"/>
                <a:sym typeface="Arial Bold"/>
              </a:rPr>
              <a:t>els</a:t>
            </a:r>
          </a:p>
        </p:txBody>
      </p:sp>
      <p:sp>
        <p:nvSpPr>
          <p:cNvPr name="TextBox 21" id="21"/>
          <p:cNvSpPr txBox="true"/>
          <p:nvPr/>
        </p:nvSpPr>
        <p:spPr>
          <a:xfrm rot="0">
            <a:off x="6868747" y="7090032"/>
            <a:ext cx="1693545" cy="571500"/>
          </a:xfrm>
          <a:prstGeom prst="rect">
            <a:avLst/>
          </a:prstGeom>
        </p:spPr>
        <p:txBody>
          <a:bodyPr anchor="t" rtlCol="false" tIns="0" lIns="0" bIns="0" rIns="0">
            <a:spAutoFit/>
          </a:bodyPr>
          <a:lstStyle/>
          <a:p>
            <a:pPr algn="l">
              <a:lnSpc>
                <a:spcPts val="4125"/>
              </a:lnSpc>
            </a:pPr>
            <a:r>
              <a:rPr lang="en-US" b="true" sz="3750" u="sng">
                <a:solidFill>
                  <a:srgbClr val="0F1F3D"/>
                </a:solidFill>
                <a:latin typeface="Arial Bold"/>
                <a:ea typeface="Arial Bold"/>
                <a:cs typeface="Arial Bold"/>
                <a:sym typeface="Arial Bold"/>
              </a:rPr>
              <a:t>T</a:t>
            </a:r>
            <a:r>
              <a:rPr lang="en-US" b="true" sz="3750" u="sng">
                <a:solidFill>
                  <a:srgbClr val="0F1F3D"/>
                </a:solidFill>
                <a:latin typeface="Arial Bold"/>
                <a:ea typeface="Arial Bold"/>
                <a:cs typeface="Arial Bold"/>
                <a:sym typeface="Arial Bold"/>
              </a:rPr>
              <a:t>esting</a:t>
            </a:r>
          </a:p>
        </p:txBody>
      </p:sp>
      <p:grpSp>
        <p:nvGrpSpPr>
          <p:cNvPr name="Group 22" id="22"/>
          <p:cNvGrpSpPr/>
          <p:nvPr/>
        </p:nvGrpSpPr>
        <p:grpSpPr>
          <a:xfrm rot="0">
            <a:off x="0" y="9258300"/>
            <a:ext cx="3557588" cy="1028700"/>
            <a:chOff x="0" y="0"/>
            <a:chExt cx="4743450" cy="1371600"/>
          </a:xfrm>
        </p:grpSpPr>
        <p:sp>
          <p:nvSpPr>
            <p:cNvPr name="Freeform 23" id="23"/>
            <p:cNvSpPr/>
            <p:nvPr/>
          </p:nvSpPr>
          <p:spPr>
            <a:xfrm flipH="false" flipV="false" rot="0">
              <a:off x="0" y="0"/>
              <a:ext cx="4743450" cy="1371651"/>
            </a:xfrm>
            <a:custGeom>
              <a:avLst/>
              <a:gdLst/>
              <a:ahLst/>
              <a:cxnLst/>
              <a:rect r="r" b="b" t="t" l="l"/>
              <a:pathLst>
                <a:path h="1371651" w="4743450">
                  <a:moveTo>
                    <a:pt x="0" y="0"/>
                  </a:moveTo>
                  <a:lnTo>
                    <a:pt x="4743450" y="0"/>
                  </a:lnTo>
                  <a:lnTo>
                    <a:pt x="4743450" y="1371651"/>
                  </a:lnTo>
                  <a:lnTo>
                    <a:pt x="0" y="1371651"/>
                  </a:lnTo>
                  <a:lnTo>
                    <a:pt x="0" y="0"/>
                  </a:lnTo>
                  <a:close/>
                </a:path>
              </a:pathLst>
            </a:custGeom>
            <a:blipFill>
              <a:blip r:embed="rId7"/>
              <a:stretch>
                <a:fillRect l="0" t="-11864" r="0" b="-11860"/>
              </a:stretch>
            </a:blipFill>
          </p:spPr>
        </p:sp>
      </p:grpSp>
      <p:sp>
        <p:nvSpPr>
          <p:cNvPr name="TextBox 24" id="24"/>
          <p:cNvSpPr txBox="true"/>
          <p:nvPr/>
        </p:nvSpPr>
        <p:spPr>
          <a:xfrm rot="0">
            <a:off x="8553112" y="9950995"/>
            <a:ext cx="1770190" cy="327728"/>
          </a:xfrm>
          <a:prstGeom prst="rect">
            <a:avLst/>
          </a:prstGeom>
        </p:spPr>
        <p:txBody>
          <a:bodyPr anchor="t" rtlCol="false" tIns="0" lIns="0" bIns="0" rIns="0">
            <a:spAutoFit/>
          </a:bodyPr>
          <a:lstStyle/>
          <a:p>
            <a:pPr algn="l">
              <a:lnSpc>
                <a:spcPts val="2607"/>
              </a:lnSpc>
            </a:pPr>
            <a:r>
              <a:rPr lang="en-US" sz="2173" b="true">
                <a:solidFill>
                  <a:srgbClr val="002060"/>
                </a:solidFill>
                <a:latin typeface="Aptos Bold"/>
                <a:ea typeface="Aptos Bold"/>
                <a:cs typeface="Aptos Bold"/>
                <a:sym typeface="Aptos Bold"/>
              </a:rPr>
              <a:t>R26-SE-002</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10" t="0" r="-410" b="0"/>
            </a:stretch>
          </a:blipFill>
        </p:spPr>
      </p:sp>
      <p:grpSp>
        <p:nvGrpSpPr>
          <p:cNvPr name="Group 3" id="3"/>
          <p:cNvGrpSpPr/>
          <p:nvPr/>
        </p:nvGrpSpPr>
        <p:grpSpPr>
          <a:xfrm rot="0">
            <a:off x="11049000" y="533400"/>
            <a:ext cx="6477000" cy="5257800"/>
            <a:chOff x="0" y="0"/>
            <a:chExt cx="8636000" cy="7010400"/>
          </a:xfrm>
        </p:grpSpPr>
        <p:sp>
          <p:nvSpPr>
            <p:cNvPr name="Freeform 4" id="4" descr="A shield with a check mark in front of a job post card, linked to four connected points"/>
            <p:cNvSpPr/>
            <p:nvPr/>
          </p:nvSpPr>
          <p:spPr>
            <a:xfrm flipH="false" flipV="false" rot="0">
              <a:off x="0" y="0"/>
              <a:ext cx="8636000" cy="7010400"/>
            </a:xfrm>
            <a:custGeom>
              <a:avLst/>
              <a:gdLst/>
              <a:ahLst/>
              <a:cxnLst/>
              <a:rect r="r" b="b" t="t" l="l"/>
              <a:pathLst>
                <a:path h="7010400" w="8636000">
                  <a:moveTo>
                    <a:pt x="0" y="0"/>
                  </a:moveTo>
                  <a:lnTo>
                    <a:pt x="8636000" y="0"/>
                  </a:lnTo>
                  <a:lnTo>
                    <a:pt x="8636000" y="7010400"/>
                  </a:lnTo>
                  <a:lnTo>
                    <a:pt x="0" y="7010400"/>
                  </a:lnTo>
                  <a:lnTo>
                    <a:pt x="0" y="0"/>
                  </a:lnTo>
                  <a:close/>
                </a:path>
              </a:pathLst>
            </a:custGeom>
            <a:blipFill>
              <a:blip r:embed="rId3"/>
              <a:stretch>
                <a:fillRect l="0" t="0" r="0" b="0"/>
              </a:stretch>
            </a:blipFill>
          </p:spPr>
        </p:sp>
      </p:grpSp>
      <p:grpSp>
        <p:nvGrpSpPr>
          <p:cNvPr name="Group 5" id="5"/>
          <p:cNvGrpSpPr/>
          <p:nvPr/>
        </p:nvGrpSpPr>
        <p:grpSpPr>
          <a:xfrm rot="0">
            <a:off x="1190625" y="2663054"/>
            <a:ext cx="2286000" cy="114300"/>
            <a:chOff x="0" y="0"/>
            <a:chExt cx="3048000" cy="152400"/>
          </a:xfrm>
        </p:grpSpPr>
        <p:sp>
          <p:nvSpPr>
            <p:cNvPr name="Freeform 6" id="6"/>
            <p:cNvSpPr/>
            <p:nvPr/>
          </p:nvSpPr>
          <p:spPr>
            <a:xfrm flipH="false" flipV="false" rot="0">
              <a:off x="0" y="0"/>
              <a:ext cx="3048000" cy="152400"/>
            </a:xfrm>
            <a:custGeom>
              <a:avLst/>
              <a:gdLst/>
              <a:ahLst/>
              <a:cxnLst/>
              <a:rect r="r" b="b" t="t" l="l"/>
              <a:pathLst>
                <a:path h="152400" w="3048000">
                  <a:moveTo>
                    <a:pt x="0" y="76200"/>
                  </a:moveTo>
                  <a:cubicBezTo>
                    <a:pt x="0" y="34163"/>
                    <a:pt x="34163" y="0"/>
                    <a:pt x="76200" y="0"/>
                  </a:cubicBezTo>
                  <a:lnTo>
                    <a:pt x="2971800" y="0"/>
                  </a:lnTo>
                  <a:cubicBezTo>
                    <a:pt x="3013837" y="0"/>
                    <a:pt x="3048000" y="34163"/>
                    <a:pt x="3048000" y="76200"/>
                  </a:cubicBezTo>
                  <a:cubicBezTo>
                    <a:pt x="3048000" y="118237"/>
                    <a:pt x="3013837" y="152400"/>
                    <a:pt x="2971800" y="152400"/>
                  </a:cubicBezTo>
                  <a:lnTo>
                    <a:pt x="76200" y="152400"/>
                  </a:lnTo>
                  <a:cubicBezTo>
                    <a:pt x="34163" y="152400"/>
                    <a:pt x="0" y="118237"/>
                    <a:pt x="0" y="76200"/>
                  </a:cubicBezTo>
                  <a:close/>
                </a:path>
              </a:pathLst>
            </a:custGeom>
            <a:solidFill>
              <a:srgbClr val="C4561A"/>
            </a:solidFill>
          </p:spPr>
        </p:sp>
      </p:grpSp>
      <p:grpSp>
        <p:nvGrpSpPr>
          <p:cNvPr name="Group 7" id="7"/>
          <p:cNvGrpSpPr/>
          <p:nvPr/>
        </p:nvGrpSpPr>
        <p:grpSpPr>
          <a:xfrm rot="0">
            <a:off x="914400" y="7263039"/>
            <a:ext cx="3943350" cy="1322041"/>
            <a:chOff x="0" y="0"/>
            <a:chExt cx="5257800" cy="1762722"/>
          </a:xfrm>
        </p:grpSpPr>
        <p:sp>
          <p:nvSpPr>
            <p:cNvPr name="Freeform 8" id="8"/>
            <p:cNvSpPr/>
            <p:nvPr/>
          </p:nvSpPr>
          <p:spPr>
            <a:xfrm flipH="false" flipV="false" rot="0">
              <a:off x="0" y="0"/>
              <a:ext cx="5257800" cy="1762633"/>
            </a:xfrm>
            <a:custGeom>
              <a:avLst/>
              <a:gdLst/>
              <a:ahLst/>
              <a:cxnLst/>
              <a:rect r="r" b="b" t="t" l="l"/>
              <a:pathLst>
                <a:path h="1762633" w="5257800">
                  <a:moveTo>
                    <a:pt x="0" y="249428"/>
                  </a:moveTo>
                  <a:cubicBezTo>
                    <a:pt x="0" y="111633"/>
                    <a:pt x="111633" y="0"/>
                    <a:pt x="249428" y="0"/>
                  </a:cubicBezTo>
                  <a:lnTo>
                    <a:pt x="5008372" y="0"/>
                  </a:lnTo>
                  <a:cubicBezTo>
                    <a:pt x="5146167" y="0"/>
                    <a:pt x="5257800" y="111633"/>
                    <a:pt x="5257800" y="249428"/>
                  </a:cubicBezTo>
                  <a:lnTo>
                    <a:pt x="5257800" y="1513205"/>
                  </a:lnTo>
                  <a:cubicBezTo>
                    <a:pt x="5257800" y="1651000"/>
                    <a:pt x="5146167" y="1762633"/>
                    <a:pt x="5008372" y="1762633"/>
                  </a:cubicBezTo>
                  <a:lnTo>
                    <a:pt x="249428" y="1762633"/>
                  </a:lnTo>
                  <a:cubicBezTo>
                    <a:pt x="111633" y="1762760"/>
                    <a:pt x="0" y="1651000"/>
                    <a:pt x="0" y="1513332"/>
                  </a:cubicBezTo>
                  <a:close/>
                </a:path>
              </a:pathLst>
            </a:custGeom>
            <a:solidFill>
              <a:srgbClr val="F2F5FA"/>
            </a:solidFill>
            <a:ln w="9525" cap="sq">
              <a:solidFill>
                <a:srgbClr val="D5DEEE"/>
              </a:solidFill>
              <a:prstDash val="solid"/>
              <a:miter/>
            </a:ln>
          </p:spPr>
        </p:sp>
      </p:grpSp>
      <p:grpSp>
        <p:nvGrpSpPr>
          <p:cNvPr name="Group 9" id="9"/>
          <p:cNvGrpSpPr/>
          <p:nvPr/>
        </p:nvGrpSpPr>
        <p:grpSpPr>
          <a:xfrm rot="0">
            <a:off x="5086350" y="7263039"/>
            <a:ext cx="3943350" cy="1322041"/>
            <a:chOff x="0" y="0"/>
            <a:chExt cx="5257800" cy="1762722"/>
          </a:xfrm>
        </p:grpSpPr>
        <p:sp>
          <p:nvSpPr>
            <p:cNvPr name="Freeform 10" id="10"/>
            <p:cNvSpPr/>
            <p:nvPr/>
          </p:nvSpPr>
          <p:spPr>
            <a:xfrm flipH="false" flipV="false" rot="0">
              <a:off x="0" y="0"/>
              <a:ext cx="5257800" cy="1762633"/>
            </a:xfrm>
            <a:custGeom>
              <a:avLst/>
              <a:gdLst/>
              <a:ahLst/>
              <a:cxnLst/>
              <a:rect r="r" b="b" t="t" l="l"/>
              <a:pathLst>
                <a:path h="1762633" w="5257800">
                  <a:moveTo>
                    <a:pt x="0" y="249428"/>
                  </a:moveTo>
                  <a:cubicBezTo>
                    <a:pt x="0" y="111633"/>
                    <a:pt x="111633" y="0"/>
                    <a:pt x="249428" y="0"/>
                  </a:cubicBezTo>
                  <a:lnTo>
                    <a:pt x="5008372" y="0"/>
                  </a:lnTo>
                  <a:cubicBezTo>
                    <a:pt x="5146167" y="0"/>
                    <a:pt x="5257800" y="111633"/>
                    <a:pt x="5257800" y="249428"/>
                  </a:cubicBezTo>
                  <a:lnTo>
                    <a:pt x="5257800" y="1513205"/>
                  </a:lnTo>
                  <a:cubicBezTo>
                    <a:pt x="5257800" y="1651000"/>
                    <a:pt x="5146167" y="1762633"/>
                    <a:pt x="5008372" y="1762633"/>
                  </a:cubicBezTo>
                  <a:lnTo>
                    <a:pt x="249428" y="1762633"/>
                  </a:lnTo>
                  <a:cubicBezTo>
                    <a:pt x="111633" y="1762760"/>
                    <a:pt x="0" y="1651000"/>
                    <a:pt x="0" y="1513332"/>
                  </a:cubicBezTo>
                  <a:close/>
                </a:path>
              </a:pathLst>
            </a:custGeom>
            <a:solidFill>
              <a:srgbClr val="F2F5FA"/>
            </a:solidFill>
            <a:ln w="9525" cap="sq">
              <a:solidFill>
                <a:srgbClr val="D5DEEE"/>
              </a:solidFill>
              <a:prstDash val="solid"/>
              <a:miter/>
            </a:ln>
          </p:spPr>
        </p:sp>
      </p:grpSp>
      <p:grpSp>
        <p:nvGrpSpPr>
          <p:cNvPr name="Group 11" id="11"/>
          <p:cNvGrpSpPr/>
          <p:nvPr/>
        </p:nvGrpSpPr>
        <p:grpSpPr>
          <a:xfrm rot="0">
            <a:off x="9258300" y="7263039"/>
            <a:ext cx="3943350" cy="1322041"/>
            <a:chOff x="0" y="0"/>
            <a:chExt cx="5257800" cy="1762722"/>
          </a:xfrm>
        </p:grpSpPr>
        <p:sp>
          <p:nvSpPr>
            <p:cNvPr name="Freeform 12" id="12"/>
            <p:cNvSpPr/>
            <p:nvPr/>
          </p:nvSpPr>
          <p:spPr>
            <a:xfrm flipH="false" flipV="false" rot="0">
              <a:off x="0" y="0"/>
              <a:ext cx="5257800" cy="1762633"/>
            </a:xfrm>
            <a:custGeom>
              <a:avLst/>
              <a:gdLst/>
              <a:ahLst/>
              <a:cxnLst/>
              <a:rect r="r" b="b" t="t" l="l"/>
              <a:pathLst>
                <a:path h="1762633" w="5257800">
                  <a:moveTo>
                    <a:pt x="0" y="249428"/>
                  </a:moveTo>
                  <a:cubicBezTo>
                    <a:pt x="0" y="111633"/>
                    <a:pt x="111633" y="0"/>
                    <a:pt x="249428" y="0"/>
                  </a:cubicBezTo>
                  <a:lnTo>
                    <a:pt x="5008372" y="0"/>
                  </a:lnTo>
                  <a:cubicBezTo>
                    <a:pt x="5146167" y="0"/>
                    <a:pt x="5257800" y="111633"/>
                    <a:pt x="5257800" y="249428"/>
                  </a:cubicBezTo>
                  <a:lnTo>
                    <a:pt x="5257800" y="1513205"/>
                  </a:lnTo>
                  <a:cubicBezTo>
                    <a:pt x="5257800" y="1651000"/>
                    <a:pt x="5146167" y="1762633"/>
                    <a:pt x="5008372" y="1762633"/>
                  </a:cubicBezTo>
                  <a:lnTo>
                    <a:pt x="249428" y="1762633"/>
                  </a:lnTo>
                  <a:cubicBezTo>
                    <a:pt x="111633" y="1762760"/>
                    <a:pt x="0" y="1651000"/>
                    <a:pt x="0" y="1513332"/>
                  </a:cubicBezTo>
                  <a:close/>
                </a:path>
              </a:pathLst>
            </a:custGeom>
            <a:solidFill>
              <a:srgbClr val="F2F5FA"/>
            </a:solidFill>
            <a:ln w="9525" cap="sq">
              <a:solidFill>
                <a:srgbClr val="D5DEEE"/>
              </a:solidFill>
              <a:prstDash val="solid"/>
              <a:miter/>
            </a:ln>
          </p:spPr>
        </p:sp>
      </p:grpSp>
      <p:grpSp>
        <p:nvGrpSpPr>
          <p:cNvPr name="Group 13" id="13"/>
          <p:cNvGrpSpPr/>
          <p:nvPr/>
        </p:nvGrpSpPr>
        <p:grpSpPr>
          <a:xfrm rot="0">
            <a:off x="13430250" y="7263039"/>
            <a:ext cx="3943350" cy="1322041"/>
            <a:chOff x="0" y="0"/>
            <a:chExt cx="5257800" cy="1762722"/>
          </a:xfrm>
        </p:grpSpPr>
        <p:sp>
          <p:nvSpPr>
            <p:cNvPr name="Freeform 14" id="14"/>
            <p:cNvSpPr/>
            <p:nvPr/>
          </p:nvSpPr>
          <p:spPr>
            <a:xfrm flipH="false" flipV="false" rot="0">
              <a:off x="0" y="0"/>
              <a:ext cx="5257800" cy="1762633"/>
            </a:xfrm>
            <a:custGeom>
              <a:avLst/>
              <a:gdLst/>
              <a:ahLst/>
              <a:cxnLst/>
              <a:rect r="r" b="b" t="t" l="l"/>
              <a:pathLst>
                <a:path h="1762633" w="5257800">
                  <a:moveTo>
                    <a:pt x="0" y="249428"/>
                  </a:moveTo>
                  <a:cubicBezTo>
                    <a:pt x="0" y="111633"/>
                    <a:pt x="111633" y="0"/>
                    <a:pt x="249428" y="0"/>
                  </a:cubicBezTo>
                  <a:lnTo>
                    <a:pt x="5008372" y="0"/>
                  </a:lnTo>
                  <a:cubicBezTo>
                    <a:pt x="5146167" y="0"/>
                    <a:pt x="5257800" y="111633"/>
                    <a:pt x="5257800" y="249428"/>
                  </a:cubicBezTo>
                  <a:lnTo>
                    <a:pt x="5257800" y="1513205"/>
                  </a:lnTo>
                  <a:cubicBezTo>
                    <a:pt x="5257800" y="1651000"/>
                    <a:pt x="5146167" y="1762633"/>
                    <a:pt x="5008372" y="1762633"/>
                  </a:cubicBezTo>
                  <a:lnTo>
                    <a:pt x="249428" y="1762633"/>
                  </a:lnTo>
                  <a:cubicBezTo>
                    <a:pt x="111633" y="1762760"/>
                    <a:pt x="0" y="1651000"/>
                    <a:pt x="0" y="1513332"/>
                  </a:cubicBezTo>
                  <a:close/>
                </a:path>
              </a:pathLst>
            </a:custGeom>
            <a:solidFill>
              <a:srgbClr val="F2F5FA"/>
            </a:solidFill>
            <a:ln w="9525" cap="sq">
              <a:solidFill>
                <a:srgbClr val="D5DEEE"/>
              </a:solidFill>
              <a:prstDash val="solid"/>
              <a:miter/>
            </a:ln>
          </p:spPr>
        </p:sp>
      </p:grpSp>
      <p:sp>
        <p:nvSpPr>
          <p:cNvPr name="TextBox 15" id="15"/>
          <p:cNvSpPr txBox="true"/>
          <p:nvPr/>
        </p:nvSpPr>
        <p:spPr>
          <a:xfrm rot="0">
            <a:off x="830580" y="990600"/>
            <a:ext cx="9791004" cy="1836418"/>
          </a:xfrm>
          <a:prstGeom prst="rect">
            <a:avLst/>
          </a:prstGeom>
        </p:spPr>
        <p:txBody>
          <a:bodyPr anchor="t" rtlCol="false" tIns="0" lIns="0" bIns="0" rIns="0">
            <a:spAutoFit/>
          </a:bodyPr>
          <a:lstStyle/>
          <a:p>
            <a:pPr algn="l">
              <a:lnSpc>
                <a:spcPts val="13799"/>
              </a:lnSpc>
            </a:pPr>
            <a:r>
              <a:rPr lang="en-US" sz="13799" b="true">
                <a:solidFill>
                  <a:srgbClr val="0F1F3D"/>
                </a:solidFill>
                <a:latin typeface="DM Sans Bold"/>
                <a:ea typeface="DM Sans Bold"/>
                <a:cs typeface="DM Sans Bold"/>
                <a:sym typeface="DM Sans Bold"/>
              </a:rPr>
              <a:t>Thank you</a:t>
            </a:r>
          </a:p>
        </p:txBody>
      </p:sp>
      <p:sp>
        <p:nvSpPr>
          <p:cNvPr name="TextBox 16" id="16"/>
          <p:cNvSpPr txBox="true"/>
          <p:nvPr/>
        </p:nvSpPr>
        <p:spPr>
          <a:xfrm rot="0">
            <a:off x="914400" y="3910829"/>
            <a:ext cx="10399395" cy="1066800"/>
          </a:xfrm>
          <a:prstGeom prst="rect">
            <a:avLst/>
          </a:prstGeom>
        </p:spPr>
        <p:txBody>
          <a:bodyPr anchor="t" rtlCol="false" tIns="0" lIns="0" bIns="0" rIns="0">
            <a:spAutoFit/>
          </a:bodyPr>
          <a:lstStyle/>
          <a:p>
            <a:pPr algn="l">
              <a:lnSpc>
                <a:spcPts val="3900"/>
              </a:lnSpc>
            </a:pPr>
            <a:r>
              <a:rPr lang="en-US" sz="3000">
                <a:solidFill>
                  <a:srgbClr val="2A3752"/>
                </a:solidFill>
                <a:latin typeface="DM Sans"/>
                <a:ea typeface="DM Sans"/>
                <a:cs typeface="DM Sans"/>
                <a:sym typeface="DM Sans"/>
              </a:rPr>
              <a:t>An AI Ecosystem for Fake Job Scam Detection and Fraud-Aware Job Recommendation</a:t>
            </a:r>
          </a:p>
        </p:txBody>
      </p:sp>
      <p:sp>
        <p:nvSpPr>
          <p:cNvPr name="TextBox 17" id="17"/>
          <p:cNvSpPr txBox="true"/>
          <p:nvPr/>
        </p:nvSpPr>
        <p:spPr>
          <a:xfrm rot="0">
            <a:off x="914400" y="5082404"/>
            <a:ext cx="10399395" cy="487566"/>
          </a:xfrm>
          <a:prstGeom prst="rect">
            <a:avLst/>
          </a:prstGeom>
        </p:spPr>
        <p:txBody>
          <a:bodyPr anchor="t" rtlCol="false" tIns="0" lIns="0" bIns="0" rIns="0">
            <a:spAutoFit/>
          </a:bodyPr>
          <a:lstStyle/>
          <a:p>
            <a:pPr algn="l">
              <a:lnSpc>
                <a:spcPts val="3315"/>
              </a:lnSpc>
            </a:pPr>
            <a:r>
              <a:rPr lang="en-US" sz="2550" b="true">
                <a:solidFill>
                  <a:srgbClr val="1A4FA0"/>
                </a:solidFill>
                <a:latin typeface="DM Sans Bold"/>
                <a:ea typeface="DM Sans Bold"/>
                <a:cs typeface="DM Sans Bold"/>
                <a:sym typeface="DM Sans Bold"/>
              </a:rPr>
              <a:t>Scan. Verify. Report. Apply safely.</a:t>
            </a:r>
          </a:p>
        </p:txBody>
      </p:sp>
      <p:sp>
        <p:nvSpPr>
          <p:cNvPr name="TextBox 18" id="18"/>
          <p:cNvSpPr txBox="true"/>
          <p:nvPr/>
        </p:nvSpPr>
        <p:spPr>
          <a:xfrm rot="0">
            <a:off x="914400" y="6697349"/>
            <a:ext cx="16952976" cy="374015"/>
          </a:xfrm>
          <a:prstGeom prst="rect">
            <a:avLst/>
          </a:prstGeom>
        </p:spPr>
        <p:txBody>
          <a:bodyPr anchor="t" rtlCol="false" tIns="0" lIns="0" bIns="0" rIns="0">
            <a:spAutoFit/>
          </a:bodyPr>
          <a:lstStyle/>
          <a:p>
            <a:pPr algn="l">
              <a:lnSpc>
                <a:spcPts val="3009"/>
              </a:lnSpc>
            </a:pPr>
            <a:r>
              <a:rPr lang="en-US" b="true" sz="2149" spc="248">
                <a:solidFill>
                  <a:srgbClr val="5B6B8C"/>
                </a:solidFill>
                <a:latin typeface="DM Sans Bold"/>
                <a:ea typeface="DM Sans Bold"/>
                <a:cs typeface="DM Sans Bold"/>
                <a:sym typeface="DM Sans Bold"/>
              </a:rPr>
              <a:t>OUR TEAM</a:t>
            </a:r>
          </a:p>
        </p:txBody>
      </p:sp>
      <p:sp>
        <p:nvSpPr>
          <p:cNvPr name="TextBox 19" id="19"/>
          <p:cNvSpPr txBox="true"/>
          <p:nvPr/>
        </p:nvSpPr>
        <p:spPr>
          <a:xfrm rot="0">
            <a:off x="1190625" y="7501164"/>
            <a:ext cx="3492627" cy="381000"/>
          </a:xfrm>
          <a:prstGeom prst="rect">
            <a:avLst/>
          </a:prstGeom>
        </p:spPr>
        <p:txBody>
          <a:bodyPr anchor="t" rtlCol="false" tIns="0" lIns="0" bIns="0" rIns="0">
            <a:spAutoFit/>
          </a:bodyPr>
          <a:lstStyle/>
          <a:p>
            <a:pPr algn="l">
              <a:lnSpc>
                <a:spcPts val="3060"/>
              </a:lnSpc>
            </a:pPr>
            <a:r>
              <a:rPr lang="en-US" sz="2550" b="true">
                <a:solidFill>
                  <a:srgbClr val="0F1F3D"/>
                </a:solidFill>
                <a:latin typeface="DM Sans Bold"/>
                <a:ea typeface="DM Sans Bold"/>
                <a:cs typeface="DM Sans Bold"/>
                <a:sym typeface="DM Sans Bold"/>
              </a:rPr>
              <a:t>Kajanthan U.</a:t>
            </a:r>
          </a:p>
        </p:txBody>
      </p:sp>
      <p:sp>
        <p:nvSpPr>
          <p:cNvPr name="TextBox 20" id="20"/>
          <p:cNvSpPr txBox="true"/>
          <p:nvPr/>
        </p:nvSpPr>
        <p:spPr>
          <a:xfrm rot="0">
            <a:off x="1190625" y="7899280"/>
            <a:ext cx="3492627" cy="390525"/>
          </a:xfrm>
          <a:prstGeom prst="rect">
            <a:avLst/>
          </a:prstGeom>
        </p:spPr>
        <p:txBody>
          <a:bodyPr anchor="t" rtlCol="false" tIns="0" lIns="0" bIns="0" rIns="0">
            <a:spAutoFit/>
          </a:bodyPr>
          <a:lstStyle/>
          <a:p>
            <a:pPr algn="l">
              <a:lnSpc>
                <a:spcPts val="3149"/>
              </a:lnSpc>
            </a:pPr>
            <a:r>
              <a:rPr lang="en-US" sz="2250" b="true">
                <a:solidFill>
                  <a:srgbClr val="1A4FA0"/>
                </a:solidFill>
                <a:latin typeface="DM Sans Bold"/>
                <a:ea typeface="DM Sans Bold"/>
                <a:cs typeface="DM Sans Bold"/>
                <a:sym typeface="DM Sans Bold"/>
              </a:rPr>
              <a:t>IT22224002</a:t>
            </a:r>
          </a:p>
        </p:txBody>
      </p:sp>
      <p:sp>
        <p:nvSpPr>
          <p:cNvPr name="TextBox 21" id="21"/>
          <p:cNvSpPr txBox="true"/>
          <p:nvPr/>
        </p:nvSpPr>
        <p:spPr>
          <a:xfrm rot="0">
            <a:off x="5362575" y="7501164"/>
            <a:ext cx="3492627" cy="426691"/>
          </a:xfrm>
          <a:prstGeom prst="rect">
            <a:avLst/>
          </a:prstGeom>
        </p:spPr>
        <p:txBody>
          <a:bodyPr anchor="t" rtlCol="false" tIns="0" lIns="0" bIns="0" rIns="0">
            <a:spAutoFit/>
          </a:bodyPr>
          <a:lstStyle/>
          <a:p>
            <a:pPr algn="l">
              <a:lnSpc>
                <a:spcPts val="3060"/>
              </a:lnSpc>
            </a:pPr>
            <a:r>
              <a:rPr lang="en-US" sz="2550" b="true">
                <a:solidFill>
                  <a:srgbClr val="0F1F3D"/>
                </a:solidFill>
                <a:latin typeface="DM Sans Bold"/>
                <a:ea typeface="DM Sans Bold"/>
                <a:cs typeface="DM Sans Bold"/>
                <a:sym typeface="DM Sans Bold"/>
              </a:rPr>
              <a:t>Santhosh S.</a:t>
            </a:r>
          </a:p>
        </p:txBody>
      </p:sp>
      <p:sp>
        <p:nvSpPr>
          <p:cNvPr name="TextBox 22" id="22"/>
          <p:cNvSpPr txBox="true"/>
          <p:nvPr/>
        </p:nvSpPr>
        <p:spPr>
          <a:xfrm rot="0">
            <a:off x="5362575" y="7899280"/>
            <a:ext cx="3492627" cy="485775"/>
          </a:xfrm>
          <a:prstGeom prst="rect">
            <a:avLst/>
          </a:prstGeom>
        </p:spPr>
        <p:txBody>
          <a:bodyPr anchor="t" rtlCol="false" tIns="0" lIns="0" bIns="0" rIns="0">
            <a:spAutoFit/>
          </a:bodyPr>
          <a:lstStyle/>
          <a:p>
            <a:pPr algn="l">
              <a:lnSpc>
                <a:spcPts val="3149"/>
              </a:lnSpc>
            </a:pPr>
            <a:r>
              <a:rPr lang="en-US" sz="2250" b="true">
                <a:solidFill>
                  <a:srgbClr val="1A4FA0"/>
                </a:solidFill>
                <a:latin typeface="DM Sans Bold"/>
                <a:ea typeface="DM Sans Bold"/>
                <a:cs typeface="DM Sans Bold"/>
                <a:sym typeface="DM Sans Bold"/>
              </a:rPr>
              <a:t>IT22113740</a:t>
            </a:r>
          </a:p>
        </p:txBody>
      </p:sp>
      <p:sp>
        <p:nvSpPr>
          <p:cNvPr name="TextBox 23" id="23"/>
          <p:cNvSpPr txBox="true"/>
          <p:nvPr/>
        </p:nvSpPr>
        <p:spPr>
          <a:xfrm rot="0">
            <a:off x="9534525" y="7501164"/>
            <a:ext cx="3492627" cy="426691"/>
          </a:xfrm>
          <a:prstGeom prst="rect">
            <a:avLst/>
          </a:prstGeom>
        </p:spPr>
        <p:txBody>
          <a:bodyPr anchor="t" rtlCol="false" tIns="0" lIns="0" bIns="0" rIns="0">
            <a:spAutoFit/>
          </a:bodyPr>
          <a:lstStyle/>
          <a:p>
            <a:pPr algn="l">
              <a:lnSpc>
                <a:spcPts val="3060"/>
              </a:lnSpc>
            </a:pPr>
            <a:r>
              <a:rPr lang="en-US" sz="2550" b="true">
                <a:solidFill>
                  <a:srgbClr val="0F1F3D"/>
                </a:solidFill>
                <a:latin typeface="DM Sans Bold"/>
                <a:ea typeface="DM Sans Bold"/>
                <a:cs typeface="DM Sans Bold"/>
                <a:sym typeface="DM Sans Bold"/>
              </a:rPr>
              <a:t>Bandara H.M.N.T.</a:t>
            </a:r>
          </a:p>
        </p:txBody>
      </p:sp>
      <p:sp>
        <p:nvSpPr>
          <p:cNvPr name="TextBox 24" id="24"/>
          <p:cNvSpPr txBox="true"/>
          <p:nvPr/>
        </p:nvSpPr>
        <p:spPr>
          <a:xfrm rot="0">
            <a:off x="9534525" y="7899280"/>
            <a:ext cx="3492627" cy="485775"/>
          </a:xfrm>
          <a:prstGeom prst="rect">
            <a:avLst/>
          </a:prstGeom>
        </p:spPr>
        <p:txBody>
          <a:bodyPr anchor="t" rtlCol="false" tIns="0" lIns="0" bIns="0" rIns="0">
            <a:spAutoFit/>
          </a:bodyPr>
          <a:lstStyle/>
          <a:p>
            <a:pPr algn="l">
              <a:lnSpc>
                <a:spcPts val="3149"/>
              </a:lnSpc>
            </a:pPr>
            <a:r>
              <a:rPr lang="en-US" sz="2250" b="true">
                <a:solidFill>
                  <a:srgbClr val="1A4FA0"/>
                </a:solidFill>
                <a:latin typeface="DM Sans Bold"/>
                <a:ea typeface="DM Sans Bold"/>
                <a:cs typeface="DM Sans Bold"/>
                <a:sym typeface="DM Sans Bold"/>
              </a:rPr>
              <a:t>IT22251664</a:t>
            </a:r>
          </a:p>
        </p:txBody>
      </p:sp>
      <p:sp>
        <p:nvSpPr>
          <p:cNvPr name="TextBox 25" id="25"/>
          <p:cNvSpPr txBox="true"/>
          <p:nvPr/>
        </p:nvSpPr>
        <p:spPr>
          <a:xfrm rot="0">
            <a:off x="13706475" y="7501164"/>
            <a:ext cx="3492627" cy="426691"/>
          </a:xfrm>
          <a:prstGeom prst="rect">
            <a:avLst/>
          </a:prstGeom>
        </p:spPr>
        <p:txBody>
          <a:bodyPr anchor="t" rtlCol="false" tIns="0" lIns="0" bIns="0" rIns="0">
            <a:spAutoFit/>
          </a:bodyPr>
          <a:lstStyle/>
          <a:p>
            <a:pPr algn="l">
              <a:lnSpc>
                <a:spcPts val="3060"/>
              </a:lnSpc>
            </a:pPr>
            <a:r>
              <a:rPr lang="en-US" sz="2550" b="true">
                <a:solidFill>
                  <a:srgbClr val="0F1F3D"/>
                </a:solidFill>
                <a:latin typeface="DM Sans Bold"/>
                <a:ea typeface="DM Sans Bold"/>
                <a:cs typeface="DM Sans Bold"/>
                <a:sym typeface="DM Sans Bold"/>
              </a:rPr>
              <a:t>Methmi N.P.C.S.</a:t>
            </a:r>
          </a:p>
        </p:txBody>
      </p:sp>
      <p:sp>
        <p:nvSpPr>
          <p:cNvPr name="TextBox 26" id="26"/>
          <p:cNvSpPr txBox="true"/>
          <p:nvPr/>
        </p:nvSpPr>
        <p:spPr>
          <a:xfrm rot="0">
            <a:off x="13706475" y="7899280"/>
            <a:ext cx="3492627" cy="485775"/>
          </a:xfrm>
          <a:prstGeom prst="rect">
            <a:avLst/>
          </a:prstGeom>
        </p:spPr>
        <p:txBody>
          <a:bodyPr anchor="t" rtlCol="false" tIns="0" lIns="0" bIns="0" rIns="0">
            <a:spAutoFit/>
          </a:bodyPr>
          <a:lstStyle/>
          <a:p>
            <a:pPr algn="l">
              <a:lnSpc>
                <a:spcPts val="3149"/>
              </a:lnSpc>
            </a:pPr>
            <a:r>
              <a:rPr lang="en-US" sz="2250" b="true">
                <a:solidFill>
                  <a:srgbClr val="1A4FA0"/>
                </a:solidFill>
                <a:latin typeface="DM Sans Bold"/>
                <a:ea typeface="DM Sans Bold"/>
                <a:cs typeface="DM Sans Bold"/>
                <a:sym typeface="DM Sans Bold"/>
              </a:rPr>
              <a:t>IT22188618</a:t>
            </a:r>
          </a:p>
        </p:txBody>
      </p:sp>
      <p:sp>
        <p:nvSpPr>
          <p:cNvPr name="TextBox 27" id="27"/>
          <p:cNvSpPr txBox="true"/>
          <p:nvPr/>
        </p:nvSpPr>
        <p:spPr>
          <a:xfrm rot="0">
            <a:off x="914400" y="8808085"/>
            <a:ext cx="16952976" cy="450215"/>
          </a:xfrm>
          <a:prstGeom prst="rect">
            <a:avLst/>
          </a:prstGeom>
        </p:spPr>
        <p:txBody>
          <a:bodyPr anchor="t" rtlCol="false" tIns="0" lIns="0" bIns="0" rIns="0">
            <a:spAutoFit/>
          </a:bodyPr>
          <a:lstStyle/>
          <a:p>
            <a:pPr algn="l">
              <a:lnSpc>
                <a:spcPts val="3639"/>
              </a:lnSpc>
            </a:pPr>
            <a:r>
              <a:rPr lang="en-US" sz="2799" b="true">
                <a:solidFill>
                  <a:srgbClr val="5B6B8C"/>
                </a:solidFill>
                <a:latin typeface="DM Sans Bold"/>
                <a:ea typeface="DM Sans Bold"/>
                <a:cs typeface="DM Sans Bold"/>
                <a:sym typeface="DM Sans Bold"/>
              </a:rPr>
              <a:t>Supervisor: Ms. Karthiga Rajendran · Co-supervisor: Ms. Thilini Jayalath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DAHYbvWxsMo</dc:identifier>
  <dcterms:modified xsi:type="dcterms:W3CDTF">2011-08-01T06:04:30Z</dcterms:modified>
  <cp:revision>1</cp:revision>
  <dc:title>R26-SE-002_Final.pptx</dc:title>
</cp:coreProperties>
</file>