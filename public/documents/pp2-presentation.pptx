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88" r:id="rId3"/>
    <p:sldId id="275" r:id="rId4"/>
    <p:sldId id="277" r:id="rId5"/>
    <p:sldId id="257" r:id="rId6"/>
    <p:sldId id="278" r:id="rId7"/>
    <p:sldId id="279" r:id="rId8"/>
    <p:sldId id="270" r:id="rId9"/>
    <p:sldId id="280" r:id="rId10"/>
    <p:sldId id="281" r:id="rId11"/>
    <p:sldId id="282" r:id="rId12"/>
    <p:sldId id="283" r:id="rId13"/>
    <p:sldId id="284" r:id="rId14"/>
    <p:sldId id="285" r:id="rId15"/>
    <p:sldId id="286" r:id="rId16"/>
    <p:sldId id="287" r:id="rId17"/>
  </p:sldIdLst>
  <p:sldSz cx="18288000" cy="10287000"/>
  <p:notesSz cx="6858000" cy="9144000"/>
  <p:defaultTex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puni Bandara" initials="NB" lastIdx="1" clrIdx="0">
    <p:extLst>
      <p:ext uri="{19B8F6BF-5375-455C-9EA6-DF929625EA0E}">
        <p15:presenceInfo xmlns:p15="http://schemas.microsoft.com/office/powerpoint/2012/main" userId="953b624c7c309d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3D5A"/>
    <a:srgbClr val="615CED"/>
    <a:srgbClr val="00AC94"/>
    <a:srgbClr val="00828A"/>
    <a:srgbClr val="F4D8E1"/>
    <a:srgbClr val="E7F5F4"/>
    <a:srgbClr val="017081"/>
    <a:srgbClr val="BAE8AA"/>
    <a:srgbClr val="CE95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37"/>
  </p:normalViewPr>
  <p:slideViewPr>
    <p:cSldViewPr snapToGrid="0">
      <p:cViewPr varScale="1">
        <p:scale>
          <a:sx n="57" d="100"/>
          <a:sy n="57" d="100"/>
        </p:scale>
        <p:origin x="59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2134B-43E4-4FD3-BD54-5745AA54E21B}"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A51EFA-C400-4C67-9C90-758D9110D52E}" type="slidenum">
              <a:rPr lang="en-US" smtClean="0"/>
              <a:t>‹#›</a:t>
            </a:fld>
            <a:endParaRPr lang="en-US"/>
          </a:p>
        </p:txBody>
      </p:sp>
    </p:spTree>
    <p:extLst>
      <p:ext uri="{BB962C8B-B14F-4D97-AF65-F5344CB8AC3E}">
        <p14:creationId xmlns:p14="http://schemas.microsoft.com/office/powerpoint/2010/main" val="774758308"/>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A51EFA-C400-4C67-9C90-758D9110D52E}" type="slidenum">
              <a:rPr lang="en-US" smtClean="0"/>
              <a:t>4</a:t>
            </a:fld>
            <a:endParaRPr lang="en-US"/>
          </a:p>
        </p:txBody>
      </p:sp>
    </p:spTree>
    <p:extLst>
      <p:ext uri="{BB962C8B-B14F-4D97-AF65-F5344CB8AC3E}">
        <p14:creationId xmlns:p14="http://schemas.microsoft.com/office/powerpoint/2010/main" val="3791577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CB42-C4C5-E3E8-982C-53B89D0AAE53}"/>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8294BB05-1A77-208A-55CB-AF9E6A575724}"/>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B8367AB7-8924-8904-3684-A8D97BBFEDD8}"/>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7D0715E9-DA91-C258-2841-77594F56C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9F12C-BB70-6922-0276-B1E97A98E559}"/>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870541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9D83C-356A-DB13-89E6-0B08456979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C4B122-8280-F5E5-7E55-0A1F028391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239B8-D461-63D3-F77B-6A11E35ACF80}"/>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5A6A8FD4-DA5E-8D0A-F7BA-8AC2E6FBB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633DC-4431-A956-F865-C41881DCB836}"/>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3332349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1B0D3-0817-50D7-8592-AF1D9AA7D4A3}"/>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35160E9F-963B-11D6-D6BF-025E16A5D2C2}"/>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E59A1D-6187-FB0F-BE60-4807981B765D}"/>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C4596B0A-7B67-3935-0261-04AFE2364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346A7-5B7E-2501-C847-BAF68296901F}"/>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973496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DB0C-E44B-28DB-E015-E6FC909A80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02E411-CEDE-62A9-0AEC-B70F3490FDB2}"/>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DA8ACB-E65B-95EF-E0E5-E1AC4EE8FEC5}"/>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DF9B66-F326-7FAE-EA4E-5DDD4B05E8EB}"/>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6" name="Footer Placeholder 5">
            <a:extLst>
              <a:ext uri="{FF2B5EF4-FFF2-40B4-BE49-F238E27FC236}">
                <a16:creationId xmlns:a16="http://schemas.microsoft.com/office/drawing/2014/main" id="{F1C31CED-495D-73B0-E966-14FECEF5B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7C0033-E0AA-B155-C28C-477E8AD6638B}"/>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033810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3BF0-9462-7F9A-141A-D727B4540358}"/>
              </a:ext>
            </a:extLst>
          </p:cNvPr>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8AF5383C-995B-C641-5904-884C4958855C}"/>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ACEFAA00-CC1F-16B9-DC7B-69A4524A3A55}"/>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F69B43-83D0-D08F-775F-8EEB8E6CF068}"/>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93831-5E67-4FD2-5566-AEE2F5CB93D9}"/>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3C642F-C010-35BE-4445-983D29A9A1E2}"/>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8" name="Footer Placeholder 7">
            <a:extLst>
              <a:ext uri="{FF2B5EF4-FFF2-40B4-BE49-F238E27FC236}">
                <a16:creationId xmlns:a16="http://schemas.microsoft.com/office/drawing/2014/main" id="{E98280F7-1905-9C56-0EFC-781B87D40E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F15280-A92F-E578-5DE4-B71DF1344905}"/>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186143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896F4-C7BC-298D-869D-2AA1151609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6977CD-15E7-0F07-FB33-278837DCE143}"/>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4" name="Footer Placeholder 3">
            <a:extLst>
              <a:ext uri="{FF2B5EF4-FFF2-40B4-BE49-F238E27FC236}">
                <a16:creationId xmlns:a16="http://schemas.microsoft.com/office/drawing/2014/main" id="{F74171A5-C7DC-968D-E8BE-3C0D1FE230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CD889B-872E-EFB0-79FE-5720DAD32E1C}"/>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359986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460F11-3B46-DA94-E883-7C9DDB3415D3}"/>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3" name="Footer Placeholder 2">
            <a:extLst>
              <a:ext uri="{FF2B5EF4-FFF2-40B4-BE49-F238E27FC236}">
                <a16:creationId xmlns:a16="http://schemas.microsoft.com/office/drawing/2014/main" id="{E421106D-432A-4026-28B0-4709E0BC83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03042A-683A-6E8B-FE4D-51BCCD8F32AE}"/>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3108912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D7339-2F63-ABCB-4560-9C358D0AF9CB}"/>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a:extLst>
              <a:ext uri="{FF2B5EF4-FFF2-40B4-BE49-F238E27FC236}">
                <a16:creationId xmlns:a16="http://schemas.microsoft.com/office/drawing/2014/main" id="{3E2CC328-0F1B-A31E-55BF-B4B017329B11}"/>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762DE5-352F-204B-A02A-47E6C59A6759}"/>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D973C419-D03B-895C-0103-00E268260368}"/>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6" name="Footer Placeholder 5">
            <a:extLst>
              <a:ext uri="{FF2B5EF4-FFF2-40B4-BE49-F238E27FC236}">
                <a16:creationId xmlns:a16="http://schemas.microsoft.com/office/drawing/2014/main" id="{2E5CF535-5318-9CDD-A1CC-3D63579124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3C5415-B3D6-0B87-2086-24ADA41E7176}"/>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999712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2003F-E8D1-FCF2-2398-598789711C01}"/>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a:extLst>
              <a:ext uri="{FF2B5EF4-FFF2-40B4-BE49-F238E27FC236}">
                <a16:creationId xmlns:a16="http://schemas.microsoft.com/office/drawing/2014/main" id="{0410DDE3-DDF4-31F7-939A-1404D111C3F3}"/>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US"/>
          </a:p>
        </p:txBody>
      </p:sp>
      <p:sp>
        <p:nvSpPr>
          <p:cNvPr id="4" name="Text Placeholder 3">
            <a:extLst>
              <a:ext uri="{FF2B5EF4-FFF2-40B4-BE49-F238E27FC236}">
                <a16:creationId xmlns:a16="http://schemas.microsoft.com/office/drawing/2014/main" id="{4F849E34-4B4C-603B-870C-34A162EAD225}"/>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68E3EF4A-A0FB-5B0F-4BE1-57642CD28DB7}"/>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6" name="Footer Placeholder 5">
            <a:extLst>
              <a:ext uri="{FF2B5EF4-FFF2-40B4-BE49-F238E27FC236}">
                <a16:creationId xmlns:a16="http://schemas.microsoft.com/office/drawing/2014/main" id="{BE817D5C-B6AE-10AE-7F33-078F56D3D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F36655-965F-FA5E-742E-52279343630D}"/>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3890315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DE6-82F1-F5FD-1B5A-70FDD80301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2B3FEE-2675-6B0B-97FF-D83098C0F7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2ED8C-43AA-616A-BE47-2B85BD5D2D25}"/>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2ED89AB4-39C8-A3D9-C399-3D69CC7BF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44B5D-300D-5675-F52A-DF94AAD518A5}"/>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2420644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C95D3-2297-5902-3E23-F674301D6529}"/>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0DA8CF-139F-C7C9-3D04-58C7D896DB8A}"/>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291E1-0FC0-3C6F-8061-A18D5E59ABD6}"/>
              </a:ext>
            </a:extLst>
          </p:cNvPr>
          <p:cNvSpPr>
            <a:spLocks noGrp="1"/>
          </p:cNvSpPr>
          <p:nvPr>
            <p:ph type="dt" sz="half" idx="10"/>
          </p:nvPr>
        </p:nvSpPr>
        <p:spPr/>
        <p:txBody>
          <a:body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B09AD6D1-85E7-E8B1-72F5-BDD259A94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6CDCB7-79C6-9D99-4E8B-CE1618F11F17}"/>
              </a:ext>
            </a:extLst>
          </p:cNvPr>
          <p:cNvSpPr>
            <a:spLocks noGrp="1"/>
          </p:cNvSpPr>
          <p:nvPr>
            <p:ph type="sldNum" sz="quarter" idx="12"/>
          </p:nvPr>
        </p:nvSpPr>
        <p:spPr/>
        <p:txBody>
          <a:bodyPr/>
          <a:lstStyle/>
          <a:p>
            <a:fld id="{C49DF198-D8B3-A84E-9C91-B4538A2ABFA3}" type="slidenum">
              <a:rPr lang="en-US" smtClean="0"/>
              <a:t>‹#›</a:t>
            </a:fld>
            <a:endParaRPr lang="en-US"/>
          </a:p>
        </p:txBody>
      </p:sp>
    </p:spTree>
    <p:extLst>
      <p:ext uri="{BB962C8B-B14F-4D97-AF65-F5344CB8AC3E}">
        <p14:creationId xmlns:p14="http://schemas.microsoft.com/office/powerpoint/2010/main" val="1066323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2F100-664C-AE1A-4BD0-9231C58599A4}"/>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069312-38F4-FFA1-0F97-09905246791F}"/>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DCDAAB-F3C1-B8EF-897C-935B546ACDDE}"/>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6033B3A4-3499-D54F-B1FE-DE863E6515CE}" type="datetimeFigureOut">
              <a:rPr lang="en-US" smtClean="0"/>
              <a:t>10/17/2026</a:t>
            </a:fld>
            <a:endParaRPr lang="en-US"/>
          </a:p>
        </p:txBody>
      </p:sp>
      <p:sp>
        <p:nvSpPr>
          <p:cNvPr id="5" name="Footer Placeholder 4">
            <a:extLst>
              <a:ext uri="{FF2B5EF4-FFF2-40B4-BE49-F238E27FC236}">
                <a16:creationId xmlns:a16="http://schemas.microsoft.com/office/drawing/2014/main" id="{2735A38B-0907-394A-41C4-E5B2C41F6F6A}"/>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113BE7-E7E7-E629-4A31-CD5E97BD233D}"/>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C49DF198-D8B3-A84E-9C91-B4538A2ABFA3}" type="slidenum">
              <a:rPr lang="en-US" smtClean="0"/>
              <a:t>‹#›</a:t>
            </a:fld>
            <a:endParaRPr lang="en-US"/>
          </a:p>
        </p:txBody>
      </p:sp>
    </p:spTree>
    <p:extLst>
      <p:ext uri="{BB962C8B-B14F-4D97-AF65-F5344CB8AC3E}">
        <p14:creationId xmlns:p14="http://schemas.microsoft.com/office/powerpoint/2010/main" val="3756790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svg"/><Relationship Id="rId7"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sv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18" Type="http://schemas.openxmlformats.org/officeDocument/2006/relationships/image" Target="../media/image32.svg"/><Relationship Id="rId3" Type="http://schemas.openxmlformats.org/officeDocument/2006/relationships/image" Target="../media/image17.png"/><Relationship Id="rId21" Type="http://schemas.openxmlformats.org/officeDocument/2006/relationships/image" Target="../media/image2.svg"/><Relationship Id="rId7" Type="http://schemas.openxmlformats.org/officeDocument/2006/relationships/image" Target="../media/image21.png"/><Relationship Id="rId12" Type="http://schemas.openxmlformats.org/officeDocument/2006/relationships/image" Target="../media/image26.svg"/><Relationship Id="rId17" Type="http://schemas.openxmlformats.org/officeDocument/2006/relationships/image" Target="../media/image31.png"/><Relationship Id="rId2" Type="http://schemas.openxmlformats.org/officeDocument/2006/relationships/image" Target="../media/image7.png"/><Relationship Id="rId16" Type="http://schemas.openxmlformats.org/officeDocument/2006/relationships/image" Target="../media/image30.svg"/><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svg"/><Relationship Id="rId19" Type="http://schemas.openxmlformats.org/officeDocument/2006/relationships/image" Target="../media/image33.pn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image" Target="../media/image7.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5.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5.jpe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98A779AF-72C2-4097-A849-D8F3839F576E}"/>
              </a:ext>
            </a:extLst>
          </p:cNvPr>
          <p:cNvSpPr/>
          <p:nvPr/>
        </p:nvSpPr>
        <p:spPr>
          <a:xfrm rot="-5400000">
            <a:off x="12286169" y="4903424"/>
            <a:ext cx="11520040" cy="483623"/>
          </a:xfrm>
          <a:custGeom>
            <a:avLst/>
            <a:gdLst/>
            <a:ahLst/>
            <a:cxnLst/>
            <a:rect l="l" t="t" r="r" b="b"/>
            <a:pathLst>
              <a:path w="11520040" h="483623">
                <a:moveTo>
                  <a:pt x="0" y="0"/>
                </a:moveTo>
                <a:lnTo>
                  <a:pt x="11520039" y="0"/>
                </a:lnTo>
                <a:lnTo>
                  <a:pt x="11520039" y="483623"/>
                </a:lnTo>
                <a:lnTo>
                  <a:pt x="0" y="483623"/>
                </a:lnTo>
                <a:lnTo>
                  <a:pt x="0" y="0"/>
                </a:lnTo>
                <a:close/>
              </a:path>
            </a:pathLst>
          </a:custGeom>
          <a:blipFill>
            <a:blip r:embed="rId2">
              <a:extLst>
                <a:ext uri="{96DAC541-7B7A-43D3-8B79-37D633B846F1}">
                  <asvg:svgBlip xmlns:asvg="http://schemas.microsoft.com/office/drawing/2016/SVG/main" r:embed="rId3"/>
                </a:ext>
              </a:extLst>
            </a:blip>
            <a:stretch>
              <a:fillRect t="-168519"/>
            </a:stretch>
          </a:blipFill>
        </p:spPr>
      </p:sp>
      <p:sp>
        <p:nvSpPr>
          <p:cNvPr id="5" name="Freeform 3">
            <a:extLst>
              <a:ext uri="{FF2B5EF4-FFF2-40B4-BE49-F238E27FC236}">
                <a16:creationId xmlns:a16="http://schemas.microsoft.com/office/drawing/2014/main" id="{1273FDA2-DB44-4C29-853F-9714C7F19E70}"/>
              </a:ext>
            </a:extLst>
          </p:cNvPr>
          <p:cNvSpPr/>
          <p:nvPr/>
        </p:nvSpPr>
        <p:spPr>
          <a:xfrm>
            <a:off x="-5240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r:embed="rId4">
              <a:extLst>
                <a:ext uri="{96DAC541-7B7A-43D3-8B79-37D633B846F1}">
                  <asvg:svgBlip xmlns:asvg="http://schemas.microsoft.com/office/drawing/2016/SVG/main" r:embed="rId5"/>
                </a:ext>
              </a:extLst>
            </a:blip>
            <a:stretch>
              <a:fillRect b="-211081"/>
            </a:stretch>
          </a:blipFill>
        </p:spPr>
      </p:sp>
      <p:grpSp>
        <p:nvGrpSpPr>
          <p:cNvPr id="6" name="Group 4">
            <a:extLst>
              <a:ext uri="{FF2B5EF4-FFF2-40B4-BE49-F238E27FC236}">
                <a16:creationId xmlns:a16="http://schemas.microsoft.com/office/drawing/2014/main" id="{133E736B-7325-4C56-B97C-6A778189824B}"/>
              </a:ext>
            </a:extLst>
          </p:cNvPr>
          <p:cNvGrpSpPr/>
          <p:nvPr/>
        </p:nvGrpSpPr>
        <p:grpSpPr>
          <a:xfrm>
            <a:off x="5025655" y="6700591"/>
            <a:ext cx="12073199" cy="647342"/>
            <a:chOff x="0" y="0"/>
            <a:chExt cx="3179773" cy="170493"/>
          </a:xfrm>
        </p:grpSpPr>
        <p:sp>
          <p:nvSpPr>
            <p:cNvPr id="7" name="Freeform 5">
              <a:extLst>
                <a:ext uri="{FF2B5EF4-FFF2-40B4-BE49-F238E27FC236}">
                  <a16:creationId xmlns:a16="http://schemas.microsoft.com/office/drawing/2014/main" id="{5C11C825-9553-4AF2-90C7-E69EC6C107E1}"/>
                </a:ext>
              </a:extLst>
            </p:cNvPr>
            <p:cNvSpPr/>
            <p:nvPr/>
          </p:nvSpPr>
          <p:spPr>
            <a:xfrm>
              <a:off x="0" y="0"/>
              <a:ext cx="3179773" cy="170493"/>
            </a:xfrm>
            <a:custGeom>
              <a:avLst/>
              <a:gdLst/>
              <a:ahLst/>
              <a:cxnLst/>
              <a:rect l="l" t="t" r="r" b="b"/>
              <a:pathLst>
                <a:path w="3179773" h="170493">
                  <a:moveTo>
                    <a:pt x="6412" y="0"/>
                  </a:moveTo>
                  <a:lnTo>
                    <a:pt x="3173360" y="0"/>
                  </a:lnTo>
                  <a:cubicBezTo>
                    <a:pt x="3175061" y="0"/>
                    <a:pt x="3176692" y="676"/>
                    <a:pt x="3177894" y="1878"/>
                  </a:cubicBezTo>
                  <a:cubicBezTo>
                    <a:pt x="3179097" y="3081"/>
                    <a:pt x="3179773" y="4712"/>
                    <a:pt x="3179773" y="6412"/>
                  </a:cubicBezTo>
                  <a:lnTo>
                    <a:pt x="3179773" y="164081"/>
                  </a:lnTo>
                  <a:cubicBezTo>
                    <a:pt x="3179773" y="167623"/>
                    <a:pt x="3176902" y="170493"/>
                    <a:pt x="3173360" y="170493"/>
                  </a:cubicBezTo>
                  <a:lnTo>
                    <a:pt x="6412" y="170493"/>
                  </a:lnTo>
                  <a:cubicBezTo>
                    <a:pt x="4712" y="170493"/>
                    <a:pt x="3081" y="169818"/>
                    <a:pt x="1878" y="168615"/>
                  </a:cubicBezTo>
                  <a:cubicBezTo>
                    <a:pt x="676" y="167413"/>
                    <a:pt x="0" y="165782"/>
                    <a:pt x="0" y="164081"/>
                  </a:cubicBezTo>
                  <a:lnTo>
                    <a:pt x="0" y="6412"/>
                  </a:lnTo>
                  <a:cubicBezTo>
                    <a:pt x="0" y="4712"/>
                    <a:pt x="676" y="3081"/>
                    <a:pt x="1878" y="1878"/>
                  </a:cubicBezTo>
                  <a:cubicBezTo>
                    <a:pt x="3081" y="676"/>
                    <a:pt x="4712" y="0"/>
                    <a:pt x="6412" y="0"/>
                  </a:cubicBezTo>
                  <a:close/>
                </a:path>
              </a:pathLst>
            </a:custGeom>
            <a:solidFill>
              <a:srgbClr val="00B7FF"/>
            </a:solidFill>
          </p:spPr>
        </p:sp>
        <p:sp>
          <p:nvSpPr>
            <p:cNvPr id="8" name="TextBox 6">
              <a:extLst>
                <a:ext uri="{FF2B5EF4-FFF2-40B4-BE49-F238E27FC236}">
                  <a16:creationId xmlns:a16="http://schemas.microsoft.com/office/drawing/2014/main" id="{E660C6BF-04A0-45EB-8133-A4EC2E7818C0}"/>
                </a:ext>
              </a:extLst>
            </p:cNvPr>
            <p:cNvSpPr txBox="1"/>
            <p:nvPr/>
          </p:nvSpPr>
          <p:spPr>
            <a:xfrm>
              <a:off x="0" y="-47625"/>
              <a:ext cx="3179773" cy="218118"/>
            </a:xfrm>
            <a:prstGeom prst="rect">
              <a:avLst/>
            </a:prstGeom>
          </p:spPr>
          <p:txBody>
            <a:bodyPr lIns="50800" tIns="50800" rIns="50800" bIns="50800" rtlCol="0" anchor="ctr"/>
            <a:lstStyle/>
            <a:p>
              <a:pPr marL="0" lvl="0" indent="0" algn="ctr">
                <a:lnSpc>
                  <a:spcPts val="3890"/>
                </a:lnSpc>
                <a:spcBef>
                  <a:spcPct val="0"/>
                </a:spcBef>
              </a:pPr>
              <a:r>
                <a:rPr lang="en-US" sz="2778" spc="225">
                  <a:solidFill>
                    <a:srgbClr val="000000"/>
                  </a:solidFill>
                  <a:latin typeface="Open Sans"/>
                  <a:ea typeface="Open Sans"/>
                  <a:cs typeface="Open Sans"/>
                  <a:sym typeface="Open Sans"/>
                </a:rPr>
                <a:t>    </a:t>
              </a:r>
              <a:r>
                <a:rPr lang="en-US" sz="2778" u="none" strike="noStrike" spc="225">
                  <a:solidFill>
                    <a:srgbClr val="000000"/>
                  </a:solidFill>
                  <a:latin typeface="Open Sans"/>
                  <a:ea typeface="Open Sans"/>
                  <a:cs typeface="Open Sans"/>
                  <a:sym typeface="Open Sans"/>
                </a:rPr>
                <a:t>Protecting Sri Lankan Job Seekers Through Intelligent AI</a:t>
              </a:r>
            </a:p>
          </p:txBody>
        </p:sp>
      </p:grpSp>
      <p:sp>
        <p:nvSpPr>
          <p:cNvPr id="9" name="Freeform 7">
            <a:extLst>
              <a:ext uri="{FF2B5EF4-FFF2-40B4-BE49-F238E27FC236}">
                <a16:creationId xmlns:a16="http://schemas.microsoft.com/office/drawing/2014/main" id="{FE8A255B-5F29-49E7-B745-45FB5F59A5B6}"/>
              </a:ext>
            </a:extLst>
          </p:cNvPr>
          <p:cNvSpPr/>
          <p:nvPr/>
        </p:nvSpPr>
        <p:spPr>
          <a:xfrm>
            <a:off x="5245085" y="6876786"/>
            <a:ext cx="563154" cy="294952"/>
          </a:xfrm>
          <a:custGeom>
            <a:avLst/>
            <a:gdLst/>
            <a:ahLst/>
            <a:cxnLst/>
            <a:rect l="l" t="t" r="r" b="b"/>
            <a:pathLst>
              <a:path w="563154" h="294952">
                <a:moveTo>
                  <a:pt x="0" y="0"/>
                </a:moveTo>
                <a:lnTo>
                  <a:pt x="563154" y="0"/>
                </a:lnTo>
                <a:lnTo>
                  <a:pt x="563154" y="294952"/>
                </a:lnTo>
                <a:lnTo>
                  <a:pt x="0" y="294952"/>
                </a:lnTo>
                <a:lnTo>
                  <a:pt x="0" y="0"/>
                </a:lnTo>
                <a:close/>
              </a:path>
            </a:pathLst>
          </a:custGeom>
          <a:blipFill>
            <a:blip r:embed="rId6"/>
            <a:stretch>
              <a:fillRect/>
            </a:stretch>
          </a:blipFill>
        </p:spPr>
      </p:sp>
      <p:sp>
        <p:nvSpPr>
          <p:cNvPr id="10" name="Freeform 8">
            <a:extLst>
              <a:ext uri="{FF2B5EF4-FFF2-40B4-BE49-F238E27FC236}">
                <a16:creationId xmlns:a16="http://schemas.microsoft.com/office/drawing/2014/main" id="{969C9E38-C1D0-48E9-A7EA-D817C2ED822D}"/>
              </a:ext>
            </a:extLst>
          </p:cNvPr>
          <p:cNvSpPr/>
          <p:nvPr/>
        </p:nvSpPr>
        <p:spPr>
          <a:xfrm>
            <a:off x="370570" y="2241429"/>
            <a:ext cx="4159288" cy="5632844"/>
          </a:xfrm>
          <a:custGeom>
            <a:avLst/>
            <a:gdLst/>
            <a:ahLst/>
            <a:cxnLst/>
            <a:rect l="l" t="t" r="r" b="b"/>
            <a:pathLst>
              <a:path w="4159288" h="5632844">
                <a:moveTo>
                  <a:pt x="0" y="0"/>
                </a:moveTo>
                <a:lnTo>
                  <a:pt x="4159288" y="0"/>
                </a:lnTo>
                <a:lnTo>
                  <a:pt x="4159288" y="5632844"/>
                </a:lnTo>
                <a:lnTo>
                  <a:pt x="0" y="5632844"/>
                </a:lnTo>
                <a:lnTo>
                  <a:pt x="0" y="0"/>
                </a:lnTo>
                <a:close/>
              </a:path>
            </a:pathLst>
          </a:custGeom>
          <a:blipFill>
            <a:blip r:embed="rId7"/>
            <a:stretch>
              <a:fillRect l="-74110" r="-74381"/>
            </a:stretch>
          </a:blipFill>
        </p:spPr>
      </p:sp>
      <p:sp>
        <p:nvSpPr>
          <p:cNvPr id="11" name="TextBox 9">
            <a:extLst>
              <a:ext uri="{FF2B5EF4-FFF2-40B4-BE49-F238E27FC236}">
                <a16:creationId xmlns:a16="http://schemas.microsoft.com/office/drawing/2014/main" id="{E2330560-6BFF-482C-8497-1FAC65C34BD2}"/>
              </a:ext>
            </a:extLst>
          </p:cNvPr>
          <p:cNvSpPr txBox="1"/>
          <p:nvPr/>
        </p:nvSpPr>
        <p:spPr>
          <a:xfrm>
            <a:off x="5025655" y="2809189"/>
            <a:ext cx="10762817" cy="2248662"/>
          </a:xfrm>
          <a:prstGeom prst="rect">
            <a:avLst/>
          </a:prstGeom>
        </p:spPr>
        <p:txBody>
          <a:bodyPr lIns="0" tIns="0" rIns="0" bIns="0" rtlCol="0" anchor="t">
            <a:spAutoFit/>
          </a:bodyPr>
          <a:lstStyle/>
          <a:p>
            <a:pPr algn="l">
              <a:lnSpc>
                <a:spcPts val="9023"/>
              </a:lnSpc>
            </a:pPr>
            <a:r>
              <a:rPr lang="en-US" sz="6399" spc="236" dirty="0">
                <a:solidFill>
                  <a:srgbClr val="000000"/>
                </a:solidFill>
                <a:latin typeface="League Spartan"/>
                <a:ea typeface="League Spartan"/>
                <a:cs typeface="League Spartan"/>
                <a:sym typeface="League Spartan"/>
              </a:rPr>
              <a:t>AI-POWERED JOB SCAM</a:t>
            </a:r>
          </a:p>
          <a:p>
            <a:pPr algn="l">
              <a:lnSpc>
                <a:spcPts val="9023"/>
              </a:lnSpc>
            </a:pPr>
            <a:r>
              <a:rPr lang="en-US" sz="6399" spc="236" dirty="0">
                <a:solidFill>
                  <a:srgbClr val="000000"/>
                </a:solidFill>
                <a:latin typeface="League Spartan"/>
                <a:ea typeface="League Spartan"/>
                <a:cs typeface="League Spartan"/>
                <a:sym typeface="League Spartan"/>
              </a:rPr>
              <a:t>DETECTION ECOSYSTEM</a:t>
            </a:r>
          </a:p>
        </p:txBody>
      </p:sp>
      <p:sp>
        <p:nvSpPr>
          <p:cNvPr id="12" name="TextBox 10">
            <a:extLst>
              <a:ext uri="{FF2B5EF4-FFF2-40B4-BE49-F238E27FC236}">
                <a16:creationId xmlns:a16="http://schemas.microsoft.com/office/drawing/2014/main" id="{FDE74755-6CB8-464F-99B9-191A9892F1EB}"/>
              </a:ext>
            </a:extLst>
          </p:cNvPr>
          <p:cNvSpPr txBox="1"/>
          <p:nvPr/>
        </p:nvSpPr>
        <p:spPr>
          <a:xfrm>
            <a:off x="5025655" y="5290794"/>
            <a:ext cx="12778722" cy="957931"/>
          </a:xfrm>
          <a:prstGeom prst="rect">
            <a:avLst/>
          </a:prstGeom>
        </p:spPr>
        <p:txBody>
          <a:bodyPr lIns="0" tIns="0" rIns="0" bIns="0" rtlCol="0" anchor="t">
            <a:spAutoFit/>
          </a:bodyPr>
          <a:lstStyle/>
          <a:p>
            <a:pPr algn="l">
              <a:lnSpc>
                <a:spcPts val="3890"/>
              </a:lnSpc>
              <a:spcBef>
                <a:spcPct val="0"/>
              </a:spcBef>
            </a:pPr>
            <a:r>
              <a:rPr lang="en-US" sz="2778" spc="225">
                <a:solidFill>
                  <a:srgbClr val="000000"/>
                </a:solidFill>
                <a:latin typeface="Open Sans"/>
                <a:ea typeface="Open Sans"/>
                <a:cs typeface="Open Sans"/>
                <a:sym typeface="Open Sans"/>
              </a:rPr>
              <a:t>A Multi-Model Framework for Fake Job Detection, Employer Verification, Communication Analysis &amp; Explainable Risk Scoring</a:t>
            </a:r>
          </a:p>
        </p:txBody>
      </p:sp>
      <p:sp>
        <p:nvSpPr>
          <p:cNvPr id="15" name="Freeform 11">
            <a:extLst>
              <a:ext uri="{FF2B5EF4-FFF2-40B4-BE49-F238E27FC236}">
                <a16:creationId xmlns:a16="http://schemas.microsoft.com/office/drawing/2014/main" id="{34884290-AE19-4476-8DDD-1F8EB2B5782A}"/>
              </a:ext>
            </a:extLst>
          </p:cNvPr>
          <p:cNvSpPr/>
          <p:nvPr/>
        </p:nvSpPr>
        <p:spPr>
          <a:xfrm>
            <a:off x="456174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r:embed="rId4">
              <a:extLst>
                <a:ext uri="{96DAC541-7B7A-43D3-8B79-37D633B846F1}">
                  <asvg:svgBlip xmlns:asvg="http://schemas.microsoft.com/office/drawing/2016/SVG/main" r:embed="rId5"/>
                </a:ext>
              </a:extLst>
            </a:blip>
            <a:stretch>
              <a:fillRect b="-211081"/>
            </a:stretch>
          </a:blipFill>
        </p:spPr>
      </p:sp>
      <p:sp>
        <p:nvSpPr>
          <p:cNvPr id="16" name="Freeform 12">
            <a:extLst>
              <a:ext uri="{FF2B5EF4-FFF2-40B4-BE49-F238E27FC236}">
                <a16:creationId xmlns:a16="http://schemas.microsoft.com/office/drawing/2014/main" id="{AAC6E0EE-1F80-4F2D-BD96-C4C3B31FC624}"/>
              </a:ext>
            </a:extLst>
          </p:cNvPr>
          <p:cNvSpPr/>
          <p:nvPr/>
        </p:nvSpPr>
        <p:spPr>
          <a:xfrm>
            <a:off x="9091599"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r:embed="rId4">
              <a:extLst>
                <a:ext uri="{96DAC541-7B7A-43D3-8B79-37D633B846F1}">
                  <asvg:svgBlip xmlns:asvg="http://schemas.microsoft.com/office/drawing/2016/SVG/main" r:embed="rId5"/>
                </a:ext>
              </a:extLst>
            </a:blip>
            <a:stretch>
              <a:fillRect b="-211081"/>
            </a:stretch>
          </a:blipFill>
        </p:spPr>
      </p:sp>
      <p:sp>
        <p:nvSpPr>
          <p:cNvPr id="17" name="Freeform 13">
            <a:extLst>
              <a:ext uri="{FF2B5EF4-FFF2-40B4-BE49-F238E27FC236}">
                <a16:creationId xmlns:a16="http://schemas.microsoft.com/office/drawing/2014/main" id="{C781D0CC-5F65-4D4E-8409-299DA288BA67}"/>
              </a:ext>
            </a:extLst>
          </p:cNvPr>
          <p:cNvSpPr/>
          <p:nvPr/>
        </p:nvSpPr>
        <p:spPr>
          <a:xfrm>
            <a:off x="13705741" y="10146394"/>
            <a:ext cx="4582259" cy="281211"/>
          </a:xfrm>
          <a:custGeom>
            <a:avLst/>
            <a:gdLst/>
            <a:ahLst/>
            <a:cxnLst/>
            <a:rect l="l" t="t" r="r" b="b"/>
            <a:pathLst>
              <a:path w="4582259" h="281211">
                <a:moveTo>
                  <a:pt x="0" y="0"/>
                </a:moveTo>
                <a:lnTo>
                  <a:pt x="4582259" y="0"/>
                </a:lnTo>
                <a:lnTo>
                  <a:pt x="4582259" y="281212"/>
                </a:lnTo>
                <a:lnTo>
                  <a:pt x="0" y="281212"/>
                </a:lnTo>
                <a:lnTo>
                  <a:pt x="0" y="0"/>
                </a:lnTo>
                <a:close/>
              </a:path>
            </a:pathLst>
          </a:custGeom>
          <a:blipFill>
            <a:blip r:embed="rId4">
              <a:extLst>
                <a:ext uri="{96DAC541-7B7A-43D3-8B79-37D633B846F1}">
                  <asvg:svgBlip xmlns:asvg="http://schemas.microsoft.com/office/drawing/2016/SVG/main" r:embed="rId5"/>
                </a:ext>
              </a:extLst>
            </a:blip>
            <a:stretch>
              <a:fillRect b="-211081"/>
            </a:stretch>
          </a:blipFill>
        </p:spPr>
      </p:sp>
      <p:sp>
        <p:nvSpPr>
          <p:cNvPr id="18" name="TextBox 14">
            <a:extLst>
              <a:ext uri="{FF2B5EF4-FFF2-40B4-BE49-F238E27FC236}">
                <a16:creationId xmlns:a16="http://schemas.microsoft.com/office/drawing/2014/main" id="{AE5D7546-66BF-47B6-8496-A44D1D0FAAE7}"/>
              </a:ext>
            </a:extLst>
          </p:cNvPr>
          <p:cNvSpPr txBox="1"/>
          <p:nvPr/>
        </p:nvSpPr>
        <p:spPr>
          <a:xfrm>
            <a:off x="7356014" y="8156233"/>
            <a:ext cx="5369386" cy="975267"/>
          </a:xfrm>
          <a:prstGeom prst="rect">
            <a:avLst/>
          </a:prstGeom>
        </p:spPr>
        <p:txBody>
          <a:bodyPr wrap="square" lIns="0" tIns="0" rIns="0" bIns="0" rtlCol="0" anchor="t">
            <a:spAutoFit/>
          </a:bodyPr>
          <a:lstStyle/>
          <a:p>
            <a:pPr marL="0" lvl="0" indent="0" algn="l">
              <a:lnSpc>
                <a:spcPts val="7896"/>
              </a:lnSpc>
              <a:spcBef>
                <a:spcPct val="0"/>
              </a:spcBef>
            </a:pPr>
            <a:r>
              <a:rPr lang="en-US" sz="5600" b="1" u="none" strike="noStrike" spc="207" dirty="0">
                <a:solidFill>
                  <a:srgbClr val="000000"/>
                </a:solidFill>
                <a:latin typeface="League Spartan"/>
                <a:ea typeface="League Spartan"/>
                <a:cs typeface="League Spartan"/>
                <a:sym typeface="League Spartan"/>
              </a:rPr>
              <a:t>R26-SE-002</a:t>
            </a:r>
          </a:p>
        </p:txBody>
      </p:sp>
    </p:spTree>
    <p:extLst>
      <p:ext uri="{BB962C8B-B14F-4D97-AF65-F5344CB8AC3E}">
        <p14:creationId xmlns:p14="http://schemas.microsoft.com/office/powerpoint/2010/main" val="27307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2A203F-962A-424A-97DC-8C32E9AA3828}"/>
              </a:ext>
            </a:extLst>
          </p:cNvPr>
          <p:cNvSpPr>
            <a:spLocks noGrp="1"/>
          </p:cNvSpPr>
          <p:nvPr>
            <p:ph type="title"/>
          </p:nvPr>
        </p:nvSpPr>
        <p:spPr>
          <a:xfrm>
            <a:off x="341916" y="528669"/>
            <a:ext cx="17389529" cy="1988345"/>
          </a:xfrm>
        </p:spPr>
        <p:txBody>
          <a:bodyPr>
            <a:noAutofit/>
          </a:bodyPr>
          <a:lstStyle/>
          <a:p>
            <a:r>
              <a:rPr lang="en-US" sz="5400" b="1" dirty="0">
                <a:solidFill>
                  <a:srgbClr val="002060"/>
                </a:solidFill>
                <a:sym typeface="League Spartan"/>
              </a:rPr>
              <a:t>PANEL COMMENTS ON PP1 AND HOW WE ADDRESSED</a:t>
            </a:r>
            <a:br>
              <a:rPr lang="en-US" sz="5400" dirty="0">
                <a:sym typeface="League Spartan"/>
              </a:rPr>
            </a:br>
            <a:endParaRPr lang="en-US" sz="5400" dirty="0"/>
          </a:p>
        </p:txBody>
      </p:sp>
      <p:sp>
        <p:nvSpPr>
          <p:cNvPr id="5" name="Freeform 2">
            <a:extLst>
              <a:ext uri="{FF2B5EF4-FFF2-40B4-BE49-F238E27FC236}">
                <a16:creationId xmlns:a16="http://schemas.microsoft.com/office/drawing/2014/main" id="{19E9DE11-8F6E-4C28-AE83-633A65FFEBF6}"/>
              </a:ext>
            </a:extLst>
          </p:cNvPr>
          <p:cNvSpPr/>
          <p:nvPr/>
        </p:nvSpPr>
        <p:spPr>
          <a:xfrm>
            <a:off x="556555" y="1458652"/>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2">
              <a:extLst>
                <a:ext uri="{96DAC541-7B7A-43D3-8B79-37D633B846F1}">
                  <asvg:svgBlip xmlns:asvg="http://schemas.microsoft.com/office/drawing/2016/SVG/main" r:embed="rId3"/>
                </a:ext>
              </a:extLst>
            </a:blip>
            <a:stretch>
              <a:fillRect t="-158366" b="-158366"/>
            </a:stretch>
          </a:blipFill>
        </p:spPr>
      </p:sp>
      <p:sp>
        <p:nvSpPr>
          <p:cNvPr id="6" name="TextBox 5">
            <a:extLst>
              <a:ext uri="{FF2B5EF4-FFF2-40B4-BE49-F238E27FC236}">
                <a16:creationId xmlns:a16="http://schemas.microsoft.com/office/drawing/2014/main" id="{B068553E-6CB7-439E-A564-25E73AB2CA7E}"/>
              </a:ext>
            </a:extLst>
          </p:cNvPr>
          <p:cNvSpPr txBox="1"/>
          <p:nvPr/>
        </p:nvSpPr>
        <p:spPr>
          <a:xfrm>
            <a:off x="8335706" y="9764709"/>
            <a:ext cx="3452946" cy="461665"/>
          </a:xfrm>
          <a:prstGeom prst="rect">
            <a:avLst/>
          </a:prstGeom>
          <a:noFill/>
        </p:spPr>
        <p:txBody>
          <a:bodyPr wrap="square" rtlCol="0">
            <a:spAutoFit/>
          </a:bodyPr>
          <a:lstStyle>
            <a:defPPr>
              <a:defRPr lang="en-US"/>
            </a:defPPr>
            <a:lvl1pPr>
              <a:defRPr sz="3200" b="1">
                <a:solidFill>
                  <a:srgbClr val="002060"/>
                </a:solidFill>
              </a:defRPr>
            </a:lvl1pPr>
          </a:lstStyle>
          <a:p>
            <a:r>
              <a:rPr lang="en-US" sz="2400" dirty="0"/>
              <a:t>R26-SE-002</a:t>
            </a:r>
          </a:p>
        </p:txBody>
      </p:sp>
      <p:sp>
        <p:nvSpPr>
          <p:cNvPr id="7" name="Freeform 16">
            <a:extLst>
              <a:ext uri="{FF2B5EF4-FFF2-40B4-BE49-F238E27FC236}">
                <a16:creationId xmlns:a16="http://schemas.microsoft.com/office/drawing/2014/main" id="{6300F73D-CA0A-4D2C-A6CC-A8BD0B09E7E3}"/>
              </a:ext>
            </a:extLst>
          </p:cNvPr>
          <p:cNvSpPr/>
          <p:nvPr/>
        </p:nvSpPr>
        <p:spPr>
          <a:xfrm>
            <a:off x="0" y="9379165"/>
            <a:ext cx="3557588" cy="847209"/>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4"/>
            <a:stretch>
              <a:fillRect l="-1652" t="-36979" b="-5607"/>
            </a:stretch>
          </a:blipFill>
        </p:spPr>
      </p:sp>
      <p:sp>
        <p:nvSpPr>
          <p:cNvPr id="8" name="TextBox 9">
            <a:extLst>
              <a:ext uri="{FF2B5EF4-FFF2-40B4-BE49-F238E27FC236}">
                <a16:creationId xmlns:a16="http://schemas.microsoft.com/office/drawing/2014/main" id="{D10972AD-9895-4548-8839-D4E4A738B6D8}"/>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graphicFrame>
        <p:nvGraphicFramePr>
          <p:cNvPr id="14" name="Table 5">
            <a:extLst>
              <a:ext uri="{FF2B5EF4-FFF2-40B4-BE49-F238E27FC236}">
                <a16:creationId xmlns:a16="http://schemas.microsoft.com/office/drawing/2014/main" id="{05C63218-3E78-4D57-9C0C-78F60FD30150}"/>
              </a:ext>
            </a:extLst>
          </p:cNvPr>
          <p:cNvGraphicFramePr>
            <a:graphicFrameLocks noGrp="1"/>
          </p:cNvGraphicFramePr>
          <p:nvPr>
            <p:extLst>
              <p:ext uri="{D42A27DB-BD31-4B8C-83A1-F6EECF244321}">
                <p14:modId xmlns:p14="http://schemas.microsoft.com/office/powerpoint/2010/main" val="246829163"/>
              </p:ext>
            </p:extLst>
          </p:nvPr>
        </p:nvGraphicFramePr>
        <p:xfrm>
          <a:off x="556555" y="1964065"/>
          <a:ext cx="17389037" cy="7413257"/>
        </p:xfrm>
        <a:graphic>
          <a:graphicData uri="http://schemas.openxmlformats.org/drawingml/2006/table">
            <a:tbl>
              <a:tblPr/>
              <a:tblGrid>
                <a:gridCol w="2726972">
                  <a:extLst>
                    <a:ext uri="{9D8B030D-6E8A-4147-A177-3AD203B41FA5}">
                      <a16:colId xmlns:a16="http://schemas.microsoft.com/office/drawing/2014/main" val="20000"/>
                    </a:ext>
                  </a:extLst>
                </a:gridCol>
                <a:gridCol w="8089815">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tblGrid>
              <a:tr h="1094662">
                <a:tc>
                  <a:txBody>
                    <a:bodyPr/>
                    <a:lstStyle/>
                    <a:p>
                      <a:pPr algn="ctr">
                        <a:lnSpc>
                          <a:spcPts val="3448"/>
                        </a:lnSpc>
                        <a:defRPr/>
                      </a:pPr>
                      <a:r>
                        <a:rPr lang="en-US" sz="2463" b="1" dirty="0">
                          <a:solidFill>
                            <a:srgbClr val="5E17EB"/>
                          </a:solidFill>
                          <a:latin typeface="Open Sans Bold"/>
                          <a:ea typeface="Open Sans Bold"/>
                          <a:cs typeface="Open Sans Bold"/>
                          <a:sym typeface="Open Sans Bold"/>
                        </a:rPr>
                        <a:t>Student ID</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dirty="0">
                          <a:solidFill>
                            <a:srgbClr val="5E17EB"/>
                          </a:solidFill>
                          <a:latin typeface="Open Sans Bold"/>
                          <a:ea typeface="Open Sans Bold"/>
                          <a:cs typeface="Open Sans Bold"/>
                          <a:sym typeface="Open Sans Bold"/>
                        </a:rPr>
                        <a:t>Panel Comments</a:t>
                      </a:r>
                      <a:endParaRPr lang="en-US" sz="1100" dirty="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algn="ctr">
                        <a:lnSpc>
                          <a:spcPts val="3448"/>
                        </a:lnSpc>
                        <a:defRPr/>
                      </a:pPr>
                      <a:r>
                        <a:rPr lang="en-US" sz="2463" b="1">
                          <a:solidFill>
                            <a:srgbClr val="5E17EB"/>
                          </a:solidFill>
                          <a:latin typeface="Open Sans Bold"/>
                          <a:ea typeface="Open Sans Bold"/>
                          <a:cs typeface="Open Sans Bold"/>
                          <a:sym typeface="Open Sans Bold"/>
                        </a:rPr>
                        <a:t>How you/team addressed them</a:t>
                      </a:r>
                      <a:endParaRPr lang="en-US" sz="1100"/>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0"/>
                  </a:ext>
                </a:extLst>
              </a:tr>
              <a:tr h="1083782">
                <a:tc>
                  <a:txBody>
                    <a:bodyPr/>
                    <a:lstStyle/>
                    <a:p>
                      <a:pPr algn="ctr">
                        <a:lnSpc>
                          <a:spcPts val="2748"/>
                        </a:lnSpc>
                        <a:defRPr/>
                      </a:pPr>
                      <a:r>
                        <a:rPr lang="en-US" sz="1963" b="1" dirty="0">
                          <a:solidFill>
                            <a:srgbClr val="000000"/>
                          </a:solidFill>
                          <a:latin typeface="Open Sans Bold"/>
                          <a:ea typeface="Open Sans Bold"/>
                          <a:cs typeface="Open Sans Bold"/>
                          <a:sym typeface="Open Sans Bold"/>
                        </a:rPr>
                        <a:t>IT22224002</a:t>
                      </a:r>
                      <a:endParaRPr lang="en-US" sz="1100" dirty="0"/>
                    </a:p>
                    <a:p>
                      <a:pPr algn="ctr">
                        <a:lnSpc>
                          <a:spcPts val="2748"/>
                        </a:lnSpc>
                      </a:pPr>
                      <a:r>
                        <a:rPr lang="en-US" sz="1963" b="1" dirty="0">
                          <a:solidFill>
                            <a:srgbClr val="000000"/>
                          </a:solidFill>
                          <a:latin typeface="Open Sans Bold"/>
                          <a:ea typeface="Open Sans Bold"/>
                          <a:cs typeface="Open Sans Bold"/>
                          <a:sym typeface="Open Sans Bold"/>
                        </a:rPr>
                        <a:t>Kajanthan U</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defTabSz="1371600" rtl="0" eaLnBrk="1" latinLnBrk="0" hangingPunct="1">
                        <a:lnSpc>
                          <a:spcPts val="2608"/>
                        </a:lnSpc>
                        <a:spcBef>
                          <a:spcPct val="0"/>
                        </a:spcBef>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Has a considerable progress from the proposal. Better to keep it up. No major issues at this level.</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359148" lvl="1" indent="-179574" algn="l">
                        <a:lnSpc>
                          <a:spcPts val="2328"/>
                        </a:lnSpc>
                        <a:buFont typeface="Arial"/>
                        <a:buChar char="•"/>
                        <a:defRPr/>
                      </a:pPr>
                      <a:endParaRPr lang="en-US" sz="1663" dirty="0">
                        <a:solidFill>
                          <a:srgbClr val="000000"/>
                        </a:solidFill>
                        <a:latin typeface="Open Sans"/>
                        <a:ea typeface="Open Sans"/>
                        <a:cs typeface="Open Sans"/>
                        <a:sym typeface="Open Sans"/>
                      </a:endParaRP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1"/>
                  </a:ext>
                </a:extLst>
              </a:tr>
              <a:tr h="1371600">
                <a:tc>
                  <a:txBody>
                    <a:bodyPr/>
                    <a:lstStyle/>
                    <a:p>
                      <a:pPr marL="0" lvl="0" indent="0" algn="ctr">
                        <a:lnSpc>
                          <a:spcPts val="2748"/>
                        </a:lnSpc>
                        <a:spcBef>
                          <a:spcPct val="0"/>
                        </a:spcBef>
                        <a:defRPr/>
                      </a:pPr>
                      <a:r>
                        <a:rPr lang="en-US" sz="1963" b="1" u="none" strike="noStrike" dirty="0">
                          <a:solidFill>
                            <a:srgbClr val="000000"/>
                          </a:solidFill>
                          <a:latin typeface="Open Sans Bold"/>
                          <a:ea typeface="Open Sans Bold"/>
                          <a:cs typeface="Open Sans Bold"/>
                          <a:sym typeface="Open Sans Bold"/>
                        </a:rPr>
                        <a:t>IT22113740</a:t>
                      </a:r>
                      <a:endParaRPr lang="en-US" sz="1100" dirty="0"/>
                    </a:p>
                    <a:p>
                      <a:pPr marL="0" lvl="0" indent="0" algn="ctr">
                        <a:lnSpc>
                          <a:spcPts val="2748"/>
                        </a:lnSpc>
                        <a:spcBef>
                          <a:spcPct val="0"/>
                        </a:spcBef>
                      </a:pPr>
                      <a:r>
                        <a:rPr lang="en-US" sz="1963" b="1" u="none" strike="noStrike" dirty="0">
                          <a:solidFill>
                            <a:srgbClr val="000000"/>
                          </a:solidFill>
                          <a:latin typeface="Open Sans Bold"/>
                          <a:ea typeface="Open Sans Bold"/>
                          <a:cs typeface="Open Sans Bold"/>
                          <a:sym typeface="Open Sans Bold"/>
                        </a:rPr>
                        <a:t>Santhosh 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defTabSz="1371600" rtl="0" eaLnBrk="1" latinLnBrk="0" hangingPunct="1">
                        <a:lnSpc>
                          <a:spcPts val="2608"/>
                        </a:lnSpc>
                        <a:spcBef>
                          <a:spcPct val="0"/>
                        </a:spcBef>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AB. Rescheduled on 26th May. Student having a good progress since proposal. At pp2, need to provide an valid explanation for the fake post and give a try on Sinhala post as well.</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indent="0" algn="l">
                        <a:lnSpc>
                          <a:spcPts val="2328"/>
                        </a:lnSpc>
                        <a:buFont typeface="Arial" panose="020B0604020202020204" pitchFamily="34" charset="0"/>
                        <a:buNone/>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Implemented SHAP &amp; LIME to highlight words pushing toward Fake or Legitimate.</a:t>
                      </a:r>
                    </a:p>
                    <a:p>
                      <a:pPr marL="0" indent="0" algn="l">
                        <a:lnSpc>
                          <a:spcPts val="2328"/>
                        </a:lnSpc>
                        <a:buFont typeface="Arial" panose="020B0604020202020204" pitchFamily="34" charset="0"/>
                        <a:buNone/>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Collected 308 Sinhala job posts from ikman.lk and attempted Sinhala fake job detection — limited training data affects accuracy,</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10002"/>
                  </a:ext>
                </a:extLst>
              </a:tr>
              <a:tr h="1216721">
                <a:tc>
                  <a:txBody>
                    <a:bodyPr/>
                    <a:lstStyle/>
                    <a:p>
                      <a:pPr marL="0" lvl="0" indent="0" algn="ctr">
                        <a:lnSpc>
                          <a:spcPts val="2748"/>
                        </a:lnSpc>
                        <a:spcBef>
                          <a:spcPct val="0"/>
                        </a:spcBef>
                      </a:pPr>
                      <a:r>
                        <a:rPr lang="en-US" sz="1963" b="1" u="none" strike="noStrike" dirty="0">
                          <a:solidFill>
                            <a:srgbClr val="000000"/>
                          </a:solidFill>
                          <a:latin typeface="Open Sans Bold"/>
                          <a:ea typeface="Open Sans Bold"/>
                          <a:cs typeface="Open Sans Bold"/>
                          <a:sym typeface="Open Sans Bold"/>
                        </a:rPr>
                        <a:t>IT22251664</a:t>
                      </a:r>
                    </a:p>
                    <a:p>
                      <a:pPr marL="0" lvl="0" indent="0" algn="ctr">
                        <a:lnSpc>
                          <a:spcPts val="2748"/>
                        </a:lnSpc>
                        <a:spcBef>
                          <a:spcPct val="0"/>
                        </a:spcBef>
                      </a:pPr>
                      <a:r>
                        <a:rPr lang="en-US" sz="1963" b="1" u="none" strike="noStrike" dirty="0">
                          <a:solidFill>
                            <a:srgbClr val="000000"/>
                          </a:solidFill>
                          <a:latin typeface="Open Sans Bold"/>
                          <a:ea typeface="Open Sans Bold"/>
                          <a:cs typeface="Open Sans Bold"/>
                          <a:sym typeface="Open Sans Bold"/>
                        </a:rPr>
                        <a:t>Nipuni Bandara</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defTabSz="1371600" rtl="0" eaLnBrk="1" latinLnBrk="0" hangingPunct="1">
                        <a:lnSpc>
                          <a:spcPts val="2608"/>
                        </a:lnSpc>
                        <a:spcBef>
                          <a:spcPct val="0"/>
                        </a:spcBef>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Better to improve the data set. She is using APIs to check whether the company is registered one or not. For the final calculation, you have taken some weights. At the pp2, you have to bring some samples which represents the effect of weights changing and show to the panel as evidence.</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defTabSz="1371600" rtl="0" eaLnBrk="1" latinLnBrk="0" hangingPunct="1">
                        <a:lnSpc>
                          <a:spcPts val="2608"/>
                        </a:lnSpc>
                        <a:spcBef>
                          <a:spcPct val="0"/>
                        </a:spcBef>
                        <a:buFont typeface="Arial" panose="020B0604020202020204" pitchFamily="34" charset="0"/>
                        <a:buNone/>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dataset was refined and the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RandomForest</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model retrained. Employer legitimacy is verified at runtime using official registries and combined into a hybrid score of 40% ML, 30% registry, 20% reputation, and 10% website analysis. Different weight combinations were tested, but the 40/30/20/10 profile was selected to maintain reliable registry verification.</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2312075644"/>
                  </a:ext>
                </a:extLst>
              </a:tr>
              <a:tr h="1485900">
                <a:tc>
                  <a:txBody>
                    <a:bodyPr/>
                    <a:lstStyle/>
                    <a:p>
                      <a:pPr marL="0" lvl="0" indent="0" algn="ctr">
                        <a:lnSpc>
                          <a:spcPts val="2748"/>
                        </a:lnSpc>
                        <a:spcBef>
                          <a:spcPct val="0"/>
                        </a:spcBef>
                        <a:defRPr/>
                      </a:pPr>
                      <a:r>
                        <a:rPr lang="en-US" sz="1963" b="1" u="none" strike="noStrike" dirty="0">
                          <a:solidFill>
                            <a:srgbClr val="000000"/>
                          </a:solidFill>
                          <a:latin typeface="Open Sans Bold"/>
                          <a:ea typeface="Open Sans Bold"/>
                          <a:cs typeface="Open Sans Bold"/>
                          <a:sym typeface="Open Sans Bold"/>
                        </a:rPr>
                        <a:t>IT22188618</a:t>
                      </a:r>
                      <a:endParaRPr lang="en-US" sz="1100" dirty="0"/>
                    </a:p>
                    <a:p>
                      <a:pPr marL="0" lvl="0" indent="0" algn="ctr">
                        <a:lnSpc>
                          <a:spcPts val="2748"/>
                        </a:lnSpc>
                        <a:spcBef>
                          <a:spcPct val="0"/>
                        </a:spcBef>
                      </a:pPr>
                      <a:r>
                        <a:rPr lang="en-US" sz="1963" b="1" u="none" strike="noStrike" dirty="0">
                          <a:solidFill>
                            <a:srgbClr val="000000"/>
                          </a:solidFill>
                          <a:latin typeface="Open Sans Bold"/>
                          <a:ea typeface="Open Sans Bold"/>
                          <a:cs typeface="Open Sans Bold"/>
                          <a:sym typeface="Open Sans Bold"/>
                        </a:rPr>
                        <a:t>Methmi N P C S</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lvl="0" indent="0" algn="just" defTabSz="1371600" rtl="0" eaLnBrk="1" latinLnBrk="0" hangingPunct="1">
                        <a:lnSpc>
                          <a:spcPts val="2608"/>
                        </a:lnSpc>
                        <a:spcBef>
                          <a:spcPct val="0"/>
                        </a:spcBef>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Better to grow the data set. Other than HR, it is good to have more domains. No major issues at this level.</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tc>
                  <a:txBody>
                    <a:bodyPr/>
                    <a:lstStyle/>
                    <a:p>
                      <a:pPr marL="0" indent="0" algn="l">
                        <a:lnSpc>
                          <a:spcPts val="2328"/>
                        </a:lnSpc>
                        <a:buFont typeface="Arial" panose="020B0604020202020204" pitchFamily="34" charset="0"/>
                        <a:buNone/>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The job dataset contains 1,167 records across five domains—Information Technology, Business Development, Finance, Sales, and HR—addressing the panel's recommendation to broaden the dataset beyond HR.</a:t>
                      </a:r>
                    </a:p>
                  </a:txBody>
                  <a:tcPr marL="161925" marR="161925" marT="161925" marB="16192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3F2FF"/>
                    </a:solidFill>
                  </a:tcPr>
                </a:tc>
                <a:extLst>
                  <a:ext uri="{0D108BD9-81ED-4DB2-BD59-A6C34878D82A}">
                    <a16:rowId xmlns:a16="http://schemas.microsoft.com/office/drawing/2014/main" val="2572896887"/>
                  </a:ext>
                </a:extLst>
              </a:tr>
            </a:tbl>
          </a:graphicData>
        </a:graphic>
      </p:graphicFrame>
    </p:spTree>
    <p:extLst>
      <p:ext uri="{BB962C8B-B14F-4D97-AF65-F5344CB8AC3E}">
        <p14:creationId xmlns:p14="http://schemas.microsoft.com/office/powerpoint/2010/main" val="3045508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4">
            <a:extLst>
              <a:ext uri="{FF2B5EF4-FFF2-40B4-BE49-F238E27FC236}">
                <a16:creationId xmlns:a16="http://schemas.microsoft.com/office/drawing/2014/main" id="{208CF07D-F206-48BA-9401-27BFB3201DBD}"/>
              </a:ext>
            </a:extLst>
          </p:cNvPr>
          <p:cNvSpPr/>
          <p:nvPr/>
        </p:nvSpPr>
        <p:spPr>
          <a:xfrm>
            <a:off x="2253345" y="5397972"/>
            <a:ext cx="2045621" cy="1915137"/>
          </a:xfrm>
          <a:custGeom>
            <a:avLst/>
            <a:gdLst/>
            <a:ahLst/>
            <a:cxnLst/>
            <a:rect l="l" t="t" r="r" b="b"/>
            <a:pathLst>
              <a:path w="1452237" h="1452237">
                <a:moveTo>
                  <a:pt x="0" y="0"/>
                </a:moveTo>
                <a:lnTo>
                  <a:pt x="1452238" y="0"/>
                </a:lnTo>
                <a:lnTo>
                  <a:pt x="1452238" y="1452237"/>
                </a:lnTo>
                <a:lnTo>
                  <a:pt x="0" y="14522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5">
            <a:extLst>
              <a:ext uri="{FF2B5EF4-FFF2-40B4-BE49-F238E27FC236}">
                <a16:creationId xmlns:a16="http://schemas.microsoft.com/office/drawing/2014/main" id="{B00F170F-3216-4F76-940E-1569A2B38355}"/>
              </a:ext>
            </a:extLst>
          </p:cNvPr>
          <p:cNvSpPr/>
          <p:nvPr/>
        </p:nvSpPr>
        <p:spPr>
          <a:xfrm>
            <a:off x="8532517" y="5317162"/>
            <a:ext cx="2178356" cy="2077556"/>
          </a:xfrm>
          <a:custGeom>
            <a:avLst/>
            <a:gdLst/>
            <a:ahLst/>
            <a:cxnLst/>
            <a:rect l="l" t="t" r="r" b="b"/>
            <a:pathLst>
              <a:path w="1472057" h="1580732">
                <a:moveTo>
                  <a:pt x="0" y="0"/>
                </a:moveTo>
                <a:lnTo>
                  <a:pt x="1472057" y="0"/>
                </a:lnTo>
                <a:lnTo>
                  <a:pt x="1472057" y="1580732"/>
                </a:lnTo>
                <a:lnTo>
                  <a:pt x="0" y="1580732"/>
                </a:lnTo>
                <a:lnTo>
                  <a:pt x="0" y="0"/>
                </a:lnTo>
                <a:close/>
              </a:path>
            </a:pathLst>
          </a:custGeom>
          <a:blipFill>
            <a:blip r:embed="rId4"/>
            <a:stretch>
              <a:fillRect/>
            </a:stretch>
          </a:blipFill>
        </p:spPr>
        <p:txBody>
          <a:bodyPr/>
          <a:lstStyle/>
          <a:p>
            <a:endParaRPr lang="en-US" sz="4050" dirty="0"/>
          </a:p>
        </p:txBody>
      </p:sp>
      <p:sp>
        <p:nvSpPr>
          <p:cNvPr id="17" name="Freeform 6">
            <a:extLst>
              <a:ext uri="{FF2B5EF4-FFF2-40B4-BE49-F238E27FC236}">
                <a16:creationId xmlns:a16="http://schemas.microsoft.com/office/drawing/2014/main" id="{7CE46035-7C11-4D7A-B20C-30678DDAA67F}"/>
              </a:ext>
            </a:extLst>
          </p:cNvPr>
          <p:cNvSpPr/>
          <p:nvPr/>
        </p:nvSpPr>
        <p:spPr>
          <a:xfrm>
            <a:off x="14691348" y="5339500"/>
            <a:ext cx="1343307" cy="2055218"/>
          </a:xfrm>
          <a:custGeom>
            <a:avLst/>
            <a:gdLst/>
            <a:ahLst/>
            <a:cxnLst/>
            <a:rect l="l" t="t" r="r" b="b"/>
            <a:pathLst>
              <a:path w="896744" h="1449284">
                <a:moveTo>
                  <a:pt x="0" y="0"/>
                </a:moveTo>
                <a:lnTo>
                  <a:pt x="896744" y="0"/>
                </a:lnTo>
                <a:lnTo>
                  <a:pt x="896744" y="1449284"/>
                </a:lnTo>
                <a:lnTo>
                  <a:pt x="0" y="1449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7">
            <a:extLst>
              <a:ext uri="{FF2B5EF4-FFF2-40B4-BE49-F238E27FC236}">
                <a16:creationId xmlns:a16="http://schemas.microsoft.com/office/drawing/2014/main" id="{DA48D633-316D-42D1-8E96-A9BE53BB0485}"/>
              </a:ext>
            </a:extLst>
          </p:cNvPr>
          <p:cNvSpPr txBox="1"/>
          <p:nvPr/>
        </p:nvSpPr>
        <p:spPr>
          <a:xfrm>
            <a:off x="628693" y="2728771"/>
            <a:ext cx="16701747" cy="1846659"/>
          </a:xfrm>
          <a:prstGeom prst="rect">
            <a:avLst/>
          </a:prstGeom>
        </p:spPr>
        <p:txBody>
          <a:bodyPr wrap="square" lIns="0" tIns="0" rIns="0" bIns="0" rtlCol="0" anchor="t">
            <a:spAutoFit/>
          </a:bodyPr>
          <a:lstStyle/>
          <a:p>
            <a:pPr marL="685800" indent="-685800" algn="just">
              <a:lnSpc>
                <a:spcPts val="7800"/>
              </a:lnSpc>
              <a:buFont typeface="Wingdings" panose="05000000000000000000" pitchFamily="2" charset="2"/>
              <a:buChar char="Ø"/>
            </a:pPr>
            <a:r>
              <a:rPr lang="en-US" sz="2800" dirty="0">
                <a:solidFill>
                  <a:srgbClr val="000000"/>
                </a:solidFill>
                <a:latin typeface="Times New Roman" panose="02020603050405020304" pitchFamily="18" charset="0"/>
                <a:ea typeface="Open Sans"/>
                <a:cs typeface="Times New Roman" panose="02020603050405020304" pitchFamily="18" charset="0"/>
                <a:sym typeface="Open Sans"/>
              </a:rPr>
              <a:t>With youth unemployment rising and online job hunting booming in Sri Lanka, scammers are exploiting the desperation of thousands — and no intelligent, localized system exists to stop them.</a:t>
            </a:r>
          </a:p>
        </p:txBody>
      </p:sp>
      <p:sp>
        <p:nvSpPr>
          <p:cNvPr id="19" name="TextBox 8">
            <a:extLst>
              <a:ext uri="{FF2B5EF4-FFF2-40B4-BE49-F238E27FC236}">
                <a16:creationId xmlns:a16="http://schemas.microsoft.com/office/drawing/2014/main" id="{B4AB6B2B-CA7D-423E-94D3-538336DDD1F2}"/>
              </a:ext>
            </a:extLst>
          </p:cNvPr>
          <p:cNvSpPr txBox="1"/>
          <p:nvPr/>
        </p:nvSpPr>
        <p:spPr>
          <a:xfrm>
            <a:off x="345661" y="786179"/>
            <a:ext cx="6573299" cy="1469649"/>
          </a:xfrm>
          <a:prstGeom prst="rect">
            <a:avLst/>
          </a:prstGeom>
        </p:spPr>
        <p:txBody>
          <a:bodyPr vert="horz" lIns="137160" tIns="68580" rIns="137160" bIns="68580" rtlCol="0" anchor="b">
            <a:normAutofit/>
          </a:bodyPr>
          <a:lstStyle>
            <a:defPPr>
              <a:defRPr lang="en-US"/>
            </a:defPPr>
            <a:lvl1pPr algn="ctr">
              <a:lnSpc>
                <a:spcPct val="90000"/>
              </a:lnSpc>
              <a:spcBef>
                <a:spcPct val="0"/>
              </a:spcBef>
              <a:buNone/>
              <a:defRPr sz="4400" b="1">
                <a:solidFill>
                  <a:srgbClr val="002060"/>
                </a:solidFill>
                <a:latin typeface="+mj-lt"/>
                <a:ea typeface="+mj-ea"/>
                <a:cs typeface="+mj-cs"/>
              </a:defRPr>
            </a:lvl1pPr>
          </a:lstStyle>
          <a:p>
            <a:r>
              <a:rPr lang="en-US" sz="8100" dirty="0">
                <a:sym typeface="League Spartan"/>
              </a:rPr>
              <a:t>THE PROBLEM</a:t>
            </a:r>
          </a:p>
        </p:txBody>
      </p:sp>
      <p:sp>
        <p:nvSpPr>
          <p:cNvPr id="20" name="TextBox 10">
            <a:extLst>
              <a:ext uri="{FF2B5EF4-FFF2-40B4-BE49-F238E27FC236}">
                <a16:creationId xmlns:a16="http://schemas.microsoft.com/office/drawing/2014/main" id="{1C5E85F9-A610-4FB2-B0EC-8051A551E064}"/>
              </a:ext>
            </a:extLst>
          </p:cNvPr>
          <p:cNvSpPr txBox="1"/>
          <p:nvPr/>
        </p:nvSpPr>
        <p:spPr>
          <a:xfrm>
            <a:off x="1827514" y="7502803"/>
            <a:ext cx="3003278" cy="568425"/>
          </a:xfrm>
          <a:prstGeom prst="rect">
            <a:avLst/>
          </a:prstGeom>
        </p:spPr>
        <p:txBody>
          <a:bodyPr lIns="0" tIns="0" rIns="0" bIns="0" rtlCol="0" anchor="t">
            <a:spAutoFit/>
          </a:bodyPr>
          <a:lstStyle/>
          <a:p>
            <a:pPr algn="ctr">
              <a:lnSpc>
                <a:spcPts val="5040"/>
              </a:lnSpc>
              <a:spcBef>
                <a:spcPct val="0"/>
              </a:spcBef>
            </a:pPr>
            <a:r>
              <a:rPr lang="en-US" sz="3000" b="1" dirty="0">
                <a:solidFill>
                  <a:srgbClr val="3290B5"/>
                </a:solidFill>
                <a:latin typeface="Open Sans Bold"/>
                <a:ea typeface="Open Sans Bold"/>
                <a:cs typeface="Open Sans Bold"/>
                <a:sym typeface="Open Sans Bold"/>
              </a:rPr>
              <a:t>Rising Threat</a:t>
            </a:r>
          </a:p>
        </p:txBody>
      </p:sp>
      <p:sp>
        <p:nvSpPr>
          <p:cNvPr id="21" name="TextBox 11">
            <a:extLst>
              <a:ext uri="{FF2B5EF4-FFF2-40B4-BE49-F238E27FC236}">
                <a16:creationId xmlns:a16="http://schemas.microsoft.com/office/drawing/2014/main" id="{4F9D65D0-E56F-4088-A2DF-B639F97038B7}"/>
              </a:ext>
            </a:extLst>
          </p:cNvPr>
          <p:cNvSpPr txBox="1"/>
          <p:nvPr/>
        </p:nvSpPr>
        <p:spPr>
          <a:xfrm>
            <a:off x="647722" y="8071228"/>
            <a:ext cx="5422489" cy="944169"/>
          </a:xfrm>
          <a:prstGeom prst="rect">
            <a:avLst/>
          </a:prstGeom>
        </p:spPr>
        <p:txBody>
          <a:bodyPr wrap="square" lIns="0" tIns="0" rIns="0" bIns="0" rtlCol="0" anchor="t">
            <a:spAutoFit/>
          </a:bodyPr>
          <a:lstStyle/>
          <a:p>
            <a:pPr algn="ctr">
              <a:lnSpc>
                <a:spcPts val="3780"/>
              </a:lnSpc>
            </a:pPr>
            <a:r>
              <a:rPr lang="en-US" dirty="0">
                <a:solidFill>
                  <a:srgbClr val="000000"/>
                </a:solidFill>
                <a:ea typeface="Open Sans"/>
                <a:cs typeface="Open Sans"/>
                <a:sym typeface="Open Sans"/>
              </a:rPr>
              <a:t>Fake job scams surging on ikman.lk, Top Jobs &amp; social media</a:t>
            </a:r>
          </a:p>
        </p:txBody>
      </p:sp>
      <p:sp>
        <p:nvSpPr>
          <p:cNvPr id="22" name="TextBox 12">
            <a:extLst>
              <a:ext uri="{FF2B5EF4-FFF2-40B4-BE49-F238E27FC236}">
                <a16:creationId xmlns:a16="http://schemas.microsoft.com/office/drawing/2014/main" id="{E690A5E4-B2BE-41C1-BDB9-1058DA78A340}"/>
              </a:ext>
            </a:extLst>
          </p:cNvPr>
          <p:cNvSpPr txBox="1"/>
          <p:nvPr/>
        </p:nvSpPr>
        <p:spPr>
          <a:xfrm>
            <a:off x="7896434" y="7368601"/>
            <a:ext cx="4311923" cy="568425"/>
          </a:xfrm>
          <a:prstGeom prst="rect">
            <a:avLst/>
          </a:prstGeom>
        </p:spPr>
        <p:txBody>
          <a:bodyPr lIns="0" tIns="0" rIns="0" bIns="0" rtlCol="0" anchor="t">
            <a:spAutoFit/>
          </a:bodyPr>
          <a:lstStyle/>
          <a:p>
            <a:pPr algn="ctr">
              <a:lnSpc>
                <a:spcPts val="5040"/>
              </a:lnSpc>
              <a:spcBef>
                <a:spcPct val="0"/>
              </a:spcBef>
            </a:pPr>
            <a:r>
              <a:rPr lang="en-US" sz="3000" b="1" dirty="0">
                <a:solidFill>
                  <a:srgbClr val="3290B5"/>
                </a:solidFill>
                <a:latin typeface="Open Sans Bold"/>
                <a:ea typeface="Open Sans Bold"/>
                <a:cs typeface="Open Sans Bold"/>
                <a:sym typeface="Open Sans Bold"/>
              </a:rPr>
              <a:t>Vulnerable Targets</a:t>
            </a:r>
          </a:p>
        </p:txBody>
      </p:sp>
      <p:sp>
        <p:nvSpPr>
          <p:cNvPr id="23" name="TextBox 13">
            <a:extLst>
              <a:ext uri="{FF2B5EF4-FFF2-40B4-BE49-F238E27FC236}">
                <a16:creationId xmlns:a16="http://schemas.microsoft.com/office/drawing/2014/main" id="{A60E8FEB-D274-495B-A9F3-6EA0E2E822DE}"/>
              </a:ext>
            </a:extLst>
          </p:cNvPr>
          <p:cNvSpPr txBox="1"/>
          <p:nvPr/>
        </p:nvSpPr>
        <p:spPr>
          <a:xfrm>
            <a:off x="7309631" y="8057777"/>
            <a:ext cx="5278610" cy="944169"/>
          </a:xfrm>
          <a:prstGeom prst="rect">
            <a:avLst/>
          </a:prstGeom>
        </p:spPr>
        <p:txBody>
          <a:bodyPr wrap="square" lIns="0" tIns="0" rIns="0" bIns="0" rtlCol="0" anchor="t">
            <a:spAutoFit/>
          </a:bodyPr>
          <a:lstStyle>
            <a:defPPr>
              <a:defRPr lang="en-US"/>
            </a:defPPr>
            <a:lvl1pPr algn="ctr">
              <a:lnSpc>
                <a:spcPts val="3780"/>
              </a:lnSpc>
              <a:defRPr>
                <a:solidFill>
                  <a:srgbClr val="000000"/>
                </a:solidFill>
                <a:ea typeface="Open Sans"/>
                <a:cs typeface="Open Sans"/>
              </a:defRPr>
            </a:lvl1pPr>
          </a:lstStyle>
          <a:p>
            <a:r>
              <a:rPr lang="en-US" dirty="0">
                <a:sym typeface="Open Sans"/>
              </a:rPr>
              <a:t>Youth graduates, migrant workers &amp; unemployed individuals</a:t>
            </a:r>
          </a:p>
        </p:txBody>
      </p:sp>
      <p:sp>
        <p:nvSpPr>
          <p:cNvPr id="24" name="TextBox 14">
            <a:extLst>
              <a:ext uri="{FF2B5EF4-FFF2-40B4-BE49-F238E27FC236}">
                <a16:creationId xmlns:a16="http://schemas.microsoft.com/office/drawing/2014/main" id="{E0FE29CA-F808-46E2-8830-FE04C55762D5}"/>
              </a:ext>
            </a:extLst>
          </p:cNvPr>
          <p:cNvSpPr txBox="1"/>
          <p:nvPr/>
        </p:nvSpPr>
        <p:spPr>
          <a:xfrm>
            <a:off x="13829948" y="7353272"/>
            <a:ext cx="3519521" cy="568425"/>
          </a:xfrm>
          <a:prstGeom prst="rect">
            <a:avLst/>
          </a:prstGeom>
        </p:spPr>
        <p:txBody>
          <a:bodyPr wrap="square" lIns="0" tIns="0" rIns="0" bIns="0" rtlCol="0" anchor="t">
            <a:spAutoFit/>
          </a:bodyPr>
          <a:lstStyle/>
          <a:p>
            <a:pPr algn="ctr">
              <a:lnSpc>
                <a:spcPts val="5040"/>
              </a:lnSpc>
              <a:spcBef>
                <a:spcPct val="0"/>
              </a:spcBef>
            </a:pPr>
            <a:r>
              <a:rPr lang="en-US" sz="3000" b="1" dirty="0">
                <a:solidFill>
                  <a:srgbClr val="3290B5"/>
                </a:solidFill>
                <a:latin typeface="Open Sans Bold"/>
                <a:ea typeface="Open Sans Bold"/>
                <a:cs typeface="Open Sans Bold"/>
                <a:sym typeface="Open Sans Bold"/>
              </a:rPr>
              <a:t>No localized</a:t>
            </a:r>
          </a:p>
        </p:txBody>
      </p:sp>
      <p:sp>
        <p:nvSpPr>
          <p:cNvPr id="25" name="TextBox 15">
            <a:extLst>
              <a:ext uri="{FF2B5EF4-FFF2-40B4-BE49-F238E27FC236}">
                <a16:creationId xmlns:a16="http://schemas.microsoft.com/office/drawing/2014/main" id="{D751C936-8A48-4208-ABAD-75066AE2C02A}"/>
              </a:ext>
            </a:extLst>
          </p:cNvPr>
          <p:cNvSpPr txBox="1"/>
          <p:nvPr/>
        </p:nvSpPr>
        <p:spPr>
          <a:xfrm>
            <a:off x="12634986" y="8046556"/>
            <a:ext cx="5456029" cy="944169"/>
          </a:xfrm>
          <a:prstGeom prst="rect">
            <a:avLst/>
          </a:prstGeom>
        </p:spPr>
        <p:txBody>
          <a:bodyPr wrap="square" lIns="0" tIns="0" rIns="0" bIns="0" rtlCol="0" anchor="t">
            <a:spAutoFit/>
          </a:bodyPr>
          <a:lstStyle>
            <a:defPPr>
              <a:defRPr lang="en-US"/>
            </a:defPPr>
            <a:lvl1pPr algn="ctr">
              <a:lnSpc>
                <a:spcPts val="3780"/>
              </a:lnSpc>
              <a:defRPr>
                <a:solidFill>
                  <a:srgbClr val="000000"/>
                </a:solidFill>
                <a:ea typeface="Open Sans"/>
                <a:cs typeface="Open Sans"/>
              </a:defRPr>
            </a:lvl1pPr>
          </a:lstStyle>
          <a:p>
            <a:r>
              <a:rPr lang="en-US" dirty="0">
                <a:sym typeface="Open Sans"/>
              </a:rPr>
              <a:t> AI-powered system not exists for </a:t>
            </a:r>
          </a:p>
          <a:p>
            <a:r>
              <a:rPr lang="en-US" dirty="0">
                <a:sym typeface="Open Sans"/>
              </a:rPr>
              <a:t>Sri Lanka</a:t>
            </a:r>
          </a:p>
        </p:txBody>
      </p:sp>
      <p:sp>
        <p:nvSpPr>
          <p:cNvPr id="26" name="TextBox 25">
            <a:extLst>
              <a:ext uri="{FF2B5EF4-FFF2-40B4-BE49-F238E27FC236}">
                <a16:creationId xmlns:a16="http://schemas.microsoft.com/office/drawing/2014/main" id="{2B74702F-F372-4C15-A435-7A1B97F936CC}"/>
              </a:ext>
            </a:extLst>
          </p:cNvPr>
          <p:cNvSpPr txBox="1"/>
          <p:nvPr/>
        </p:nvSpPr>
        <p:spPr>
          <a:xfrm>
            <a:off x="8161225" y="9726224"/>
            <a:ext cx="2920940" cy="461665"/>
          </a:xfrm>
          <a:prstGeom prst="rect">
            <a:avLst/>
          </a:prstGeom>
          <a:noFill/>
        </p:spPr>
        <p:txBody>
          <a:bodyPr wrap="square" rtlCol="0">
            <a:spAutoFit/>
          </a:bodyPr>
          <a:lstStyle>
            <a:defPPr>
              <a:defRPr lang="en-US"/>
            </a:defPPr>
            <a:lvl1pPr>
              <a:defRPr sz="3200" b="1">
                <a:solidFill>
                  <a:srgbClr val="002060"/>
                </a:solidFill>
              </a:defRPr>
            </a:lvl1pPr>
          </a:lstStyle>
          <a:p>
            <a:r>
              <a:rPr lang="en-US" sz="2400" dirty="0"/>
              <a:t>R26-SE-002</a:t>
            </a:r>
          </a:p>
        </p:txBody>
      </p:sp>
      <p:sp>
        <p:nvSpPr>
          <p:cNvPr id="27" name="Freeform 16">
            <a:extLst>
              <a:ext uri="{FF2B5EF4-FFF2-40B4-BE49-F238E27FC236}">
                <a16:creationId xmlns:a16="http://schemas.microsoft.com/office/drawing/2014/main" id="{46F5A44C-594B-42A1-83C6-FFAB54750216}"/>
              </a:ext>
            </a:extLst>
          </p:cNvPr>
          <p:cNvSpPr/>
          <p:nvPr/>
        </p:nvSpPr>
        <p:spPr>
          <a:xfrm>
            <a:off x="0" y="8990725"/>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7"/>
            <a:stretch>
              <a:fillRect l="-1652" t="-36979" b="-5607"/>
            </a:stretch>
          </a:blipFill>
        </p:spPr>
      </p:sp>
      <p:sp>
        <p:nvSpPr>
          <p:cNvPr id="28" name="Freeform 2">
            <a:extLst>
              <a:ext uri="{FF2B5EF4-FFF2-40B4-BE49-F238E27FC236}">
                <a16:creationId xmlns:a16="http://schemas.microsoft.com/office/drawing/2014/main" id="{F1097188-32E8-41AD-9F07-324EFEE827B1}"/>
              </a:ext>
            </a:extLst>
          </p:cNvPr>
          <p:cNvSpPr/>
          <p:nvPr/>
        </p:nvSpPr>
        <p:spPr>
          <a:xfrm>
            <a:off x="647722" y="2299728"/>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8">
              <a:extLst>
                <a:ext uri="{96DAC541-7B7A-43D3-8B79-37D633B846F1}">
                  <asvg:svgBlip xmlns:asvg="http://schemas.microsoft.com/office/drawing/2016/SVG/main" r:embed="rId9"/>
                </a:ext>
              </a:extLst>
            </a:blip>
            <a:stretch>
              <a:fillRect t="-158366" b="-158366"/>
            </a:stretch>
          </a:blipFill>
        </p:spPr>
      </p:sp>
      <p:sp>
        <p:nvSpPr>
          <p:cNvPr id="29" name="TextBox 9">
            <a:extLst>
              <a:ext uri="{FF2B5EF4-FFF2-40B4-BE49-F238E27FC236}">
                <a16:creationId xmlns:a16="http://schemas.microsoft.com/office/drawing/2014/main" id="{BB6F4FFE-BF0B-45E7-B675-46E798D9B606}"/>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Tree>
    <p:extLst>
      <p:ext uri="{BB962C8B-B14F-4D97-AF65-F5344CB8AC3E}">
        <p14:creationId xmlns:p14="http://schemas.microsoft.com/office/powerpoint/2010/main" val="4174255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978CBC85-90CD-4D0A-88FD-E6F9D51F0DAB}"/>
              </a:ext>
            </a:extLst>
          </p:cNvPr>
          <p:cNvSpPr/>
          <p:nvPr/>
        </p:nvSpPr>
        <p:spPr>
          <a:xfrm>
            <a:off x="11276922" y="3835744"/>
            <a:ext cx="2702052" cy="2299686"/>
          </a:xfrm>
          <a:prstGeom prst="ellipse">
            <a:avLst/>
          </a:prstGeom>
          <a:gradFill>
            <a:gsLst>
              <a:gs pos="20000">
                <a:schemeClr val="accent2">
                  <a:lumMod val="20000"/>
                  <a:lumOff val="80000"/>
                </a:schemeClr>
              </a:gs>
              <a:gs pos="56000">
                <a:schemeClr val="accent2">
                  <a:lumMod val="20000"/>
                  <a:lumOff val="80000"/>
                </a:schemeClr>
              </a:gs>
              <a:gs pos="33333">
                <a:schemeClr val="accent2">
                  <a:lumMod val="20000"/>
                  <a:lumOff val="80000"/>
                </a:schemeClr>
              </a:gs>
              <a:gs pos="100000">
                <a:schemeClr val="accent2">
                  <a:lumMod val="40000"/>
                  <a:lumOff val="60000"/>
                </a:schemeClr>
              </a:gs>
              <a:gs pos="100000">
                <a:schemeClr val="accent2">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dirty="0"/>
          </a:p>
        </p:txBody>
      </p:sp>
      <p:sp>
        <p:nvSpPr>
          <p:cNvPr id="32" name="Oval 31">
            <a:extLst>
              <a:ext uri="{FF2B5EF4-FFF2-40B4-BE49-F238E27FC236}">
                <a16:creationId xmlns:a16="http://schemas.microsoft.com/office/drawing/2014/main" id="{7BFDFE71-6E73-4730-9660-C799474D24FF}"/>
              </a:ext>
            </a:extLst>
          </p:cNvPr>
          <p:cNvSpPr/>
          <p:nvPr/>
        </p:nvSpPr>
        <p:spPr>
          <a:xfrm>
            <a:off x="14021880" y="3739794"/>
            <a:ext cx="2695169" cy="2299686"/>
          </a:xfrm>
          <a:prstGeom prst="ellipse">
            <a:avLst/>
          </a:prstGeom>
          <a:gradFill flip="none" rotWithShape="1">
            <a:gsLst>
              <a:gs pos="0">
                <a:schemeClr val="accent4">
                  <a:lumMod val="40000"/>
                  <a:lumOff val="60000"/>
                  <a:tint val="66000"/>
                  <a:satMod val="160000"/>
                </a:schemeClr>
              </a:gs>
              <a:gs pos="50000">
                <a:schemeClr val="accent4">
                  <a:lumMod val="40000"/>
                  <a:lumOff val="60000"/>
                  <a:tint val="44500"/>
                  <a:satMod val="160000"/>
                </a:schemeClr>
              </a:gs>
              <a:gs pos="100000">
                <a:schemeClr val="accent4">
                  <a:lumMod val="40000"/>
                  <a:lumOff val="60000"/>
                  <a:tint val="23500"/>
                  <a:satMod val="1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31" name="Oval 30">
            <a:extLst>
              <a:ext uri="{FF2B5EF4-FFF2-40B4-BE49-F238E27FC236}">
                <a16:creationId xmlns:a16="http://schemas.microsoft.com/office/drawing/2014/main" id="{339C41F3-B451-4343-888F-E7FDA0DEFA81}"/>
              </a:ext>
            </a:extLst>
          </p:cNvPr>
          <p:cNvSpPr/>
          <p:nvPr/>
        </p:nvSpPr>
        <p:spPr>
          <a:xfrm>
            <a:off x="12490349" y="5925514"/>
            <a:ext cx="2702052" cy="2299686"/>
          </a:xfrm>
          <a:prstGeom prst="ellipse">
            <a:avLst/>
          </a:prstGeom>
          <a:gradFill flip="none" rotWithShape="1">
            <a:gsLst>
              <a:gs pos="57000">
                <a:schemeClr val="accent4">
                  <a:lumMod val="60000"/>
                  <a:lumOff val="40000"/>
                </a:schemeClr>
              </a:gs>
              <a:gs pos="78000">
                <a:schemeClr val="accent1">
                  <a:lumMod val="40000"/>
                  <a:lumOff val="60000"/>
                  <a:tint val="44500"/>
                  <a:satMod val="160000"/>
                </a:schemeClr>
              </a:gs>
              <a:gs pos="100000">
                <a:schemeClr val="accent1">
                  <a:lumMod val="40000"/>
                  <a:lumOff val="60000"/>
                  <a:tint val="23500"/>
                  <a:satMod val="16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dirty="0"/>
          </a:p>
        </p:txBody>
      </p:sp>
      <p:sp>
        <p:nvSpPr>
          <p:cNvPr id="30" name="Oval 29">
            <a:extLst>
              <a:ext uri="{FF2B5EF4-FFF2-40B4-BE49-F238E27FC236}">
                <a16:creationId xmlns:a16="http://schemas.microsoft.com/office/drawing/2014/main" id="{6739DEAC-78D8-4211-A378-171B8102AD73}"/>
              </a:ext>
            </a:extLst>
          </p:cNvPr>
          <p:cNvSpPr/>
          <p:nvPr/>
        </p:nvSpPr>
        <p:spPr>
          <a:xfrm>
            <a:off x="15256119" y="5816799"/>
            <a:ext cx="2702052" cy="2299686"/>
          </a:xfrm>
          <a:prstGeom prst="ellipse">
            <a:avLst/>
          </a:prstGeom>
          <a:gradFill>
            <a:gsLst>
              <a:gs pos="29000">
                <a:schemeClr val="accent5">
                  <a:lumMod val="20000"/>
                  <a:lumOff val="80000"/>
                </a:schemeClr>
              </a:gs>
              <a:gs pos="73000">
                <a:schemeClr val="accent5">
                  <a:lumMod val="40000"/>
                  <a:lumOff val="60000"/>
                </a:schemeClr>
              </a:gs>
              <a:gs pos="42000">
                <a:schemeClr val="accent5">
                  <a:lumMod val="20000"/>
                  <a:lumOff val="80000"/>
                </a:schemeClr>
              </a:gs>
              <a:gs pos="100000">
                <a:schemeClr val="accent1">
                  <a:lumMod val="40000"/>
                  <a:lumOff val="60000"/>
                  <a:tint val="23500"/>
                  <a:satMod val="16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dirty="0"/>
          </a:p>
        </p:txBody>
      </p:sp>
      <p:sp>
        <p:nvSpPr>
          <p:cNvPr id="2" name="Title 1">
            <a:extLst>
              <a:ext uri="{FF2B5EF4-FFF2-40B4-BE49-F238E27FC236}">
                <a16:creationId xmlns:a16="http://schemas.microsoft.com/office/drawing/2014/main" id="{67E968B5-401C-4C0C-997C-9986BD629158}"/>
              </a:ext>
            </a:extLst>
          </p:cNvPr>
          <p:cNvSpPr>
            <a:spLocks noGrp="1"/>
          </p:cNvSpPr>
          <p:nvPr>
            <p:ph type="title"/>
          </p:nvPr>
        </p:nvSpPr>
        <p:spPr>
          <a:xfrm>
            <a:off x="345661" y="1087821"/>
            <a:ext cx="15773400" cy="1988345"/>
          </a:xfrm>
        </p:spPr>
        <p:txBody>
          <a:bodyPr>
            <a:noAutofit/>
          </a:bodyPr>
          <a:lstStyle/>
          <a:p>
            <a:r>
              <a:rPr lang="en-US" sz="7200" b="1" dirty="0">
                <a:solidFill>
                  <a:srgbClr val="002060"/>
                </a:solidFill>
                <a:sym typeface="League Spartan"/>
              </a:rPr>
              <a:t>USERS &amp; STAKEHOLDERS</a:t>
            </a:r>
            <a:br>
              <a:rPr lang="en-US" sz="7200" dirty="0">
                <a:sym typeface="League Spartan"/>
              </a:rPr>
            </a:br>
            <a:endParaRPr lang="en-US" sz="7200" dirty="0"/>
          </a:p>
        </p:txBody>
      </p:sp>
      <p:sp>
        <p:nvSpPr>
          <p:cNvPr id="3" name="Content Placeholder 2">
            <a:extLst>
              <a:ext uri="{FF2B5EF4-FFF2-40B4-BE49-F238E27FC236}">
                <a16:creationId xmlns:a16="http://schemas.microsoft.com/office/drawing/2014/main" id="{0B3ED155-7FF4-4067-A599-089E041C5D04}"/>
              </a:ext>
            </a:extLst>
          </p:cNvPr>
          <p:cNvSpPr>
            <a:spLocks noGrp="1"/>
          </p:cNvSpPr>
          <p:nvPr>
            <p:ph sz="half" idx="1"/>
          </p:nvPr>
        </p:nvSpPr>
        <p:spPr>
          <a:xfrm>
            <a:off x="163287" y="1897749"/>
            <a:ext cx="9407265" cy="7115622"/>
          </a:xfrm>
        </p:spPr>
        <p:txBody>
          <a:bodyPr>
            <a:normAutofit/>
          </a:bodyPr>
          <a:lstStyle/>
          <a:p>
            <a:pPr marL="0" indent="0">
              <a:buNone/>
            </a:pPr>
            <a:endParaRPr lang="en-US" sz="3600" dirty="0">
              <a:solidFill>
                <a:schemeClr val="tx2">
                  <a:lumMod val="75000"/>
                  <a:lumOff val="25000"/>
                </a:schemeClr>
              </a:solidFill>
              <a:latin typeface="Arial Black" panose="020B0A04020102020204" pitchFamily="34" charset="0"/>
            </a:endParaRPr>
          </a:p>
          <a:p>
            <a:pPr marL="0" indent="0">
              <a:buNone/>
            </a:pPr>
            <a:endParaRPr lang="en-US" sz="3600" dirty="0">
              <a:solidFill>
                <a:schemeClr val="tx2">
                  <a:lumMod val="75000"/>
                  <a:lumOff val="25000"/>
                </a:schemeClr>
              </a:solidFill>
              <a:latin typeface="Arial Black" panose="020B0A04020102020204" pitchFamily="34" charset="0"/>
            </a:endParaRPr>
          </a:p>
          <a:p>
            <a:pPr marL="0" indent="0">
              <a:buNone/>
            </a:pPr>
            <a:r>
              <a:rPr lang="en-US" sz="3600" dirty="0">
                <a:solidFill>
                  <a:schemeClr val="tx2">
                    <a:lumMod val="75000"/>
                    <a:lumOff val="25000"/>
                  </a:schemeClr>
                </a:solidFill>
                <a:latin typeface="Arial Black" panose="020B0A04020102020204" pitchFamily="34" charset="0"/>
              </a:rPr>
              <a:t>Primary Users</a:t>
            </a:r>
          </a:p>
        </p:txBody>
      </p:sp>
      <p:sp>
        <p:nvSpPr>
          <p:cNvPr id="4" name="Content Placeholder 3">
            <a:extLst>
              <a:ext uri="{FF2B5EF4-FFF2-40B4-BE49-F238E27FC236}">
                <a16:creationId xmlns:a16="http://schemas.microsoft.com/office/drawing/2014/main" id="{DC3D65CD-96E5-4BF6-9444-7FC5E85ABDC2}"/>
              </a:ext>
            </a:extLst>
          </p:cNvPr>
          <p:cNvSpPr>
            <a:spLocks noGrp="1"/>
          </p:cNvSpPr>
          <p:nvPr>
            <p:ph sz="half" idx="2"/>
          </p:nvPr>
        </p:nvSpPr>
        <p:spPr>
          <a:xfrm>
            <a:off x="9570553" y="2601987"/>
            <a:ext cx="8202257" cy="9301541"/>
          </a:xfrm>
        </p:spPr>
        <p:txBody>
          <a:bodyPr/>
          <a:lstStyle/>
          <a:p>
            <a:pPr marL="0" indent="0">
              <a:buNone/>
            </a:pPr>
            <a:endParaRPr lang="en-US" sz="3600" dirty="0">
              <a:solidFill>
                <a:schemeClr val="tx2">
                  <a:lumMod val="75000"/>
                  <a:lumOff val="25000"/>
                </a:schemeClr>
              </a:solidFill>
              <a:latin typeface="Arial Black" panose="020B0A04020102020204" pitchFamily="34" charset="0"/>
            </a:endParaRPr>
          </a:p>
          <a:p>
            <a:pPr marL="0" indent="0">
              <a:buNone/>
            </a:pPr>
            <a:r>
              <a:rPr lang="en-US" sz="3600" dirty="0">
                <a:solidFill>
                  <a:schemeClr val="tx2">
                    <a:lumMod val="75000"/>
                    <a:lumOff val="25000"/>
                  </a:schemeClr>
                </a:solidFill>
                <a:latin typeface="Arial Black" panose="020B0A04020102020204" pitchFamily="34" charset="0"/>
              </a:rPr>
              <a:t>Stakeholders</a:t>
            </a:r>
          </a:p>
          <a:p>
            <a:pPr marL="0" indent="0">
              <a:buNone/>
            </a:pPr>
            <a:endParaRPr lang="en-US" dirty="0"/>
          </a:p>
        </p:txBody>
      </p:sp>
      <p:sp>
        <p:nvSpPr>
          <p:cNvPr id="5" name="Freeform 2">
            <a:extLst>
              <a:ext uri="{FF2B5EF4-FFF2-40B4-BE49-F238E27FC236}">
                <a16:creationId xmlns:a16="http://schemas.microsoft.com/office/drawing/2014/main" id="{6842CB17-91EB-4D01-B67B-15C4472CA31F}"/>
              </a:ext>
            </a:extLst>
          </p:cNvPr>
          <p:cNvSpPr/>
          <p:nvPr/>
        </p:nvSpPr>
        <p:spPr>
          <a:xfrm>
            <a:off x="552810" y="2257013"/>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sp>
        <p:nvSpPr>
          <p:cNvPr id="6" name="Freeform 4">
            <a:extLst>
              <a:ext uri="{FF2B5EF4-FFF2-40B4-BE49-F238E27FC236}">
                <a16:creationId xmlns:a16="http://schemas.microsoft.com/office/drawing/2014/main" id="{E0EADB1B-E9AD-47CF-A601-49C27CBEB062}"/>
              </a:ext>
            </a:extLst>
          </p:cNvPr>
          <p:cNvSpPr/>
          <p:nvPr/>
        </p:nvSpPr>
        <p:spPr>
          <a:xfrm>
            <a:off x="345661" y="4675144"/>
            <a:ext cx="1405920" cy="1646805"/>
          </a:xfrm>
          <a:custGeom>
            <a:avLst/>
            <a:gdLst/>
            <a:ahLst/>
            <a:cxnLst/>
            <a:rect l="l" t="t" r="r" b="b"/>
            <a:pathLst>
              <a:path w="1056369" h="1259457">
                <a:moveTo>
                  <a:pt x="0" y="0"/>
                </a:moveTo>
                <a:lnTo>
                  <a:pt x="1056369" y="0"/>
                </a:lnTo>
                <a:lnTo>
                  <a:pt x="1056369" y="1259457"/>
                </a:lnTo>
                <a:lnTo>
                  <a:pt x="0" y="12594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7" name="Freeform 5">
            <a:extLst>
              <a:ext uri="{FF2B5EF4-FFF2-40B4-BE49-F238E27FC236}">
                <a16:creationId xmlns:a16="http://schemas.microsoft.com/office/drawing/2014/main" id="{045CDAC3-BB9E-4AEB-B575-64B02FD65BC6}"/>
              </a:ext>
            </a:extLst>
          </p:cNvPr>
          <p:cNvSpPr/>
          <p:nvPr/>
        </p:nvSpPr>
        <p:spPr>
          <a:xfrm>
            <a:off x="345661" y="7021742"/>
            <a:ext cx="1333335" cy="1744785"/>
          </a:xfrm>
          <a:custGeom>
            <a:avLst/>
            <a:gdLst/>
            <a:ahLst/>
            <a:cxnLst/>
            <a:rect l="l" t="t" r="r" b="b"/>
            <a:pathLst>
              <a:path w="933572" h="1259457">
                <a:moveTo>
                  <a:pt x="0" y="0"/>
                </a:moveTo>
                <a:lnTo>
                  <a:pt x="933572" y="0"/>
                </a:lnTo>
                <a:lnTo>
                  <a:pt x="933572" y="1259457"/>
                </a:lnTo>
                <a:lnTo>
                  <a:pt x="0" y="125945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8" name="TextBox 9">
            <a:extLst>
              <a:ext uri="{FF2B5EF4-FFF2-40B4-BE49-F238E27FC236}">
                <a16:creationId xmlns:a16="http://schemas.microsoft.com/office/drawing/2014/main" id="{0949D404-F9A6-4337-8A27-3172299747F7}"/>
              </a:ext>
            </a:extLst>
          </p:cNvPr>
          <p:cNvSpPr txBox="1"/>
          <p:nvPr/>
        </p:nvSpPr>
        <p:spPr>
          <a:xfrm>
            <a:off x="2139676" y="5319461"/>
            <a:ext cx="6636935" cy="1166153"/>
          </a:xfrm>
          <a:prstGeom prst="rect">
            <a:avLst/>
          </a:prstGeom>
        </p:spPr>
        <p:txBody>
          <a:bodyPr wrap="square" lIns="0" tIns="0" rIns="0" bIns="0" rtlCol="0" anchor="t">
            <a:spAutoFit/>
          </a:bodyPr>
          <a:lstStyle>
            <a:defPPr>
              <a:defRPr lang="en-US"/>
            </a:defPPr>
            <a:lvl1pPr lvl="0" indent="0" algn="just">
              <a:lnSpc>
                <a:spcPts val="3024"/>
              </a:lnSpc>
              <a:defRPr sz="2800">
                <a:solidFill>
                  <a:schemeClr val="tx1">
                    <a:lumMod val="95000"/>
                    <a:lumOff val="5000"/>
                  </a:schemeClr>
                </a:solidFill>
                <a:latin typeface="Times New Roman" panose="02020603050405020304" pitchFamily="18" charset="0"/>
                <a:ea typeface="Open Sans"/>
                <a:cs typeface="Times New Roman" panose="02020603050405020304" pitchFamily="18" charset="0"/>
              </a:defRPr>
            </a:lvl1pPr>
          </a:lstStyle>
          <a:p>
            <a:r>
              <a:rPr lang="en-US" dirty="0">
                <a:sym typeface="Open Sans"/>
              </a:rPr>
              <a:t>Young graduates, migrant workers &amp; unemployed individuals on ikman.lk, </a:t>
            </a:r>
            <a:r>
              <a:rPr lang="en-US" dirty="0" err="1">
                <a:sym typeface="Open Sans"/>
              </a:rPr>
              <a:t>TopJobs</a:t>
            </a:r>
            <a:r>
              <a:rPr lang="en-US" dirty="0">
                <a:sym typeface="Open Sans"/>
              </a:rPr>
              <a:t> &amp; social media.</a:t>
            </a:r>
          </a:p>
        </p:txBody>
      </p:sp>
      <p:sp>
        <p:nvSpPr>
          <p:cNvPr id="9" name="TextBox 11">
            <a:extLst>
              <a:ext uri="{FF2B5EF4-FFF2-40B4-BE49-F238E27FC236}">
                <a16:creationId xmlns:a16="http://schemas.microsoft.com/office/drawing/2014/main" id="{8671417F-053A-44D8-AB84-BF9AF4C33862}"/>
              </a:ext>
            </a:extLst>
          </p:cNvPr>
          <p:cNvSpPr txBox="1"/>
          <p:nvPr/>
        </p:nvSpPr>
        <p:spPr>
          <a:xfrm>
            <a:off x="2132234" y="4397315"/>
            <a:ext cx="7421082" cy="697948"/>
          </a:xfrm>
          <a:prstGeom prst="rect">
            <a:avLst/>
          </a:prstGeom>
        </p:spPr>
        <p:txBody>
          <a:bodyPr lIns="0" tIns="0" rIns="0" bIns="0" rtlCol="0" anchor="t">
            <a:spAutoFit/>
          </a:bodyPr>
          <a:lstStyle/>
          <a:p>
            <a:pPr>
              <a:lnSpc>
                <a:spcPts val="6300"/>
              </a:lnSpc>
              <a:spcBef>
                <a:spcPct val="0"/>
              </a:spcBef>
            </a:pPr>
            <a:r>
              <a:rPr lang="en-US" sz="3150" b="1" dirty="0">
                <a:solidFill>
                  <a:schemeClr val="accent2">
                    <a:lumMod val="75000"/>
                  </a:schemeClr>
                </a:solidFill>
                <a:latin typeface="Poppins Semi-Bold"/>
                <a:ea typeface="Poppins Semi-Bold"/>
                <a:cs typeface="Poppins Semi-Bold"/>
                <a:sym typeface="Poppins Semi-Bold"/>
              </a:rPr>
              <a:t>Job Seekers</a:t>
            </a:r>
          </a:p>
        </p:txBody>
      </p:sp>
      <p:sp>
        <p:nvSpPr>
          <p:cNvPr id="10" name="TextBox 12">
            <a:extLst>
              <a:ext uri="{FF2B5EF4-FFF2-40B4-BE49-F238E27FC236}">
                <a16:creationId xmlns:a16="http://schemas.microsoft.com/office/drawing/2014/main" id="{56C1C488-E714-4094-8216-CD3E8C630022}"/>
              </a:ext>
            </a:extLst>
          </p:cNvPr>
          <p:cNvSpPr txBox="1"/>
          <p:nvPr/>
        </p:nvSpPr>
        <p:spPr>
          <a:xfrm>
            <a:off x="2159189" y="8078514"/>
            <a:ext cx="6617422" cy="769441"/>
          </a:xfrm>
          <a:prstGeom prst="rect">
            <a:avLst/>
          </a:prstGeom>
        </p:spPr>
        <p:txBody>
          <a:bodyPr wrap="square" lIns="0" tIns="0" rIns="0" bIns="0" rtlCol="0" anchor="t">
            <a:spAutoFit/>
          </a:bodyPr>
          <a:lstStyle>
            <a:defPPr>
              <a:defRPr lang="en-US"/>
            </a:defPPr>
            <a:lvl1pPr lvl="0" indent="0">
              <a:lnSpc>
                <a:spcPts val="3024"/>
              </a:lnSpc>
              <a:defRPr sz="2400">
                <a:solidFill>
                  <a:schemeClr val="tx1">
                    <a:lumMod val="95000"/>
                    <a:lumOff val="5000"/>
                  </a:schemeClr>
                </a:solidFill>
                <a:latin typeface="Times New Roman" panose="02020603050405020304" pitchFamily="18" charset="0"/>
                <a:ea typeface="Open Sans"/>
                <a:cs typeface="Times New Roman" panose="02020603050405020304" pitchFamily="18" charset="0"/>
              </a:defRPr>
            </a:lvl1pPr>
          </a:lstStyle>
          <a:p>
            <a:pPr algn="just"/>
            <a:r>
              <a:rPr lang="en-US" sz="2800" dirty="0">
                <a:sym typeface="Open Sans"/>
              </a:rPr>
              <a:t>Legitimate employers who need to protect their brand from impersonation by scammers.</a:t>
            </a:r>
          </a:p>
        </p:txBody>
      </p:sp>
      <p:sp>
        <p:nvSpPr>
          <p:cNvPr id="11" name="TextBox 13">
            <a:extLst>
              <a:ext uri="{FF2B5EF4-FFF2-40B4-BE49-F238E27FC236}">
                <a16:creationId xmlns:a16="http://schemas.microsoft.com/office/drawing/2014/main" id="{300062F0-FB28-4D0A-8751-4F42C866D067}"/>
              </a:ext>
            </a:extLst>
          </p:cNvPr>
          <p:cNvSpPr txBox="1"/>
          <p:nvPr/>
        </p:nvSpPr>
        <p:spPr>
          <a:xfrm>
            <a:off x="2174370" y="7102926"/>
            <a:ext cx="7421082" cy="697948"/>
          </a:xfrm>
          <a:prstGeom prst="rect">
            <a:avLst/>
          </a:prstGeom>
        </p:spPr>
        <p:txBody>
          <a:bodyPr lIns="0" tIns="0" rIns="0" bIns="0" rtlCol="0" anchor="t">
            <a:spAutoFit/>
          </a:bodyPr>
          <a:lstStyle/>
          <a:p>
            <a:pPr>
              <a:lnSpc>
                <a:spcPts val="6300"/>
              </a:lnSpc>
              <a:spcBef>
                <a:spcPct val="0"/>
              </a:spcBef>
            </a:pPr>
            <a:r>
              <a:rPr lang="en-US" sz="3150" b="1" dirty="0">
                <a:solidFill>
                  <a:schemeClr val="accent2">
                    <a:lumMod val="75000"/>
                  </a:schemeClr>
                </a:solidFill>
                <a:latin typeface="Poppins Semi-Bold"/>
                <a:ea typeface="Poppins Semi-Bold"/>
                <a:cs typeface="Poppins Semi-Bold"/>
                <a:sym typeface="Poppins Semi-Bold"/>
              </a:rPr>
              <a:t>HR &amp; Recruitment Professionals</a:t>
            </a:r>
          </a:p>
        </p:txBody>
      </p:sp>
      <p:sp>
        <p:nvSpPr>
          <p:cNvPr id="12" name="TextBox 11">
            <a:extLst>
              <a:ext uri="{FF2B5EF4-FFF2-40B4-BE49-F238E27FC236}">
                <a16:creationId xmlns:a16="http://schemas.microsoft.com/office/drawing/2014/main" id="{DEED0809-D20A-41D0-9E75-3DFD285110E6}"/>
              </a:ext>
            </a:extLst>
          </p:cNvPr>
          <p:cNvSpPr txBox="1"/>
          <p:nvPr/>
        </p:nvSpPr>
        <p:spPr>
          <a:xfrm>
            <a:off x="8335706" y="9764709"/>
            <a:ext cx="3452946" cy="461665"/>
          </a:xfrm>
          <a:prstGeom prst="rect">
            <a:avLst/>
          </a:prstGeom>
          <a:noFill/>
        </p:spPr>
        <p:txBody>
          <a:bodyPr wrap="square" rtlCol="0">
            <a:spAutoFit/>
          </a:bodyPr>
          <a:lstStyle>
            <a:defPPr>
              <a:defRPr lang="en-US"/>
            </a:defPPr>
            <a:lvl1pPr>
              <a:defRPr sz="3200" b="1">
                <a:solidFill>
                  <a:srgbClr val="002060"/>
                </a:solidFill>
              </a:defRPr>
            </a:lvl1pPr>
          </a:lstStyle>
          <a:p>
            <a:r>
              <a:rPr lang="en-US" sz="2400" dirty="0"/>
              <a:t>R26-SE-002</a:t>
            </a:r>
          </a:p>
        </p:txBody>
      </p:sp>
      <p:sp>
        <p:nvSpPr>
          <p:cNvPr id="13" name="Freeform 16">
            <a:extLst>
              <a:ext uri="{FF2B5EF4-FFF2-40B4-BE49-F238E27FC236}">
                <a16:creationId xmlns:a16="http://schemas.microsoft.com/office/drawing/2014/main" id="{40E4DDC7-B372-49FA-9C4A-3AD4D79F849B}"/>
              </a:ext>
            </a:extLst>
          </p:cNvPr>
          <p:cNvSpPr/>
          <p:nvPr/>
        </p:nvSpPr>
        <p:spPr>
          <a:xfrm>
            <a:off x="0" y="8990725"/>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9"/>
            <a:stretch>
              <a:fillRect l="-1652" t="-36979" b="-5607"/>
            </a:stretch>
          </a:blipFill>
        </p:spPr>
      </p:sp>
      <p:sp>
        <p:nvSpPr>
          <p:cNvPr id="23" name="Oval 22">
            <a:extLst>
              <a:ext uri="{FF2B5EF4-FFF2-40B4-BE49-F238E27FC236}">
                <a16:creationId xmlns:a16="http://schemas.microsoft.com/office/drawing/2014/main" id="{A027BAB5-BAD7-4D0E-A036-4130AFC6DC30}"/>
              </a:ext>
            </a:extLst>
          </p:cNvPr>
          <p:cNvSpPr/>
          <p:nvPr/>
        </p:nvSpPr>
        <p:spPr>
          <a:xfrm>
            <a:off x="14006750" y="7903086"/>
            <a:ext cx="2702052" cy="2299686"/>
          </a:xfrm>
          <a:prstGeom prst="ellipse">
            <a:avLst/>
          </a:prstGeom>
          <a:gradFill>
            <a:gsLst>
              <a:gs pos="59856">
                <a:schemeClr val="accent6">
                  <a:lumMod val="20000"/>
                  <a:lumOff val="80000"/>
                </a:schemeClr>
              </a:gs>
              <a:gs pos="29000">
                <a:schemeClr val="accent6">
                  <a:lumMod val="20000"/>
                  <a:lumOff val="80000"/>
                </a:schemeClr>
              </a:gs>
              <a:gs pos="81000">
                <a:schemeClr val="accent6">
                  <a:lumMod val="20000"/>
                  <a:lumOff val="80000"/>
                </a:schemeClr>
              </a:gs>
              <a:gs pos="72000">
                <a:schemeClr val="accent6">
                  <a:lumMod val="20000"/>
                  <a:lumOff val="80000"/>
                </a:schemeClr>
              </a:gs>
              <a:gs pos="69000">
                <a:schemeClr val="accent6">
                  <a:lumMod val="40000"/>
                  <a:lumOff val="6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50"/>
          </a:p>
        </p:txBody>
      </p:sp>
      <p:sp>
        <p:nvSpPr>
          <p:cNvPr id="24" name="Freeform 14">
            <a:extLst>
              <a:ext uri="{FF2B5EF4-FFF2-40B4-BE49-F238E27FC236}">
                <a16:creationId xmlns:a16="http://schemas.microsoft.com/office/drawing/2014/main" id="{E114B0AF-E661-44FF-B3A2-1637EA3930E7}"/>
              </a:ext>
            </a:extLst>
          </p:cNvPr>
          <p:cNvSpPr/>
          <p:nvPr/>
        </p:nvSpPr>
        <p:spPr>
          <a:xfrm rot="5388280">
            <a:off x="6183007" y="6434591"/>
            <a:ext cx="6256290" cy="92373"/>
          </a:xfrm>
          <a:custGeom>
            <a:avLst/>
            <a:gdLst/>
            <a:ahLst/>
            <a:cxnLst/>
            <a:rect l="l" t="t" r="r" b="b"/>
            <a:pathLst>
              <a:path w="6691855" h="47625">
                <a:moveTo>
                  <a:pt x="0" y="0"/>
                </a:moveTo>
                <a:lnTo>
                  <a:pt x="6691854" y="0"/>
                </a:lnTo>
                <a:lnTo>
                  <a:pt x="6691854" y="47625"/>
                </a:lnTo>
                <a:lnTo>
                  <a:pt x="0" y="47625"/>
                </a:lnTo>
                <a:lnTo>
                  <a:pt x="0" y="0"/>
                </a:lnTo>
                <a:close/>
              </a:path>
            </a:pathLst>
          </a:custGeom>
          <a:blipFill>
            <a:blip r:embed="rId3">
              <a:extLst>
                <a:ext uri="{96DAC541-7B7A-43D3-8B79-37D633B846F1}">
                  <asvg:svgBlip xmlns:asvg="http://schemas.microsoft.com/office/drawing/2016/SVG/main" r:embed="rId4"/>
                </a:ext>
              </a:extLst>
            </a:blip>
            <a:stretch>
              <a:fillRect t="-601929" b="-882016"/>
            </a:stretch>
          </a:blipFill>
        </p:spPr>
      </p:sp>
      <p:sp>
        <p:nvSpPr>
          <p:cNvPr id="25" name="TextBox 24">
            <a:extLst>
              <a:ext uri="{FF2B5EF4-FFF2-40B4-BE49-F238E27FC236}">
                <a16:creationId xmlns:a16="http://schemas.microsoft.com/office/drawing/2014/main" id="{056E4141-78E4-4D1B-AC0A-F6B6C9E4A7BC}"/>
              </a:ext>
            </a:extLst>
          </p:cNvPr>
          <p:cNvSpPr txBox="1"/>
          <p:nvPr/>
        </p:nvSpPr>
        <p:spPr>
          <a:xfrm>
            <a:off x="11505615" y="4305162"/>
            <a:ext cx="2197008" cy="1569660"/>
          </a:xfrm>
          <a:prstGeom prst="rect">
            <a:avLst/>
          </a:prstGeom>
          <a:noFill/>
        </p:spPr>
        <p:txBody>
          <a:bodyPr wrap="square" rtlCol="0">
            <a:spAutoFit/>
          </a:bodyPr>
          <a:lstStyle/>
          <a:p>
            <a:pPr algn="ctr"/>
            <a:r>
              <a:rPr lang="en-US" sz="2400" b="1" dirty="0"/>
              <a:t>Government</a:t>
            </a:r>
          </a:p>
          <a:p>
            <a:pPr algn="ctr"/>
            <a:r>
              <a:rPr lang="en-US" sz="2400" b="1" dirty="0"/>
              <a:t>&amp; </a:t>
            </a:r>
          </a:p>
          <a:p>
            <a:pPr algn="ctr"/>
            <a:r>
              <a:rPr lang="en-US" sz="2400" b="1" dirty="0"/>
              <a:t>Regulatory</a:t>
            </a:r>
          </a:p>
          <a:p>
            <a:pPr algn="ctr"/>
            <a:endParaRPr lang="en-US" sz="2400" dirty="0"/>
          </a:p>
        </p:txBody>
      </p:sp>
      <p:sp>
        <p:nvSpPr>
          <p:cNvPr id="26" name="TextBox 25">
            <a:extLst>
              <a:ext uri="{FF2B5EF4-FFF2-40B4-BE49-F238E27FC236}">
                <a16:creationId xmlns:a16="http://schemas.microsoft.com/office/drawing/2014/main" id="{D44F11ED-6317-4CE5-A4EB-D6055FAB96E2}"/>
              </a:ext>
            </a:extLst>
          </p:cNvPr>
          <p:cNvSpPr txBox="1"/>
          <p:nvPr/>
        </p:nvSpPr>
        <p:spPr>
          <a:xfrm>
            <a:off x="14045141" y="4309914"/>
            <a:ext cx="2607575" cy="1200329"/>
          </a:xfrm>
          <a:prstGeom prst="rect">
            <a:avLst/>
          </a:prstGeom>
          <a:noFill/>
        </p:spPr>
        <p:txBody>
          <a:bodyPr wrap="square" rtlCol="0">
            <a:spAutoFit/>
          </a:bodyPr>
          <a:lstStyle/>
          <a:p>
            <a:pPr algn="ctr"/>
            <a:r>
              <a:rPr lang="en-US" sz="2400" b="1" dirty="0"/>
              <a:t>Banks</a:t>
            </a:r>
          </a:p>
          <a:p>
            <a:pPr algn="ctr"/>
            <a:r>
              <a:rPr lang="en-US" sz="2400" b="1" dirty="0"/>
              <a:t>&amp; </a:t>
            </a:r>
          </a:p>
          <a:p>
            <a:pPr algn="ctr"/>
            <a:r>
              <a:rPr lang="en-US" sz="2400" b="1" dirty="0"/>
              <a:t>Financial Bodies</a:t>
            </a:r>
            <a:endParaRPr lang="en-US" sz="2400" dirty="0"/>
          </a:p>
        </p:txBody>
      </p:sp>
      <p:sp>
        <p:nvSpPr>
          <p:cNvPr id="27" name="TextBox 26">
            <a:extLst>
              <a:ext uri="{FF2B5EF4-FFF2-40B4-BE49-F238E27FC236}">
                <a16:creationId xmlns:a16="http://schemas.microsoft.com/office/drawing/2014/main" id="{AF6FC90E-D145-439B-A9CD-BDFF2DB952C9}"/>
              </a:ext>
            </a:extLst>
          </p:cNvPr>
          <p:cNvSpPr txBox="1"/>
          <p:nvPr/>
        </p:nvSpPr>
        <p:spPr>
          <a:xfrm>
            <a:off x="12756119" y="6579467"/>
            <a:ext cx="2197008" cy="830997"/>
          </a:xfrm>
          <a:prstGeom prst="rect">
            <a:avLst/>
          </a:prstGeom>
          <a:noFill/>
        </p:spPr>
        <p:txBody>
          <a:bodyPr wrap="square" rtlCol="0">
            <a:spAutoFit/>
          </a:bodyPr>
          <a:lstStyle>
            <a:defPPr>
              <a:defRPr lang="en-US"/>
            </a:defPPr>
            <a:lvl1pPr algn="ctr">
              <a:defRPr sz="2400" b="1"/>
            </a:lvl1pPr>
          </a:lstStyle>
          <a:p>
            <a:r>
              <a:rPr lang="en-US" dirty="0"/>
              <a:t>Law Enforcement</a:t>
            </a:r>
          </a:p>
        </p:txBody>
      </p:sp>
      <p:sp>
        <p:nvSpPr>
          <p:cNvPr id="28" name="TextBox 27">
            <a:extLst>
              <a:ext uri="{FF2B5EF4-FFF2-40B4-BE49-F238E27FC236}">
                <a16:creationId xmlns:a16="http://schemas.microsoft.com/office/drawing/2014/main" id="{B9EB8113-9BDD-4CFD-8DB4-042C0D8C2049}"/>
              </a:ext>
            </a:extLst>
          </p:cNvPr>
          <p:cNvSpPr txBox="1"/>
          <p:nvPr/>
        </p:nvSpPr>
        <p:spPr>
          <a:xfrm>
            <a:off x="15527458" y="6536838"/>
            <a:ext cx="2197008" cy="830997"/>
          </a:xfrm>
          <a:prstGeom prst="rect">
            <a:avLst/>
          </a:prstGeom>
          <a:noFill/>
        </p:spPr>
        <p:txBody>
          <a:bodyPr wrap="square" rtlCol="0">
            <a:spAutoFit/>
          </a:bodyPr>
          <a:lstStyle/>
          <a:p>
            <a:pPr algn="ctr"/>
            <a:r>
              <a:rPr lang="en-US" sz="2400" b="1" dirty="0"/>
              <a:t>Job </a:t>
            </a:r>
          </a:p>
          <a:p>
            <a:pPr algn="ctr"/>
            <a:r>
              <a:rPr lang="en-US" sz="2400" b="1" dirty="0"/>
              <a:t>platforms</a:t>
            </a:r>
            <a:endParaRPr lang="en-US" sz="2400" dirty="0"/>
          </a:p>
        </p:txBody>
      </p:sp>
      <p:sp>
        <p:nvSpPr>
          <p:cNvPr id="29" name="TextBox 28">
            <a:extLst>
              <a:ext uri="{FF2B5EF4-FFF2-40B4-BE49-F238E27FC236}">
                <a16:creationId xmlns:a16="http://schemas.microsoft.com/office/drawing/2014/main" id="{509E68F9-C9C4-403D-9A1D-62B7168BF4BF}"/>
              </a:ext>
            </a:extLst>
          </p:cNvPr>
          <p:cNvSpPr txBox="1"/>
          <p:nvPr/>
        </p:nvSpPr>
        <p:spPr>
          <a:xfrm>
            <a:off x="14316502" y="8636074"/>
            <a:ext cx="2197008" cy="1200329"/>
          </a:xfrm>
          <a:prstGeom prst="rect">
            <a:avLst/>
          </a:prstGeom>
          <a:noFill/>
        </p:spPr>
        <p:txBody>
          <a:bodyPr wrap="square" rtlCol="0">
            <a:spAutoFit/>
          </a:bodyPr>
          <a:lstStyle/>
          <a:p>
            <a:pPr algn="ctr"/>
            <a:r>
              <a:rPr lang="en-US" sz="2400" b="1" dirty="0"/>
              <a:t>Educational Institutes</a:t>
            </a:r>
          </a:p>
          <a:p>
            <a:pPr algn="ctr"/>
            <a:endParaRPr lang="en-US" sz="2400" dirty="0"/>
          </a:p>
        </p:txBody>
      </p:sp>
      <p:sp>
        <p:nvSpPr>
          <p:cNvPr id="34" name="TextBox 9">
            <a:extLst>
              <a:ext uri="{FF2B5EF4-FFF2-40B4-BE49-F238E27FC236}">
                <a16:creationId xmlns:a16="http://schemas.microsoft.com/office/drawing/2014/main" id="{5EFB1353-C57F-410B-836B-40B65D3A50D4}"/>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Tree>
    <p:extLst>
      <p:ext uri="{BB962C8B-B14F-4D97-AF65-F5344CB8AC3E}">
        <p14:creationId xmlns:p14="http://schemas.microsoft.com/office/powerpoint/2010/main" val="44096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6E507A8A-FF4B-40B5-B623-7ADF4E58072E}"/>
              </a:ext>
            </a:extLst>
          </p:cNvPr>
          <p:cNvSpPr txBox="1"/>
          <p:nvPr/>
        </p:nvSpPr>
        <p:spPr>
          <a:xfrm>
            <a:off x="1209269" y="6865144"/>
            <a:ext cx="5952083" cy="380873"/>
          </a:xfrm>
          <a:prstGeom prst="rect">
            <a:avLst/>
          </a:prstGeom>
          <a:noFill/>
        </p:spPr>
        <p:txBody>
          <a:bodyPr wrap="square" lIns="0" tIns="0" rIns="0" bIns="0" anchor="t">
            <a:spAutoFit/>
          </a:bodyPr>
          <a:lstStyle/>
          <a:p>
            <a:pPr algn="ctr"/>
            <a:r>
              <a:rPr sz="2475" dirty="0">
                <a:solidFill>
                  <a:srgbClr val="F8FAFC"/>
                </a:solidFill>
                <a:latin typeface="Inter SemiBold"/>
              </a:rPr>
              <a:t>Lost to Employment Fraud Annually</a:t>
            </a:r>
          </a:p>
        </p:txBody>
      </p:sp>
      <p:sp>
        <p:nvSpPr>
          <p:cNvPr id="22" name="TextBox 21">
            <a:extLst>
              <a:ext uri="{FF2B5EF4-FFF2-40B4-BE49-F238E27FC236}">
                <a16:creationId xmlns:a16="http://schemas.microsoft.com/office/drawing/2014/main" id="{3515378C-5776-4DA4-AB2A-06FAD29D2814}"/>
              </a:ext>
            </a:extLst>
          </p:cNvPr>
          <p:cNvSpPr txBox="1"/>
          <p:nvPr/>
        </p:nvSpPr>
        <p:spPr>
          <a:xfrm>
            <a:off x="8156554" y="9694763"/>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23" name="Freeform 16">
            <a:extLst>
              <a:ext uri="{FF2B5EF4-FFF2-40B4-BE49-F238E27FC236}">
                <a16:creationId xmlns:a16="http://schemas.microsoft.com/office/drawing/2014/main" id="{1B052B71-D0CB-4395-85E5-0AC0D43A928D}"/>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0" name="Freeform 5">
            <a:extLst>
              <a:ext uri="{FF2B5EF4-FFF2-40B4-BE49-F238E27FC236}">
                <a16:creationId xmlns:a16="http://schemas.microsoft.com/office/drawing/2014/main" id="{9824D92D-D2E4-4564-9B4F-99AB38BBB917}"/>
              </a:ext>
            </a:extLst>
          </p:cNvPr>
          <p:cNvSpPr/>
          <p:nvPr/>
        </p:nvSpPr>
        <p:spPr>
          <a:xfrm>
            <a:off x="1247640" y="3900588"/>
            <a:ext cx="942077" cy="942077"/>
          </a:xfrm>
          <a:custGeom>
            <a:avLst/>
            <a:gdLst/>
            <a:ahLst/>
            <a:cxnLst/>
            <a:rect l="l" t="t" r="r" b="b"/>
            <a:pathLst>
              <a:path w="1256103" h="1256103">
                <a:moveTo>
                  <a:pt x="0" y="0"/>
                </a:moveTo>
                <a:lnTo>
                  <a:pt x="1256103" y="0"/>
                </a:lnTo>
                <a:lnTo>
                  <a:pt x="1256103" y="1256103"/>
                </a:lnTo>
                <a:lnTo>
                  <a:pt x="0" y="12561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6">
            <a:extLst>
              <a:ext uri="{FF2B5EF4-FFF2-40B4-BE49-F238E27FC236}">
                <a16:creationId xmlns:a16="http://schemas.microsoft.com/office/drawing/2014/main" id="{1FC16C44-B931-4EFA-9726-F3BEAEB19198}"/>
              </a:ext>
            </a:extLst>
          </p:cNvPr>
          <p:cNvSpPr txBox="1"/>
          <p:nvPr/>
        </p:nvSpPr>
        <p:spPr>
          <a:xfrm>
            <a:off x="825259" y="5058085"/>
            <a:ext cx="1832017" cy="342163"/>
          </a:xfrm>
          <a:prstGeom prst="rect">
            <a:avLst/>
          </a:prstGeom>
        </p:spPr>
        <p:txBody>
          <a:bodyPr lIns="0" tIns="0" rIns="0" bIns="0" rtlCol="0" anchor="t">
            <a:spAutoFit/>
          </a:bodyPr>
          <a:lstStyle/>
          <a:p>
            <a:pPr algn="ctr">
              <a:lnSpc>
                <a:spcPts val="2911"/>
              </a:lnSpc>
              <a:spcBef>
                <a:spcPct val="0"/>
              </a:spcBef>
            </a:pPr>
            <a:r>
              <a:rPr lang="en-US" sz="2079" b="1" dirty="0">
                <a:solidFill>
                  <a:srgbClr val="780000"/>
                </a:solidFill>
                <a:latin typeface="Open Sans Bold"/>
                <a:ea typeface="Open Sans Bold"/>
                <a:cs typeface="Open Sans Bold"/>
                <a:sym typeface="Open Sans Bold"/>
              </a:rPr>
              <a:t>Financial Loss</a:t>
            </a:r>
          </a:p>
        </p:txBody>
      </p:sp>
      <p:sp>
        <p:nvSpPr>
          <p:cNvPr id="14" name="Freeform 8">
            <a:extLst>
              <a:ext uri="{FF2B5EF4-FFF2-40B4-BE49-F238E27FC236}">
                <a16:creationId xmlns:a16="http://schemas.microsoft.com/office/drawing/2014/main" id="{F96D1720-2715-4D7E-B39F-F3C8DD2A468B}"/>
              </a:ext>
            </a:extLst>
          </p:cNvPr>
          <p:cNvSpPr/>
          <p:nvPr/>
        </p:nvSpPr>
        <p:spPr>
          <a:xfrm>
            <a:off x="4473971" y="3890084"/>
            <a:ext cx="937291" cy="937291"/>
          </a:xfrm>
          <a:custGeom>
            <a:avLst/>
            <a:gdLst/>
            <a:ahLst/>
            <a:cxnLst/>
            <a:rect l="l" t="t" r="r" b="b"/>
            <a:pathLst>
              <a:path w="937291" h="937291">
                <a:moveTo>
                  <a:pt x="0" y="0"/>
                </a:moveTo>
                <a:lnTo>
                  <a:pt x="937291" y="0"/>
                </a:lnTo>
                <a:lnTo>
                  <a:pt x="937291" y="937291"/>
                </a:lnTo>
                <a:lnTo>
                  <a:pt x="0" y="93729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1">
            <a:extLst>
              <a:ext uri="{FF2B5EF4-FFF2-40B4-BE49-F238E27FC236}">
                <a16:creationId xmlns:a16="http://schemas.microsoft.com/office/drawing/2014/main" id="{940CD978-515F-4BD7-91A7-BD5FE5FE3B4F}"/>
              </a:ext>
            </a:extLst>
          </p:cNvPr>
          <p:cNvSpPr/>
          <p:nvPr/>
        </p:nvSpPr>
        <p:spPr>
          <a:xfrm>
            <a:off x="1270228" y="3916325"/>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18" name="Freeform 12">
            <a:extLst>
              <a:ext uri="{FF2B5EF4-FFF2-40B4-BE49-F238E27FC236}">
                <a16:creationId xmlns:a16="http://schemas.microsoft.com/office/drawing/2014/main" id="{60F1DDD9-8FA6-41CA-85DD-6D478FD7F32E}"/>
              </a:ext>
            </a:extLst>
          </p:cNvPr>
          <p:cNvSpPr/>
          <p:nvPr/>
        </p:nvSpPr>
        <p:spPr>
          <a:xfrm>
            <a:off x="4466578" y="3867589"/>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dirty="0"/>
          </a:p>
        </p:txBody>
      </p:sp>
      <p:sp>
        <p:nvSpPr>
          <p:cNvPr id="20" name="Freeform 14">
            <a:extLst>
              <a:ext uri="{FF2B5EF4-FFF2-40B4-BE49-F238E27FC236}">
                <a16:creationId xmlns:a16="http://schemas.microsoft.com/office/drawing/2014/main" id="{465ABB4F-E511-4989-B1DB-39A3AC374485}"/>
              </a:ext>
            </a:extLst>
          </p:cNvPr>
          <p:cNvSpPr/>
          <p:nvPr/>
        </p:nvSpPr>
        <p:spPr>
          <a:xfrm>
            <a:off x="7685516" y="3783354"/>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grpSp>
        <p:nvGrpSpPr>
          <p:cNvPr id="4" name="Group 3">
            <a:extLst>
              <a:ext uri="{FF2B5EF4-FFF2-40B4-BE49-F238E27FC236}">
                <a16:creationId xmlns:a16="http://schemas.microsoft.com/office/drawing/2014/main" id="{E37E4660-25F7-4397-8CA2-6DB61A01D8C2}"/>
              </a:ext>
            </a:extLst>
          </p:cNvPr>
          <p:cNvGrpSpPr/>
          <p:nvPr/>
        </p:nvGrpSpPr>
        <p:grpSpPr>
          <a:xfrm>
            <a:off x="1189093" y="7390588"/>
            <a:ext cx="942077" cy="942077"/>
            <a:chOff x="1614150" y="6665462"/>
            <a:chExt cx="942077" cy="942077"/>
          </a:xfrm>
        </p:grpSpPr>
        <p:sp>
          <p:nvSpPr>
            <p:cNvPr id="21" name="Freeform 15">
              <a:extLst>
                <a:ext uri="{FF2B5EF4-FFF2-40B4-BE49-F238E27FC236}">
                  <a16:creationId xmlns:a16="http://schemas.microsoft.com/office/drawing/2014/main" id="{5ED2F965-EDED-4063-AB45-4A061D4F87D7}"/>
                </a:ext>
              </a:extLst>
            </p:cNvPr>
            <p:cNvSpPr/>
            <p:nvPr/>
          </p:nvSpPr>
          <p:spPr>
            <a:xfrm>
              <a:off x="1614150" y="6665462"/>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24" name="Freeform 16">
              <a:extLst>
                <a:ext uri="{FF2B5EF4-FFF2-40B4-BE49-F238E27FC236}">
                  <a16:creationId xmlns:a16="http://schemas.microsoft.com/office/drawing/2014/main" id="{C37CB738-587E-48C3-AD09-B0B041C5B3CB}"/>
                </a:ext>
              </a:extLst>
            </p:cNvPr>
            <p:cNvSpPr/>
            <p:nvPr/>
          </p:nvSpPr>
          <p:spPr>
            <a:xfrm>
              <a:off x="1799194" y="6912223"/>
              <a:ext cx="571989" cy="456161"/>
            </a:xfrm>
            <a:custGeom>
              <a:avLst/>
              <a:gdLst/>
              <a:ahLst/>
              <a:cxnLst/>
              <a:rect l="l" t="t" r="r" b="b"/>
              <a:pathLst>
                <a:path w="571989" h="456161">
                  <a:moveTo>
                    <a:pt x="0" y="0"/>
                  </a:moveTo>
                  <a:lnTo>
                    <a:pt x="571989" y="0"/>
                  </a:lnTo>
                  <a:lnTo>
                    <a:pt x="571989" y="456161"/>
                  </a:lnTo>
                  <a:lnTo>
                    <a:pt x="0" y="45616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sp>
        <p:nvSpPr>
          <p:cNvPr id="25" name="Freeform 17">
            <a:extLst>
              <a:ext uri="{FF2B5EF4-FFF2-40B4-BE49-F238E27FC236}">
                <a16:creationId xmlns:a16="http://schemas.microsoft.com/office/drawing/2014/main" id="{68AB2CBD-8327-4B6A-815D-CE7C50935533}"/>
              </a:ext>
            </a:extLst>
          </p:cNvPr>
          <p:cNvSpPr/>
          <p:nvPr/>
        </p:nvSpPr>
        <p:spPr>
          <a:xfrm>
            <a:off x="4490011" y="7390587"/>
            <a:ext cx="945880" cy="945880"/>
          </a:xfrm>
          <a:custGeom>
            <a:avLst/>
            <a:gdLst/>
            <a:ahLst/>
            <a:cxnLst/>
            <a:rect l="l" t="t" r="r" b="b"/>
            <a:pathLst>
              <a:path w="945880" h="945880">
                <a:moveTo>
                  <a:pt x="0" y="0"/>
                </a:moveTo>
                <a:lnTo>
                  <a:pt x="945879" y="0"/>
                </a:lnTo>
                <a:lnTo>
                  <a:pt x="945879" y="945880"/>
                </a:lnTo>
                <a:lnTo>
                  <a:pt x="0" y="94588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dirty="0"/>
          </a:p>
        </p:txBody>
      </p:sp>
      <p:sp>
        <p:nvSpPr>
          <p:cNvPr id="26" name="Freeform 18">
            <a:extLst>
              <a:ext uri="{FF2B5EF4-FFF2-40B4-BE49-F238E27FC236}">
                <a16:creationId xmlns:a16="http://schemas.microsoft.com/office/drawing/2014/main" id="{DE68AF3C-D008-492E-A3F3-E02DCFF415F5}"/>
              </a:ext>
            </a:extLst>
          </p:cNvPr>
          <p:cNvSpPr/>
          <p:nvPr/>
        </p:nvSpPr>
        <p:spPr>
          <a:xfrm>
            <a:off x="4513043" y="7390587"/>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dirty="0"/>
          </a:p>
        </p:txBody>
      </p:sp>
      <p:sp>
        <p:nvSpPr>
          <p:cNvPr id="27" name="Freeform 19">
            <a:extLst>
              <a:ext uri="{FF2B5EF4-FFF2-40B4-BE49-F238E27FC236}">
                <a16:creationId xmlns:a16="http://schemas.microsoft.com/office/drawing/2014/main" id="{9537644F-BDF9-4D77-B203-3C7B4D71F8E1}"/>
              </a:ext>
            </a:extLst>
          </p:cNvPr>
          <p:cNvSpPr/>
          <p:nvPr/>
        </p:nvSpPr>
        <p:spPr>
          <a:xfrm>
            <a:off x="8477583" y="7608651"/>
            <a:ext cx="525861" cy="529169"/>
          </a:xfrm>
          <a:custGeom>
            <a:avLst/>
            <a:gdLst/>
            <a:ahLst/>
            <a:cxnLst/>
            <a:rect l="l" t="t" r="r" b="b"/>
            <a:pathLst>
              <a:path w="525861" h="529169">
                <a:moveTo>
                  <a:pt x="0" y="0"/>
                </a:moveTo>
                <a:lnTo>
                  <a:pt x="525861" y="0"/>
                </a:lnTo>
                <a:lnTo>
                  <a:pt x="525861" y="529169"/>
                </a:lnTo>
                <a:lnTo>
                  <a:pt x="0" y="5291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dirty="0"/>
          </a:p>
        </p:txBody>
      </p:sp>
      <p:sp>
        <p:nvSpPr>
          <p:cNvPr id="28" name="Freeform 20">
            <a:extLst>
              <a:ext uri="{FF2B5EF4-FFF2-40B4-BE49-F238E27FC236}">
                <a16:creationId xmlns:a16="http://schemas.microsoft.com/office/drawing/2014/main" id="{3F3F51FA-9000-4A2A-83B9-9758FE9A51F3}"/>
              </a:ext>
            </a:extLst>
          </p:cNvPr>
          <p:cNvSpPr/>
          <p:nvPr/>
        </p:nvSpPr>
        <p:spPr>
          <a:xfrm>
            <a:off x="8235832" y="7372787"/>
            <a:ext cx="942077" cy="942077"/>
          </a:xfrm>
          <a:custGeom>
            <a:avLst/>
            <a:gdLst/>
            <a:ahLst/>
            <a:cxnLst/>
            <a:rect l="l" t="t" r="r" b="b"/>
            <a:pathLst>
              <a:path w="942077" h="942077">
                <a:moveTo>
                  <a:pt x="0" y="0"/>
                </a:moveTo>
                <a:lnTo>
                  <a:pt x="942077" y="0"/>
                </a:lnTo>
                <a:lnTo>
                  <a:pt x="942077" y="942077"/>
                </a:lnTo>
                <a:lnTo>
                  <a:pt x="0" y="942077"/>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32" name="TextBox 24">
            <a:extLst>
              <a:ext uri="{FF2B5EF4-FFF2-40B4-BE49-F238E27FC236}">
                <a16:creationId xmlns:a16="http://schemas.microsoft.com/office/drawing/2014/main" id="{064FE74D-8391-4FF1-97EA-12166C201CAA}"/>
              </a:ext>
            </a:extLst>
          </p:cNvPr>
          <p:cNvSpPr txBox="1"/>
          <p:nvPr/>
        </p:nvSpPr>
        <p:spPr>
          <a:xfrm>
            <a:off x="7024164" y="8500453"/>
            <a:ext cx="3341109" cy="351688"/>
          </a:xfrm>
          <a:prstGeom prst="rect">
            <a:avLst/>
          </a:prstGeom>
        </p:spPr>
        <p:txBody>
          <a:bodyPr lIns="0" tIns="0" rIns="0" bIns="0" rtlCol="0" anchor="t">
            <a:spAutoFit/>
          </a:bodyPr>
          <a:lstStyle/>
          <a:p>
            <a:pPr algn="ctr">
              <a:lnSpc>
                <a:spcPts val="2911"/>
              </a:lnSpc>
              <a:spcBef>
                <a:spcPct val="0"/>
              </a:spcBef>
            </a:pPr>
            <a:r>
              <a:rPr lang="en-US" sz="2079" b="1" dirty="0">
                <a:solidFill>
                  <a:srgbClr val="092A5E"/>
                </a:solidFill>
                <a:latin typeface="Open Sans Bold"/>
                <a:ea typeface="Open Sans Bold"/>
                <a:cs typeface="Open Sans Bold"/>
                <a:sym typeface="Open Sans Bold"/>
              </a:rPr>
              <a:t>Law Enforcement Burden</a:t>
            </a:r>
          </a:p>
        </p:txBody>
      </p:sp>
      <p:sp>
        <p:nvSpPr>
          <p:cNvPr id="34" name="TextBox 26">
            <a:extLst>
              <a:ext uri="{FF2B5EF4-FFF2-40B4-BE49-F238E27FC236}">
                <a16:creationId xmlns:a16="http://schemas.microsoft.com/office/drawing/2014/main" id="{DDFCD83A-790A-48F9-90B8-143327D02503}"/>
              </a:ext>
            </a:extLst>
          </p:cNvPr>
          <p:cNvSpPr txBox="1"/>
          <p:nvPr/>
        </p:nvSpPr>
        <p:spPr>
          <a:xfrm>
            <a:off x="3486228" y="8540080"/>
            <a:ext cx="3175546" cy="347234"/>
          </a:xfrm>
          <a:prstGeom prst="rect">
            <a:avLst/>
          </a:prstGeom>
        </p:spPr>
        <p:txBody>
          <a:bodyPr lIns="0" tIns="0" rIns="0" bIns="0" rtlCol="0" anchor="t">
            <a:spAutoFit/>
          </a:bodyPr>
          <a:lstStyle/>
          <a:p>
            <a:pPr algn="ctr">
              <a:lnSpc>
                <a:spcPts val="2911"/>
              </a:lnSpc>
              <a:spcBef>
                <a:spcPct val="0"/>
              </a:spcBef>
            </a:pPr>
            <a:r>
              <a:rPr lang="en-US" sz="2079" b="1">
                <a:solidFill>
                  <a:srgbClr val="092A5E"/>
                </a:solidFill>
                <a:latin typeface="Open Sans Bold"/>
                <a:ea typeface="Open Sans Bold"/>
                <a:cs typeface="Open Sans Bold"/>
                <a:sym typeface="Open Sans Bold"/>
              </a:rPr>
              <a:t>Brain Drain Exploitation</a:t>
            </a:r>
          </a:p>
        </p:txBody>
      </p:sp>
      <p:sp>
        <p:nvSpPr>
          <p:cNvPr id="36" name="TextBox 28">
            <a:extLst>
              <a:ext uri="{FF2B5EF4-FFF2-40B4-BE49-F238E27FC236}">
                <a16:creationId xmlns:a16="http://schemas.microsoft.com/office/drawing/2014/main" id="{A89D30F4-9B05-4241-9610-B41E84F25B9E}"/>
              </a:ext>
            </a:extLst>
          </p:cNvPr>
          <p:cNvSpPr txBox="1"/>
          <p:nvPr/>
        </p:nvSpPr>
        <p:spPr>
          <a:xfrm>
            <a:off x="438097" y="8525790"/>
            <a:ext cx="2691408" cy="347234"/>
          </a:xfrm>
          <a:prstGeom prst="rect">
            <a:avLst/>
          </a:prstGeom>
        </p:spPr>
        <p:txBody>
          <a:bodyPr lIns="0" tIns="0" rIns="0" bIns="0" rtlCol="0" anchor="t">
            <a:spAutoFit/>
          </a:bodyPr>
          <a:lstStyle/>
          <a:p>
            <a:pPr algn="ctr">
              <a:lnSpc>
                <a:spcPts val="2911"/>
              </a:lnSpc>
              <a:spcBef>
                <a:spcPct val="0"/>
              </a:spcBef>
            </a:pPr>
            <a:r>
              <a:rPr lang="en-US" sz="2079" b="1" dirty="0">
                <a:solidFill>
                  <a:srgbClr val="092A5E"/>
                </a:solidFill>
                <a:latin typeface="Open Sans Bold"/>
                <a:ea typeface="Open Sans Bold"/>
                <a:cs typeface="Open Sans Bold"/>
                <a:sym typeface="Open Sans Bold"/>
              </a:rPr>
              <a:t>Eroding Digital Trust</a:t>
            </a:r>
          </a:p>
        </p:txBody>
      </p:sp>
      <p:sp>
        <p:nvSpPr>
          <p:cNvPr id="38" name="TextBox 30">
            <a:extLst>
              <a:ext uri="{FF2B5EF4-FFF2-40B4-BE49-F238E27FC236}">
                <a16:creationId xmlns:a16="http://schemas.microsoft.com/office/drawing/2014/main" id="{7B7ABA55-BA00-4E8C-852B-EB6A9696BA57}"/>
              </a:ext>
            </a:extLst>
          </p:cNvPr>
          <p:cNvSpPr txBox="1"/>
          <p:nvPr/>
        </p:nvSpPr>
        <p:spPr>
          <a:xfrm>
            <a:off x="6984293" y="5036101"/>
            <a:ext cx="2121364" cy="351688"/>
          </a:xfrm>
          <a:prstGeom prst="rect">
            <a:avLst/>
          </a:prstGeom>
        </p:spPr>
        <p:txBody>
          <a:bodyPr lIns="0" tIns="0" rIns="0" bIns="0" rtlCol="0" anchor="t">
            <a:spAutoFit/>
          </a:bodyPr>
          <a:lstStyle/>
          <a:p>
            <a:pPr algn="ctr">
              <a:lnSpc>
                <a:spcPts val="2911"/>
              </a:lnSpc>
              <a:spcBef>
                <a:spcPct val="0"/>
              </a:spcBef>
            </a:pPr>
            <a:r>
              <a:rPr lang="en-US" sz="2079" b="1" dirty="0">
                <a:solidFill>
                  <a:srgbClr val="780000"/>
                </a:solidFill>
                <a:latin typeface="Open Sans Bold"/>
                <a:ea typeface="Open Sans Bold"/>
                <a:cs typeface="Open Sans Bold"/>
                <a:sym typeface="Open Sans Bold"/>
              </a:rPr>
              <a:t>Career Setbacks</a:t>
            </a:r>
          </a:p>
        </p:txBody>
      </p:sp>
      <p:sp>
        <p:nvSpPr>
          <p:cNvPr id="42" name="TextBox 34">
            <a:extLst>
              <a:ext uri="{FF2B5EF4-FFF2-40B4-BE49-F238E27FC236}">
                <a16:creationId xmlns:a16="http://schemas.microsoft.com/office/drawing/2014/main" id="{3FDDFEF8-C557-4B06-A6F9-8E075883A07C}"/>
              </a:ext>
            </a:extLst>
          </p:cNvPr>
          <p:cNvSpPr txBox="1"/>
          <p:nvPr/>
        </p:nvSpPr>
        <p:spPr>
          <a:xfrm>
            <a:off x="268619" y="944594"/>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IMPACT &amp; MEASURABLE PAIN POINT</a:t>
            </a:r>
          </a:p>
        </p:txBody>
      </p:sp>
      <p:sp>
        <p:nvSpPr>
          <p:cNvPr id="44" name="TextBox 36">
            <a:extLst>
              <a:ext uri="{FF2B5EF4-FFF2-40B4-BE49-F238E27FC236}">
                <a16:creationId xmlns:a16="http://schemas.microsoft.com/office/drawing/2014/main" id="{B033CB4A-5FF0-476D-8C05-D8CDC696DC1A}"/>
              </a:ext>
            </a:extLst>
          </p:cNvPr>
          <p:cNvSpPr txBox="1"/>
          <p:nvPr/>
        </p:nvSpPr>
        <p:spPr>
          <a:xfrm>
            <a:off x="345660" y="3162607"/>
            <a:ext cx="5929698" cy="435504"/>
          </a:xfrm>
          <a:prstGeom prst="rect">
            <a:avLst/>
          </a:prstGeom>
        </p:spPr>
        <p:txBody>
          <a:bodyPr lIns="0" tIns="0" rIns="0" bIns="0" rtlCol="0" anchor="t">
            <a:spAutoFit/>
          </a:bodyPr>
          <a:lstStyle/>
          <a:p>
            <a:pPr algn="l">
              <a:lnSpc>
                <a:spcPts val="3780"/>
              </a:lnSpc>
              <a:spcBef>
                <a:spcPct val="0"/>
              </a:spcBef>
            </a:pPr>
            <a:r>
              <a:rPr lang="en-US" sz="2400" b="1" dirty="0">
                <a:solidFill>
                  <a:schemeClr val="tx2">
                    <a:lumMod val="50000"/>
                    <a:lumOff val="50000"/>
                  </a:schemeClr>
                </a:solidFill>
                <a:latin typeface="Open Sans Bold"/>
                <a:ea typeface="Open Sans Bold"/>
                <a:cs typeface="Open Sans Bold"/>
                <a:sym typeface="Open Sans Bold"/>
              </a:rPr>
              <a:t>Impact on users</a:t>
            </a:r>
          </a:p>
        </p:txBody>
      </p:sp>
      <p:sp>
        <p:nvSpPr>
          <p:cNvPr id="45" name="TextBox 37">
            <a:extLst>
              <a:ext uri="{FF2B5EF4-FFF2-40B4-BE49-F238E27FC236}">
                <a16:creationId xmlns:a16="http://schemas.microsoft.com/office/drawing/2014/main" id="{868609EB-6A73-4872-85F3-3BE1C8C55AD3}"/>
              </a:ext>
            </a:extLst>
          </p:cNvPr>
          <p:cNvSpPr txBox="1"/>
          <p:nvPr/>
        </p:nvSpPr>
        <p:spPr>
          <a:xfrm>
            <a:off x="3607097" y="5053322"/>
            <a:ext cx="2615265" cy="351688"/>
          </a:xfrm>
          <a:prstGeom prst="rect">
            <a:avLst/>
          </a:prstGeom>
        </p:spPr>
        <p:txBody>
          <a:bodyPr lIns="0" tIns="0" rIns="0" bIns="0" rtlCol="0" anchor="t">
            <a:spAutoFit/>
          </a:bodyPr>
          <a:lstStyle/>
          <a:p>
            <a:pPr algn="ctr">
              <a:lnSpc>
                <a:spcPts val="2911"/>
              </a:lnSpc>
              <a:spcBef>
                <a:spcPct val="0"/>
              </a:spcBef>
            </a:pPr>
            <a:r>
              <a:rPr lang="en-US" sz="2079" b="1" dirty="0">
                <a:solidFill>
                  <a:srgbClr val="780000"/>
                </a:solidFill>
                <a:latin typeface="Open Sans Bold"/>
                <a:ea typeface="Open Sans Bold"/>
                <a:cs typeface="Open Sans Bold"/>
                <a:sym typeface="Open Sans Bold"/>
              </a:rPr>
              <a:t>Personal Data Theft</a:t>
            </a:r>
          </a:p>
        </p:txBody>
      </p:sp>
      <p:sp>
        <p:nvSpPr>
          <p:cNvPr id="47" name="TextBox 39">
            <a:extLst>
              <a:ext uri="{FF2B5EF4-FFF2-40B4-BE49-F238E27FC236}">
                <a16:creationId xmlns:a16="http://schemas.microsoft.com/office/drawing/2014/main" id="{1EE18EA2-8434-43EC-BF50-5658DD6C7375}"/>
              </a:ext>
            </a:extLst>
          </p:cNvPr>
          <p:cNvSpPr txBox="1"/>
          <p:nvPr/>
        </p:nvSpPr>
        <p:spPr>
          <a:xfrm>
            <a:off x="268619" y="6742897"/>
            <a:ext cx="3571020" cy="435504"/>
          </a:xfrm>
          <a:prstGeom prst="rect">
            <a:avLst/>
          </a:prstGeom>
        </p:spPr>
        <p:txBody>
          <a:bodyPr lIns="0" tIns="0" rIns="0" bIns="0" rtlCol="0" anchor="t">
            <a:spAutoFit/>
          </a:bodyPr>
          <a:lstStyle>
            <a:defPPr>
              <a:defRPr lang="en-US"/>
            </a:defPPr>
            <a:lvl1pPr>
              <a:lnSpc>
                <a:spcPts val="3780"/>
              </a:lnSpc>
              <a:spcBef>
                <a:spcPct val="0"/>
              </a:spcBef>
              <a:defRPr sz="2400" b="1">
                <a:solidFill>
                  <a:schemeClr val="tx2">
                    <a:lumMod val="50000"/>
                    <a:lumOff val="50000"/>
                  </a:schemeClr>
                </a:solidFill>
                <a:latin typeface="Open Sans Bold"/>
                <a:ea typeface="Open Sans Bold"/>
                <a:cs typeface="Open Sans Bold"/>
              </a:defRPr>
            </a:lvl1pPr>
          </a:lstStyle>
          <a:p>
            <a:r>
              <a:rPr lang="en-US" dirty="0">
                <a:sym typeface="Open Sans Bold"/>
              </a:rPr>
              <a:t>Impact on Society</a:t>
            </a:r>
          </a:p>
        </p:txBody>
      </p:sp>
      <p:sp>
        <p:nvSpPr>
          <p:cNvPr id="51" name="TextBox 9">
            <a:extLst>
              <a:ext uri="{FF2B5EF4-FFF2-40B4-BE49-F238E27FC236}">
                <a16:creationId xmlns:a16="http://schemas.microsoft.com/office/drawing/2014/main" id="{09CA679E-CA12-445B-9898-5F9D83A93C6C}"/>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52" name="Freeform 13">
            <a:extLst>
              <a:ext uri="{FF2B5EF4-FFF2-40B4-BE49-F238E27FC236}">
                <a16:creationId xmlns:a16="http://schemas.microsoft.com/office/drawing/2014/main" id="{B0394CB8-F8C9-4C6E-9894-C66E57CA2241}"/>
              </a:ext>
            </a:extLst>
          </p:cNvPr>
          <p:cNvSpPr/>
          <p:nvPr/>
        </p:nvSpPr>
        <p:spPr>
          <a:xfrm>
            <a:off x="7830089" y="3971144"/>
            <a:ext cx="652930" cy="582740"/>
          </a:xfrm>
          <a:custGeom>
            <a:avLst/>
            <a:gdLst/>
            <a:ahLst/>
            <a:cxnLst/>
            <a:rect l="l" t="t" r="r" b="b"/>
            <a:pathLst>
              <a:path w="652930" h="582740">
                <a:moveTo>
                  <a:pt x="0" y="0"/>
                </a:moveTo>
                <a:lnTo>
                  <a:pt x="652930" y="0"/>
                </a:lnTo>
                <a:lnTo>
                  <a:pt x="652930" y="582740"/>
                </a:lnTo>
                <a:lnTo>
                  <a:pt x="0" y="58274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pic>
        <p:nvPicPr>
          <p:cNvPr id="54" name="Picture 53">
            <a:extLst>
              <a:ext uri="{FF2B5EF4-FFF2-40B4-BE49-F238E27FC236}">
                <a16:creationId xmlns:a16="http://schemas.microsoft.com/office/drawing/2014/main" id="{9EF0CB76-7BBF-49D7-90B7-F22FC6EF48DC}"/>
              </a:ext>
            </a:extLst>
          </p:cNvPr>
          <p:cNvPicPr>
            <a:picLocks noChangeAspect="1"/>
          </p:cNvPicPr>
          <p:nvPr/>
        </p:nvPicPr>
        <p:blipFill rotWithShape="1">
          <a:blip r:embed="rId19"/>
          <a:srcRect l="11580" t="11818" r="39239" b="17430"/>
          <a:stretch/>
        </p:blipFill>
        <p:spPr>
          <a:xfrm>
            <a:off x="11479245" y="3983688"/>
            <a:ext cx="6271602" cy="4903625"/>
          </a:xfrm>
          <a:prstGeom prst="rect">
            <a:avLst/>
          </a:prstGeom>
          <a:ln>
            <a:noFill/>
          </a:ln>
          <a:effectLst>
            <a:softEdge rad="112500"/>
          </a:effectLst>
        </p:spPr>
      </p:pic>
      <p:sp>
        <p:nvSpPr>
          <p:cNvPr id="55" name="Freeform 2">
            <a:extLst>
              <a:ext uri="{FF2B5EF4-FFF2-40B4-BE49-F238E27FC236}">
                <a16:creationId xmlns:a16="http://schemas.microsoft.com/office/drawing/2014/main" id="{9EE56C24-1681-4035-80F2-8604F45AE1B2}"/>
              </a:ext>
            </a:extLst>
          </p:cNvPr>
          <p:cNvSpPr/>
          <p:nvPr/>
        </p:nvSpPr>
        <p:spPr>
          <a:xfrm>
            <a:off x="429186" y="2103779"/>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20">
              <a:extLst>
                <a:ext uri="{96DAC541-7B7A-43D3-8B79-37D633B846F1}">
                  <asvg:svgBlip xmlns:asvg="http://schemas.microsoft.com/office/drawing/2016/SVG/main" r:embed="rId21"/>
                </a:ext>
              </a:extLst>
            </a:blip>
            <a:stretch>
              <a:fillRect t="-158366" b="-158366"/>
            </a:stretch>
          </a:blipFill>
        </p:spPr>
      </p:sp>
    </p:spTree>
    <p:extLst>
      <p:ext uri="{BB962C8B-B14F-4D97-AF65-F5344CB8AC3E}">
        <p14:creationId xmlns:p14="http://schemas.microsoft.com/office/powerpoint/2010/main" val="59554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B90820-D79B-4FA1-B0D4-47909CADC3BC}"/>
              </a:ext>
            </a:extLst>
          </p:cNvPr>
          <p:cNvSpPr txBox="1"/>
          <p:nvPr/>
        </p:nvSpPr>
        <p:spPr>
          <a:xfrm>
            <a:off x="8523223" y="9825335"/>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5" name="Freeform 16">
            <a:extLst>
              <a:ext uri="{FF2B5EF4-FFF2-40B4-BE49-F238E27FC236}">
                <a16:creationId xmlns:a16="http://schemas.microsoft.com/office/drawing/2014/main" id="{8084E78E-20CA-441B-9D07-5501E926465C}"/>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6" name="TextBox 34">
            <a:extLst>
              <a:ext uri="{FF2B5EF4-FFF2-40B4-BE49-F238E27FC236}">
                <a16:creationId xmlns:a16="http://schemas.microsoft.com/office/drawing/2014/main" id="{B92DC772-E312-47C2-8147-FE78C68FBE58}"/>
              </a:ext>
            </a:extLst>
          </p:cNvPr>
          <p:cNvSpPr txBox="1"/>
          <p:nvPr/>
        </p:nvSpPr>
        <p:spPr>
          <a:xfrm>
            <a:off x="268619" y="944594"/>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RESEARCH GAP &amp; OBJECTIVES</a:t>
            </a:r>
          </a:p>
        </p:txBody>
      </p:sp>
      <p:sp>
        <p:nvSpPr>
          <p:cNvPr id="7" name="TextBox 9">
            <a:extLst>
              <a:ext uri="{FF2B5EF4-FFF2-40B4-BE49-F238E27FC236}">
                <a16:creationId xmlns:a16="http://schemas.microsoft.com/office/drawing/2014/main" id="{6873531C-068C-4576-9A50-E7DF6DC63874}"/>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8" name="Freeform 2">
            <a:extLst>
              <a:ext uri="{FF2B5EF4-FFF2-40B4-BE49-F238E27FC236}">
                <a16:creationId xmlns:a16="http://schemas.microsoft.com/office/drawing/2014/main" id="{2C45ECDB-2291-42D2-A031-515900720079}"/>
              </a:ext>
            </a:extLst>
          </p:cNvPr>
          <p:cNvSpPr/>
          <p:nvPr/>
        </p:nvSpPr>
        <p:spPr>
          <a:xfrm>
            <a:off x="429186" y="2103779"/>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graphicFrame>
        <p:nvGraphicFramePr>
          <p:cNvPr id="9" name="Table 4">
            <a:extLst>
              <a:ext uri="{FF2B5EF4-FFF2-40B4-BE49-F238E27FC236}">
                <a16:creationId xmlns:a16="http://schemas.microsoft.com/office/drawing/2014/main" id="{8CFC6C39-F4EA-4391-94E6-72798F69B9A2}"/>
              </a:ext>
            </a:extLst>
          </p:cNvPr>
          <p:cNvGraphicFramePr>
            <a:graphicFrameLocks noGrp="1"/>
          </p:cNvGraphicFramePr>
          <p:nvPr>
            <p:extLst>
              <p:ext uri="{D42A27DB-BD31-4B8C-83A1-F6EECF244321}">
                <p14:modId xmlns:p14="http://schemas.microsoft.com/office/powerpoint/2010/main" val="1283394259"/>
              </p:ext>
            </p:extLst>
          </p:nvPr>
        </p:nvGraphicFramePr>
        <p:xfrm>
          <a:off x="429187" y="2710453"/>
          <a:ext cx="11884732" cy="5655829"/>
        </p:xfrm>
        <a:graphic>
          <a:graphicData uri="http://schemas.openxmlformats.org/drawingml/2006/table">
            <a:tbl>
              <a:tblPr/>
              <a:tblGrid>
                <a:gridCol w="2480312">
                  <a:extLst>
                    <a:ext uri="{9D8B030D-6E8A-4147-A177-3AD203B41FA5}">
                      <a16:colId xmlns:a16="http://schemas.microsoft.com/office/drawing/2014/main" val="20000"/>
                    </a:ext>
                  </a:extLst>
                </a:gridCol>
                <a:gridCol w="2480312">
                  <a:extLst>
                    <a:ext uri="{9D8B030D-6E8A-4147-A177-3AD203B41FA5}">
                      <a16:colId xmlns:a16="http://schemas.microsoft.com/office/drawing/2014/main" val="20001"/>
                    </a:ext>
                  </a:extLst>
                </a:gridCol>
                <a:gridCol w="2480312">
                  <a:extLst>
                    <a:ext uri="{9D8B030D-6E8A-4147-A177-3AD203B41FA5}">
                      <a16:colId xmlns:a16="http://schemas.microsoft.com/office/drawing/2014/main" val="20002"/>
                    </a:ext>
                  </a:extLst>
                </a:gridCol>
                <a:gridCol w="2480312">
                  <a:extLst>
                    <a:ext uri="{9D8B030D-6E8A-4147-A177-3AD203B41FA5}">
                      <a16:colId xmlns:a16="http://schemas.microsoft.com/office/drawing/2014/main" val="20003"/>
                    </a:ext>
                  </a:extLst>
                </a:gridCol>
                <a:gridCol w="1963484">
                  <a:extLst>
                    <a:ext uri="{9D8B030D-6E8A-4147-A177-3AD203B41FA5}">
                      <a16:colId xmlns:a16="http://schemas.microsoft.com/office/drawing/2014/main" val="20004"/>
                    </a:ext>
                  </a:extLst>
                </a:gridCol>
              </a:tblGrid>
              <a:tr h="1061114">
                <a:tc>
                  <a:txBody>
                    <a:bodyPr/>
                    <a:lstStyle/>
                    <a:p>
                      <a:pPr algn="ctr">
                        <a:lnSpc>
                          <a:spcPts val="3308"/>
                        </a:lnSpc>
                        <a:defRPr/>
                      </a:pPr>
                      <a:r>
                        <a:rPr lang="en-US" sz="2363" b="1" dirty="0">
                          <a:solidFill>
                            <a:srgbClr val="000000"/>
                          </a:solidFill>
                          <a:latin typeface="Times New Roman" panose="02020603050405020304" pitchFamily="18" charset="0"/>
                          <a:ea typeface="Open Sans Bold"/>
                          <a:cs typeface="Times New Roman" panose="02020603050405020304" pitchFamily="18" charset="0"/>
                          <a:sym typeface="Open Sans Bold"/>
                        </a:rPr>
                        <a:t>Solution</a:t>
                      </a:r>
                      <a:endParaRPr lang="en-US" sz="11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marL="0" lvl="0" indent="0" algn="ctr">
                        <a:lnSpc>
                          <a:spcPts val="3308"/>
                        </a:lnSpc>
                        <a:spcBef>
                          <a:spcPct val="0"/>
                        </a:spcBef>
                        <a:defRPr/>
                      </a:pPr>
                      <a:r>
                        <a:rPr lang="en-US" sz="2363" b="1" u="none" strike="noStrike" dirty="0">
                          <a:solidFill>
                            <a:srgbClr val="000000"/>
                          </a:solidFill>
                          <a:latin typeface="Times New Roman" panose="02020603050405020304" pitchFamily="18" charset="0"/>
                          <a:ea typeface="Open Sans Bold"/>
                          <a:cs typeface="Times New Roman" panose="02020603050405020304" pitchFamily="18" charset="0"/>
                          <a:sym typeface="Open Sans Bold"/>
                        </a:rPr>
                        <a:t>Local Context?</a:t>
                      </a:r>
                      <a:endParaRPr lang="en-US" sz="11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marL="0" lvl="0" indent="0" algn="ctr">
                        <a:lnSpc>
                          <a:spcPts val="3308"/>
                        </a:lnSpc>
                        <a:spcBef>
                          <a:spcPct val="0"/>
                        </a:spcBef>
                        <a:defRPr/>
                      </a:pPr>
                      <a:r>
                        <a:rPr lang="en-US" sz="2363" b="1" u="none" strike="noStrike" dirty="0">
                          <a:solidFill>
                            <a:srgbClr val="000000"/>
                          </a:solidFill>
                          <a:latin typeface="Times New Roman" panose="02020603050405020304" pitchFamily="18" charset="0"/>
                          <a:ea typeface="Open Sans Bold"/>
                          <a:cs typeface="Times New Roman" panose="02020603050405020304" pitchFamily="18" charset="0"/>
                          <a:sym typeface="Open Sans Bold"/>
                        </a:rPr>
                        <a:t>Real-time?</a:t>
                      </a:r>
                      <a:endParaRPr lang="en-US" sz="11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marL="0" lvl="0" indent="0" algn="ctr">
                        <a:lnSpc>
                          <a:spcPts val="3308"/>
                        </a:lnSpc>
                        <a:spcBef>
                          <a:spcPct val="0"/>
                        </a:spcBef>
                        <a:defRPr/>
                      </a:pPr>
                      <a:r>
                        <a:rPr lang="en-US" sz="2363" b="1" u="none" strike="noStrike" dirty="0">
                          <a:solidFill>
                            <a:srgbClr val="000000"/>
                          </a:solidFill>
                          <a:latin typeface="Times New Roman" panose="02020603050405020304" pitchFamily="18" charset="0"/>
                          <a:ea typeface="Open Sans Bold"/>
                          <a:cs typeface="Times New Roman" panose="02020603050405020304" pitchFamily="18" charset="0"/>
                          <a:sym typeface="Open Sans Bold"/>
                        </a:rPr>
                        <a:t>Domestic Jobs?</a:t>
                      </a:r>
                      <a:endParaRPr lang="en-US" sz="11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marL="0" lvl="0" indent="0" algn="ctr">
                        <a:lnSpc>
                          <a:spcPts val="3308"/>
                        </a:lnSpc>
                        <a:spcBef>
                          <a:spcPct val="0"/>
                        </a:spcBef>
                        <a:defRPr/>
                      </a:pPr>
                      <a:r>
                        <a:rPr lang="en-US" sz="2363" b="1" u="none" strike="noStrike" dirty="0">
                          <a:solidFill>
                            <a:srgbClr val="000000"/>
                          </a:solidFill>
                          <a:latin typeface="Times New Roman" panose="02020603050405020304" pitchFamily="18" charset="0"/>
                          <a:ea typeface="Open Sans Bold"/>
                          <a:cs typeface="Times New Roman" panose="02020603050405020304" pitchFamily="18" charset="0"/>
                          <a:sym typeface="Open Sans Bold"/>
                        </a:rPr>
                        <a:t>AI-Driven?</a:t>
                      </a:r>
                      <a:endParaRPr lang="en-US" sz="11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888105">
                <a:tc>
                  <a:txBody>
                    <a:bodyPr/>
                    <a:lstStyle/>
                    <a:p>
                      <a:pPr algn="ctr">
                        <a:lnSpc>
                          <a:spcPts val="2328"/>
                        </a:lnSpc>
                        <a:defRPr/>
                      </a:pPr>
                      <a:r>
                        <a:rPr lang="en-US" sz="2000" dirty="0">
                          <a:solidFill>
                            <a:srgbClr val="000000"/>
                          </a:solidFill>
                          <a:latin typeface="Times New Roman" panose="02020603050405020304" pitchFamily="18" charset="0"/>
                          <a:ea typeface="Open Sans"/>
                          <a:cs typeface="Times New Roman" panose="02020603050405020304" pitchFamily="18" charset="0"/>
                          <a:sym typeface="Open Sans"/>
                        </a:rPr>
                        <a:t>Manual Reporting</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328"/>
                        </a:lnSpc>
                        <a:defRPr/>
                      </a:pPr>
                      <a:r>
                        <a:rPr lang="en-US" sz="2000" b="1"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1400" b="1" dirty="0">
                        <a:solidFill>
                          <a:schemeClr val="accent6"/>
                        </a:solidFill>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algn="ctr" defTabSz="1371600" rtl="0" eaLnBrk="1" latinLnBrk="0" hangingPunct="1">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marR="0" lvl="0" indent="0" algn="ctr" defTabSz="1371600" rtl="0" eaLnBrk="1" fontAlgn="auto" latinLnBrk="0" hangingPunct="1">
                        <a:lnSpc>
                          <a:spcPts val="2328"/>
                        </a:lnSpc>
                        <a:spcBef>
                          <a:spcPts val="0"/>
                        </a:spcBef>
                        <a:spcAft>
                          <a:spcPts val="0"/>
                        </a:spcAft>
                        <a:buClrTx/>
                        <a:buSzTx/>
                        <a:buFontTx/>
                        <a:buNone/>
                        <a:tabLst/>
                        <a:defRPr/>
                      </a:pPr>
                      <a:r>
                        <a:rPr lang="en-US" sz="2000" b="1" kern="1200"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2000" b="1" kern="1200" dirty="0">
                        <a:solidFill>
                          <a:schemeClr val="accent6"/>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888105">
                <a:tc>
                  <a:txBody>
                    <a:bodyPr/>
                    <a:lstStyle/>
                    <a:p>
                      <a:pPr algn="ctr">
                        <a:lnSpc>
                          <a:spcPts val="2328"/>
                        </a:lnSpc>
                        <a:defRPr/>
                      </a:pPr>
                      <a:r>
                        <a:rPr lang="en-US" sz="2000" dirty="0">
                          <a:solidFill>
                            <a:srgbClr val="000000"/>
                          </a:solidFill>
                          <a:latin typeface="Times New Roman" panose="02020603050405020304" pitchFamily="18" charset="0"/>
                          <a:ea typeface="Open Sans"/>
                          <a:cs typeface="Times New Roman" panose="02020603050405020304" pitchFamily="18" charset="0"/>
                          <a:sym typeface="Open Sans"/>
                        </a:rPr>
                        <a:t>Google Safe Browsing</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marL="0" algn="ctr" defTabSz="1371600" rtl="0" eaLnBrk="1" latinLnBrk="0" hangingPunct="1">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marR="0" lvl="0" indent="0" algn="ctr" defTabSz="1371600" rtl="0" eaLnBrk="1" fontAlgn="auto" latinLnBrk="0" hangingPunct="1">
                        <a:lnSpc>
                          <a:spcPts val="2328"/>
                        </a:lnSpc>
                        <a:spcBef>
                          <a:spcPts val="0"/>
                        </a:spcBef>
                        <a:spcAft>
                          <a:spcPts val="0"/>
                        </a:spcAft>
                        <a:buClrTx/>
                        <a:buSzTx/>
                        <a:buFontTx/>
                        <a:buNone/>
                        <a:tabLst/>
                        <a:defRPr/>
                      </a:pPr>
                      <a:r>
                        <a:rPr lang="en-US" sz="2000" b="1" kern="1200"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2000" b="1" kern="1200" dirty="0">
                        <a:solidFill>
                          <a:schemeClr val="accent6"/>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888105">
                <a:tc>
                  <a:txBody>
                    <a:bodyPr/>
                    <a:lstStyle/>
                    <a:p>
                      <a:pPr algn="ctr">
                        <a:lnSpc>
                          <a:spcPts val="2328"/>
                        </a:lnSpc>
                        <a:defRPr/>
                      </a:pPr>
                      <a:r>
                        <a:rPr lang="en-US" sz="2000" dirty="0">
                          <a:solidFill>
                            <a:srgbClr val="000000"/>
                          </a:solidFill>
                          <a:latin typeface="Times New Roman" panose="02020603050405020304" pitchFamily="18" charset="0"/>
                          <a:ea typeface="Open Sans"/>
                          <a:cs typeface="Times New Roman" panose="02020603050405020304" pitchFamily="18" charset="0"/>
                          <a:sym typeface="Open Sans"/>
                        </a:rPr>
                        <a:t>SLBFE Portal</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328"/>
                        </a:lnSpc>
                        <a:defRPr/>
                      </a:pPr>
                      <a:r>
                        <a:rPr lang="en-US" sz="2000" b="1"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1400" b="1" dirty="0">
                        <a:solidFill>
                          <a:schemeClr val="accent6"/>
                        </a:solidFill>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marR="0" lvl="0" indent="0" algn="ctr" defTabSz="1371600" rtl="0" eaLnBrk="1" fontAlgn="auto" latinLnBrk="0" hangingPunct="1">
                        <a:lnSpc>
                          <a:spcPts val="2328"/>
                        </a:lnSpc>
                        <a:spcBef>
                          <a:spcPts val="0"/>
                        </a:spcBef>
                        <a:spcAft>
                          <a:spcPts val="0"/>
                        </a:spcAft>
                        <a:buClrTx/>
                        <a:buSzTx/>
                        <a:buFontTx/>
                        <a:buNone/>
                        <a:tabLst/>
                        <a:defRPr/>
                      </a:pPr>
                      <a:r>
                        <a:rPr lang="en-US" sz="2000" b="1" kern="1200"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2000" b="1" kern="1200" dirty="0">
                        <a:solidFill>
                          <a:schemeClr val="accent6"/>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888105">
                <a:tc>
                  <a:txBody>
                    <a:bodyPr/>
                    <a:lstStyle/>
                    <a:p>
                      <a:pPr algn="ctr">
                        <a:lnSpc>
                          <a:spcPts val="2328"/>
                        </a:lnSpc>
                        <a:defRPr/>
                      </a:pPr>
                      <a:r>
                        <a:rPr lang="en-US" sz="2000" dirty="0">
                          <a:solidFill>
                            <a:srgbClr val="000000"/>
                          </a:solidFill>
                          <a:latin typeface="Times New Roman" panose="02020603050405020304" pitchFamily="18" charset="0"/>
                          <a:ea typeface="Open Sans"/>
                          <a:cs typeface="Times New Roman" panose="02020603050405020304" pitchFamily="18" charset="0"/>
                          <a:sym typeface="Open Sans"/>
                        </a:rPr>
                        <a:t>Spam Filters</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marL="0" algn="ctr" defTabSz="1371600" rtl="0" eaLnBrk="1" latinLnBrk="0" hangingPunct="1">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marR="0" lvl="0" indent="0" algn="ctr" defTabSz="1371600" rtl="0" eaLnBrk="1" fontAlgn="auto" latinLnBrk="0" hangingPunct="1">
                        <a:lnSpc>
                          <a:spcPts val="2328"/>
                        </a:lnSpc>
                        <a:spcBef>
                          <a:spcPts val="0"/>
                        </a:spcBef>
                        <a:spcAft>
                          <a:spcPts val="0"/>
                        </a:spcAft>
                        <a:buClrTx/>
                        <a:buSzTx/>
                        <a:buFontTx/>
                        <a:buNone/>
                        <a:tabLst/>
                        <a:defRPr/>
                      </a:pPr>
                      <a:r>
                        <a:rPr lang="en-US" sz="2000" b="1" kern="1200"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2000" b="1" kern="1200" dirty="0">
                        <a:solidFill>
                          <a:schemeClr val="accent6"/>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marR="0" lvl="0" indent="0" algn="ctr" defTabSz="1371600" rtl="0" eaLnBrk="1" fontAlgn="auto" latinLnBrk="0" hangingPunct="1">
                        <a:lnSpc>
                          <a:spcPts val="2328"/>
                        </a:lnSpc>
                        <a:spcBef>
                          <a:spcPts val="0"/>
                        </a:spcBef>
                        <a:spcAft>
                          <a:spcPts val="0"/>
                        </a:spcAft>
                        <a:buClrTx/>
                        <a:buSzTx/>
                        <a:buFontTx/>
                        <a:buNone/>
                        <a:tabLst/>
                        <a:defRPr/>
                      </a:pPr>
                      <a:r>
                        <a:rPr lang="en-US" sz="2000" b="1" kern="1200" dirty="0">
                          <a:solidFill>
                            <a:schemeClr val="accent6"/>
                          </a:solidFill>
                          <a:latin typeface="Times New Roman" panose="02020603050405020304" pitchFamily="18" charset="0"/>
                          <a:ea typeface="Open Sans"/>
                          <a:cs typeface="Times New Roman" panose="02020603050405020304" pitchFamily="18" charset="0"/>
                          <a:sym typeface="Open Sans"/>
                        </a:rPr>
                        <a:t>Yes</a:t>
                      </a:r>
                      <a:endParaRPr lang="en-US" sz="2000" b="1" kern="1200" dirty="0">
                        <a:solidFill>
                          <a:schemeClr val="accent6"/>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r h="888105">
                <a:tc>
                  <a:txBody>
                    <a:bodyPr/>
                    <a:lstStyle/>
                    <a:p>
                      <a:pPr algn="ctr">
                        <a:lnSpc>
                          <a:spcPts val="2328"/>
                        </a:lnSpc>
                        <a:defRPr/>
                      </a:pPr>
                      <a:r>
                        <a:rPr lang="en-US" sz="2000" dirty="0">
                          <a:solidFill>
                            <a:srgbClr val="000000"/>
                          </a:solidFill>
                          <a:latin typeface="Times New Roman" panose="02020603050405020304" pitchFamily="18" charset="0"/>
                          <a:ea typeface="Open Sans"/>
                          <a:cs typeface="Times New Roman" panose="02020603050405020304" pitchFamily="18" charset="0"/>
                          <a:sym typeface="Open Sans"/>
                        </a:rPr>
                        <a:t>Glassdoor / </a:t>
                      </a:r>
                      <a:r>
                        <a:rPr lang="en-US" sz="2000" dirty="0" err="1">
                          <a:solidFill>
                            <a:srgbClr val="000000"/>
                          </a:solidFill>
                          <a:latin typeface="Times New Roman" panose="02020603050405020304" pitchFamily="18" charset="0"/>
                          <a:ea typeface="Open Sans"/>
                          <a:cs typeface="Times New Roman" panose="02020603050405020304" pitchFamily="18" charset="0"/>
                          <a:sym typeface="Open Sans"/>
                        </a:rPr>
                        <a:t>ScamAdvisor</a:t>
                      </a:r>
                      <a:endParaRPr lang="en-US" sz="1400" dirty="0">
                        <a:latin typeface="Times New Roman" panose="02020603050405020304" pitchFamily="18" charset="0"/>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marL="0" algn="ctr" defTabSz="1371600" rtl="0" eaLnBrk="1" latinLnBrk="0" hangingPunct="1">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marL="0" algn="ctr" defTabSz="1371600" rtl="0" eaLnBrk="1" latinLnBrk="0" hangingPunct="1">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2328"/>
                        </a:lnSpc>
                        <a:defRPr/>
                      </a:pPr>
                      <a:r>
                        <a:rPr lang="en-US" sz="2000" b="1" kern="1200" dirty="0">
                          <a:solidFill>
                            <a:srgbClr val="FF0000"/>
                          </a:solidFill>
                          <a:latin typeface="Times New Roman" panose="02020603050405020304" pitchFamily="18" charset="0"/>
                          <a:ea typeface="Open Sans"/>
                          <a:cs typeface="Times New Roman" panose="02020603050405020304" pitchFamily="18" charset="0"/>
                          <a:sym typeface="Open Sans"/>
                        </a:rPr>
                        <a:t>No</a:t>
                      </a:r>
                      <a:endParaRPr lang="en-US" sz="2000" b="1" kern="1200" dirty="0">
                        <a:solidFill>
                          <a:srgbClr val="FF0000"/>
                        </a:solidFill>
                        <a:latin typeface="Times New Roman" panose="02020603050405020304" pitchFamily="18" charset="0"/>
                        <a:ea typeface="Open Sans"/>
                        <a:cs typeface="Times New Roman" panose="02020603050405020304" pitchFamily="18" charset="0"/>
                      </a:endParaRP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C55A8101-C85B-4024-8DF1-59F7C4399DF7}"/>
              </a:ext>
            </a:extLst>
          </p:cNvPr>
          <p:cNvSpPr txBox="1"/>
          <p:nvPr/>
        </p:nvSpPr>
        <p:spPr>
          <a:xfrm>
            <a:off x="250458" y="8502462"/>
            <a:ext cx="13709384" cy="755838"/>
          </a:xfrm>
          <a:prstGeom prst="rect">
            <a:avLst/>
          </a:prstGeom>
        </p:spPr>
        <p:txBody>
          <a:bodyPr lIns="50800" tIns="50800" rIns="50800" bIns="50800" rtlCol="0" anchor="ctr"/>
          <a:lstStyle/>
          <a:p>
            <a:pPr marL="0" lvl="0" indent="0" algn="ctr">
              <a:lnSpc>
                <a:spcPts val="2519"/>
              </a:lnSpc>
              <a:spcBef>
                <a:spcPct val="0"/>
              </a:spcBef>
            </a:pPr>
            <a:r>
              <a:rPr lang="en-US" sz="1799" b="1" spc="145" dirty="0">
                <a:solidFill>
                  <a:srgbClr val="FFFFFF"/>
                </a:solidFill>
                <a:latin typeface="Open Sans Bold"/>
                <a:ea typeface="Open Sans Bold"/>
                <a:cs typeface="Open Sans Bold"/>
                <a:sym typeface="Open Sans Bold"/>
              </a:rPr>
              <a:t>No </a:t>
            </a:r>
            <a:r>
              <a:rPr lang="en-US" sz="1799" b="1" u="none" strike="noStrike" spc="145" dirty="0">
                <a:solidFill>
                  <a:srgbClr val="FFFFFF"/>
                </a:solidFill>
                <a:latin typeface="Open Sans Bold"/>
                <a:ea typeface="Open Sans Bold"/>
                <a:cs typeface="Open Sans Bold"/>
                <a:sym typeface="Open Sans Bold"/>
              </a:rPr>
              <a:t>existing solution combines employer verification, multilingual scam analysis &amp; explainable AI risk scoring — tailored for Sri </a:t>
            </a:r>
            <a:r>
              <a:rPr lang="en-US" sz="1799" b="1" u="none" strike="noStrike" spc="145" dirty="0" err="1">
                <a:solidFill>
                  <a:srgbClr val="FFFFFF"/>
                </a:solidFill>
                <a:latin typeface="Open Sans Bold"/>
                <a:ea typeface="Open Sans Bold"/>
                <a:cs typeface="Open Sans Bold"/>
                <a:sym typeface="Open Sans Bold"/>
              </a:rPr>
              <a:t>lanka</a:t>
            </a:r>
            <a:endParaRPr lang="en-US" sz="1799" b="1" u="none" strike="noStrike" spc="145" dirty="0">
              <a:solidFill>
                <a:srgbClr val="FFFFFF"/>
              </a:solidFill>
              <a:latin typeface="Open Sans Bold"/>
              <a:ea typeface="Open Sans Bold"/>
              <a:cs typeface="Open Sans Bold"/>
              <a:sym typeface="Open Sans Bold"/>
            </a:endParaRPr>
          </a:p>
        </p:txBody>
      </p:sp>
      <p:sp>
        <p:nvSpPr>
          <p:cNvPr id="11" name="TextBox 10">
            <a:extLst>
              <a:ext uri="{FF2B5EF4-FFF2-40B4-BE49-F238E27FC236}">
                <a16:creationId xmlns:a16="http://schemas.microsoft.com/office/drawing/2014/main" id="{64D97C44-77A1-498E-A113-2D4D27964669}"/>
              </a:ext>
            </a:extLst>
          </p:cNvPr>
          <p:cNvSpPr txBox="1"/>
          <p:nvPr/>
        </p:nvSpPr>
        <p:spPr>
          <a:xfrm>
            <a:off x="429186" y="8449273"/>
            <a:ext cx="11884733" cy="968087"/>
          </a:xfrm>
          <a:prstGeom prst="rect">
            <a:avLst/>
          </a:prstGeom>
          <a:solidFill>
            <a:schemeClr val="tx2">
              <a:lumMod val="10000"/>
              <a:lumOff val="90000"/>
            </a:schemeClr>
          </a:solidFill>
        </p:spPr>
        <p:txBody>
          <a:bodyPr lIns="50800" tIns="50800" rIns="50800" bIns="50800" rtlCol="0" anchor="ctr"/>
          <a:lstStyle/>
          <a:p>
            <a:pPr marL="0" lvl="0" indent="0" algn="ctr">
              <a:lnSpc>
                <a:spcPts val="2519"/>
              </a:lnSpc>
              <a:spcBef>
                <a:spcPct val="0"/>
              </a:spcBef>
            </a:pPr>
            <a:r>
              <a:rPr lang="en-US" sz="2000" b="1" spc="145" dirty="0">
                <a:solidFill>
                  <a:schemeClr val="accent5">
                    <a:lumMod val="75000"/>
                  </a:schemeClr>
                </a:solidFill>
                <a:latin typeface="Times New Roman" panose="02020603050405020304" pitchFamily="18" charset="0"/>
                <a:ea typeface="Open Sans Bold"/>
                <a:cs typeface="Times New Roman" panose="02020603050405020304" pitchFamily="18" charset="0"/>
                <a:sym typeface="Open Sans Bold"/>
              </a:rPr>
              <a:t>No </a:t>
            </a:r>
            <a:r>
              <a:rPr lang="en-US" sz="2000" b="1" u="none" strike="noStrike" spc="145" dirty="0">
                <a:solidFill>
                  <a:schemeClr val="accent5">
                    <a:lumMod val="75000"/>
                  </a:schemeClr>
                </a:solidFill>
                <a:latin typeface="Times New Roman" panose="02020603050405020304" pitchFamily="18" charset="0"/>
                <a:ea typeface="Open Sans Bold"/>
                <a:cs typeface="Times New Roman" panose="02020603050405020304" pitchFamily="18" charset="0"/>
                <a:sym typeface="Open Sans Bold"/>
              </a:rPr>
              <a:t>existing solution combines employer verification, multilingual scam analysis &amp; explainable AI risk scoring — tailored for Sri </a:t>
            </a:r>
            <a:r>
              <a:rPr lang="en-US" sz="2000" b="1" spc="145" dirty="0">
                <a:solidFill>
                  <a:schemeClr val="accent5">
                    <a:lumMod val="75000"/>
                  </a:schemeClr>
                </a:solidFill>
                <a:latin typeface="Times New Roman" panose="02020603050405020304" pitchFamily="18" charset="0"/>
                <a:ea typeface="Open Sans Bold"/>
                <a:cs typeface="Times New Roman" panose="02020603050405020304" pitchFamily="18" charset="0"/>
                <a:sym typeface="Open Sans Bold"/>
              </a:rPr>
              <a:t>L</a:t>
            </a:r>
            <a:r>
              <a:rPr lang="en-US" sz="2000" b="1" u="none" strike="noStrike" spc="145" dirty="0">
                <a:solidFill>
                  <a:schemeClr val="accent5">
                    <a:lumMod val="75000"/>
                  </a:schemeClr>
                </a:solidFill>
                <a:latin typeface="Times New Roman" panose="02020603050405020304" pitchFamily="18" charset="0"/>
                <a:ea typeface="Open Sans Bold"/>
                <a:cs typeface="Times New Roman" panose="02020603050405020304" pitchFamily="18" charset="0"/>
                <a:sym typeface="Open Sans Bold"/>
              </a:rPr>
              <a:t>anka</a:t>
            </a:r>
          </a:p>
        </p:txBody>
      </p:sp>
      <p:sp>
        <p:nvSpPr>
          <p:cNvPr id="16" name="Rectangle: Single Corner Rounded 15">
            <a:extLst>
              <a:ext uri="{FF2B5EF4-FFF2-40B4-BE49-F238E27FC236}">
                <a16:creationId xmlns:a16="http://schemas.microsoft.com/office/drawing/2014/main" id="{6D6DB6D1-0838-4A15-88D4-AFF4E076FCB6}"/>
              </a:ext>
            </a:extLst>
          </p:cNvPr>
          <p:cNvSpPr/>
          <p:nvPr/>
        </p:nvSpPr>
        <p:spPr>
          <a:xfrm>
            <a:off x="12710159" y="2749709"/>
            <a:ext cx="5148653" cy="6225180"/>
          </a:xfrm>
          <a:prstGeom prst="round1Rect">
            <a:avLst/>
          </a:prstGeom>
          <a:solidFill>
            <a:srgbClr val="F4D8E1"/>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accent1"/>
                </a:solidFill>
                <a:latin typeface="Times New Roman" panose="02020603050405020304" pitchFamily="18" charset="0"/>
                <a:cs typeface="Times New Roman" panose="02020603050405020304" pitchFamily="18" charset="0"/>
              </a:rPr>
              <a:t>Our Objectives:</a:t>
            </a:r>
            <a:br>
              <a:rPr lang="en-US" dirty="0"/>
            </a:br>
            <a:endParaRPr lang="en-US" dirty="0"/>
          </a:p>
          <a:p>
            <a:pPr marL="914400" lvl="1" indent="-457200" algn="just" rtl="0">
              <a:lnSpc>
                <a:spcPct val="150000"/>
              </a:lnSpc>
              <a:buFont typeface="Wingdings" panose="05000000000000000000" pitchFamily="2" charset="2"/>
              <a:buChar char="q"/>
            </a:pPr>
            <a:r>
              <a:rPr lang="en-US" dirty="0">
                <a:solidFill>
                  <a:schemeClr val="accent2">
                    <a:lumMod val="50000"/>
                  </a:schemeClr>
                </a:solidFill>
                <a:latin typeface="Times New Roman" panose="02020603050405020304" pitchFamily="18" charset="0"/>
                <a:cs typeface="Times New Roman" panose="02020603050405020304" pitchFamily="18" charset="0"/>
              </a:rPr>
              <a:t>Detect fake job posts</a:t>
            </a:r>
          </a:p>
          <a:p>
            <a:pPr marL="914400" lvl="1" indent="-457200" algn="just" rtl="0">
              <a:lnSpc>
                <a:spcPct val="150000"/>
              </a:lnSpc>
              <a:buFont typeface="Wingdings" panose="05000000000000000000" pitchFamily="2" charset="2"/>
              <a:buChar char="q"/>
            </a:pPr>
            <a:r>
              <a:rPr lang="en-US" dirty="0">
                <a:solidFill>
                  <a:schemeClr val="accent2">
                    <a:lumMod val="50000"/>
                  </a:schemeClr>
                </a:solidFill>
                <a:latin typeface="Times New Roman" panose="02020603050405020304" pitchFamily="18" charset="0"/>
                <a:cs typeface="Times New Roman" panose="02020603050405020304" pitchFamily="18" charset="0"/>
              </a:rPr>
              <a:t>Verify employer legitimacy</a:t>
            </a:r>
          </a:p>
          <a:p>
            <a:pPr marL="914400" lvl="1" indent="-457200" algn="just" rtl="0">
              <a:lnSpc>
                <a:spcPct val="150000"/>
              </a:lnSpc>
              <a:buFont typeface="Wingdings" panose="05000000000000000000" pitchFamily="2" charset="2"/>
              <a:buChar char="q"/>
            </a:pPr>
            <a:r>
              <a:rPr lang="en-US" dirty="0">
                <a:solidFill>
                  <a:schemeClr val="accent2">
                    <a:lumMod val="50000"/>
                  </a:schemeClr>
                </a:solidFill>
                <a:latin typeface="Times New Roman" panose="02020603050405020304" pitchFamily="18" charset="0"/>
                <a:cs typeface="Times New Roman" panose="02020603050405020304" pitchFamily="18" charset="0"/>
              </a:rPr>
              <a:t>Detect scam tactics in recruiter–candidate communication</a:t>
            </a:r>
          </a:p>
          <a:p>
            <a:pPr marL="914400" lvl="1" indent="-457200" algn="just" rtl="0">
              <a:lnSpc>
                <a:spcPct val="150000"/>
              </a:lnSpc>
              <a:buFont typeface="Wingdings" panose="05000000000000000000" pitchFamily="2" charset="2"/>
              <a:buChar char="q"/>
            </a:pPr>
            <a:r>
              <a:rPr lang="en-US" dirty="0">
                <a:solidFill>
                  <a:schemeClr val="accent2">
                    <a:lumMod val="50000"/>
                  </a:schemeClr>
                </a:solidFill>
                <a:latin typeface="Times New Roman" panose="02020603050405020304" pitchFamily="18" charset="0"/>
                <a:cs typeface="Times New Roman" panose="02020603050405020304" pitchFamily="18" charset="0"/>
              </a:rPr>
              <a:t>Rank jobs by fraud-aware relevance</a:t>
            </a:r>
          </a:p>
        </p:txBody>
      </p:sp>
    </p:spTree>
    <p:extLst>
      <p:ext uri="{BB962C8B-B14F-4D97-AF65-F5344CB8AC3E}">
        <p14:creationId xmlns:p14="http://schemas.microsoft.com/office/powerpoint/2010/main" val="2766255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D3A2FEB-1820-4393-80F1-D5E3B551F097}"/>
              </a:ext>
            </a:extLst>
          </p:cNvPr>
          <p:cNvSpPr txBox="1"/>
          <p:nvPr/>
        </p:nvSpPr>
        <p:spPr>
          <a:xfrm>
            <a:off x="9010903" y="9712888"/>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0FD9B8DD-F9F4-4BD5-AB7D-85D5C163144B}"/>
              </a:ext>
            </a:extLst>
          </p:cNvPr>
          <p:cNvSpPr/>
          <p:nvPr/>
        </p:nvSpPr>
        <p:spPr>
          <a:xfrm>
            <a:off x="0" y="9539865"/>
            <a:ext cx="3470296" cy="779195"/>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1" name="TextBox 34">
            <a:extLst>
              <a:ext uri="{FF2B5EF4-FFF2-40B4-BE49-F238E27FC236}">
                <a16:creationId xmlns:a16="http://schemas.microsoft.com/office/drawing/2014/main" id="{E22B069C-813D-4E83-B78E-16E972E5D532}"/>
              </a:ext>
            </a:extLst>
          </p:cNvPr>
          <p:cNvSpPr txBox="1"/>
          <p:nvPr/>
        </p:nvSpPr>
        <p:spPr>
          <a:xfrm>
            <a:off x="268619" y="819201"/>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SOLUTION OVERVIEW + ARCHITECTURE</a:t>
            </a:r>
          </a:p>
        </p:txBody>
      </p:sp>
      <p:sp>
        <p:nvSpPr>
          <p:cNvPr id="12" name="TextBox 9">
            <a:extLst>
              <a:ext uri="{FF2B5EF4-FFF2-40B4-BE49-F238E27FC236}">
                <a16:creationId xmlns:a16="http://schemas.microsoft.com/office/drawing/2014/main" id="{216BA972-9806-48B5-93F0-4A4F97878DC1}"/>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13" name="Freeform 2">
            <a:extLst>
              <a:ext uri="{FF2B5EF4-FFF2-40B4-BE49-F238E27FC236}">
                <a16:creationId xmlns:a16="http://schemas.microsoft.com/office/drawing/2014/main" id="{5C659E9F-76FB-42AA-B403-3A8F7FC6F370}"/>
              </a:ext>
            </a:extLst>
          </p:cNvPr>
          <p:cNvSpPr/>
          <p:nvPr/>
        </p:nvSpPr>
        <p:spPr>
          <a:xfrm>
            <a:off x="345661" y="1816397"/>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pic>
        <p:nvPicPr>
          <p:cNvPr id="16" name="Picture 15">
            <a:extLst>
              <a:ext uri="{FF2B5EF4-FFF2-40B4-BE49-F238E27FC236}">
                <a16:creationId xmlns:a16="http://schemas.microsoft.com/office/drawing/2014/main" id="{39FF9380-1133-48C3-A8CD-D86CD410AB79}"/>
              </a:ext>
            </a:extLst>
          </p:cNvPr>
          <p:cNvPicPr>
            <a:picLocks noChangeAspect="1"/>
          </p:cNvPicPr>
          <p:nvPr/>
        </p:nvPicPr>
        <p:blipFill>
          <a:blip r:embed="rId5"/>
          <a:srcRect/>
          <a:stretch/>
        </p:blipFill>
        <p:spPr>
          <a:xfrm>
            <a:off x="8507730" y="2386039"/>
            <a:ext cx="9780270" cy="7308625"/>
          </a:xfrm>
          <a:prstGeom prst="rect">
            <a:avLst/>
          </a:prstGeom>
        </p:spPr>
      </p:pic>
      <p:sp>
        <p:nvSpPr>
          <p:cNvPr id="17" name="TextBox 16">
            <a:extLst>
              <a:ext uri="{FF2B5EF4-FFF2-40B4-BE49-F238E27FC236}">
                <a16:creationId xmlns:a16="http://schemas.microsoft.com/office/drawing/2014/main" id="{F81E6909-7338-40AF-B39A-747A6C34BB55}"/>
              </a:ext>
            </a:extLst>
          </p:cNvPr>
          <p:cNvSpPr txBox="1"/>
          <p:nvPr/>
        </p:nvSpPr>
        <p:spPr>
          <a:xfrm>
            <a:off x="532604" y="2634956"/>
            <a:ext cx="7392195" cy="5946308"/>
          </a:xfrm>
          <a:prstGeom prst="rect">
            <a:avLst/>
          </a:prstGeom>
          <a:solidFill>
            <a:srgbClr val="E7F5F4"/>
          </a:solidFill>
          <a:ln>
            <a:solidFill>
              <a:schemeClr val="accent6">
                <a:lumMod val="50000"/>
              </a:schemeClr>
            </a:solidFill>
          </a:ln>
          <a:effectLst>
            <a:outerShdw blurRad="63500" sx="102000" sy="102000" algn="ctr" rotWithShape="0">
              <a:prstClr val="black">
                <a:alpha val="40000"/>
              </a:prstClr>
            </a:outerShdw>
          </a:effectLst>
        </p:spPr>
        <p:txBody>
          <a:bodyPr wrap="square" rtlCol="0">
            <a:spAutoFit/>
          </a:bodyPr>
          <a:lstStyle/>
          <a:p>
            <a:pPr algn="just">
              <a:spcAft>
                <a:spcPts val="600"/>
              </a:spcAft>
            </a:pPr>
            <a:r>
              <a:rPr lang="en-US" sz="2400" b="1" dirty="0">
                <a:solidFill>
                  <a:schemeClr val="accent1"/>
                </a:solidFill>
                <a:latin typeface="Times New Roman" panose="02020603050405020304" pitchFamily="18" charset="0"/>
                <a:cs typeface="Times New Roman" panose="02020603050405020304" pitchFamily="18" charset="0"/>
              </a:rPr>
              <a:t>System Design &amp; Delivery Practices:</a:t>
            </a: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Modular multi-model ecosystem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independently trained &amp; evaluated components </a:t>
            </a: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Multi-source hybrid verification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 website + registry + reputation fused </a:t>
            </a: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Multi-criteria ranking (EWM + TOPSIS) —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fraud risk engineered into relevance </a:t>
            </a: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a:t>
            </a:r>
            <a:endParaRPr lang="en-US" altLang="en-US" sz="2000" dirty="0">
              <a:solidFill>
                <a:schemeClr val="accent1">
                  <a:lumMod val="50000"/>
                </a:schemeClr>
              </a:solidFill>
              <a:latin typeface="Times New Roman" panose="02020603050405020304" pitchFamily="18" charset="0"/>
              <a:cs typeface="Times New Roman" panose="02020603050405020304" pitchFamily="18" charset="0"/>
            </a:endParaRP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API-first, three-tier architecture —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app, dashboard &amp; admin on one backend </a:t>
            </a: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CI/CD pipeline —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automated build, test &amp; deployment </a:t>
            </a:r>
          </a:p>
          <a:p>
            <a:pPr marL="914400" marR="0" lvl="1" indent="-457200" algn="just" fontAlgn="base">
              <a:lnSpc>
                <a:spcPct val="150000"/>
              </a:lnSpc>
              <a:spcAft>
                <a:spcPts val="600"/>
              </a:spcAft>
              <a:buClrTx/>
              <a:buSzTx/>
              <a:buFont typeface="Wingdings" panose="05000000000000000000" pitchFamily="2" charset="2"/>
              <a:buChar char="q"/>
              <a:tabLst/>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rPr>
              <a:t>Explainable-by-design — </a:t>
            </a:r>
            <a:r>
              <a:rPr lang="en-US" altLang="en-US" sz="2000" dirty="0">
                <a:solidFill>
                  <a:schemeClr val="accent1">
                    <a:lumMod val="50000"/>
                  </a:schemeClr>
                </a:solidFill>
                <a:latin typeface="Times New Roman" panose="02020603050405020304" pitchFamily="18" charset="0"/>
                <a:cs typeface="Times New Roman" panose="02020603050405020304" pitchFamily="18" charset="0"/>
              </a:rPr>
              <a:t>human-readable evidence behind every risk score </a:t>
            </a:r>
          </a:p>
        </p:txBody>
      </p:sp>
      <p:sp>
        <p:nvSpPr>
          <p:cNvPr id="2" name="Rectangle: Diagonal Corners Rounded 1">
            <a:extLst>
              <a:ext uri="{FF2B5EF4-FFF2-40B4-BE49-F238E27FC236}">
                <a16:creationId xmlns:a16="http://schemas.microsoft.com/office/drawing/2014/main" id="{43794C3E-97D4-446E-A4CC-E24BD6730B21}"/>
              </a:ext>
            </a:extLst>
          </p:cNvPr>
          <p:cNvSpPr/>
          <p:nvPr/>
        </p:nvSpPr>
        <p:spPr>
          <a:xfrm>
            <a:off x="792558" y="8827312"/>
            <a:ext cx="6872288" cy="867352"/>
          </a:xfrm>
          <a:prstGeom prst="round2DiagRect">
            <a:avLst/>
          </a:prstGeom>
          <a:solidFill>
            <a:srgbClr val="F4D8E1"/>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latin typeface="Times New Roman" panose="02020603050405020304" pitchFamily="18" charset="0"/>
                <a:cs typeface="Times New Roman" panose="02020603050405020304" pitchFamily="18" charset="0"/>
              </a:rPr>
              <a:t>Architecture – Microservices Architecture</a:t>
            </a:r>
          </a:p>
        </p:txBody>
      </p:sp>
    </p:spTree>
    <p:extLst>
      <p:ext uri="{BB962C8B-B14F-4D97-AF65-F5344CB8AC3E}">
        <p14:creationId xmlns:p14="http://schemas.microsoft.com/office/powerpoint/2010/main" val="2505016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B339F75C-159C-4678-AF91-73B94B8881C8}"/>
              </a:ext>
            </a:extLst>
          </p:cNvPr>
          <p:cNvSpPr txBox="1"/>
          <p:nvPr/>
        </p:nvSpPr>
        <p:spPr>
          <a:xfrm>
            <a:off x="8911292" y="9825335"/>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32" name="Freeform 16">
            <a:extLst>
              <a:ext uri="{FF2B5EF4-FFF2-40B4-BE49-F238E27FC236}">
                <a16:creationId xmlns:a16="http://schemas.microsoft.com/office/drawing/2014/main" id="{E23D0E6B-42E3-4F18-B069-0D73286A9D4A}"/>
              </a:ext>
            </a:extLst>
          </p:cNvPr>
          <p:cNvSpPr/>
          <p:nvPr/>
        </p:nvSpPr>
        <p:spPr>
          <a:xfrm>
            <a:off x="-20064" y="9264049"/>
            <a:ext cx="3516016" cy="1022951"/>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51" name="TextBox 34">
            <a:extLst>
              <a:ext uri="{FF2B5EF4-FFF2-40B4-BE49-F238E27FC236}">
                <a16:creationId xmlns:a16="http://schemas.microsoft.com/office/drawing/2014/main" id="{BC14E7E3-6D4B-420C-ABEC-EE8C79EA3A58}"/>
              </a:ext>
            </a:extLst>
          </p:cNvPr>
          <p:cNvSpPr txBox="1"/>
          <p:nvPr/>
        </p:nvSpPr>
        <p:spPr>
          <a:xfrm>
            <a:off x="182131" y="558971"/>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INTEGRATION &amp; COMPLETION STATUS</a:t>
            </a:r>
          </a:p>
        </p:txBody>
      </p:sp>
      <p:sp>
        <p:nvSpPr>
          <p:cNvPr id="52" name="TextBox 9">
            <a:extLst>
              <a:ext uri="{FF2B5EF4-FFF2-40B4-BE49-F238E27FC236}">
                <a16:creationId xmlns:a16="http://schemas.microsoft.com/office/drawing/2014/main" id="{FD142592-CB7B-4FB3-A244-3BC5841F50F9}"/>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53" name="Freeform 2">
            <a:extLst>
              <a:ext uri="{FF2B5EF4-FFF2-40B4-BE49-F238E27FC236}">
                <a16:creationId xmlns:a16="http://schemas.microsoft.com/office/drawing/2014/main" id="{20F422DA-892E-42FB-8280-BB48E8982AAF}"/>
              </a:ext>
            </a:extLst>
          </p:cNvPr>
          <p:cNvSpPr/>
          <p:nvPr/>
        </p:nvSpPr>
        <p:spPr>
          <a:xfrm>
            <a:off x="345661" y="1556167"/>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sp>
        <p:nvSpPr>
          <p:cNvPr id="4" name="TextBox 3">
            <a:extLst>
              <a:ext uri="{FF2B5EF4-FFF2-40B4-BE49-F238E27FC236}">
                <a16:creationId xmlns:a16="http://schemas.microsoft.com/office/drawing/2014/main" id="{4C8282CC-4DAA-442C-8B9B-BBFAA4E1B692}"/>
              </a:ext>
            </a:extLst>
          </p:cNvPr>
          <p:cNvSpPr txBox="1"/>
          <p:nvPr/>
        </p:nvSpPr>
        <p:spPr>
          <a:xfrm>
            <a:off x="785857" y="6562078"/>
            <a:ext cx="7762022" cy="3108543"/>
          </a:xfrm>
          <a:prstGeom prst="rect">
            <a:avLst/>
          </a:prstGeom>
          <a:solidFill>
            <a:schemeClr val="accent6">
              <a:lumMod val="20000"/>
              <a:lumOff val="80000"/>
            </a:schemeClr>
          </a:solidFill>
          <a:ln w="28575">
            <a:solidFill>
              <a:schemeClr val="accent6">
                <a:lumMod val="60000"/>
                <a:lumOff val="40000"/>
              </a:schemeClr>
            </a:solidFill>
          </a:ln>
        </p:spPr>
        <p:txBody>
          <a:bodyPr wrap="square" rtlCol="0">
            <a:spAutoFit/>
          </a:bodyPr>
          <a:lstStyle/>
          <a:p>
            <a:pPr>
              <a:lnSpc>
                <a:spcPct val="150000"/>
              </a:lnSpc>
              <a:spcAft>
                <a:spcPts val="600"/>
              </a:spcAft>
            </a:pPr>
            <a:r>
              <a:rPr lang="en-US" sz="2400" b="1" dirty="0">
                <a:solidFill>
                  <a:schemeClr val="accent6">
                    <a:lumMod val="75000"/>
                  </a:schemeClr>
                </a:solidFill>
                <a:latin typeface="Times New Roman" panose="02020603050405020304" pitchFamily="18" charset="0"/>
                <a:cs typeface="Times New Roman" panose="02020603050405020304" pitchFamily="18" charset="0"/>
              </a:rPr>
              <a:t>IMPLEMENTED</a:t>
            </a:r>
          </a:p>
          <a:p>
            <a:pPr marL="457200" indent="-4572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Fake job post detection</a:t>
            </a:r>
          </a:p>
          <a:p>
            <a:pPr marL="457200" indent="-4572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Employer verification</a:t>
            </a:r>
          </a:p>
          <a:p>
            <a:pPr marL="457200" indent="-4572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Scam message detector</a:t>
            </a:r>
          </a:p>
          <a:p>
            <a:pPr marL="457200" indent="-4572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Recruiter–candidate chat monitoring</a:t>
            </a:r>
          </a:p>
          <a:p>
            <a:pPr marL="457200" indent="-457200">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Risk-aware ranking</a:t>
            </a:r>
            <a:endParaRPr lang="en-US" sz="2400" b="1" dirty="0">
              <a:solidFill>
                <a:schemeClr val="accent6"/>
              </a:solidFill>
              <a:latin typeface="Times New Roman" panose="02020603050405020304" pitchFamily="18" charset="0"/>
              <a:cs typeface="Times New Roman" panose="02020603050405020304" pitchFamily="18" charset="0"/>
            </a:endParaRPr>
          </a:p>
        </p:txBody>
      </p:sp>
      <p:sp>
        <p:nvSpPr>
          <p:cNvPr id="54" name="TextBox 53">
            <a:extLst>
              <a:ext uri="{FF2B5EF4-FFF2-40B4-BE49-F238E27FC236}">
                <a16:creationId xmlns:a16="http://schemas.microsoft.com/office/drawing/2014/main" id="{C52E98A0-4DE5-48DC-B8B6-50375CF61E3C}"/>
              </a:ext>
            </a:extLst>
          </p:cNvPr>
          <p:cNvSpPr txBox="1"/>
          <p:nvPr/>
        </p:nvSpPr>
        <p:spPr>
          <a:xfrm>
            <a:off x="9927623" y="7422198"/>
            <a:ext cx="6372010" cy="1841851"/>
          </a:xfrm>
          <a:prstGeom prst="rect">
            <a:avLst/>
          </a:prstGeom>
          <a:solidFill>
            <a:schemeClr val="accent2">
              <a:lumMod val="20000"/>
              <a:lumOff val="80000"/>
            </a:schemeClr>
          </a:solidFill>
          <a:ln w="38100">
            <a:solidFill>
              <a:schemeClr val="accent2">
                <a:lumMod val="75000"/>
              </a:schemeClr>
            </a:solidFill>
          </a:ln>
        </p:spPr>
        <p:txBody>
          <a:bodyPr wrap="square" rtlCol="0">
            <a:spAutoFit/>
          </a:bodyPr>
          <a:lstStyle/>
          <a:p>
            <a:pPr>
              <a:lnSpc>
                <a:spcPct val="150000"/>
              </a:lnSpc>
              <a:spcAft>
                <a:spcPts val="600"/>
              </a:spcAft>
            </a:pPr>
            <a:r>
              <a:rPr lang="en-US" sz="2400" b="1" dirty="0">
                <a:solidFill>
                  <a:schemeClr val="accent2">
                    <a:lumMod val="50000"/>
                  </a:schemeClr>
                </a:solidFill>
                <a:latin typeface="Times New Roman" panose="02020603050405020304" pitchFamily="18" charset="0"/>
                <a:cs typeface="Times New Roman" panose="02020603050405020304" pitchFamily="18" charset="0"/>
              </a:rPr>
              <a:t>Future Work</a:t>
            </a:r>
          </a:p>
          <a:p>
            <a:pPr marL="457200" indent="-4572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Team collaboration </a:t>
            </a:r>
          </a:p>
          <a:p>
            <a:pPr marL="457200" indent="-4572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Billing and Subscription Management</a:t>
            </a:r>
            <a:endParaRPr lang="en-US" sz="2400" b="1" dirty="0">
              <a:solidFill>
                <a:schemeClr val="accent6"/>
              </a:solidFill>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E78CB2CB-F3F3-497F-B6A7-239A2687EAF7}"/>
              </a:ext>
            </a:extLst>
          </p:cNvPr>
          <p:cNvPicPr>
            <a:picLocks noChangeAspect="1" noChangeArrowheads="1"/>
          </p:cNvPicPr>
          <p:nvPr/>
        </p:nvPicPr>
        <p:blipFill>
          <a:blip r:embed="rId5">
            <a:duotone>
              <a:prstClr val="black"/>
              <a:schemeClr val="accent6">
                <a:tint val="45000"/>
                <a:satMod val="400000"/>
              </a:schemeClr>
            </a:duotone>
            <a:extLst>
              <a:ext uri="{BEBA8EAE-BF5A-486C-A8C5-ECC9F3942E4B}">
                <a14:imgProps xmlns:a14="http://schemas.microsoft.com/office/drawing/2010/main">
                  <a14:imgLayer r:embed="rId6">
                    <a14:imgEffect>
                      <a14:saturation sat="0"/>
                    </a14:imgEffect>
                    <a14:imgEffect>
                      <a14:brightnessContrast bright="-20000" contrast="20000"/>
                    </a14:imgEffect>
                  </a14:imgLayer>
                </a14:imgProps>
              </a:ext>
            </a:extLst>
          </a:blip>
          <a:srcRect/>
          <a:stretch/>
        </p:blipFill>
        <p:spPr bwMode="auto">
          <a:xfrm>
            <a:off x="3307410" y="6708727"/>
            <a:ext cx="605685" cy="58739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7EAB434-EF21-49F8-B242-E8EE3C309B2D}"/>
              </a:ext>
            </a:extLst>
          </p:cNvPr>
          <p:cNvPicPr>
            <a:picLocks noChangeAspect="1" noChangeArrowheads="1"/>
          </p:cNvPicPr>
          <p:nvPr/>
        </p:nvPicPr>
        <p:blipFill>
          <a:blip r:embed="rId7">
            <a:duotone>
              <a:prstClr val="black"/>
              <a:schemeClr val="accent2">
                <a:lumMod val="75000"/>
                <a:tint val="45000"/>
                <a:satMod val="400000"/>
              </a:schemeClr>
            </a:duotone>
          </a:blip>
          <a:srcRect/>
          <a:stretch/>
        </p:blipFill>
        <p:spPr bwMode="auto">
          <a:xfrm>
            <a:off x="11781069" y="7489434"/>
            <a:ext cx="670907" cy="67090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DDBB557-1FC5-40D5-B96E-15B45C286E42}"/>
              </a:ext>
            </a:extLst>
          </p:cNvPr>
          <p:cNvPicPr>
            <a:picLocks noChangeAspect="1"/>
          </p:cNvPicPr>
          <p:nvPr/>
        </p:nvPicPr>
        <p:blipFill>
          <a:blip r:embed="rId8"/>
          <a:stretch>
            <a:fillRect/>
          </a:stretch>
        </p:blipFill>
        <p:spPr>
          <a:xfrm>
            <a:off x="3495952" y="1881563"/>
            <a:ext cx="11645154" cy="4401205"/>
          </a:xfrm>
          <a:prstGeom prst="rect">
            <a:avLst/>
          </a:prstGeom>
        </p:spPr>
      </p:pic>
    </p:spTree>
    <p:extLst>
      <p:ext uri="{BB962C8B-B14F-4D97-AF65-F5344CB8AC3E}">
        <p14:creationId xmlns:p14="http://schemas.microsoft.com/office/powerpoint/2010/main" val="651623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7EA4FD1-8C4B-4C87-A2BF-BE25DB24839D}"/>
              </a:ext>
            </a:extLst>
          </p:cNvPr>
          <p:cNvSpPr txBox="1"/>
          <p:nvPr/>
        </p:nvSpPr>
        <p:spPr>
          <a:xfrm>
            <a:off x="8396002" y="9858294"/>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23BB5666-DF08-403C-BE1C-D5D74902BB85}"/>
              </a:ext>
            </a:extLst>
          </p:cNvPr>
          <p:cNvSpPr/>
          <p:nvPr/>
        </p:nvSpPr>
        <p:spPr>
          <a:xfrm>
            <a:off x="-26056" y="9115066"/>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1" name="TextBox 34">
            <a:extLst>
              <a:ext uri="{FF2B5EF4-FFF2-40B4-BE49-F238E27FC236}">
                <a16:creationId xmlns:a16="http://schemas.microsoft.com/office/drawing/2014/main" id="{523C6CEE-29C8-4B3D-8E94-563958AC8861}"/>
              </a:ext>
            </a:extLst>
          </p:cNvPr>
          <p:cNvSpPr txBox="1"/>
          <p:nvPr/>
        </p:nvSpPr>
        <p:spPr>
          <a:xfrm>
            <a:off x="201384" y="796763"/>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EVALUATION EVIDENCE</a:t>
            </a:r>
          </a:p>
        </p:txBody>
      </p:sp>
      <p:sp>
        <p:nvSpPr>
          <p:cNvPr id="12" name="TextBox 9">
            <a:extLst>
              <a:ext uri="{FF2B5EF4-FFF2-40B4-BE49-F238E27FC236}">
                <a16:creationId xmlns:a16="http://schemas.microsoft.com/office/drawing/2014/main" id="{9A686EBB-74DC-4A16-9BEB-D0E0F2D8660C}"/>
              </a:ext>
            </a:extLst>
          </p:cNvPr>
          <p:cNvSpPr txBox="1"/>
          <p:nvPr/>
        </p:nvSpPr>
        <p:spPr>
          <a:xfrm>
            <a:off x="345661" y="237879"/>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13" name="Freeform 2">
            <a:extLst>
              <a:ext uri="{FF2B5EF4-FFF2-40B4-BE49-F238E27FC236}">
                <a16:creationId xmlns:a16="http://schemas.microsoft.com/office/drawing/2014/main" id="{A8F4666B-9AE6-47AF-AF9C-65B3D4FDBA79}"/>
              </a:ext>
            </a:extLst>
          </p:cNvPr>
          <p:cNvSpPr/>
          <p:nvPr/>
        </p:nvSpPr>
        <p:spPr>
          <a:xfrm>
            <a:off x="345661" y="1842414"/>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graphicFrame>
        <p:nvGraphicFramePr>
          <p:cNvPr id="14" name="Table 13">
            <a:extLst>
              <a:ext uri="{FF2B5EF4-FFF2-40B4-BE49-F238E27FC236}">
                <a16:creationId xmlns:a16="http://schemas.microsoft.com/office/drawing/2014/main" id="{A4EFA365-133A-4692-9B5A-9D96073C7F31}"/>
              </a:ext>
            </a:extLst>
          </p:cNvPr>
          <p:cNvGraphicFramePr>
            <a:graphicFrameLocks noGrp="1"/>
          </p:cNvGraphicFramePr>
          <p:nvPr>
            <p:extLst>
              <p:ext uri="{D42A27DB-BD31-4B8C-83A1-F6EECF244321}">
                <p14:modId xmlns:p14="http://schemas.microsoft.com/office/powerpoint/2010/main" val="2961641531"/>
              </p:ext>
            </p:extLst>
          </p:nvPr>
        </p:nvGraphicFramePr>
        <p:xfrm>
          <a:off x="410577" y="2604730"/>
          <a:ext cx="16621411" cy="6028282"/>
        </p:xfrm>
        <a:graphic>
          <a:graphicData uri="http://schemas.openxmlformats.org/drawingml/2006/table">
            <a:tbl>
              <a:tblPr>
                <a:tableStyleId>{16D9F66E-5EB9-4882-86FB-DCBF35E3C3E4}</a:tableStyleId>
              </a:tblPr>
              <a:tblGrid>
                <a:gridCol w="6337374">
                  <a:extLst>
                    <a:ext uri="{9D8B030D-6E8A-4147-A177-3AD203B41FA5}">
                      <a16:colId xmlns:a16="http://schemas.microsoft.com/office/drawing/2014/main" val="3388472230"/>
                    </a:ext>
                  </a:extLst>
                </a:gridCol>
                <a:gridCol w="2568787">
                  <a:extLst>
                    <a:ext uri="{9D8B030D-6E8A-4147-A177-3AD203B41FA5}">
                      <a16:colId xmlns:a16="http://schemas.microsoft.com/office/drawing/2014/main" val="2434339070"/>
                    </a:ext>
                  </a:extLst>
                </a:gridCol>
                <a:gridCol w="3914775">
                  <a:extLst>
                    <a:ext uri="{9D8B030D-6E8A-4147-A177-3AD203B41FA5}">
                      <a16:colId xmlns:a16="http://schemas.microsoft.com/office/drawing/2014/main" val="2750864157"/>
                    </a:ext>
                  </a:extLst>
                </a:gridCol>
                <a:gridCol w="3800475">
                  <a:extLst>
                    <a:ext uri="{9D8B030D-6E8A-4147-A177-3AD203B41FA5}">
                      <a16:colId xmlns:a16="http://schemas.microsoft.com/office/drawing/2014/main" val="3905396003"/>
                    </a:ext>
                  </a:extLst>
                </a:gridCol>
              </a:tblGrid>
              <a:tr h="660082">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Accuracy</a:t>
                      </a:r>
                    </a:p>
                  </a:txBody>
                  <a:tcPr anchor="ctr">
                    <a:lnL w="12700" cap="flat" cmpd="sng" algn="ctr">
                      <a:solidFill>
                        <a:schemeClr val="bg1"/>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F1</a:t>
                      </a:r>
                    </a:p>
                  </a:txBody>
                  <a:tcPr anchor="ctr">
                    <a:lnL w="12700" cap="flat" cmpd="sng" algn="ctr">
                      <a:solidFill>
                        <a:schemeClr val="accent1">
                          <a:lumMod val="20000"/>
                          <a:lumOff val="8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tc>
                  <a:txBody>
                    <a:bodyPr/>
                    <a:lstStyle/>
                    <a:p>
                      <a:pPr algn="ctr"/>
                      <a:r>
                        <a:rPr lang="en-US" b="1" dirty="0">
                          <a:solidFill>
                            <a:schemeClr val="bg1"/>
                          </a:solidFill>
                          <a:latin typeface="Times New Roman" panose="02020603050405020304" pitchFamily="18" charset="0"/>
                          <a:cs typeface="Times New Roman" panose="02020603050405020304" pitchFamily="18" charset="0"/>
                        </a:rPr>
                        <a:t>ROC-AUC</a:t>
                      </a:r>
                    </a:p>
                  </a:txBody>
                  <a:tcPr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75000"/>
                      </a:schemeClr>
                    </a:solidFill>
                  </a:tcPr>
                </a:tc>
                <a:extLst>
                  <a:ext uri="{0D108BD9-81ED-4DB2-BD59-A6C34878D82A}">
                    <a16:rowId xmlns:a16="http://schemas.microsoft.com/office/drawing/2014/main" val="2393542167"/>
                  </a:ext>
                </a:extLst>
              </a:tr>
              <a:tr h="909638">
                <a:tc>
                  <a:txBody>
                    <a:bodyPr/>
                    <a:lstStyle/>
                    <a:p>
                      <a:r>
                        <a:rPr lang="en-US" dirty="0">
                          <a:latin typeface="Times New Roman" panose="02020603050405020304" pitchFamily="18" charset="0"/>
                          <a:cs typeface="Times New Roman" panose="02020603050405020304" pitchFamily="18" charset="0"/>
                        </a:rPr>
                        <a:t>Fake Job Post Detector (XLM-</a:t>
                      </a:r>
                      <a:r>
                        <a:rPr lang="en-US" dirty="0" err="1">
                          <a:latin typeface="Times New Roman" panose="02020603050405020304" pitchFamily="18" charset="0"/>
                          <a:cs typeface="Times New Roman" panose="02020603050405020304" pitchFamily="18" charset="0"/>
                        </a:rPr>
                        <a:t>RoBERTa</a:t>
                      </a:r>
                      <a:r>
                        <a:rPr lang="en-US"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88.50%</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0.9239</a:t>
                      </a: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108267"/>
                  </a:ext>
                </a:extLst>
              </a:tr>
              <a:tr h="800962">
                <a:tc>
                  <a:txBody>
                    <a:bodyPr/>
                    <a:lstStyle/>
                    <a:p>
                      <a:r>
                        <a:rPr lang="en-US" dirty="0">
                          <a:latin typeface="Times New Roman" panose="02020603050405020304" pitchFamily="18" charset="0"/>
                          <a:cs typeface="Times New Roman" panose="02020603050405020304" pitchFamily="18" charset="0"/>
                        </a:rPr>
                        <a:t>Scam Message Detector (Phase 1)</a:t>
                      </a: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algn="ctr"/>
                      <a:r>
                        <a:rPr lang="en-US">
                          <a:latin typeface="Times New Roman" panose="02020603050405020304" pitchFamily="18" charset="0"/>
                          <a:cs typeface="Times New Roman" panose="02020603050405020304" pitchFamily="18" charset="0"/>
                        </a:rPr>
                        <a:t>85.34%</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algn="ctr"/>
                      <a:r>
                        <a:rPr lang="en-US" dirty="0">
                          <a:latin typeface="Times New Roman" panose="02020603050405020304" pitchFamily="18" charset="0"/>
                          <a:cs typeface="Times New Roman" panose="02020603050405020304" pitchFamily="18" charset="0"/>
                        </a:rPr>
                        <a:t>0.8399 / 0.8549</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algn="ctr"/>
                      <a:r>
                        <a:rPr lang="en-US" dirty="0">
                          <a:latin typeface="Times New Roman" panose="02020603050405020304" pitchFamily="18" charset="0"/>
                          <a:cs typeface="Times New Roman" panose="02020603050405020304" pitchFamily="18" charset="0"/>
                        </a:rPr>
                        <a:t>–</a:t>
                      </a: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extLst>
                  <a:ext uri="{0D108BD9-81ED-4DB2-BD59-A6C34878D82A}">
                    <a16:rowId xmlns:a16="http://schemas.microsoft.com/office/drawing/2014/main" val="2932043630"/>
                  </a:ext>
                </a:extLst>
              </a:tr>
              <a:tr h="660082">
                <a:tc>
                  <a:txBody>
                    <a:bodyPr/>
                    <a:lstStyle/>
                    <a:p>
                      <a:r>
                        <a:rPr lang="en-US" dirty="0">
                          <a:latin typeface="Times New Roman" panose="02020603050405020304" pitchFamily="18" charset="0"/>
                          <a:cs typeface="Times New Roman" panose="02020603050405020304" pitchFamily="18" charset="0"/>
                        </a:rPr>
                        <a:t>Scam Tactic Detector (Phase 2)</a:t>
                      </a: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Macro 0.8345 </a:t>
                      </a:r>
                    </a:p>
                    <a:p>
                      <a:pPr algn="ctr"/>
                      <a:r>
                        <a:rPr lang="en-US" dirty="0">
                          <a:latin typeface="Times New Roman" panose="02020603050405020304" pitchFamily="18" charset="0"/>
                          <a:cs typeface="Times New Roman" panose="02020603050405020304" pitchFamily="18" charset="0"/>
                        </a:rPr>
                        <a:t>Micro 0.8722</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a:t>
                      </a: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4108834"/>
                  </a:ext>
                </a:extLst>
              </a:tr>
              <a:tr h="826275">
                <a:tc>
                  <a:txBody>
                    <a:bodyPr/>
                    <a:lstStyle/>
                    <a:p>
                      <a:pPr marL="0" algn="l"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Employer Verification (ML classifier alone)</a:t>
                      </a:r>
                    </a:p>
                    <a:p>
                      <a:pPr marL="0" algn="l"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78.3%</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0.77</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0.87</a:t>
                      </a: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extLst>
                  <a:ext uri="{0D108BD9-81ED-4DB2-BD59-A6C34878D82A}">
                    <a16:rowId xmlns:a16="http://schemas.microsoft.com/office/drawing/2014/main" val="2057003403"/>
                  </a:ext>
                </a:extLst>
              </a:tr>
              <a:tr h="807999">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sz="2700" kern="1200" dirty="0">
                          <a:solidFill>
                            <a:schemeClr val="dk1"/>
                          </a:solidFill>
                          <a:latin typeface="Times New Roman" panose="02020603050405020304" pitchFamily="18" charset="0"/>
                          <a:ea typeface="+mn-ea"/>
                          <a:cs typeface="Times New Roman" panose="02020603050405020304" pitchFamily="18" charset="0"/>
                        </a:rPr>
                        <a:t>Employer Verification – Full hybrid score (ML + registry + reputation + website)</a:t>
                      </a: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76.5%</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0.83</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a:t>
                      </a:r>
                    </a:p>
                    <a:p>
                      <a:pPr marL="0" algn="ctr"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extLst>
                  <a:ext uri="{0D108BD9-81ED-4DB2-BD59-A6C34878D82A}">
                    <a16:rowId xmlns:a16="http://schemas.microsoft.com/office/drawing/2014/main" val="1340536351"/>
                  </a:ext>
                </a:extLst>
              </a:tr>
              <a:tr h="660082">
                <a:tc>
                  <a:txBody>
                    <a:bodyPr/>
                    <a:lstStyle/>
                    <a:p>
                      <a:pPr marL="0" algn="l" defTabSz="1371600" rtl="0" eaLnBrk="1" latinLnBrk="0" hangingPunct="1"/>
                      <a:r>
                        <a:rPr lang="en-US" sz="2700" kern="1200" dirty="0">
                          <a:solidFill>
                            <a:schemeClr val="dk1"/>
                          </a:solidFill>
                          <a:latin typeface="Times New Roman" panose="02020603050405020304" pitchFamily="18" charset="0"/>
                          <a:ea typeface="+mn-ea"/>
                          <a:cs typeface="Times New Roman" panose="02020603050405020304" pitchFamily="18" charset="0"/>
                        </a:rPr>
                        <a:t>Risk Aware Job Recommendation</a:t>
                      </a:r>
                    </a:p>
                    <a:p>
                      <a:pPr marL="0" algn="l"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tc>
                  <a:txBody>
                    <a:bodyPr/>
                    <a:lstStyle/>
                    <a:p>
                      <a:pPr marL="0" algn="ctr" defTabSz="1371600" rtl="0" eaLnBrk="1" latinLnBrk="0" hangingPunct="1"/>
                      <a:endParaRPr lang="en-US" sz="2700" kern="1200" dirty="0">
                        <a:solidFill>
                          <a:schemeClr val="dk1"/>
                        </a:solidFill>
                        <a:latin typeface="Times New Roman" panose="02020603050405020304" pitchFamily="18" charset="0"/>
                        <a:ea typeface="+mn-ea"/>
                        <a:cs typeface="Times New Roman" panose="02020603050405020304" pitchFamily="18" charset="0"/>
                      </a:endParaRPr>
                    </a:p>
                  </a:txBody>
                  <a:tcPr anchor="ctr">
                    <a:lnL w="12700" cap="flat" cmpd="sng" algn="ctr">
                      <a:solidFill>
                        <a:srgbClr val="0070C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7F5F4"/>
                    </a:solidFill>
                  </a:tcPr>
                </a:tc>
                <a:extLst>
                  <a:ext uri="{0D108BD9-81ED-4DB2-BD59-A6C34878D82A}">
                    <a16:rowId xmlns:a16="http://schemas.microsoft.com/office/drawing/2014/main" val="2569210376"/>
                  </a:ext>
                </a:extLst>
              </a:tr>
            </a:tbl>
          </a:graphicData>
        </a:graphic>
      </p:graphicFrame>
    </p:spTree>
    <p:extLst>
      <p:ext uri="{BB962C8B-B14F-4D97-AF65-F5344CB8AC3E}">
        <p14:creationId xmlns:p14="http://schemas.microsoft.com/office/powerpoint/2010/main" val="1778781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521948B-C842-49AB-8B76-6FE3C7973B28}"/>
              </a:ext>
            </a:extLst>
          </p:cNvPr>
          <p:cNvSpPr txBox="1"/>
          <p:nvPr/>
        </p:nvSpPr>
        <p:spPr>
          <a:xfrm>
            <a:off x="8005063" y="9547602"/>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5" name="Freeform 16">
            <a:extLst>
              <a:ext uri="{FF2B5EF4-FFF2-40B4-BE49-F238E27FC236}">
                <a16:creationId xmlns:a16="http://schemas.microsoft.com/office/drawing/2014/main" id="{FE72649B-3544-41A4-9A56-C9961C77AE73}"/>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6" name="TextBox 34">
            <a:extLst>
              <a:ext uri="{FF2B5EF4-FFF2-40B4-BE49-F238E27FC236}">
                <a16:creationId xmlns:a16="http://schemas.microsoft.com/office/drawing/2014/main" id="{84B16B29-4AF2-429D-BEB9-C10085EE408A}"/>
              </a:ext>
            </a:extLst>
          </p:cNvPr>
          <p:cNvSpPr txBox="1"/>
          <p:nvPr/>
        </p:nvSpPr>
        <p:spPr>
          <a:xfrm>
            <a:off x="268619" y="944594"/>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NON-FUNCTIONAL REQUIREMENTS</a:t>
            </a:r>
          </a:p>
        </p:txBody>
      </p:sp>
      <p:sp>
        <p:nvSpPr>
          <p:cNvPr id="7" name="TextBox 9">
            <a:extLst>
              <a:ext uri="{FF2B5EF4-FFF2-40B4-BE49-F238E27FC236}">
                <a16:creationId xmlns:a16="http://schemas.microsoft.com/office/drawing/2014/main" id="{47DC3A1A-0934-4769-A41A-70DE7120E549}"/>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8" name="Freeform 2">
            <a:extLst>
              <a:ext uri="{FF2B5EF4-FFF2-40B4-BE49-F238E27FC236}">
                <a16:creationId xmlns:a16="http://schemas.microsoft.com/office/drawing/2014/main" id="{CB6BB167-6F0B-4863-998F-30548C0676B4}"/>
              </a:ext>
            </a:extLst>
          </p:cNvPr>
          <p:cNvSpPr/>
          <p:nvPr/>
        </p:nvSpPr>
        <p:spPr>
          <a:xfrm>
            <a:off x="429186" y="2103779"/>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sp>
        <p:nvSpPr>
          <p:cNvPr id="11" name="Rectangle: Diagonal Corners Rounded 10">
            <a:extLst>
              <a:ext uri="{FF2B5EF4-FFF2-40B4-BE49-F238E27FC236}">
                <a16:creationId xmlns:a16="http://schemas.microsoft.com/office/drawing/2014/main" id="{0286981E-4909-4E1D-9845-82638ABAF762}"/>
              </a:ext>
            </a:extLst>
          </p:cNvPr>
          <p:cNvSpPr/>
          <p:nvPr/>
        </p:nvSpPr>
        <p:spPr>
          <a:xfrm>
            <a:off x="814446" y="3378691"/>
            <a:ext cx="3410946" cy="3992880"/>
          </a:xfrm>
          <a:prstGeom prst="round2DiagRect">
            <a:avLst/>
          </a:prstGeom>
          <a:solidFill>
            <a:srgbClr val="E7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017081"/>
              </a:solidFill>
            </a:endParaRPr>
          </a:p>
          <a:p>
            <a:pPr algn="ctr"/>
            <a:endParaRPr lang="en-US" b="1" dirty="0">
              <a:solidFill>
                <a:srgbClr val="017081"/>
              </a:solidFill>
            </a:endParaRPr>
          </a:p>
          <a:p>
            <a:pPr algn="ctr"/>
            <a:r>
              <a:rPr lang="en-US" b="1" dirty="0">
                <a:solidFill>
                  <a:srgbClr val="017081"/>
                </a:solidFill>
                <a:latin typeface="Times New Roman" panose="02020603050405020304" pitchFamily="18" charset="0"/>
                <a:cs typeface="Times New Roman" panose="02020603050405020304" pitchFamily="18" charset="0"/>
              </a:rPr>
              <a:t>Performance</a:t>
            </a:r>
          </a:p>
          <a:p>
            <a:pPr algn="ct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400" dirty="0">
                <a:solidFill>
                  <a:schemeClr val="tx1"/>
                </a:solidFill>
                <a:latin typeface="Times New Roman" panose="02020603050405020304" pitchFamily="18" charset="0"/>
                <a:cs typeface="Times New Roman" panose="02020603050405020304" pitchFamily="18" charset="0"/>
              </a:rPr>
              <a:t>Real-time response for job, message &amp; employer classification</a:t>
            </a:r>
            <a:endParaRPr lang="en-US" sz="2400" b="1" dirty="0">
              <a:solidFill>
                <a:schemeClr val="tx1"/>
              </a:solidFill>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22C1C19D-2BA5-4BD0-8796-A7FB364E3D71}"/>
              </a:ext>
            </a:extLst>
          </p:cNvPr>
          <p:cNvPicPr>
            <a:picLocks noChangeAspect="1"/>
          </p:cNvPicPr>
          <p:nvPr/>
        </p:nvPicPr>
        <p:blipFill>
          <a:blip r:embed="rId5">
            <a:duotone>
              <a:schemeClr val="accent1">
                <a:shade val="45000"/>
                <a:satMod val="135000"/>
              </a:schemeClr>
              <a:prstClr val="white"/>
            </a:duotone>
          </a:blip>
          <a:stretch>
            <a:fillRect/>
          </a:stretch>
        </p:blipFill>
        <p:spPr>
          <a:xfrm>
            <a:off x="2046420" y="3611459"/>
            <a:ext cx="883920" cy="883920"/>
          </a:xfrm>
          <a:prstGeom prst="rect">
            <a:avLst/>
          </a:prstGeom>
        </p:spPr>
      </p:pic>
      <p:sp>
        <p:nvSpPr>
          <p:cNvPr id="17" name="Rectangle: Diagonal Corners Rounded 16">
            <a:extLst>
              <a:ext uri="{FF2B5EF4-FFF2-40B4-BE49-F238E27FC236}">
                <a16:creationId xmlns:a16="http://schemas.microsoft.com/office/drawing/2014/main" id="{3AC02BD3-61F3-4B21-B50F-D37D11F22794}"/>
              </a:ext>
            </a:extLst>
          </p:cNvPr>
          <p:cNvSpPr/>
          <p:nvPr/>
        </p:nvSpPr>
        <p:spPr>
          <a:xfrm>
            <a:off x="5279417" y="3479818"/>
            <a:ext cx="3410712" cy="3992880"/>
          </a:xfrm>
          <a:prstGeom prst="round2DiagRect">
            <a:avLst/>
          </a:prstGeom>
          <a:solidFill>
            <a:srgbClr val="E7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017081"/>
              </a:solidFill>
              <a:latin typeface="Times New Roman" panose="02020603050405020304" pitchFamily="18" charset="0"/>
              <a:cs typeface="Times New Roman" panose="02020603050405020304" pitchFamily="18" charset="0"/>
            </a:endParaRPr>
          </a:p>
          <a:p>
            <a:pPr algn="ctr"/>
            <a:endParaRPr lang="en-US" b="1" dirty="0">
              <a:solidFill>
                <a:srgbClr val="017081"/>
              </a:solidFill>
            </a:endParaRPr>
          </a:p>
          <a:p>
            <a:pPr algn="ctr"/>
            <a:r>
              <a:rPr lang="en-US" b="1" dirty="0">
                <a:solidFill>
                  <a:srgbClr val="017081"/>
                </a:solidFill>
                <a:latin typeface="Times New Roman" panose="02020603050405020304" pitchFamily="18" charset="0"/>
                <a:cs typeface="Times New Roman" panose="02020603050405020304" pitchFamily="18" charset="0"/>
              </a:rPr>
              <a:t>Scalability</a:t>
            </a:r>
          </a:p>
          <a:p>
            <a:pPr algn="ct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400" dirty="0">
                <a:solidFill>
                  <a:schemeClr val="tx1"/>
                </a:solidFill>
                <a:latin typeface="Times New Roman" panose="02020603050405020304" pitchFamily="18" charset="0"/>
                <a:cs typeface="Times New Roman" panose="02020603050405020304" pitchFamily="18" charset="0"/>
              </a:rPr>
              <a:t>Handles growing post &amp; chat volume across platforms</a:t>
            </a:r>
          </a:p>
        </p:txBody>
      </p:sp>
      <p:pic>
        <p:nvPicPr>
          <p:cNvPr id="18" name="Picture 17">
            <a:extLst>
              <a:ext uri="{FF2B5EF4-FFF2-40B4-BE49-F238E27FC236}">
                <a16:creationId xmlns:a16="http://schemas.microsoft.com/office/drawing/2014/main" id="{9259D829-FE0B-4AC6-A8A2-6E1D5899B856}"/>
              </a:ext>
            </a:extLst>
          </p:cNvPr>
          <p:cNvPicPr>
            <a:picLocks noChangeAspect="1"/>
          </p:cNvPicPr>
          <p:nvPr/>
        </p:nvPicPr>
        <p:blipFill>
          <a:blip r:embed="rId6">
            <a:duotone>
              <a:schemeClr val="accent1">
                <a:shade val="45000"/>
                <a:satMod val="135000"/>
              </a:schemeClr>
              <a:prstClr val="white"/>
            </a:duotone>
          </a:blip>
          <a:srcRect/>
          <a:stretch/>
        </p:blipFill>
        <p:spPr>
          <a:xfrm>
            <a:off x="6511392" y="3712586"/>
            <a:ext cx="883920" cy="883920"/>
          </a:xfrm>
          <a:prstGeom prst="rect">
            <a:avLst/>
          </a:prstGeom>
        </p:spPr>
      </p:pic>
      <p:sp>
        <p:nvSpPr>
          <p:cNvPr id="21" name="Rectangle: Diagonal Corners Rounded 20">
            <a:extLst>
              <a:ext uri="{FF2B5EF4-FFF2-40B4-BE49-F238E27FC236}">
                <a16:creationId xmlns:a16="http://schemas.microsoft.com/office/drawing/2014/main" id="{2B4861B5-6C81-4ECF-98E9-D803FE327DF2}"/>
              </a:ext>
            </a:extLst>
          </p:cNvPr>
          <p:cNvSpPr/>
          <p:nvPr/>
        </p:nvSpPr>
        <p:spPr>
          <a:xfrm>
            <a:off x="9744154" y="3479818"/>
            <a:ext cx="3410712" cy="3992880"/>
          </a:xfrm>
          <a:prstGeom prst="round2DiagRect">
            <a:avLst/>
          </a:prstGeom>
          <a:solidFill>
            <a:srgbClr val="E7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017081"/>
              </a:solidFill>
            </a:endParaRPr>
          </a:p>
          <a:p>
            <a:pPr algn="ctr"/>
            <a:endParaRPr lang="en-US" b="1" dirty="0">
              <a:solidFill>
                <a:srgbClr val="017081"/>
              </a:solidFill>
            </a:endParaRPr>
          </a:p>
          <a:p>
            <a:pPr algn="ctr"/>
            <a:r>
              <a:rPr lang="en-US" b="1" dirty="0">
                <a:solidFill>
                  <a:srgbClr val="017081"/>
                </a:solidFill>
              </a:rPr>
              <a:t>Security and Privacy</a:t>
            </a:r>
          </a:p>
          <a:p>
            <a:pPr algn="ctr"/>
            <a:endParaRPr lang="en-US" sz="2000" dirty="0">
              <a:solidFill>
                <a:schemeClr val="tx1"/>
              </a:solidFill>
            </a:endParaRPr>
          </a:p>
          <a:p>
            <a:pPr algn="ctr"/>
            <a:r>
              <a:rPr lang="en-US" sz="2400" dirty="0">
                <a:solidFill>
                  <a:schemeClr val="tx1"/>
                </a:solidFill>
                <a:latin typeface="Times New Roman" panose="02020603050405020304" pitchFamily="18" charset="0"/>
                <a:cs typeface="Times New Roman" panose="02020603050405020304" pitchFamily="18" charset="0"/>
              </a:rPr>
              <a:t>Protects chat and personal data throughout the pipeline</a:t>
            </a:r>
          </a:p>
        </p:txBody>
      </p:sp>
      <p:pic>
        <p:nvPicPr>
          <p:cNvPr id="22" name="Picture 21">
            <a:extLst>
              <a:ext uri="{FF2B5EF4-FFF2-40B4-BE49-F238E27FC236}">
                <a16:creationId xmlns:a16="http://schemas.microsoft.com/office/drawing/2014/main" id="{B23C4390-AF7B-47C3-B3E4-112A2D078909}"/>
              </a:ext>
            </a:extLst>
          </p:cNvPr>
          <p:cNvPicPr>
            <a:picLocks noChangeAspect="1"/>
          </p:cNvPicPr>
          <p:nvPr/>
        </p:nvPicPr>
        <p:blipFill>
          <a:blip r:embed="rId7">
            <a:duotone>
              <a:schemeClr val="accent1">
                <a:shade val="45000"/>
                <a:satMod val="135000"/>
              </a:schemeClr>
              <a:prstClr val="white"/>
            </a:duotone>
          </a:blip>
          <a:srcRect/>
          <a:stretch/>
        </p:blipFill>
        <p:spPr>
          <a:xfrm>
            <a:off x="10976129" y="3712586"/>
            <a:ext cx="883920" cy="883920"/>
          </a:xfrm>
          <a:prstGeom prst="rect">
            <a:avLst/>
          </a:prstGeom>
        </p:spPr>
      </p:pic>
      <p:sp>
        <p:nvSpPr>
          <p:cNvPr id="23" name="Rectangle: Diagonal Corners Rounded 22">
            <a:extLst>
              <a:ext uri="{FF2B5EF4-FFF2-40B4-BE49-F238E27FC236}">
                <a16:creationId xmlns:a16="http://schemas.microsoft.com/office/drawing/2014/main" id="{DEC8D76D-E082-476E-B7E3-992BF00B30D3}"/>
              </a:ext>
            </a:extLst>
          </p:cNvPr>
          <p:cNvSpPr/>
          <p:nvPr/>
        </p:nvSpPr>
        <p:spPr>
          <a:xfrm>
            <a:off x="14208891" y="3479818"/>
            <a:ext cx="3410712" cy="3992880"/>
          </a:xfrm>
          <a:prstGeom prst="round2DiagRect">
            <a:avLst/>
          </a:prstGeom>
          <a:solidFill>
            <a:srgbClr val="E7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017081"/>
              </a:solidFill>
            </a:endParaRPr>
          </a:p>
          <a:p>
            <a:pPr algn="ctr"/>
            <a:endParaRPr lang="en-US" b="1" dirty="0">
              <a:solidFill>
                <a:srgbClr val="017081"/>
              </a:solidFill>
            </a:endParaRPr>
          </a:p>
          <a:p>
            <a:pPr algn="ctr"/>
            <a:r>
              <a:rPr lang="en-US" b="1" dirty="0">
                <a:solidFill>
                  <a:srgbClr val="017081"/>
                </a:solidFill>
                <a:latin typeface="Times New Roman" panose="02020603050405020304" pitchFamily="18" charset="0"/>
                <a:cs typeface="Times New Roman" panose="02020603050405020304" pitchFamily="18" charset="0"/>
              </a:rPr>
              <a:t>Maintainability</a:t>
            </a:r>
          </a:p>
          <a:p>
            <a:pPr algn="ctr"/>
            <a:endParaRPr lang="en-US" sz="2000" dirty="0">
              <a:solidFill>
                <a:schemeClr val="tx1"/>
              </a:solidFill>
              <a:latin typeface="Times New Roman" panose="02020603050405020304" pitchFamily="18" charset="0"/>
              <a:cs typeface="Times New Roman" panose="02020603050405020304" pitchFamily="18" charset="0"/>
            </a:endParaRPr>
          </a:p>
          <a:p>
            <a:pPr algn="ctr"/>
            <a:r>
              <a:rPr lang="en-US" sz="2400" dirty="0">
                <a:solidFill>
                  <a:schemeClr val="tx1"/>
                </a:solidFill>
                <a:latin typeface="Times New Roman" panose="02020603050405020304" pitchFamily="18" charset="0"/>
                <a:cs typeface="Times New Roman" panose="02020603050405020304" pitchFamily="18" charset="0"/>
              </a:rPr>
              <a:t>Supports a continuous model retraining pipeline</a:t>
            </a:r>
          </a:p>
        </p:txBody>
      </p:sp>
      <p:pic>
        <p:nvPicPr>
          <p:cNvPr id="24" name="Picture 23">
            <a:extLst>
              <a:ext uri="{FF2B5EF4-FFF2-40B4-BE49-F238E27FC236}">
                <a16:creationId xmlns:a16="http://schemas.microsoft.com/office/drawing/2014/main" id="{9EFFC9A1-CFE7-46B9-B49A-827D44219CA2}"/>
              </a:ext>
            </a:extLst>
          </p:cNvPr>
          <p:cNvPicPr>
            <a:picLocks noChangeAspect="1"/>
          </p:cNvPicPr>
          <p:nvPr/>
        </p:nvPicPr>
        <p:blipFill>
          <a:blip r:embed="rId8">
            <a:duotone>
              <a:schemeClr val="accent1">
                <a:shade val="45000"/>
                <a:satMod val="135000"/>
              </a:schemeClr>
              <a:prstClr val="white"/>
            </a:duotone>
          </a:blip>
          <a:srcRect/>
          <a:stretch/>
        </p:blipFill>
        <p:spPr>
          <a:xfrm>
            <a:off x="15440866" y="3712586"/>
            <a:ext cx="883920" cy="883920"/>
          </a:xfrm>
          <a:prstGeom prst="rect">
            <a:avLst/>
          </a:prstGeom>
        </p:spPr>
      </p:pic>
    </p:spTree>
    <p:extLst>
      <p:ext uri="{BB962C8B-B14F-4D97-AF65-F5344CB8AC3E}">
        <p14:creationId xmlns:p14="http://schemas.microsoft.com/office/powerpoint/2010/main" val="46193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72AFA0F-EDDB-44A0-8593-BDF7CB010992}"/>
              </a:ext>
            </a:extLst>
          </p:cNvPr>
          <p:cNvSpPr txBox="1"/>
          <p:nvPr/>
        </p:nvSpPr>
        <p:spPr>
          <a:xfrm>
            <a:off x="8059748" y="9796222"/>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19DEA9A5-F21E-4CD8-ACF1-4A8ADD49D812}"/>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1" name="TextBox 34">
            <a:extLst>
              <a:ext uri="{FF2B5EF4-FFF2-40B4-BE49-F238E27FC236}">
                <a16:creationId xmlns:a16="http://schemas.microsoft.com/office/drawing/2014/main" id="{F3EFC2A8-DC73-480C-9629-C9CE71D5911A}"/>
              </a:ext>
            </a:extLst>
          </p:cNvPr>
          <p:cNvSpPr txBox="1"/>
          <p:nvPr/>
        </p:nvSpPr>
        <p:spPr>
          <a:xfrm>
            <a:off x="211470" y="574118"/>
            <a:ext cx="15122939"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COMMERCIALIZATION</a:t>
            </a:r>
          </a:p>
        </p:txBody>
      </p:sp>
      <p:sp>
        <p:nvSpPr>
          <p:cNvPr id="12" name="TextBox 9">
            <a:extLst>
              <a:ext uri="{FF2B5EF4-FFF2-40B4-BE49-F238E27FC236}">
                <a16:creationId xmlns:a16="http://schemas.microsoft.com/office/drawing/2014/main" id="{B3EF3DCC-C117-4283-8A0E-B8E5D7533557}"/>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13" name="Freeform 2">
            <a:extLst>
              <a:ext uri="{FF2B5EF4-FFF2-40B4-BE49-F238E27FC236}">
                <a16:creationId xmlns:a16="http://schemas.microsoft.com/office/drawing/2014/main" id="{63456EAE-ECD9-4A45-A0F6-FEB39E92E921}"/>
              </a:ext>
            </a:extLst>
          </p:cNvPr>
          <p:cNvSpPr/>
          <p:nvPr/>
        </p:nvSpPr>
        <p:spPr>
          <a:xfrm>
            <a:off x="345661" y="1530738"/>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txBody>
          <a:bodyPr/>
          <a:lstStyle/>
          <a:p>
            <a:endParaRPr lang="en-US" dirty="0"/>
          </a:p>
        </p:txBody>
      </p:sp>
      <p:sp>
        <p:nvSpPr>
          <p:cNvPr id="2" name="Rectangle 1">
            <a:extLst>
              <a:ext uri="{FF2B5EF4-FFF2-40B4-BE49-F238E27FC236}">
                <a16:creationId xmlns:a16="http://schemas.microsoft.com/office/drawing/2014/main" id="{46823299-EF56-408A-B65E-24DB4AB91566}"/>
              </a:ext>
            </a:extLst>
          </p:cNvPr>
          <p:cNvSpPr/>
          <p:nvPr/>
        </p:nvSpPr>
        <p:spPr>
          <a:xfrm>
            <a:off x="345661" y="1927761"/>
            <a:ext cx="8272464" cy="35755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rgbClr val="00828A"/>
              </a:solidFill>
              <a:latin typeface="Times New Roman" panose="02020603050405020304" pitchFamily="18" charset="0"/>
              <a:cs typeface="Times New Roman" panose="02020603050405020304" pitchFamily="18" charset="0"/>
            </a:endParaRPr>
          </a:p>
          <a:p>
            <a:r>
              <a:rPr lang="en-US" b="1" dirty="0">
                <a:solidFill>
                  <a:srgbClr val="00828A"/>
                </a:solidFill>
                <a:latin typeface="Times New Roman" panose="02020603050405020304" pitchFamily="18" charset="0"/>
                <a:cs typeface="Times New Roman" panose="02020603050405020304" pitchFamily="18" charset="0"/>
              </a:rPr>
              <a:t>Who Benefits:</a:t>
            </a:r>
          </a:p>
          <a:p>
            <a:endParaRPr lang="en-US" dirty="0">
              <a:solidFill>
                <a:schemeClr val="tx1"/>
              </a:solidFill>
              <a:latin typeface="Times New Roman" panose="02020603050405020304" pitchFamily="18" charset="0"/>
              <a:cs typeface="Times New Roman" panose="02020603050405020304" pitchFamily="18" charset="0"/>
            </a:endParaRPr>
          </a:p>
          <a:p>
            <a:pPr marL="342900" indent="-342900" rtl="0">
              <a:buClr>
                <a:srgbClr val="00828A"/>
              </a:buClr>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Job seekers on ikman.lk &amp; </a:t>
            </a:r>
            <a:r>
              <a:rPr lang="en-US" sz="2400" b="0" i="0" dirty="0" err="1">
                <a:solidFill>
                  <a:schemeClr val="tx1"/>
                </a:solidFill>
                <a:effectLst/>
                <a:latin typeface="Times New Roman" panose="02020603050405020304" pitchFamily="18" charset="0"/>
                <a:cs typeface="Times New Roman" panose="02020603050405020304" pitchFamily="18" charset="0"/>
              </a:rPr>
              <a:t>TopJobs</a:t>
            </a:r>
            <a:r>
              <a:rPr lang="en-US" sz="2400" b="0" i="0" dirty="0">
                <a:solidFill>
                  <a:schemeClr val="tx1"/>
                </a:solidFill>
                <a:effectLst/>
                <a:latin typeface="Times New Roman" panose="02020603050405020304" pitchFamily="18" charset="0"/>
                <a:cs typeface="Times New Roman" panose="02020603050405020304" pitchFamily="18" charset="0"/>
              </a:rPr>
              <a:t> — graduates, migrant workers, unemployed individuals</a:t>
            </a:r>
          </a:p>
          <a:p>
            <a:pPr marL="342900" indent="-342900" rtl="0">
              <a:buClr>
                <a:srgbClr val="00828A"/>
              </a:buClr>
              <a:buFont typeface="Arial" panose="020B0604020202020204"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Platforms &amp; recruiters as B2B adopters, protecting users and brand trust</a:t>
            </a:r>
          </a:p>
          <a:p>
            <a:pPr algn="ctr"/>
            <a:endParaRPr lang="en-US" dirty="0">
              <a:solidFill>
                <a:schemeClr val="tx1"/>
              </a:solidFill>
            </a:endParaRPr>
          </a:p>
        </p:txBody>
      </p:sp>
      <p:sp>
        <p:nvSpPr>
          <p:cNvPr id="3" name="Rectangle 2">
            <a:extLst>
              <a:ext uri="{FF2B5EF4-FFF2-40B4-BE49-F238E27FC236}">
                <a16:creationId xmlns:a16="http://schemas.microsoft.com/office/drawing/2014/main" id="{E36E47CD-C8C9-49FB-A44E-6E803ABC6442}"/>
              </a:ext>
            </a:extLst>
          </p:cNvPr>
          <p:cNvSpPr/>
          <p:nvPr/>
        </p:nvSpPr>
        <p:spPr>
          <a:xfrm>
            <a:off x="345661" y="1927761"/>
            <a:ext cx="8272464" cy="128381"/>
          </a:xfrm>
          <a:prstGeom prst="rect">
            <a:avLst/>
          </a:prstGeom>
          <a:solidFill>
            <a:srgbClr val="00828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2146721-F7C4-43A3-B247-9914D3739FB1}"/>
              </a:ext>
            </a:extLst>
          </p:cNvPr>
          <p:cNvSpPr/>
          <p:nvPr/>
        </p:nvSpPr>
        <p:spPr>
          <a:xfrm>
            <a:off x="9287117" y="1927761"/>
            <a:ext cx="8272464" cy="34577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rgbClr val="00828A"/>
              </a:solidFill>
              <a:latin typeface="Times New Roman" panose="02020603050405020304" pitchFamily="18" charset="0"/>
              <a:cs typeface="Times New Roman" panose="02020603050405020304" pitchFamily="18" charset="0"/>
            </a:endParaRPr>
          </a:p>
          <a:p>
            <a:r>
              <a:rPr lang="en-US" b="1" dirty="0">
                <a:solidFill>
                  <a:srgbClr val="00AC94"/>
                </a:solidFill>
                <a:latin typeface="Times New Roman" panose="02020603050405020304" pitchFamily="18" charset="0"/>
                <a:cs typeface="Times New Roman" panose="02020603050405020304" pitchFamily="18" charset="0"/>
              </a:rPr>
              <a:t>Why They’ll Adopt:</a:t>
            </a:r>
          </a:p>
          <a:p>
            <a:endParaRPr lang="en-US" dirty="0">
              <a:solidFill>
                <a:schemeClr val="tx1"/>
              </a:solidFill>
            </a:endParaRPr>
          </a:p>
          <a:p>
            <a:pPr marL="342900" indent="-342900">
              <a:buClr>
                <a:srgbClr val="00AC94"/>
              </a:buCl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Safety: flags fraud before financial/data harm occurs</a:t>
            </a:r>
          </a:p>
          <a:p>
            <a:pPr marL="342900" indent="-342900">
              <a:buClr>
                <a:srgbClr val="00AC94"/>
              </a:buCl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Protection from monetary fraud and data theft</a:t>
            </a:r>
          </a:p>
          <a:p>
            <a:pPr algn="ctr"/>
            <a:endParaRPr lang="en-US" dirty="0">
              <a:solidFill>
                <a:schemeClr val="tx1"/>
              </a:solidFill>
            </a:endParaRPr>
          </a:p>
        </p:txBody>
      </p:sp>
      <p:sp>
        <p:nvSpPr>
          <p:cNvPr id="20" name="Rectangle 19">
            <a:extLst>
              <a:ext uri="{FF2B5EF4-FFF2-40B4-BE49-F238E27FC236}">
                <a16:creationId xmlns:a16="http://schemas.microsoft.com/office/drawing/2014/main" id="{FE82C530-6DDC-49A8-81FD-A0FF6EBD8367}"/>
              </a:ext>
            </a:extLst>
          </p:cNvPr>
          <p:cNvSpPr/>
          <p:nvPr/>
        </p:nvSpPr>
        <p:spPr>
          <a:xfrm>
            <a:off x="9287117" y="1927761"/>
            <a:ext cx="8272464" cy="128381"/>
          </a:xfrm>
          <a:prstGeom prst="rect">
            <a:avLst/>
          </a:prstGeom>
          <a:solidFill>
            <a:srgbClr val="00AC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7F76C6F-40B2-494E-A313-C0D6EA2AC05B}"/>
              </a:ext>
            </a:extLst>
          </p:cNvPr>
          <p:cNvSpPr/>
          <p:nvPr/>
        </p:nvSpPr>
        <p:spPr>
          <a:xfrm>
            <a:off x="345661" y="5735644"/>
            <a:ext cx="8272464" cy="357574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r>
              <a:rPr lang="en-US" b="1" dirty="0">
                <a:solidFill>
                  <a:srgbClr val="615CED"/>
                </a:solidFill>
                <a:latin typeface="Times New Roman" panose="02020603050405020304" pitchFamily="18" charset="0"/>
                <a:cs typeface="Times New Roman" panose="02020603050405020304" pitchFamily="18" charset="0"/>
              </a:rPr>
              <a:t>Can It Be Sustained:</a:t>
            </a:r>
          </a:p>
          <a:p>
            <a:pPr algn="ctr"/>
            <a:endParaRPr lang="en-US" dirty="0">
              <a:solidFill>
                <a:schemeClr val="tx1"/>
              </a:solidFill>
            </a:endParaRPr>
          </a:p>
          <a:p>
            <a:pPr marL="342900" indent="-342900">
              <a:buClr>
                <a:srgbClr val="615CED"/>
              </a:buCl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Deploy as an API layer integrated into existing platforms — low adoption friction</a:t>
            </a:r>
          </a:p>
          <a:p>
            <a:pPr marL="342900" indent="-342900">
              <a:buClr>
                <a:srgbClr val="615CED"/>
              </a:buCl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Continuous retraining pipeline keeps pace with evolving scam tactics</a:t>
            </a:r>
          </a:p>
          <a:p>
            <a:pPr marL="342900" indent="-342900">
              <a:buClr>
                <a:srgbClr val="615CED"/>
              </a:buCl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Pilot strategy: start with one platform partner + highest-harm job category</a:t>
            </a:r>
          </a:p>
          <a:p>
            <a:pPr algn="ctr"/>
            <a:endParaRPr lang="en-US" dirty="0">
              <a:solidFill>
                <a:schemeClr val="tx1"/>
              </a:solidFill>
            </a:endParaRPr>
          </a:p>
        </p:txBody>
      </p:sp>
      <p:sp>
        <p:nvSpPr>
          <p:cNvPr id="22" name="Rectangle 21">
            <a:extLst>
              <a:ext uri="{FF2B5EF4-FFF2-40B4-BE49-F238E27FC236}">
                <a16:creationId xmlns:a16="http://schemas.microsoft.com/office/drawing/2014/main" id="{586FF35E-1929-4E79-BC62-803B1F76E1DB}"/>
              </a:ext>
            </a:extLst>
          </p:cNvPr>
          <p:cNvSpPr/>
          <p:nvPr/>
        </p:nvSpPr>
        <p:spPr>
          <a:xfrm>
            <a:off x="345661" y="5721357"/>
            <a:ext cx="8272464" cy="119214"/>
          </a:xfrm>
          <a:prstGeom prst="rect">
            <a:avLst/>
          </a:prstGeom>
          <a:solidFill>
            <a:srgbClr val="615CE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3F094C6-65FD-4BA6-BEB1-0552A58E37ED}"/>
              </a:ext>
            </a:extLst>
          </p:cNvPr>
          <p:cNvSpPr/>
          <p:nvPr/>
        </p:nvSpPr>
        <p:spPr>
          <a:xfrm>
            <a:off x="9287117" y="5687679"/>
            <a:ext cx="8272464" cy="3623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b="1" dirty="0">
              <a:solidFill>
                <a:srgbClr val="D63D5A"/>
              </a:solidFill>
              <a:latin typeface="Times New Roman" panose="02020603050405020304" pitchFamily="18" charset="0"/>
              <a:cs typeface="Times New Roman" panose="02020603050405020304" pitchFamily="18" charset="0"/>
            </a:endParaRPr>
          </a:p>
          <a:p>
            <a:r>
              <a:rPr lang="en-US" b="1" dirty="0">
                <a:solidFill>
                  <a:srgbClr val="D63D5A"/>
                </a:solidFill>
                <a:latin typeface="Times New Roman" panose="02020603050405020304" pitchFamily="18" charset="0"/>
                <a:cs typeface="Times New Roman" panose="02020603050405020304" pitchFamily="18" charset="0"/>
              </a:rPr>
              <a:t>Evidence:</a:t>
            </a:r>
          </a:p>
          <a:p>
            <a:pPr algn="ctr"/>
            <a:endParaRPr lang="en-US" dirty="0">
              <a:solidFill>
                <a:srgbClr val="D63D5A"/>
              </a:solidFill>
              <a:latin typeface="Times New Roman" panose="02020603050405020304" pitchFamily="18" charset="0"/>
              <a:cs typeface="Times New Roman" panose="02020603050405020304" pitchFamily="18" charset="0"/>
            </a:endParaRPr>
          </a:p>
          <a:p>
            <a:pPr marL="342900" indent="-342900">
              <a:buClr>
                <a:srgbClr val="D63D5A"/>
              </a:buClr>
              <a:buFont typeface="Arial" panose="020B0604020202020204" pitchFamily="34" charset="0"/>
              <a:buChar char="•"/>
            </a:pPr>
            <a:r>
              <a:rPr lang="en-US" sz="2400" b="1" dirty="0">
                <a:solidFill>
                  <a:schemeClr val="tx1"/>
                </a:solidFill>
                <a:latin typeface="Times New Roman" panose="02020603050405020304" pitchFamily="18" charset="0"/>
                <a:cs typeface="Times New Roman" panose="02020603050405020304" pitchFamily="18" charset="0"/>
              </a:rPr>
              <a:t>User Feedbacks</a:t>
            </a:r>
            <a:r>
              <a:rPr lang="en-US" sz="24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Users found the system easy to use and practically valuable, while suggesting minor UI and usability improvements.</a:t>
            </a:r>
          </a:p>
          <a:p>
            <a:pPr marL="342900" indent="-342900">
              <a:buClr>
                <a:srgbClr val="D63D5A"/>
              </a:buClr>
              <a:buFont typeface="Arial" panose="020B0604020202020204" pitchFamily="34" charset="0"/>
              <a:buChar char="•"/>
            </a:pPr>
            <a:r>
              <a:rPr lang="en-US" sz="2400" b="1" dirty="0">
                <a:solidFill>
                  <a:schemeClr val="accent5">
                    <a:lumMod val="75000"/>
                  </a:schemeClr>
                </a:solidFill>
                <a:latin typeface="Times New Roman" panose="02020603050405020304" pitchFamily="18" charset="0"/>
                <a:cs typeface="Times New Roman" panose="02020603050405020304" pitchFamily="18" charset="0"/>
              </a:rPr>
              <a:t>Measured Benefits</a:t>
            </a:r>
            <a:r>
              <a:rPr lang="en-US" sz="2000" b="1" dirty="0">
                <a:solidFill>
                  <a:srgbClr val="7030A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The system detects fake jobs, scam messages, and scam tactics with 78–89% accuracy and 0.83–0.87 F1/AUC across components. Employer verification currently favors caution — 54.9% fraud recall — to avoid wrongly flagging legitimate employers, a tradeoff targeted for refinement in future work.</a:t>
            </a:r>
            <a:endParaRPr lang="en-US" sz="2000" b="1" dirty="0">
              <a:solidFill>
                <a:srgbClr val="7030A0"/>
              </a:solidFill>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C1363576-BBB7-4398-B7D7-F27DBB46D480}"/>
              </a:ext>
            </a:extLst>
          </p:cNvPr>
          <p:cNvSpPr/>
          <p:nvPr/>
        </p:nvSpPr>
        <p:spPr>
          <a:xfrm>
            <a:off x="9287117" y="5664006"/>
            <a:ext cx="8272464" cy="143276"/>
          </a:xfrm>
          <a:prstGeom prst="rect">
            <a:avLst/>
          </a:prstGeom>
          <a:solidFill>
            <a:srgbClr val="D63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732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32519F-35E7-4EF9-A71D-2F8B21D67DF4}"/>
              </a:ext>
            </a:extLst>
          </p:cNvPr>
          <p:cNvSpPr txBox="1"/>
          <p:nvPr/>
        </p:nvSpPr>
        <p:spPr>
          <a:xfrm>
            <a:off x="8059748" y="9702225"/>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5" name="Freeform 16">
            <a:extLst>
              <a:ext uri="{FF2B5EF4-FFF2-40B4-BE49-F238E27FC236}">
                <a16:creationId xmlns:a16="http://schemas.microsoft.com/office/drawing/2014/main" id="{721E5DDF-37EE-449D-A0BF-C53A044A7C8D}"/>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6" name="TextBox 34">
            <a:extLst>
              <a:ext uri="{FF2B5EF4-FFF2-40B4-BE49-F238E27FC236}">
                <a16:creationId xmlns:a16="http://schemas.microsoft.com/office/drawing/2014/main" id="{B57AD576-F303-4975-8E0B-E6E41820F170}"/>
              </a:ext>
            </a:extLst>
          </p:cNvPr>
          <p:cNvSpPr txBox="1"/>
          <p:nvPr/>
        </p:nvSpPr>
        <p:spPr>
          <a:xfrm>
            <a:off x="268619" y="944594"/>
            <a:ext cx="16100550" cy="997196"/>
          </a:xfrm>
          <a:prstGeom prst="rect">
            <a:avLst/>
          </a:prstGeom>
        </p:spPr>
        <p:txBody>
          <a:bodyPr vert="horz" lIns="91440" tIns="45720" rIns="91440" bIns="45720" rtlCol="0" anchor="ctr">
            <a:noAutofit/>
          </a:bodyPr>
          <a:lstStyle>
            <a:lvl1pPr>
              <a:lnSpc>
                <a:spcPct val="90000"/>
              </a:lnSpc>
              <a:spcBef>
                <a:spcPct val="0"/>
              </a:spcBef>
              <a:buNone/>
              <a:defRPr sz="7200" b="1">
                <a:solidFill>
                  <a:srgbClr val="002060"/>
                </a:solidFill>
                <a:latin typeface="+mj-lt"/>
                <a:ea typeface="+mj-ea"/>
                <a:cs typeface="+mj-cs"/>
              </a:defRPr>
            </a:lvl1pPr>
          </a:lstStyle>
          <a:p>
            <a:r>
              <a:rPr lang="en-US" dirty="0">
                <a:sym typeface="League Spartan"/>
              </a:rPr>
              <a:t>DEMO ROADMAP – WHAT TO WATCH FOR</a:t>
            </a:r>
          </a:p>
        </p:txBody>
      </p:sp>
      <p:sp>
        <p:nvSpPr>
          <p:cNvPr id="7" name="TextBox 9">
            <a:extLst>
              <a:ext uri="{FF2B5EF4-FFF2-40B4-BE49-F238E27FC236}">
                <a16:creationId xmlns:a16="http://schemas.microsoft.com/office/drawing/2014/main" id="{43C0471F-DEB1-4A17-9893-475E2D189E1C}"/>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8" name="Freeform 2">
            <a:extLst>
              <a:ext uri="{FF2B5EF4-FFF2-40B4-BE49-F238E27FC236}">
                <a16:creationId xmlns:a16="http://schemas.microsoft.com/office/drawing/2014/main" id="{BFEE4680-3A5A-455D-9BEE-77DDC86DEC1D}"/>
              </a:ext>
            </a:extLst>
          </p:cNvPr>
          <p:cNvSpPr/>
          <p:nvPr/>
        </p:nvSpPr>
        <p:spPr>
          <a:xfrm>
            <a:off x="429186" y="2103779"/>
            <a:ext cx="4745970" cy="128381"/>
          </a:xfrm>
          <a:custGeom>
            <a:avLst/>
            <a:gdLst/>
            <a:ahLst/>
            <a:cxnLst/>
            <a:rect l="l" t="t" r="r" b="b"/>
            <a:pathLst>
              <a:path w="3163980" h="85587">
                <a:moveTo>
                  <a:pt x="0" y="0"/>
                </a:moveTo>
                <a:lnTo>
                  <a:pt x="3163980" y="0"/>
                </a:lnTo>
                <a:lnTo>
                  <a:pt x="3163980" y="85586"/>
                </a:lnTo>
                <a:lnTo>
                  <a:pt x="0" y="85586"/>
                </a:lnTo>
                <a:lnTo>
                  <a:pt x="0" y="0"/>
                </a:lnTo>
                <a:close/>
              </a:path>
            </a:pathLst>
          </a:custGeom>
          <a:blipFill>
            <a:blip r:embed="rId3">
              <a:extLst>
                <a:ext uri="{96DAC541-7B7A-43D3-8B79-37D633B846F1}">
                  <asvg:svgBlip xmlns:asvg="http://schemas.microsoft.com/office/drawing/2016/SVG/main" r:embed="rId4"/>
                </a:ext>
              </a:extLst>
            </a:blip>
            <a:stretch>
              <a:fillRect t="-158366" b="-158366"/>
            </a:stretch>
          </a:blipFill>
        </p:spPr>
      </p:sp>
      <p:grpSp>
        <p:nvGrpSpPr>
          <p:cNvPr id="9" name="Group 3">
            <a:extLst>
              <a:ext uri="{FF2B5EF4-FFF2-40B4-BE49-F238E27FC236}">
                <a16:creationId xmlns:a16="http://schemas.microsoft.com/office/drawing/2014/main" id="{53B3F851-755C-4B04-846D-9542600A3673}"/>
              </a:ext>
            </a:extLst>
          </p:cNvPr>
          <p:cNvGrpSpPr/>
          <p:nvPr/>
        </p:nvGrpSpPr>
        <p:grpSpPr>
          <a:xfrm>
            <a:off x="1186356" y="4587058"/>
            <a:ext cx="4771299" cy="3695700"/>
            <a:chOff x="0" y="0"/>
            <a:chExt cx="1256638" cy="973353"/>
          </a:xfrm>
        </p:grpSpPr>
        <p:sp>
          <p:nvSpPr>
            <p:cNvPr id="10" name="Freeform 4">
              <a:extLst>
                <a:ext uri="{FF2B5EF4-FFF2-40B4-BE49-F238E27FC236}">
                  <a16:creationId xmlns:a16="http://schemas.microsoft.com/office/drawing/2014/main" id="{A9349C24-3DE9-45CD-88CE-16B86ABD71B0}"/>
                </a:ext>
              </a:extLst>
            </p:cNvPr>
            <p:cNvSpPr/>
            <p:nvPr/>
          </p:nvSpPr>
          <p:spPr>
            <a:xfrm>
              <a:off x="0" y="0"/>
              <a:ext cx="1256638" cy="973353"/>
            </a:xfrm>
            <a:custGeom>
              <a:avLst/>
              <a:gdLst/>
              <a:ahLst/>
              <a:cxnLst/>
              <a:rect l="l" t="t" r="r" b="b"/>
              <a:pathLst>
                <a:path w="1256638" h="973353">
                  <a:moveTo>
                    <a:pt x="0" y="0"/>
                  </a:moveTo>
                  <a:lnTo>
                    <a:pt x="1256638" y="0"/>
                  </a:lnTo>
                  <a:lnTo>
                    <a:pt x="1256638" y="973353"/>
                  </a:lnTo>
                  <a:lnTo>
                    <a:pt x="0" y="973353"/>
                  </a:lnTo>
                  <a:close/>
                </a:path>
              </a:pathLst>
            </a:custGeom>
            <a:ln w="19050" cap="sq">
              <a:solidFill>
                <a:srgbClr val="424242"/>
              </a:solidFill>
              <a:prstDash val="solid"/>
              <a:miter/>
            </a:ln>
          </p:spPr>
        </p:sp>
        <p:sp>
          <p:nvSpPr>
            <p:cNvPr id="11" name="TextBox 5">
              <a:extLst>
                <a:ext uri="{FF2B5EF4-FFF2-40B4-BE49-F238E27FC236}">
                  <a16:creationId xmlns:a16="http://schemas.microsoft.com/office/drawing/2014/main" id="{B1D6920F-ACE1-47F6-B853-441526BAE088}"/>
                </a:ext>
              </a:extLst>
            </p:cNvPr>
            <p:cNvSpPr txBox="1"/>
            <p:nvPr/>
          </p:nvSpPr>
          <p:spPr>
            <a:xfrm>
              <a:off x="0" y="-47625"/>
              <a:ext cx="1256638" cy="1020978"/>
            </a:xfrm>
            <a:prstGeom prst="rect">
              <a:avLst/>
            </a:prstGeom>
          </p:spPr>
          <p:txBody>
            <a:bodyPr lIns="50800" tIns="50800" rIns="50800" bIns="50800" rtlCol="0" anchor="ctr"/>
            <a:lstStyle/>
            <a:p>
              <a:pPr algn="ctr">
                <a:lnSpc>
                  <a:spcPts val="2800"/>
                </a:lnSpc>
              </a:pPr>
              <a:endParaRPr/>
            </a:p>
          </p:txBody>
        </p:sp>
      </p:grpSp>
      <p:sp>
        <p:nvSpPr>
          <p:cNvPr id="18" name="AutoShape 12">
            <a:extLst>
              <a:ext uri="{FF2B5EF4-FFF2-40B4-BE49-F238E27FC236}">
                <a16:creationId xmlns:a16="http://schemas.microsoft.com/office/drawing/2014/main" id="{9BDB7ACD-1DFC-4C72-81AE-E3EFAB3D889F}"/>
              </a:ext>
            </a:extLst>
          </p:cNvPr>
          <p:cNvSpPr/>
          <p:nvPr/>
        </p:nvSpPr>
        <p:spPr>
          <a:xfrm>
            <a:off x="902777" y="3777932"/>
            <a:ext cx="13169160" cy="0"/>
          </a:xfrm>
          <a:prstGeom prst="line">
            <a:avLst/>
          </a:prstGeom>
          <a:ln w="19050" cap="flat">
            <a:solidFill>
              <a:srgbClr val="424242"/>
            </a:solidFill>
            <a:prstDash val="solid"/>
            <a:headEnd type="none" w="sm" len="sm"/>
            <a:tailEnd type="none" w="sm" len="sm"/>
          </a:ln>
        </p:spPr>
      </p:sp>
      <p:sp>
        <p:nvSpPr>
          <p:cNvPr id="19" name="TextBox 13">
            <a:extLst>
              <a:ext uri="{FF2B5EF4-FFF2-40B4-BE49-F238E27FC236}">
                <a16:creationId xmlns:a16="http://schemas.microsoft.com/office/drawing/2014/main" id="{41053962-805B-44A6-840D-2DB6D4488E4A}"/>
              </a:ext>
            </a:extLst>
          </p:cNvPr>
          <p:cNvSpPr txBox="1"/>
          <p:nvPr/>
        </p:nvSpPr>
        <p:spPr>
          <a:xfrm>
            <a:off x="1582783" y="6442417"/>
            <a:ext cx="4374872" cy="2050415"/>
          </a:xfrm>
          <a:prstGeom prst="rect">
            <a:avLst/>
          </a:prstGeom>
        </p:spPr>
        <p:txBody>
          <a:bodyPr wrap="square" lIns="0" tIns="0" rIns="0" bIns="0" rtlCol="0" anchor="t">
            <a:spAutoFit/>
          </a:bodyPr>
          <a:lstStyle/>
          <a:p>
            <a:pPr marL="0" lvl="0" indent="0" algn="l">
              <a:lnSpc>
                <a:spcPts val="3249"/>
              </a:lnSpc>
              <a:spcBef>
                <a:spcPct val="0"/>
              </a:spcBef>
            </a:pPr>
            <a:r>
              <a:rPr lang="en-US" sz="2599" spc="-77" dirty="0">
                <a:solidFill>
                  <a:srgbClr val="424242"/>
                </a:solidFill>
                <a:latin typeface="Times New Roman" panose="02020603050405020304" pitchFamily="18" charset="0"/>
                <a:ea typeface="Open Sans Italics"/>
                <a:cs typeface="Times New Roman" panose="02020603050405020304" pitchFamily="18" charset="0"/>
                <a:sym typeface="Open Sans Italics"/>
              </a:rPr>
              <a:t>E</a:t>
            </a:r>
            <a:r>
              <a:rPr lang="en-US" sz="2599" u="none" strike="noStrike" spc="-77" dirty="0">
                <a:solidFill>
                  <a:srgbClr val="424242"/>
                </a:solidFill>
                <a:latin typeface="Times New Roman" panose="02020603050405020304" pitchFamily="18" charset="0"/>
                <a:ea typeface="Open Sans Italics"/>
                <a:cs typeface="Times New Roman" panose="02020603050405020304" pitchFamily="18" charset="0"/>
                <a:sym typeface="Open Sans Italics"/>
              </a:rPr>
              <a:t>mpowers candidates to search, verify, and apply for jobs with built-in instant scam detection tools.</a:t>
            </a:r>
          </a:p>
          <a:p>
            <a:pPr marL="0" lvl="0" indent="0" algn="l">
              <a:lnSpc>
                <a:spcPts val="3249"/>
              </a:lnSpc>
              <a:spcBef>
                <a:spcPct val="0"/>
              </a:spcBef>
            </a:pPr>
            <a:endParaRPr lang="en-US" sz="2599" i="1" u="none" strike="noStrike" spc="-77" dirty="0">
              <a:solidFill>
                <a:srgbClr val="424242"/>
              </a:solidFill>
              <a:latin typeface="Times New Roman" panose="02020603050405020304" pitchFamily="18" charset="0"/>
              <a:ea typeface="Open Sans Italics"/>
              <a:cs typeface="Times New Roman" panose="02020603050405020304" pitchFamily="18" charset="0"/>
              <a:sym typeface="Open Sans Italics"/>
            </a:endParaRPr>
          </a:p>
        </p:txBody>
      </p:sp>
      <p:sp>
        <p:nvSpPr>
          <p:cNvPr id="21" name="TextBox 15">
            <a:extLst>
              <a:ext uri="{FF2B5EF4-FFF2-40B4-BE49-F238E27FC236}">
                <a16:creationId xmlns:a16="http://schemas.microsoft.com/office/drawing/2014/main" id="{65947434-3359-4B3B-B8EA-EE6A02E255C3}"/>
              </a:ext>
            </a:extLst>
          </p:cNvPr>
          <p:cNvSpPr txBox="1"/>
          <p:nvPr/>
        </p:nvSpPr>
        <p:spPr>
          <a:xfrm>
            <a:off x="1582783" y="5812497"/>
            <a:ext cx="3978446" cy="878126"/>
          </a:xfrm>
          <a:prstGeom prst="rect">
            <a:avLst/>
          </a:prstGeom>
        </p:spPr>
        <p:txBody>
          <a:bodyPr lIns="0" tIns="0" rIns="0" bIns="0" rtlCol="0" anchor="t">
            <a:spAutoFit/>
          </a:bodyPr>
          <a:lstStyle/>
          <a:p>
            <a:pPr marL="0" lvl="0" indent="0" algn="l">
              <a:lnSpc>
                <a:spcPts val="3499"/>
              </a:lnSpc>
              <a:spcBef>
                <a:spcPct val="0"/>
              </a:spcBef>
            </a:pPr>
            <a:r>
              <a:rPr lang="en-US" sz="2799" b="1" u="none" strike="noStrike" spc="-83" dirty="0">
                <a:solidFill>
                  <a:srgbClr val="424242"/>
                </a:solidFill>
                <a:latin typeface="Open Sans Bold"/>
                <a:ea typeface="Open Sans Bold"/>
                <a:cs typeface="Open Sans Bold"/>
                <a:sym typeface="Open Sans Bold"/>
              </a:rPr>
              <a:t> </a:t>
            </a:r>
            <a:r>
              <a:rPr lang="en-US" sz="2799" b="1" u="none" strike="noStrike" spc="-83" dirty="0">
                <a:solidFill>
                  <a:schemeClr val="accent4">
                    <a:lumMod val="75000"/>
                  </a:schemeClr>
                </a:solidFill>
                <a:latin typeface="Open Sans Bold"/>
                <a:ea typeface="Open Sans Bold"/>
                <a:cs typeface="Open Sans Bold"/>
                <a:sym typeface="Open Sans Bold"/>
              </a:rPr>
              <a:t>Jobseeker App</a:t>
            </a:r>
          </a:p>
          <a:p>
            <a:pPr marL="0" lvl="0" indent="0" algn="l">
              <a:lnSpc>
                <a:spcPts val="3499"/>
              </a:lnSpc>
              <a:spcBef>
                <a:spcPct val="0"/>
              </a:spcBef>
            </a:pPr>
            <a:endParaRPr lang="en-US" sz="2799" b="1" u="none" strike="noStrike" spc="-83" dirty="0">
              <a:solidFill>
                <a:srgbClr val="424242"/>
              </a:solidFill>
              <a:latin typeface="Open Sans Bold"/>
              <a:ea typeface="Open Sans Bold"/>
              <a:cs typeface="Open Sans Bold"/>
              <a:sym typeface="Open Sans Bold"/>
            </a:endParaRPr>
          </a:p>
        </p:txBody>
      </p:sp>
      <p:sp>
        <p:nvSpPr>
          <p:cNvPr id="23" name="TextBox 17">
            <a:extLst>
              <a:ext uri="{FF2B5EF4-FFF2-40B4-BE49-F238E27FC236}">
                <a16:creationId xmlns:a16="http://schemas.microsoft.com/office/drawing/2014/main" id="{A467E507-5791-45A3-B91C-EE7A3FA374FA}"/>
              </a:ext>
            </a:extLst>
          </p:cNvPr>
          <p:cNvSpPr txBox="1"/>
          <p:nvPr/>
        </p:nvSpPr>
        <p:spPr>
          <a:xfrm>
            <a:off x="1582783" y="5091883"/>
            <a:ext cx="3437167" cy="730139"/>
          </a:xfrm>
          <a:prstGeom prst="rect">
            <a:avLst/>
          </a:prstGeom>
        </p:spPr>
        <p:txBody>
          <a:bodyPr lIns="0" tIns="0" rIns="0" bIns="0" rtlCol="0" anchor="t">
            <a:spAutoFit/>
          </a:bodyPr>
          <a:lstStyle/>
          <a:p>
            <a:pPr marL="0" lvl="0" indent="0" algn="l">
              <a:lnSpc>
                <a:spcPts val="5841"/>
              </a:lnSpc>
              <a:spcBef>
                <a:spcPct val="0"/>
              </a:spcBef>
            </a:pPr>
            <a:r>
              <a:rPr lang="en-US" sz="4672" b="1" spc="-140" dirty="0">
                <a:solidFill>
                  <a:schemeClr val="accent4">
                    <a:lumMod val="75000"/>
                  </a:schemeClr>
                </a:solidFill>
                <a:latin typeface="Open Sans Bold"/>
                <a:ea typeface="Open Sans Bold"/>
                <a:cs typeface="Open Sans Bold"/>
                <a:sym typeface="Open Sans Bold"/>
              </a:rPr>
              <a:t>01.</a:t>
            </a:r>
          </a:p>
        </p:txBody>
      </p:sp>
      <p:sp>
        <p:nvSpPr>
          <p:cNvPr id="29" name="TextBox 28">
            <a:extLst>
              <a:ext uri="{FF2B5EF4-FFF2-40B4-BE49-F238E27FC236}">
                <a16:creationId xmlns:a16="http://schemas.microsoft.com/office/drawing/2014/main" id="{D9E74B73-60E6-4417-8DC8-87828AF044D0}"/>
              </a:ext>
            </a:extLst>
          </p:cNvPr>
          <p:cNvSpPr txBox="1"/>
          <p:nvPr/>
        </p:nvSpPr>
        <p:spPr>
          <a:xfrm>
            <a:off x="789171" y="3086987"/>
            <a:ext cx="877197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One Connected Ecosystem</a:t>
            </a:r>
          </a:p>
        </p:txBody>
      </p:sp>
      <p:pic>
        <p:nvPicPr>
          <p:cNvPr id="51" name="Picture 50">
            <a:extLst>
              <a:ext uri="{FF2B5EF4-FFF2-40B4-BE49-F238E27FC236}">
                <a16:creationId xmlns:a16="http://schemas.microsoft.com/office/drawing/2014/main" id="{1A7606B5-088D-4B62-9DE0-C79E33465B35}"/>
              </a:ext>
            </a:extLst>
          </p:cNvPr>
          <p:cNvPicPr>
            <a:picLocks noChangeAspect="1"/>
          </p:cNvPicPr>
          <p:nvPr/>
        </p:nvPicPr>
        <p:blipFill>
          <a:blip r:embed="rId5">
            <a:duotone>
              <a:schemeClr val="accent1">
                <a:shade val="45000"/>
                <a:satMod val="135000"/>
              </a:schemeClr>
              <a:prstClr val="white"/>
            </a:duotone>
          </a:blip>
          <a:stretch>
            <a:fillRect/>
          </a:stretch>
        </p:blipFill>
        <p:spPr>
          <a:xfrm>
            <a:off x="4679169" y="4707790"/>
            <a:ext cx="1096143" cy="1096143"/>
          </a:xfrm>
          <a:prstGeom prst="rect">
            <a:avLst/>
          </a:prstGeom>
        </p:spPr>
      </p:pic>
      <p:grpSp>
        <p:nvGrpSpPr>
          <p:cNvPr id="12" name="Group 6">
            <a:extLst>
              <a:ext uri="{FF2B5EF4-FFF2-40B4-BE49-F238E27FC236}">
                <a16:creationId xmlns:a16="http://schemas.microsoft.com/office/drawing/2014/main" id="{D9D8DCE6-7FD2-4434-8EFB-BBB27AB760E6}"/>
              </a:ext>
            </a:extLst>
          </p:cNvPr>
          <p:cNvGrpSpPr/>
          <p:nvPr/>
        </p:nvGrpSpPr>
        <p:grpSpPr>
          <a:xfrm>
            <a:off x="6882475" y="4587057"/>
            <a:ext cx="5037534" cy="3695700"/>
            <a:chOff x="0" y="0"/>
            <a:chExt cx="1256638" cy="973353"/>
          </a:xfrm>
        </p:grpSpPr>
        <p:sp>
          <p:nvSpPr>
            <p:cNvPr id="13" name="Freeform 7">
              <a:extLst>
                <a:ext uri="{FF2B5EF4-FFF2-40B4-BE49-F238E27FC236}">
                  <a16:creationId xmlns:a16="http://schemas.microsoft.com/office/drawing/2014/main" id="{3A8BE61B-D019-4773-9FC8-41198890F25D}"/>
                </a:ext>
              </a:extLst>
            </p:cNvPr>
            <p:cNvSpPr/>
            <p:nvPr/>
          </p:nvSpPr>
          <p:spPr>
            <a:xfrm>
              <a:off x="0" y="0"/>
              <a:ext cx="1256638" cy="973353"/>
            </a:xfrm>
            <a:custGeom>
              <a:avLst/>
              <a:gdLst/>
              <a:ahLst/>
              <a:cxnLst/>
              <a:rect l="l" t="t" r="r" b="b"/>
              <a:pathLst>
                <a:path w="1256638" h="973353">
                  <a:moveTo>
                    <a:pt x="0" y="0"/>
                  </a:moveTo>
                  <a:lnTo>
                    <a:pt x="1256638" y="0"/>
                  </a:lnTo>
                  <a:lnTo>
                    <a:pt x="1256638" y="973353"/>
                  </a:lnTo>
                  <a:lnTo>
                    <a:pt x="0" y="973353"/>
                  </a:lnTo>
                  <a:close/>
                </a:path>
              </a:pathLst>
            </a:custGeom>
            <a:ln w="19050" cap="sq">
              <a:solidFill>
                <a:srgbClr val="424242"/>
              </a:solidFill>
              <a:prstDash val="solid"/>
              <a:miter/>
            </a:ln>
          </p:spPr>
        </p:sp>
        <p:sp>
          <p:nvSpPr>
            <p:cNvPr id="14" name="TextBox 8">
              <a:extLst>
                <a:ext uri="{FF2B5EF4-FFF2-40B4-BE49-F238E27FC236}">
                  <a16:creationId xmlns:a16="http://schemas.microsoft.com/office/drawing/2014/main" id="{EA864C78-859C-431C-932A-78AB906B89A1}"/>
                </a:ext>
              </a:extLst>
            </p:cNvPr>
            <p:cNvSpPr txBox="1"/>
            <p:nvPr/>
          </p:nvSpPr>
          <p:spPr>
            <a:xfrm>
              <a:off x="0" y="-47625"/>
              <a:ext cx="1256638" cy="1020978"/>
            </a:xfrm>
            <a:prstGeom prst="rect">
              <a:avLst/>
            </a:prstGeom>
          </p:spPr>
          <p:txBody>
            <a:bodyPr lIns="50800" tIns="50800" rIns="50800" bIns="50800" rtlCol="0" anchor="ctr"/>
            <a:lstStyle/>
            <a:p>
              <a:pPr algn="ctr">
                <a:lnSpc>
                  <a:spcPts val="2800"/>
                </a:lnSpc>
              </a:pPr>
              <a:endParaRPr/>
            </a:p>
          </p:txBody>
        </p:sp>
      </p:grpSp>
      <p:sp>
        <p:nvSpPr>
          <p:cNvPr id="20" name="TextBox 14">
            <a:extLst>
              <a:ext uri="{FF2B5EF4-FFF2-40B4-BE49-F238E27FC236}">
                <a16:creationId xmlns:a16="http://schemas.microsoft.com/office/drawing/2014/main" id="{D2D20FA4-2AF2-40FC-A6E2-7A9B7C0A6780}"/>
              </a:ext>
            </a:extLst>
          </p:cNvPr>
          <p:cNvSpPr txBox="1"/>
          <p:nvPr/>
        </p:nvSpPr>
        <p:spPr>
          <a:xfrm>
            <a:off x="7343715" y="6394521"/>
            <a:ext cx="3978446" cy="2098311"/>
          </a:xfrm>
          <a:prstGeom prst="rect">
            <a:avLst/>
          </a:prstGeom>
        </p:spPr>
        <p:txBody>
          <a:bodyPr wrap="square" lIns="0" tIns="0" rIns="0" bIns="0" rtlCol="0" anchor="t">
            <a:spAutoFit/>
          </a:bodyPr>
          <a:lstStyle>
            <a:defPPr>
              <a:defRPr lang="en-US"/>
            </a:defPPr>
            <a:lvl1pPr lvl="0" indent="0">
              <a:lnSpc>
                <a:spcPts val="3249"/>
              </a:lnSpc>
              <a:spcBef>
                <a:spcPct val="0"/>
              </a:spcBef>
              <a:defRPr sz="2599" spc="-77">
                <a:solidFill>
                  <a:srgbClr val="424242"/>
                </a:solidFill>
                <a:ea typeface="Open Sans Italics"/>
                <a:cs typeface="Open Sans Italics"/>
              </a:defRPr>
            </a:lvl1pPr>
          </a:lstStyle>
          <a:p>
            <a:r>
              <a:rPr lang="en-US" dirty="0">
                <a:latin typeface="Times New Roman" panose="02020603050405020304" pitchFamily="18" charset="0"/>
                <a:cs typeface="Times New Roman" panose="02020603050405020304" pitchFamily="18" charset="0"/>
                <a:sym typeface="Open Sans Italics"/>
              </a:rPr>
              <a:t>Gives legitimate employers a centralized workspace to post jobs, manage pipelines, and message candidates.</a:t>
            </a:r>
          </a:p>
          <a:p>
            <a:endParaRPr lang="en-US" dirty="0">
              <a:latin typeface="Times New Roman" panose="02020603050405020304" pitchFamily="18" charset="0"/>
              <a:cs typeface="Times New Roman" panose="02020603050405020304" pitchFamily="18" charset="0"/>
              <a:sym typeface="Open Sans Italics"/>
            </a:endParaRPr>
          </a:p>
        </p:txBody>
      </p:sp>
      <p:sp>
        <p:nvSpPr>
          <p:cNvPr id="22" name="TextBox 16">
            <a:extLst>
              <a:ext uri="{FF2B5EF4-FFF2-40B4-BE49-F238E27FC236}">
                <a16:creationId xmlns:a16="http://schemas.microsoft.com/office/drawing/2014/main" id="{6FE7188B-349B-4A10-89A8-C1EA04D39A6B}"/>
              </a:ext>
            </a:extLst>
          </p:cNvPr>
          <p:cNvSpPr txBox="1"/>
          <p:nvPr/>
        </p:nvSpPr>
        <p:spPr>
          <a:xfrm>
            <a:off x="7343715" y="5780862"/>
            <a:ext cx="3978446" cy="855457"/>
          </a:xfrm>
          <a:prstGeom prst="rect">
            <a:avLst/>
          </a:prstGeom>
        </p:spPr>
        <p:txBody>
          <a:bodyPr lIns="0" tIns="0" rIns="0" bIns="0" rtlCol="0" anchor="t">
            <a:spAutoFit/>
          </a:bodyPr>
          <a:lstStyle/>
          <a:p>
            <a:pPr marL="0" lvl="0" indent="0" algn="l">
              <a:lnSpc>
                <a:spcPts val="3499"/>
              </a:lnSpc>
              <a:spcBef>
                <a:spcPct val="0"/>
              </a:spcBef>
            </a:pPr>
            <a:r>
              <a:rPr lang="en-US" sz="2799" b="1" spc="-83" dirty="0">
                <a:solidFill>
                  <a:schemeClr val="accent4">
                    <a:lumMod val="75000"/>
                  </a:schemeClr>
                </a:solidFill>
                <a:latin typeface="Open Sans Bold"/>
                <a:ea typeface="Open Sans Bold"/>
                <a:cs typeface="Open Sans Bold"/>
                <a:sym typeface="Open Sans Bold"/>
              </a:rPr>
              <a:t>Recruiter</a:t>
            </a:r>
            <a:r>
              <a:rPr lang="en-US" sz="2799" b="1" u="none" strike="noStrike" spc="-83" dirty="0">
                <a:solidFill>
                  <a:srgbClr val="424242"/>
                </a:solidFill>
                <a:latin typeface="Open Sans Bold"/>
                <a:ea typeface="Open Sans Bold"/>
                <a:cs typeface="Open Sans Bold"/>
                <a:sym typeface="Open Sans Bold"/>
              </a:rPr>
              <a:t> </a:t>
            </a:r>
            <a:r>
              <a:rPr lang="en-US" sz="2799" b="1" spc="-83" dirty="0">
                <a:solidFill>
                  <a:schemeClr val="accent4">
                    <a:lumMod val="75000"/>
                  </a:schemeClr>
                </a:solidFill>
                <a:latin typeface="Open Sans Bold"/>
                <a:ea typeface="Open Sans Bold"/>
                <a:cs typeface="Open Sans Bold"/>
                <a:sym typeface="Open Sans Bold"/>
              </a:rPr>
              <a:t>Dashboard</a:t>
            </a:r>
          </a:p>
          <a:p>
            <a:pPr marL="0" lvl="0" indent="0" algn="l">
              <a:lnSpc>
                <a:spcPts val="3499"/>
              </a:lnSpc>
              <a:spcBef>
                <a:spcPct val="0"/>
              </a:spcBef>
            </a:pPr>
            <a:endParaRPr lang="en-US" sz="2799" b="1" u="none" strike="noStrike" spc="-83" dirty="0">
              <a:solidFill>
                <a:srgbClr val="424242"/>
              </a:solidFill>
              <a:latin typeface="Open Sans Bold"/>
              <a:ea typeface="Open Sans Bold"/>
              <a:cs typeface="Open Sans Bold"/>
              <a:sym typeface="Open Sans Bold"/>
            </a:endParaRPr>
          </a:p>
        </p:txBody>
      </p:sp>
      <p:sp>
        <p:nvSpPr>
          <p:cNvPr id="24" name="TextBox 18">
            <a:extLst>
              <a:ext uri="{FF2B5EF4-FFF2-40B4-BE49-F238E27FC236}">
                <a16:creationId xmlns:a16="http://schemas.microsoft.com/office/drawing/2014/main" id="{A9E4B584-50AA-4C25-878A-38326EBA6AC5}"/>
              </a:ext>
            </a:extLst>
          </p:cNvPr>
          <p:cNvSpPr txBox="1"/>
          <p:nvPr/>
        </p:nvSpPr>
        <p:spPr>
          <a:xfrm>
            <a:off x="7343715" y="5078850"/>
            <a:ext cx="3437167" cy="711291"/>
          </a:xfrm>
          <a:prstGeom prst="rect">
            <a:avLst/>
          </a:prstGeom>
        </p:spPr>
        <p:txBody>
          <a:bodyPr lIns="0" tIns="0" rIns="0" bIns="0" rtlCol="0" anchor="t">
            <a:spAutoFit/>
          </a:bodyPr>
          <a:lstStyle/>
          <a:p>
            <a:pPr marL="0" lvl="0" indent="0" algn="l">
              <a:lnSpc>
                <a:spcPts val="5841"/>
              </a:lnSpc>
              <a:spcBef>
                <a:spcPct val="0"/>
              </a:spcBef>
            </a:pPr>
            <a:r>
              <a:rPr lang="en-US" sz="4672" b="1" spc="-140" dirty="0">
                <a:solidFill>
                  <a:schemeClr val="accent4">
                    <a:lumMod val="75000"/>
                  </a:schemeClr>
                </a:solidFill>
                <a:latin typeface="Open Sans Bold"/>
                <a:ea typeface="Open Sans Bold"/>
                <a:cs typeface="Open Sans Bold"/>
                <a:sym typeface="Open Sans Bold"/>
              </a:rPr>
              <a:t>02.</a:t>
            </a:r>
          </a:p>
        </p:txBody>
      </p:sp>
      <p:pic>
        <p:nvPicPr>
          <p:cNvPr id="53" name="Picture 52">
            <a:extLst>
              <a:ext uri="{FF2B5EF4-FFF2-40B4-BE49-F238E27FC236}">
                <a16:creationId xmlns:a16="http://schemas.microsoft.com/office/drawing/2014/main" id="{F8DC486F-8516-4B86-984A-A0FA2808C742}"/>
              </a:ext>
            </a:extLst>
          </p:cNvPr>
          <p:cNvPicPr>
            <a:picLocks noChangeAspect="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brightnessContrast contrast="20000"/>
                    </a14:imgEffect>
                  </a14:imgLayer>
                </a14:imgProps>
              </a:ext>
            </a:extLst>
          </a:blip>
          <a:stretch>
            <a:fillRect/>
          </a:stretch>
        </p:blipFill>
        <p:spPr>
          <a:xfrm>
            <a:off x="10480774" y="4694211"/>
            <a:ext cx="1084511" cy="1056515"/>
          </a:xfrm>
          <a:prstGeom prst="rect">
            <a:avLst/>
          </a:prstGeom>
        </p:spPr>
      </p:pic>
      <p:grpSp>
        <p:nvGrpSpPr>
          <p:cNvPr id="15" name="Group 9">
            <a:extLst>
              <a:ext uri="{FF2B5EF4-FFF2-40B4-BE49-F238E27FC236}">
                <a16:creationId xmlns:a16="http://schemas.microsoft.com/office/drawing/2014/main" id="{EE59406C-D10C-433C-BF9D-396A9ED46B2C}"/>
              </a:ext>
            </a:extLst>
          </p:cNvPr>
          <p:cNvGrpSpPr/>
          <p:nvPr/>
        </p:nvGrpSpPr>
        <p:grpSpPr>
          <a:xfrm>
            <a:off x="12793927" y="4587058"/>
            <a:ext cx="4771299" cy="3695700"/>
            <a:chOff x="0" y="0"/>
            <a:chExt cx="1256638" cy="973353"/>
          </a:xfrm>
        </p:grpSpPr>
        <p:sp>
          <p:nvSpPr>
            <p:cNvPr id="16" name="Freeform 10">
              <a:extLst>
                <a:ext uri="{FF2B5EF4-FFF2-40B4-BE49-F238E27FC236}">
                  <a16:creationId xmlns:a16="http://schemas.microsoft.com/office/drawing/2014/main" id="{8639001C-74A1-4BEE-AE9F-D28440FA3F9F}"/>
                </a:ext>
              </a:extLst>
            </p:cNvPr>
            <p:cNvSpPr/>
            <p:nvPr/>
          </p:nvSpPr>
          <p:spPr>
            <a:xfrm>
              <a:off x="0" y="0"/>
              <a:ext cx="1256638" cy="973353"/>
            </a:xfrm>
            <a:custGeom>
              <a:avLst/>
              <a:gdLst/>
              <a:ahLst/>
              <a:cxnLst/>
              <a:rect l="l" t="t" r="r" b="b"/>
              <a:pathLst>
                <a:path w="1256638" h="973353">
                  <a:moveTo>
                    <a:pt x="0" y="0"/>
                  </a:moveTo>
                  <a:lnTo>
                    <a:pt x="1256638" y="0"/>
                  </a:lnTo>
                  <a:lnTo>
                    <a:pt x="1256638" y="973353"/>
                  </a:lnTo>
                  <a:lnTo>
                    <a:pt x="0" y="973353"/>
                  </a:lnTo>
                  <a:close/>
                </a:path>
              </a:pathLst>
            </a:custGeom>
            <a:ln w="19050" cap="sq">
              <a:solidFill>
                <a:srgbClr val="424242"/>
              </a:solidFill>
              <a:prstDash val="solid"/>
              <a:miter/>
            </a:ln>
          </p:spPr>
        </p:sp>
        <p:sp>
          <p:nvSpPr>
            <p:cNvPr id="17" name="TextBox 11">
              <a:extLst>
                <a:ext uri="{FF2B5EF4-FFF2-40B4-BE49-F238E27FC236}">
                  <a16:creationId xmlns:a16="http://schemas.microsoft.com/office/drawing/2014/main" id="{FCDF15C8-A03C-4EB0-ADF4-EA7D4E12953D}"/>
                </a:ext>
              </a:extLst>
            </p:cNvPr>
            <p:cNvSpPr txBox="1"/>
            <p:nvPr/>
          </p:nvSpPr>
          <p:spPr>
            <a:xfrm>
              <a:off x="0" y="-47625"/>
              <a:ext cx="1256638" cy="1020978"/>
            </a:xfrm>
            <a:prstGeom prst="rect">
              <a:avLst/>
            </a:prstGeom>
          </p:spPr>
          <p:txBody>
            <a:bodyPr lIns="50800" tIns="50800" rIns="50800" bIns="50800" rtlCol="0" anchor="ctr"/>
            <a:lstStyle/>
            <a:p>
              <a:pPr algn="ctr">
                <a:lnSpc>
                  <a:spcPts val="2800"/>
                </a:lnSpc>
              </a:pPr>
              <a:endParaRPr/>
            </a:p>
          </p:txBody>
        </p:sp>
      </p:grpSp>
      <p:sp>
        <p:nvSpPr>
          <p:cNvPr id="25" name="TextBox 19">
            <a:extLst>
              <a:ext uri="{FF2B5EF4-FFF2-40B4-BE49-F238E27FC236}">
                <a16:creationId xmlns:a16="http://schemas.microsoft.com/office/drawing/2014/main" id="{4BABD84A-1A59-4F3A-9069-B146823953DE}"/>
              </a:ext>
            </a:extLst>
          </p:cNvPr>
          <p:cNvSpPr txBox="1"/>
          <p:nvPr/>
        </p:nvSpPr>
        <p:spPr>
          <a:xfrm>
            <a:off x="13254141" y="6442417"/>
            <a:ext cx="3978446" cy="2050415"/>
          </a:xfrm>
          <a:prstGeom prst="rect">
            <a:avLst/>
          </a:prstGeom>
        </p:spPr>
        <p:txBody>
          <a:bodyPr lIns="0" tIns="0" rIns="0" bIns="0" rtlCol="0" anchor="t">
            <a:spAutoFit/>
          </a:bodyPr>
          <a:lstStyle>
            <a:defPPr>
              <a:defRPr lang="en-US"/>
            </a:defPPr>
            <a:lvl1pPr lvl="0" indent="0">
              <a:lnSpc>
                <a:spcPts val="3249"/>
              </a:lnSpc>
              <a:spcBef>
                <a:spcPct val="0"/>
              </a:spcBef>
              <a:defRPr sz="2599" spc="-77">
                <a:solidFill>
                  <a:srgbClr val="424242"/>
                </a:solidFill>
                <a:ea typeface="Open Sans Italics"/>
                <a:cs typeface="Open Sans Italics"/>
              </a:defRPr>
            </a:lvl1pPr>
          </a:lstStyle>
          <a:p>
            <a:r>
              <a:rPr lang="en-US" dirty="0">
                <a:latin typeface="Times New Roman" panose="02020603050405020304" pitchFamily="18" charset="0"/>
                <a:cs typeface="Times New Roman" panose="02020603050405020304" pitchFamily="18" charset="0"/>
                <a:sym typeface="Open Sans Italics"/>
              </a:rPr>
              <a:t>Monitors platform health, investigates candidate reports, and swiftly removes bad actors in real time.</a:t>
            </a:r>
          </a:p>
          <a:p>
            <a:endParaRPr lang="en-US" dirty="0">
              <a:latin typeface="Times New Roman" panose="02020603050405020304" pitchFamily="18" charset="0"/>
              <a:cs typeface="Times New Roman" panose="02020603050405020304" pitchFamily="18" charset="0"/>
              <a:sym typeface="Open Sans Italics"/>
            </a:endParaRPr>
          </a:p>
        </p:txBody>
      </p:sp>
      <p:sp>
        <p:nvSpPr>
          <p:cNvPr id="26" name="TextBox 20">
            <a:extLst>
              <a:ext uri="{FF2B5EF4-FFF2-40B4-BE49-F238E27FC236}">
                <a16:creationId xmlns:a16="http://schemas.microsoft.com/office/drawing/2014/main" id="{46061099-FEC1-4D54-A361-15617D1F0CA4}"/>
              </a:ext>
            </a:extLst>
          </p:cNvPr>
          <p:cNvSpPr txBox="1"/>
          <p:nvPr/>
        </p:nvSpPr>
        <p:spPr>
          <a:xfrm>
            <a:off x="13254141" y="5812497"/>
            <a:ext cx="3978446" cy="878126"/>
          </a:xfrm>
          <a:prstGeom prst="rect">
            <a:avLst/>
          </a:prstGeom>
        </p:spPr>
        <p:txBody>
          <a:bodyPr lIns="0" tIns="0" rIns="0" bIns="0" rtlCol="0" anchor="t">
            <a:spAutoFit/>
          </a:bodyPr>
          <a:lstStyle>
            <a:defPPr>
              <a:defRPr lang="en-US"/>
            </a:defPPr>
            <a:lvl1pPr lvl="0" indent="0">
              <a:lnSpc>
                <a:spcPts val="3499"/>
              </a:lnSpc>
              <a:spcBef>
                <a:spcPct val="0"/>
              </a:spcBef>
              <a:defRPr sz="2799" b="1" spc="-83">
                <a:solidFill>
                  <a:schemeClr val="accent4">
                    <a:lumMod val="75000"/>
                  </a:schemeClr>
                </a:solidFill>
                <a:latin typeface="Open Sans Bold"/>
                <a:ea typeface="Open Sans Bold"/>
                <a:cs typeface="Open Sans Bold"/>
              </a:defRPr>
            </a:lvl1pPr>
          </a:lstStyle>
          <a:p>
            <a:r>
              <a:rPr lang="en-US" dirty="0">
                <a:sym typeface="Open Sans Bold"/>
              </a:rPr>
              <a:t>Admin &amp; Safety Team</a:t>
            </a:r>
          </a:p>
          <a:p>
            <a:endParaRPr lang="en-US" dirty="0">
              <a:sym typeface="Open Sans Bold"/>
            </a:endParaRPr>
          </a:p>
        </p:txBody>
      </p:sp>
      <p:sp>
        <p:nvSpPr>
          <p:cNvPr id="27" name="TextBox 21">
            <a:extLst>
              <a:ext uri="{FF2B5EF4-FFF2-40B4-BE49-F238E27FC236}">
                <a16:creationId xmlns:a16="http://schemas.microsoft.com/office/drawing/2014/main" id="{D02AD93E-9789-419D-A109-D2CAF5904BEB}"/>
              </a:ext>
            </a:extLst>
          </p:cNvPr>
          <p:cNvSpPr txBox="1"/>
          <p:nvPr/>
        </p:nvSpPr>
        <p:spPr>
          <a:xfrm>
            <a:off x="13254141" y="5091883"/>
            <a:ext cx="3437167" cy="730139"/>
          </a:xfrm>
          <a:prstGeom prst="rect">
            <a:avLst/>
          </a:prstGeom>
        </p:spPr>
        <p:txBody>
          <a:bodyPr lIns="0" tIns="0" rIns="0" bIns="0" rtlCol="0" anchor="t">
            <a:spAutoFit/>
          </a:bodyPr>
          <a:lstStyle/>
          <a:p>
            <a:pPr marL="0" lvl="0" indent="0" algn="l">
              <a:lnSpc>
                <a:spcPts val="5841"/>
              </a:lnSpc>
              <a:spcBef>
                <a:spcPct val="0"/>
              </a:spcBef>
            </a:pPr>
            <a:r>
              <a:rPr lang="en-US" sz="4672" b="1" spc="-140" dirty="0">
                <a:solidFill>
                  <a:schemeClr val="accent4">
                    <a:lumMod val="75000"/>
                  </a:schemeClr>
                </a:solidFill>
                <a:latin typeface="Open Sans Bold"/>
                <a:ea typeface="Open Sans Bold"/>
                <a:cs typeface="Open Sans Bold"/>
                <a:sym typeface="Open Sans Bold"/>
              </a:rPr>
              <a:t>03.</a:t>
            </a:r>
          </a:p>
        </p:txBody>
      </p:sp>
      <p:pic>
        <p:nvPicPr>
          <p:cNvPr id="55" name="Picture 54">
            <a:extLst>
              <a:ext uri="{FF2B5EF4-FFF2-40B4-BE49-F238E27FC236}">
                <a16:creationId xmlns:a16="http://schemas.microsoft.com/office/drawing/2014/main" id="{F64E6513-DA98-4DBB-A1A7-B3AB86A6C50A}"/>
              </a:ext>
            </a:extLst>
          </p:cNvPr>
          <p:cNvPicPr>
            <a:picLocks noChangeAspect="1"/>
          </p:cNvPicPr>
          <p:nvPr/>
        </p:nvPicPr>
        <p:blipFill>
          <a:blip r:embed="rId8">
            <a:duotone>
              <a:schemeClr val="accent1">
                <a:shade val="45000"/>
                <a:satMod val="135000"/>
              </a:schemeClr>
              <a:prstClr val="white"/>
            </a:duotone>
          </a:blip>
          <a:stretch>
            <a:fillRect/>
          </a:stretch>
        </p:blipFill>
        <p:spPr>
          <a:xfrm>
            <a:off x="16369169" y="4697051"/>
            <a:ext cx="1070653" cy="1070653"/>
          </a:xfrm>
          <a:prstGeom prst="rect">
            <a:avLst/>
          </a:prstGeom>
        </p:spPr>
      </p:pic>
    </p:spTree>
    <p:extLst>
      <p:ext uri="{BB962C8B-B14F-4D97-AF65-F5344CB8AC3E}">
        <p14:creationId xmlns:p14="http://schemas.microsoft.com/office/powerpoint/2010/main" val="3179554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700C64C8-A3BB-4760-B9F1-D1B79F3CBE3E}"/>
              </a:ext>
            </a:extLst>
          </p:cNvPr>
          <p:cNvSpPr/>
          <p:nvPr/>
        </p:nvSpPr>
        <p:spPr>
          <a:xfrm>
            <a:off x="622495" y="1830992"/>
            <a:ext cx="13169160" cy="0"/>
          </a:xfrm>
          <a:prstGeom prst="line">
            <a:avLst/>
          </a:prstGeom>
          <a:ln w="19050" cap="flat">
            <a:solidFill>
              <a:srgbClr val="017081"/>
            </a:solidFill>
            <a:prstDash val="solid"/>
            <a:headEnd type="none" w="sm" len="sm"/>
            <a:tailEnd type="none" w="sm" len="sm"/>
          </a:ln>
        </p:spPr>
        <p:txBody>
          <a:bodyPr/>
          <a:lstStyle/>
          <a:p>
            <a:endParaRPr lang="en-US" dirty="0"/>
          </a:p>
        </p:txBody>
      </p:sp>
      <p:sp>
        <p:nvSpPr>
          <p:cNvPr id="5" name="Freeform 4">
            <a:extLst>
              <a:ext uri="{FF2B5EF4-FFF2-40B4-BE49-F238E27FC236}">
                <a16:creationId xmlns:a16="http://schemas.microsoft.com/office/drawing/2014/main" id="{1CC374A4-3FF9-4514-973A-691603835CBB}"/>
              </a:ext>
            </a:extLst>
          </p:cNvPr>
          <p:cNvSpPr/>
          <p:nvPr/>
        </p:nvSpPr>
        <p:spPr>
          <a:xfrm>
            <a:off x="1993268" y="2077420"/>
            <a:ext cx="3501494" cy="7583607"/>
          </a:xfrm>
          <a:custGeom>
            <a:avLst/>
            <a:gdLst/>
            <a:ahLst/>
            <a:cxnLst/>
            <a:rect l="l" t="t" r="r" b="b"/>
            <a:pathLst>
              <a:path w="3501494" h="7583607">
                <a:moveTo>
                  <a:pt x="0" y="0"/>
                </a:moveTo>
                <a:lnTo>
                  <a:pt x="3501494" y="0"/>
                </a:lnTo>
                <a:lnTo>
                  <a:pt x="3501494" y="7583607"/>
                </a:lnTo>
                <a:lnTo>
                  <a:pt x="0" y="7583607"/>
                </a:lnTo>
                <a:lnTo>
                  <a:pt x="0" y="0"/>
                </a:lnTo>
                <a:close/>
              </a:path>
            </a:pathLst>
          </a:custGeom>
          <a:blipFill>
            <a:blip r:embed="rId2"/>
            <a:stretch>
              <a:fillRect/>
            </a:stretch>
          </a:blipFill>
          <a:ln>
            <a:solidFill>
              <a:schemeClr val="tx1"/>
            </a:solidFill>
          </a:ln>
        </p:spPr>
      </p:sp>
      <p:sp>
        <p:nvSpPr>
          <p:cNvPr id="8" name="TextBox 7">
            <a:extLst>
              <a:ext uri="{FF2B5EF4-FFF2-40B4-BE49-F238E27FC236}">
                <a16:creationId xmlns:a16="http://schemas.microsoft.com/office/drawing/2014/main" id="{1612CBC1-4932-4366-BE56-AA334850F29A}"/>
              </a:ext>
            </a:extLst>
          </p:cNvPr>
          <p:cNvSpPr txBox="1"/>
          <p:nvPr/>
        </p:nvSpPr>
        <p:spPr>
          <a:xfrm>
            <a:off x="557465" y="901736"/>
            <a:ext cx="7502283" cy="943400"/>
          </a:xfrm>
          <a:prstGeom prst="rect">
            <a:avLst/>
          </a:prstGeom>
        </p:spPr>
        <p:txBody>
          <a:bodyPr wrap="square" lIns="0" tIns="0" rIns="0" bIns="0" rtlCol="0" anchor="t">
            <a:spAutoFit/>
          </a:bodyPr>
          <a:lstStyle/>
          <a:p>
            <a:pPr>
              <a:lnSpc>
                <a:spcPts val="7123"/>
              </a:lnSpc>
            </a:pPr>
            <a:r>
              <a:rPr lang="en-US" sz="6000" b="1" spc="-140" dirty="0">
                <a:solidFill>
                  <a:schemeClr val="accent4">
                    <a:lumMod val="75000"/>
                  </a:schemeClr>
                </a:solidFill>
                <a:latin typeface="Times New Roman" panose="02020603050405020304" pitchFamily="18" charset="0"/>
                <a:ea typeface="Open Sans Bold"/>
                <a:cs typeface="Times New Roman" panose="02020603050405020304" pitchFamily="18" charset="0"/>
                <a:sym typeface="Open Sans Bold"/>
              </a:rPr>
              <a:t>01. Jobseeker App</a:t>
            </a:r>
            <a:endParaRPr lang="en-US" sz="6000" b="1" spc="-554" dirty="0">
              <a:solidFill>
                <a:schemeClr val="accent4">
                  <a:lumMod val="75000"/>
                </a:schemeClr>
              </a:solidFill>
              <a:latin typeface="Times New Roman" panose="02020603050405020304" pitchFamily="18" charset="0"/>
              <a:ea typeface="Open Sauce Bold"/>
              <a:cs typeface="Times New Roman" panose="02020603050405020304" pitchFamily="18" charset="0"/>
              <a:sym typeface="Open Sauce Bold"/>
            </a:endParaRPr>
          </a:p>
        </p:txBody>
      </p:sp>
      <p:sp>
        <p:nvSpPr>
          <p:cNvPr id="9" name="TextBox 8">
            <a:extLst>
              <a:ext uri="{FF2B5EF4-FFF2-40B4-BE49-F238E27FC236}">
                <a16:creationId xmlns:a16="http://schemas.microsoft.com/office/drawing/2014/main" id="{83A79D6B-C0E1-46F8-957F-01E2C8CF3AB5}"/>
              </a:ext>
            </a:extLst>
          </p:cNvPr>
          <p:cNvSpPr txBox="1"/>
          <p:nvPr/>
        </p:nvSpPr>
        <p:spPr>
          <a:xfrm>
            <a:off x="8059748" y="9858294"/>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BFECAE58-F02E-4B50-943D-2E22CC729532}"/>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3"/>
            <a:stretch>
              <a:fillRect l="-1652" t="-36979" b="-5607"/>
            </a:stretch>
          </a:blipFill>
        </p:spPr>
      </p:sp>
      <p:sp>
        <p:nvSpPr>
          <p:cNvPr id="11" name="TextBox 9">
            <a:extLst>
              <a:ext uri="{FF2B5EF4-FFF2-40B4-BE49-F238E27FC236}">
                <a16:creationId xmlns:a16="http://schemas.microsoft.com/office/drawing/2014/main" id="{C4C6F3FF-5224-4B04-B8DE-A0F78C26BD23}"/>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pic>
        <p:nvPicPr>
          <p:cNvPr id="3" name="Picture 2">
            <a:extLst>
              <a:ext uri="{FF2B5EF4-FFF2-40B4-BE49-F238E27FC236}">
                <a16:creationId xmlns:a16="http://schemas.microsoft.com/office/drawing/2014/main" id="{EDC08082-8420-4319-AFE9-53805C8934C0}"/>
              </a:ext>
            </a:extLst>
          </p:cNvPr>
          <p:cNvPicPr>
            <a:picLocks noChangeAspect="1"/>
          </p:cNvPicPr>
          <p:nvPr/>
        </p:nvPicPr>
        <p:blipFill>
          <a:blip r:embed="rId4"/>
          <a:stretch>
            <a:fillRect/>
          </a:stretch>
        </p:blipFill>
        <p:spPr>
          <a:xfrm>
            <a:off x="6916255" y="2077422"/>
            <a:ext cx="3868286" cy="7583605"/>
          </a:xfrm>
          <a:prstGeom prst="rect">
            <a:avLst/>
          </a:prstGeom>
          <a:blipFill>
            <a:blip r:embed="rId2"/>
            <a:stretch>
              <a:fillRect/>
            </a:stretch>
          </a:blipFill>
          <a:ln>
            <a:solidFill>
              <a:schemeClr val="tx1"/>
            </a:solidFill>
          </a:ln>
        </p:spPr>
      </p:pic>
      <p:pic>
        <p:nvPicPr>
          <p:cNvPr id="13" name="Picture 12">
            <a:extLst>
              <a:ext uri="{FF2B5EF4-FFF2-40B4-BE49-F238E27FC236}">
                <a16:creationId xmlns:a16="http://schemas.microsoft.com/office/drawing/2014/main" id="{6EEF85EE-BD49-4E0D-898D-62D273AC6C08}"/>
              </a:ext>
            </a:extLst>
          </p:cNvPr>
          <p:cNvPicPr>
            <a:picLocks noChangeAspect="1"/>
          </p:cNvPicPr>
          <p:nvPr/>
        </p:nvPicPr>
        <p:blipFill>
          <a:blip r:embed="rId5"/>
          <a:stretch>
            <a:fillRect/>
          </a:stretch>
        </p:blipFill>
        <p:spPr>
          <a:xfrm>
            <a:off x="12040906" y="2077420"/>
            <a:ext cx="3783330" cy="7583608"/>
          </a:xfrm>
          <a:prstGeom prst="rect">
            <a:avLst/>
          </a:prstGeom>
          <a:blipFill>
            <a:blip r:embed="rId2"/>
            <a:stretch>
              <a:fillRect/>
            </a:stretch>
          </a:blipFill>
          <a:ln>
            <a:solidFill>
              <a:schemeClr val="tx1"/>
            </a:solidFill>
          </a:ln>
        </p:spPr>
      </p:pic>
    </p:spTree>
    <p:extLst>
      <p:ext uri="{BB962C8B-B14F-4D97-AF65-F5344CB8AC3E}">
        <p14:creationId xmlns:p14="http://schemas.microsoft.com/office/powerpoint/2010/main" val="586632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700C64C8-A3BB-4760-B9F1-D1B79F3CBE3E}"/>
              </a:ext>
            </a:extLst>
          </p:cNvPr>
          <p:cNvSpPr/>
          <p:nvPr/>
        </p:nvSpPr>
        <p:spPr>
          <a:xfrm>
            <a:off x="531054" y="1696382"/>
            <a:ext cx="16552985" cy="0"/>
          </a:xfrm>
          <a:prstGeom prst="line">
            <a:avLst/>
          </a:prstGeom>
          <a:ln w="19050" cap="flat">
            <a:solidFill>
              <a:srgbClr val="017081"/>
            </a:solidFill>
            <a:prstDash val="solid"/>
            <a:headEnd type="none" w="sm" len="sm"/>
            <a:tailEnd type="none" w="sm" len="sm"/>
          </a:ln>
        </p:spPr>
        <p:txBody>
          <a:bodyPr/>
          <a:lstStyle/>
          <a:p>
            <a:endParaRPr lang="en-US" dirty="0"/>
          </a:p>
        </p:txBody>
      </p:sp>
      <p:sp>
        <p:nvSpPr>
          <p:cNvPr id="8" name="TextBox 7">
            <a:extLst>
              <a:ext uri="{FF2B5EF4-FFF2-40B4-BE49-F238E27FC236}">
                <a16:creationId xmlns:a16="http://schemas.microsoft.com/office/drawing/2014/main" id="{1612CBC1-4932-4366-BE56-AA334850F29A}"/>
              </a:ext>
            </a:extLst>
          </p:cNvPr>
          <p:cNvSpPr txBox="1"/>
          <p:nvPr/>
        </p:nvSpPr>
        <p:spPr>
          <a:xfrm>
            <a:off x="-26056" y="850482"/>
            <a:ext cx="17526140" cy="910506"/>
          </a:xfrm>
          <a:prstGeom prst="rect">
            <a:avLst/>
          </a:prstGeom>
        </p:spPr>
        <p:txBody>
          <a:bodyPr wrap="square" lIns="0" tIns="0" rIns="0" bIns="0" rtlCol="0" anchor="t">
            <a:spAutoFit/>
          </a:bodyPr>
          <a:lstStyle/>
          <a:p>
            <a:pPr algn="ctr">
              <a:lnSpc>
                <a:spcPts val="7123"/>
              </a:lnSpc>
            </a:pPr>
            <a:r>
              <a:rPr lang="en-US" sz="6000" b="1" spc="-140" dirty="0">
                <a:solidFill>
                  <a:schemeClr val="accent4">
                    <a:lumMod val="75000"/>
                  </a:schemeClr>
                </a:solidFill>
                <a:latin typeface="Times New Roman" panose="02020603050405020304" pitchFamily="18" charset="0"/>
                <a:ea typeface="Open Sans Bold"/>
                <a:cs typeface="Times New Roman" panose="02020603050405020304" pitchFamily="18" charset="0"/>
                <a:sym typeface="Open Sans Bold"/>
              </a:rPr>
              <a:t>02. Recruiter Dashboard: Modern Hiring Workspace</a:t>
            </a:r>
            <a:endParaRPr lang="en-US" sz="6000" b="1" spc="-554" dirty="0">
              <a:solidFill>
                <a:schemeClr val="accent4">
                  <a:lumMod val="75000"/>
                </a:schemeClr>
              </a:solidFill>
              <a:latin typeface="Times New Roman" panose="02020603050405020304" pitchFamily="18" charset="0"/>
              <a:ea typeface="Open Sauce Bold"/>
              <a:cs typeface="Times New Roman" panose="02020603050405020304" pitchFamily="18" charset="0"/>
              <a:sym typeface="Open Sauce Bold"/>
            </a:endParaRPr>
          </a:p>
        </p:txBody>
      </p:sp>
      <p:sp>
        <p:nvSpPr>
          <p:cNvPr id="9" name="TextBox 8">
            <a:extLst>
              <a:ext uri="{FF2B5EF4-FFF2-40B4-BE49-F238E27FC236}">
                <a16:creationId xmlns:a16="http://schemas.microsoft.com/office/drawing/2014/main" id="{83A79D6B-C0E1-46F8-957F-01E2C8CF3AB5}"/>
              </a:ext>
            </a:extLst>
          </p:cNvPr>
          <p:cNvSpPr txBox="1"/>
          <p:nvPr/>
        </p:nvSpPr>
        <p:spPr>
          <a:xfrm>
            <a:off x="8059748" y="9858294"/>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BFECAE58-F02E-4B50-943D-2E22CC729532}"/>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1" name="TextBox 9">
            <a:extLst>
              <a:ext uri="{FF2B5EF4-FFF2-40B4-BE49-F238E27FC236}">
                <a16:creationId xmlns:a16="http://schemas.microsoft.com/office/drawing/2014/main" id="{C4C6F3FF-5224-4B04-B8DE-A0F78C26BD23}"/>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12" name="Freeform 4">
            <a:extLst>
              <a:ext uri="{FF2B5EF4-FFF2-40B4-BE49-F238E27FC236}">
                <a16:creationId xmlns:a16="http://schemas.microsoft.com/office/drawing/2014/main" id="{EADFFD59-6B9B-4223-8926-98EB33F4144C}"/>
              </a:ext>
            </a:extLst>
          </p:cNvPr>
          <p:cNvSpPr/>
          <p:nvPr/>
        </p:nvSpPr>
        <p:spPr>
          <a:xfrm>
            <a:off x="1231793" y="2145790"/>
            <a:ext cx="14608536" cy="7486875"/>
          </a:xfrm>
          <a:custGeom>
            <a:avLst/>
            <a:gdLst/>
            <a:ahLst/>
            <a:cxnLst/>
            <a:rect l="l" t="t" r="r" b="b"/>
            <a:pathLst>
              <a:path w="14608536" h="7486875">
                <a:moveTo>
                  <a:pt x="0" y="0"/>
                </a:moveTo>
                <a:lnTo>
                  <a:pt x="14608535" y="0"/>
                </a:lnTo>
                <a:lnTo>
                  <a:pt x="14608535" y="7486875"/>
                </a:lnTo>
                <a:lnTo>
                  <a:pt x="0" y="7486875"/>
                </a:lnTo>
                <a:lnTo>
                  <a:pt x="0" y="0"/>
                </a:lnTo>
                <a:close/>
              </a:path>
            </a:pathLst>
          </a:custGeom>
          <a:blipFill>
            <a:blip r:embed="rId3"/>
            <a:stretch>
              <a:fillRect/>
            </a:stretch>
          </a:blipFill>
        </p:spPr>
      </p:sp>
    </p:spTree>
    <p:extLst>
      <p:ext uri="{BB962C8B-B14F-4D97-AF65-F5344CB8AC3E}">
        <p14:creationId xmlns:p14="http://schemas.microsoft.com/office/powerpoint/2010/main" val="1361535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a:extLst>
              <a:ext uri="{FF2B5EF4-FFF2-40B4-BE49-F238E27FC236}">
                <a16:creationId xmlns:a16="http://schemas.microsoft.com/office/drawing/2014/main" id="{700C64C8-A3BB-4760-B9F1-D1B79F3CBE3E}"/>
              </a:ext>
            </a:extLst>
          </p:cNvPr>
          <p:cNvSpPr/>
          <p:nvPr/>
        </p:nvSpPr>
        <p:spPr>
          <a:xfrm>
            <a:off x="515815" y="1745703"/>
            <a:ext cx="13169160" cy="0"/>
          </a:xfrm>
          <a:prstGeom prst="line">
            <a:avLst/>
          </a:prstGeom>
          <a:ln w="19050" cap="flat">
            <a:solidFill>
              <a:srgbClr val="017081"/>
            </a:solidFill>
            <a:prstDash val="solid"/>
            <a:headEnd type="none" w="sm" len="sm"/>
            <a:tailEnd type="none" w="sm" len="sm"/>
          </a:ln>
        </p:spPr>
        <p:txBody>
          <a:bodyPr/>
          <a:lstStyle/>
          <a:p>
            <a:endParaRPr lang="en-US" dirty="0"/>
          </a:p>
        </p:txBody>
      </p:sp>
      <p:sp>
        <p:nvSpPr>
          <p:cNvPr id="8" name="TextBox 7">
            <a:extLst>
              <a:ext uri="{FF2B5EF4-FFF2-40B4-BE49-F238E27FC236}">
                <a16:creationId xmlns:a16="http://schemas.microsoft.com/office/drawing/2014/main" id="{1612CBC1-4932-4366-BE56-AA334850F29A}"/>
              </a:ext>
            </a:extLst>
          </p:cNvPr>
          <p:cNvSpPr txBox="1"/>
          <p:nvPr/>
        </p:nvSpPr>
        <p:spPr>
          <a:xfrm>
            <a:off x="515815" y="840153"/>
            <a:ext cx="17526140" cy="910506"/>
          </a:xfrm>
          <a:prstGeom prst="rect">
            <a:avLst/>
          </a:prstGeom>
        </p:spPr>
        <p:txBody>
          <a:bodyPr wrap="square" lIns="0" tIns="0" rIns="0" bIns="0" rtlCol="0" anchor="t">
            <a:spAutoFit/>
          </a:bodyPr>
          <a:lstStyle/>
          <a:p>
            <a:pPr>
              <a:lnSpc>
                <a:spcPts val="7123"/>
              </a:lnSpc>
            </a:pPr>
            <a:r>
              <a:rPr lang="en-US" sz="6000" b="1" spc="-140" dirty="0">
                <a:solidFill>
                  <a:schemeClr val="accent4">
                    <a:lumMod val="75000"/>
                  </a:schemeClr>
                </a:solidFill>
                <a:latin typeface="Times New Roman" panose="02020603050405020304" pitchFamily="18" charset="0"/>
                <a:ea typeface="Open Sans Bold"/>
                <a:cs typeface="Times New Roman" panose="02020603050405020304" pitchFamily="18" charset="0"/>
                <a:sym typeface="Open Sans Bold"/>
              </a:rPr>
              <a:t>02. Admin Dashboard</a:t>
            </a:r>
            <a:endParaRPr lang="en-US" sz="6000" b="1" spc="-554" dirty="0">
              <a:solidFill>
                <a:schemeClr val="accent4">
                  <a:lumMod val="75000"/>
                </a:schemeClr>
              </a:solidFill>
              <a:latin typeface="Times New Roman" panose="02020603050405020304" pitchFamily="18" charset="0"/>
              <a:ea typeface="Open Sauce Bold"/>
              <a:cs typeface="Times New Roman" panose="02020603050405020304" pitchFamily="18" charset="0"/>
              <a:sym typeface="Open Sauce Bold"/>
            </a:endParaRPr>
          </a:p>
        </p:txBody>
      </p:sp>
      <p:sp>
        <p:nvSpPr>
          <p:cNvPr id="9" name="TextBox 8">
            <a:extLst>
              <a:ext uri="{FF2B5EF4-FFF2-40B4-BE49-F238E27FC236}">
                <a16:creationId xmlns:a16="http://schemas.microsoft.com/office/drawing/2014/main" id="{83A79D6B-C0E1-46F8-957F-01E2C8CF3AB5}"/>
              </a:ext>
            </a:extLst>
          </p:cNvPr>
          <p:cNvSpPr txBox="1"/>
          <p:nvPr/>
        </p:nvSpPr>
        <p:spPr>
          <a:xfrm>
            <a:off x="8059748" y="9858294"/>
            <a:ext cx="2168504" cy="461665"/>
          </a:xfrm>
          <a:prstGeom prst="rect">
            <a:avLst/>
          </a:prstGeom>
          <a:noFill/>
        </p:spPr>
        <p:txBody>
          <a:bodyPr wrap="square" rtlCol="0">
            <a:spAutoFit/>
          </a:bodyPr>
          <a:lstStyle/>
          <a:p>
            <a:r>
              <a:rPr lang="en-US" sz="2400" b="1" dirty="0">
                <a:solidFill>
                  <a:srgbClr val="002060"/>
                </a:solidFill>
              </a:rPr>
              <a:t>R26-SE-002</a:t>
            </a:r>
          </a:p>
        </p:txBody>
      </p:sp>
      <p:sp>
        <p:nvSpPr>
          <p:cNvPr id="10" name="Freeform 16">
            <a:extLst>
              <a:ext uri="{FF2B5EF4-FFF2-40B4-BE49-F238E27FC236}">
                <a16:creationId xmlns:a16="http://schemas.microsoft.com/office/drawing/2014/main" id="{BFECAE58-F02E-4B50-943D-2E22CC729532}"/>
              </a:ext>
            </a:extLst>
          </p:cNvPr>
          <p:cNvSpPr/>
          <p:nvPr/>
        </p:nvSpPr>
        <p:spPr>
          <a:xfrm>
            <a:off x="-26056" y="9075060"/>
            <a:ext cx="3783330" cy="1171934"/>
          </a:xfrm>
          <a:custGeom>
            <a:avLst/>
            <a:gdLst/>
            <a:ahLst/>
            <a:cxnLst/>
            <a:rect l="l" t="t" r="r" b="b"/>
            <a:pathLst>
              <a:path w="5164069" h="1317152">
                <a:moveTo>
                  <a:pt x="0" y="0"/>
                </a:moveTo>
                <a:lnTo>
                  <a:pt x="5164069" y="0"/>
                </a:lnTo>
                <a:lnTo>
                  <a:pt x="5164069" y="1317152"/>
                </a:lnTo>
                <a:lnTo>
                  <a:pt x="0" y="1317152"/>
                </a:lnTo>
                <a:lnTo>
                  <a:pt x="0" y="0"/>
                </a:lnTo>
                <a:close/>
              </a:path>
            </a:pathLst>
          </a:custGeom>
          <a:blipFill>
            <a:blip r:embed="rId2"/>
            <a:stretch>
              <a:fillRect l="-1652" t="-36979" b="-5607"/>
            </a:stretch>
          </a:blipFill>
        </p:spPr>
      </p:sp>
      <p:sp>
        <p:nvSpPr>
          <p:cNvPr id="11" name="TextBox 9">
            <a:extLst>
              <a:ext uri="{FF2B5EF4-FFF2-40B4-BE49-F238E27FC236}">
                <a16:creationId xmlns:a16="http://schemas.microsoft.com/office/drawing/2014/main" id="{C4C6F3FF-5224-4B04-B8DE-A0F78C26BD23}"/>
              </a:ext>
            </a:extLst>
          </p:cNvPr>
          <p:cNvSpPr txBox="1"/>
          <p:nvPr/>
        </p:nvSpPr>
        <p:spPr>
          <a:xfrm>
            <a:off x="345661" y="197873"/>
            <a:ext cx="13863465" cy="330798"/>
          </a:xfrm>
          <a:prstGeom prst="rect">
            <a:avLst/>
          </a:prstGeom>
        </p:spPr>
        <p:txBody>
          <a:bodyPr lIns="0" tIns="0" rIns="0" bIns="0" rtlCol="0" anchor="t">
            <a:spAutoFit/>
          </a:bodyPr>
          <a:lstStyle/>
          <a:p>
            <a:pPr algn="l">
              <a:lnSpc>
                <a:spcPts val="2767"/>
              </a:lnSpc>
              <a:spcBef>
                <a:spcPct val="0"/>
              </a:spcBef>
            </a:pPr>
            <a:r>
              <a:rPr lang="en-US" sz="1976" spc="561" dirty="0">
                <a:solidFill>
                  <a:srgbClr val="000000"/>
                </a:solidFill>
                <a:latin typeface="Open Sans"/>
                <a:ea typeface="Open Sans"/>
                <a:cs typeface="Open Sans"/>
                <a:sym typeface="Open Sans"/>
              </a:rPr>
              <a:t>AI-POWERED JOB SCAM DETECTION ECOSYSTEM</a:t>
            </a:r>
          </a:p>
        </p:txBody>
      </p:sp>
      <p:sp>
        <p:nvSpPr>
          <p:cNvPr id="2" name="AutoShape 2">
            <a:extLst>
              <a:ext uri="{FF2B5EF4-FFF2-40B4-BE49-F238E27FC236}">
                <a16:creationId xmlns:a16="http://schemas.microsoft.com/office/drawing/2014/main" id="{60F209BC-8048-4005-846D-03780A0461D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E04F3F9-AE24-4BB5-BBC6-2366053374A2}"/>
              </a:ext>
            </a:extLst>
          </p:cNvPr>
          <p:cNvPicPr>
            <a:picLocks noChangeAspect="1"/>
          </p:cNvPicPr>
          <p:nvPr/>
        </p:nvPicPr>
        <p:blipFill>
          <a:blip r:embed="rId3"/>
          <a:stretch>
            <a:fillRect/>
          </a:stretch>
        </p:blipFill>
        <p:spPr>
          <a:xfrm>
            <a:off x="914400" y="2062141"/>
            <a:ext cx="15240000" cy="7248525"/>
          </a:xfrm>
          <a:prstGeom prst="rect">
            <a:avLst/>
          </a:prstGeom>
        </p:spPr>
      </p:pic>
    </p:spTree>
    <p:extLst>
      <p:ext uri="{BB962C8B-B14F-4D97-AF65-F5344CB8AC3E}">
        <p14:creationId xmlns:p14="http://schemas.microsoft.com/office/powerpoint/2010/main" val="1031868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8DCEAB4A-E4E7-4FE0-8A98-A531B706F6E7}"/>
              </a:ext>
            </a:extLst>
          </p:cNvPr>
          <p:cNvPicPr>
            <a:picLocks noChangeAspect="1"/>
          </p:cNvPicPr>
          <p:nvPr/>
        </p:nvPicPr>
        <p:blipFill rotWithShape="1">
          <a:blip r:embed="rId2"/>
          <a:srcRect t="11939" r="1816"/>
          <a:stretch/>
        </p:blipFill>
        <p:spPr>
          <a:xfrm>
            <a:off x="483622" y="0"/>
            <a:ext cx="16322040" cy="8034369"/>
          </a:xfrm>
          <a:prstGeom prst="rect">
            <a:avLst/>
          </a:prstGeom>
        </p:spPr>
      </p:pic>
      <p:sp>
        <p:nvSpPr>
          <p:cNvPr id="24" name="TextBox 23">
            <a:extLst>
              <a:ext uri="{FF2B5EF4-FFF2-40B4-BE49-F238E27FC236}">
                <a16:creationId xmlns:a16="http://schemas.microsoft.com/office/drawing/2014/main" id="{6B8A7150-947C-400E-AA75-4104F6662684}"/>
              </a:ext>
            </a:extLst>
          </p:cNvPr>
          <p:cNvSpPr txBox="1"/>
          <p:nvPr/>
        </p:nvSpPr>
        <p:spPr>
          <a:xfrm>
            <a:off x="4335779" y="6884489"/>
            <a:ext cx="9616440" cy="2585323"/>
          </a:xfrm>
          <a:prstGeom prst="rect">
            <a:avLst/>
          </a:prstGeom>
          <a:noFill/>
        </p:spPr>
        <p:txBody>
          <a:bodyPr wrap="square" rtlCol="0">
            <a:spAutoFit/>
          </a:bodyPr>
          <a:lstStyle/>
          <a:p>
            <a:pPr algn="ctr"/>
            <a:r>
              <a:rPr lang="en-US" sz="2800" b="1" dirty="0">
                <a:solidFill>
                  <a:srgbClr val="002060"/>
                </a:solidFill>
              </a:rPr>
              <a:t>R26-SE-002</a:t>
            </a:r>
          </a:p>
          <a:p>
            <a:pPr algn="ctr"/>
            <a:br>
              <a:rPr lang="en-US" dirty="0"/>
            </a:br>
            <a:r>
              <a:rPr lang="en-US" b="1" dirty="0">
                <a:solidFill>
                  <a:srgbClr val="002060"/>
                </a:solidFill>
              </a:rPr>
              <a:t>Kajanthan U</a:t>
            </a:r>
            <a:br>
              <a:rPr lang="en-US" b="1" dirty="0">
                <a:solidFill>
                  <a:srgbClr val="002060"/>
                </a:solidFill>
              </a:rPr>
            </a:br>
            <a:r>
              <a:rPr lang="en-US" b="1" dirty="0">
                <a:solidFill>
                  <a:srgbClr val="002060"/>
                </a:solidFill>
              </a:rPr>
              <a:t>Santhosh S</a:t>
            </a:r>
          </a:p>
          <a:p>
            <a:pPr algn="ctr"/>
            <a:r>
              <a:rPr lang="en-US" b="1" dirty="0">
                <a:solidFill>
                  <a:srgbClr val="002060"/>
                </a:solidFill>
              </a:rPr>
              <a:t>Nipuni Bandara</a:t>
            </a:r>
            <a:br>
              <a:rPr lang="en-US" b="1" dirty="0">
                <a:solidFill>
                  <a:srgbClr val="002060"/>
                </a:solidFill>
              </a:rPr>
            </a:br>
            <a:r>
              <a:rPr lang="en-US" b="1" dirty="0">
                <a:solidFill>
                  <a:srgbClr val="002060"/>
                </a:solidFill>
              </a:rPr>
              <a:t>Methmi Chethya</a:t>
            </a:r>
          </a:p>
        </p:txBody>
      </p:sp>
      <p:sp>
        <p:nvSpPr>
          <p:cNvPr id="25" name="Freeform 2">
            <a:extLst>
              <a:ext uri="{FF2B5EF4-FFF2-40B4-BE49-F238E27FC236}">
                <a16:creationId xmlns:a16="http://schemas.microsoft.com/office/drawing/2014/main" id="{DE667D8C-A7E0-4506-A672-E19B7DF85A9F}"/>
              </a:ext>
            </a:extLst>
          </p:cNvPr>
          <p:cNvSpPr/>
          <p:nvPr/>
        </p:nvSpPr>
        <p:spPr>
          <a:xfrm rot="-5400000">
            <a:off x="12286169" y="4903424"/>
            <a:ext cx="11520040" cy="483623"/>
          </a:xfrm>
          <a:custGeom>
            <a:avLst/>
            <a:gdLst/>
            <a:ahLst/>
            <a:cxnLst/>
            <a:rect l="l" t="t" r="r" b="b"/>
            <a:pathLst>
              <a:path w="11520040" h="483623">
                <a:moveTo>
                  <a:pt x="0" y="0"/>
                </a:moveTo>
                <a:lnTo>
                  <a:pt x="11520039" y="0"/>
                </a:lnTo>
                <a:lnTo>
                  <a:pt x="11520039" y="483623"/>
                </a:lnTo>
                <a:lnTo>
                  <a:pt x="0" y="483623"/>
                </a:lnTo>
                <a:lnTo>
                  <a:pt x="0" y="0"/>
                </a:lnTo>
                <a:close/>
              </a:path>
            </a:pathLst>
          </a:custGeom>
          <a:blipFill>
            <a:blip r:embed="rId3">
              <a:extLst>
                <a:ext uri="{96DAC541-7B7A-43D3-8B79-37D633B846F1}">
                  <asvg:svgBlip xmlns:asvg="http://schemas.microsoft.com/office/drawing/2016/SVG/main" r:embed="rId4"/>
                </a:ext>
              </a:extLst>
            </a:blip>
            <a:stretch>
              <a:fillRect t="-168519"/>
            </a:stretch>
          </a:blipFill>
        </p:spPr>
      </p:sp>
      <p:sp>
        <p:nvSpPr>
          <p:cNvPr id="26" name="Freeform 2">
            <a:extLst>
              <a:ext uri="{FF2B5EF4-FFF2-40B4-BE49-F238E27FC236}">
                <a16:creationId xmlns:a16="http://schemas.microsoft.com/office/drawing/2014/main" id="{7803610D-9441-4698-B84A-3759855AFB2A}"/>
              </a:ext>
            </a:extLst>
          </p:cNvPr>
          <p:cNvSpPr/>
          <p:nvPr/>
        </p:nvSpPr>
        <p:spPr>
          <a:xfrm rot="5400000">
            <a:off x="-5518210" y="4903424"/>
            <a:ext cx="11520040" cy="483623"/>
          </a:xfrm>
          <a:custGeom>
            <a:avLst/>
            <a:gdLst/>
            <a:ahLst/>
            <a:cxnLst/>
            <a:rect l="l" t="t" r="r" b="b"/>
            <a:pathLst>
              <a:path w="11520040" h="483623">
                <a:moveTo>
                  <a:pt x="0" y="0"/>
                </a:moveTo>
                <a:lnTo>
                  <a:pt x="11520039" y="0"/>
                </a:lnTo>
                <a:lnTo>
                  <a:pt x="11520039" y="483623"/>
                </a:lnTo>
                <a:lnTo>
                  <a:pt x="0" y="483623"/>
                </a:lnTo>
                <a:lnTo>
                  <a:pt x="0" y="0"/>
                </a:lnTo>
                <a:close/>
              </a:path>
            </a:pathLst>
          </a:custGeom>
          <a:blipFill>
            <a:blip r:embed="rId3">
              <a:extLst>
                <a:ext uri="{96DAC541-7B7A-43D3-8B79-37D633B846F1}">
                  <asvg:svgBlip xmlns:asvg="http://schemas.microsoft.com/office/drawing/2016/SVG/main" r:embed="rId4"/>
                </a:ext>
              </a:extLst>
            </a:blip>
            <a:stretch>
              <a:fillRect t="-168519"/>
            </a:stretch>
          </a:blipFill>
        </p:spPr>
      </p:sp>
    </p:spTree>
    <p:extLst>
      <p:ext uri="{BB962C8B-B14F-4D97-AF65-F5344CB8AC3E}">
        <p14:creationId xmlns:p14="http://schemas.microsoft.com/office/powerpoint/2010/main" val="412112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1611</TotalTime>
  <Words>1193</Words>
  <Application>Microsoft Office PowerPoint</Application>
  <PresentationFormat>Custom</PresentationFormat>
  <Paragraphs>238</Paragraphs>
  <Slides>16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Aptos</vt:lpstr>
      <vt:lpstr>Aptos Display</vt:lpstr>
      <vt:lpstr>Arial</vt:lpstr>
      <vt:lpstr>Arial Black</vt:lpstr>
      <vt:lpstr>Calibri</vt:lpstr>
      <vt:lpstr>Inter SemiBold</vt:lpstr>
      <vt:lpstr>League Spartan</vt:lpstr>
      <vt:lpstr>Open Sans</vt:lpstr>
      <vt:lpstr>Open Sans Bold</vt:lpstr>
      <vt:lpstr>Poppins Semi-Bold</vt:lpstr>
      <vt:lpstr>Times New Roman</vt:lpstr>
      <vt:lpstr>Wingdings</vt:lpstr>
      <vt:lpstr>Office Theme</vt:lpstr>
      <vt:lpstr>PowerPoint Presentation</vt:lpstr>
      <vt:lpstr>PANEL COMMENTS ON PP1 AND HOW WE ADDRESSED </vt:lpstr>
      <vt:lpstr>PowerPoint Presentation</vt:lpstr>
      <vt:lpstr>USERS &amp; STAKEHOLDERS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SANTHOSH. S it22113740</dc:creator>
  <cp:lastModifiedBy>Nipuni Bandara</cp:lastModifiedBy>
  <cp:revision>23</cp:revision>
  <dcterms:created xsi:type="dcterms:W3CDTF">2026-08-24T15:08:57Z</dcterms:created>
  <dcterms:modified xsi:type="dcterms:W3CDTF">2026-10-17T16:05:39Z</dcterms:modified>
</cp:coreProperties>
</file>