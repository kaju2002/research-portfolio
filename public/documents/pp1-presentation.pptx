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Canva Sans" panose="020B0604020202020204" charset="0"/>
      <p:regular r:id="rId25"/>
    </p:embeddedFont>
    <p:embeddedFont>
      <p:font typeface="Canva Sans Bold" panose="020B0604020202020204" charset="0"/>
      <p:regular r:id="rId26"/>
    </p:embeddedFont>
    <p:embeddedFont>
      <p:font typeface="League Spartan" panose="020B0604020202020204" charset="0"/>
      <p:regular r:id="rId27"/>
    </p:embeddedFont>
    <p:embeddedFont>
      <p:font typeface="Open Sans" panose="020B0606030504020204" pitchFamily="34" charset="0"/>
      <p:regular r:id="rId28"/>
    </p:embeddedFont>
    <p:embeddedFont>
      <p:font typeface="Open Sans Bold" panose="020B0806030504020204" charset="0"/>
      <p:regular r:id="rId29"/>
    </p:embeddedFont>
    <p:embeddedFont>
      <p:font typeface="Poppins Bold" panose="020B0604020202020204" charset="0"/>
      <p:regular r:id="rId30"/>
    </p:embeddedFont>
    <p:embeddedFont>
      <p:font typeface="Poppins Medium" panose="00000600000000000000" pitchFamily="2"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80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1.png"/><Relationship Id="rId7" Type="http://schemas.openxmlformats.org/officeDocument/2006/relationships/image" Target="../media/image14.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5.jpe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9.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6.sv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2286169" y="4903424"/>
            <a:ext cx="11520040" cy="483623"/>
          </a:xfrm>
          <a:custGeom>
            <a:avLst/>
            <a:gdLst/>
            <a:ahLst/>
            <a:cxnLst/>
            <a:rect l="l" t="t" r="r" b="b"/>
            <a:pathLst>
              <a:path w="11520040" h="483623">
                <a:moveTo>
                  <a:pt x="0" y="0"/>
                </a:moveTo>
                <a:lnTo>
                  <a:pt x="11520039" y="0"/>
                </a:lnTo>
                <a:lnTo>
                  <a:pt x="11520039" y="483623"/>
                </a:lnTo>
                <a:lnTo>
                  <a:pt x="0" y="483623"/>
                </a:lnTo>
                <a:lnTo>
                  <a:pt x="0" y="0"/>
                </a:lnTo>
                <a:close/>
              </a:path>
            </a:pathLst>
          </a:custGeom>
          <a:blipFill>
            <a:blip>
              <a:extLst>
                <a:ext uri="{96DAC541-7B7A-43D3-8B79-37D633B846F1}">
                  <asvg:svgBlip xmlns:asvg="http://schemas.microsoft.com/office/drawing/2016/SVG/main" r:embed="rId2"/>
                </a:ext>
              </a:extLst>
            </a:blip>
            <a:stretch>
              <a:fillRect t="-168519"/>
            </a:stretch>
          </a:blipFill>
        </p:spPr>
        <p:txBody>
          <a:bodyPr/>
          <a:lstStyle/>
          <a:p>
            <a:endParaRPr lang="en-US"/>
          </a:p>
        </p:txBody>
      </p:sp>
      <p:sp>
        <p:nvSpPr>
          <p:cNvPr id="3" name="Freeform 3"/>
          <p:cNvSpPr/>
          <p:nvPr/>
        </p:nvSpPr>
        <p:spPr>
          <a:xfrm>
            <a:off x="-52401"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a:extLst>
                <a:ext uri="{96DAC541-7B7A-43D3-8B79-37D633B846F1}">
                  <asvg:svgBlip xmlns:asvg="http://schemas.microsoft.com/office/drawing/2016/SVG/main" r:embed="rId3"/>
                </a:ext>
              </a:extLst>
            </a:blip>
            <a:stretch>
              <a:fillRect b="-211081"/>
            </a:stretch>
          </a:blipFill>
        </p:spPr>
        <p:txBody>
          <a:bodyPr/>
          <a:lstStyle/>
          <a:p>
            <a:endParaRPr lang="en-US"/>
          </a:p>
        </p:txBody>
      </p:sp>
      <p:grpSp>
        <p:nvGrpSpPr>
          <p:cNvPr id="4" name="Group 4"/>
          <p:cNvGrpSpPr/>
          <p:nvPr/>
        </p:nvGrpSpPr>
        <p:grpSpPr>
          <a:xfrm>
            <a:off x="5025655" y="6700591"/>
            <a:ext cx="12073199" cy="647342"/>
            <a:chOff x="0" y="0"/>
            <a:chExt cx="3179773" cy="170493"/>
          </a:xfrm>
        </p:grpSpPr>
        <p:sp>
          <p:nvSpPr>
            <p:cNvPr id="5" name="Freeform 5"/>
            <p:cNvSpPr/>
            <p:nvPr/>
          </p:nvSpPr>
          <p:spPr>
            <a:xfrm>
              <a:off x="0" y="0"/>
              <a:ext cx="3179773" cy="170493"/>
            </a:xfrm>
            <a:custGeom>
              <a:avLst/>
              <a:gdLst/>
              <a:ahLst/>
              <a:cxnLst/>
              <a:rect l="l" t="t" r="r" b="b"/>
              <a:pathLst>
                <a:path w="3179773" h="170493">
                  <a:moveTo>
                    <a:pt x="6412" y="0"/>
                  </a:moveTo>
                  <a:lnTo>
                    <a:pt x="3173360" y="0"/>
                  </a:lnTo>
                  <a:cubicBezTo>
                    <a:pt x="3175061" y="0"/>
                    <a:pt x="3176692" y="676"/>
                    <a:pt x="3177894" y="1878"/>
                  </a:cubicBezTo>
                  <a:cubicBezTo>
                    <a:pt x="3179097" y="3081"/>
                    <a:pt x="3179773" y="4712"/>
                    <a:pt x="3179773" y="6412"/>
                  </a:cubicBezTo>
                  <a:lnTo>
                    <a:pt x="3179773" y="164081"/>
                  </a:lnTo>
                  <a:cubicBezTo>
                    <a:pt x="3179773" y="167623"/>
                    <a:pt x="3176902" y="170493"/>
                    <a:pt x="3173360" y="170493"/>
                  </a:cubicBezTo>
                  <a:lnTo>
                    <a:pt x="6412" y="170493"/>
                  </a:lnTo>
                  <a:cubicBezTo>
                    <a:pt x="4712" y="170493"/>
                    <a:pt x="3081" y="169818"/>
                    <a:pt x="1878" y="168615"/>
                  </a:cubicBezTo>
                  <a:cubicBezTo>
                    <a:pt x="676" y="167413"/>
                    <a:pt x="0" y="165782"/>
                    <a:pt x="0" y="164081"/>
                  </a:cubicBezTo>
                  <a:lnTo>
                    <a:pt x="0" y="6412"/>
                  </a:lnTo>
                  <a:cubicBezTo>
                    <a:pt x="0" y="4712"/>
                    <a:pt x="676" y="3081"/>
                    <a:pt x="1878" y="1878"/>
                  </a:cubicBezTo>
                  <a:cubicBezTo>
                    <a:pt x="3081" y="676"/>
                    <a:pt x="4712" y="0"/>
                    <a:pt x="6412" y="0"/>
                  </a:cubicBezTo>
                  <a:close/>
                </a:path>
              </a:pathLst>
            </a:custGeom>
            <a:solidFill>
              <a:srgbClr val="00B7FF"/>
            </a:solidFill>
          </p:spPr>
          <p:txBody>
            <a:bodyPr/>
            <a:lstStyle/>
            <a:p>
              <a:endParaRPr lang="en-US"/>
            </a:p>
          </p:txBody>
        </p:sp>
        <p:sp>
          <p:nvSpPr>
            <p:cNvPr id="6" name="TextBox 6"/>
            <p:cNvSpPr txBox="1"/>
            <p:nvPr/>
          </p:nvSpPr>
          <p:spPr>
            <a:xfrm>
              <a:off x="0" y="-47625"/>
              <a:ext cx="3179773" cy="218118"/>
            </a:xfrm>
            <a:prstGeom prst="rect">
              <a:avLst/>
            </a:prstGeom>
          </p:spPr>
          <p:txBody>
            <a:bodyPr lIns="50800" tIns="50800" rIns="50800" bIns="50800" rtlCol="0" anchor="ctr"/>
            <a:lstStyle/>
            <a:p>
              <a:pPr marL="0" lvl="0" indent="0" algn="ctr">
                <a:lnSpc>
                  <a:spcPts val="3890"/>
                </a:lnSpc>
                <a:spcBef>
                  <a:spcPct val="0"/>
                </a:spcBef>
              </a:pPr>
              <a:r>
                <a:rPr lang="en-US" sz="2778" spc="225">
                  <a:solidFill>
                    <a:srgbClr val="000000"/>
                  </a:solidFill>
                  <a:latin typeface="Open Sans"/>
                  <a:ea typeface="Open Sans"/>
                  <a:cs typeface="Open Sans"/>
                  <a:sym typeface="Open Sans"/>
                </a:rPr>
                <a:t>    </a:t>
              </a:r>
              <a:r>
                <a:rPr lang="en-US" sz="2778" u="none" strike="noStrike" spc="225">
                  <a:solidFill>
                    <a:srgbClr val="000000"/>
                  </a:solidFill>
                  <a:latin typeface="Open Sans"/>
                  <a:ea typeface="Open Sans"/>
                  <a:cs typeface="Open Sans"/>
                  <a:sym typeface="Open Sans"/>
                </a:rPr>
                <a:t>Protecting Sri Lankan Job Seekers Through Intelligent AI</a:t>
              </a:r>
            </a:p>
          </p:txBody>
        </p:sp>
      </p:grpSp>
      <p:sp>
        <p:nvSpPr>
          <p:cNvPr id="7" name="Freeform 7"/>
          <p:cNvSpPr/>
          <p:nvPr/>
        </p:nvSpPr>
        <p:spPr>
          <a:xfrm>
            <a:off x="5245085" y="6876786"/>
            <a:ext cx="563154" cy="294952"/>
          </a:xfrm>
          <a:custGeom>
            <a:avLst/>
            <a:gdLst/>
            <a:ahLst/>
            <a:cxnLst/>
            <a:rect l="l" t="t" r="r" b="b"/>
            <a:pathLst>
              <a:path w="563154" h="294952">
                <a:moveTo>
                  <a:pt x="0" y="0"/>
                </a:moveTo>
                <a:lnTo>
                  <a:pt x="563154" y="0"/>
                </a:lnTo>
                <a:lnTo>
                  <a:pt x="563154" y="294952"/>
                </a:lnTo>
                <a:lnTo>
                  <a:pt x="0" y="294952"/>
                </a:lnTo>
                <a:lnTo>
                  <a:pt x="0" y="0"/>
                </a:lnTo>
                <a:close/>
              </a:path>
            </a:pathLst>
          </a:custGeom>
          <a:blipFill>
            <a:blip r:embed="rId4"/>
            <a:stretch>
              <a:fillRect/>
            </a:stretch>
          </a:blipFill>
        </p:spPr>
        <p:txBody>
          <a:bodyPr/>
          <a:lstStyle/>
          <a:p>
            <a:endParaRPr lang="en-US"/>
          </a:p>
        </p:txBody>
      </p:sp>
      <p:sp>
        <p:nvSpPr>
          <p:cNvPr id="8" name="Freeform 8"/>
          <p:cNvSpPr/>
          <p:nvPr/>
        </p:nvSpPr>
        <p:spPr>
          <a:xfrm>
            <a:off x="370570" y="2241429"/>
            <a:ext cx="4159288" cy="5632844"/>
          </a:xfrm>
          <a:custGeom>
            <a:avLst/>
            <a:gdLst/>
            <a:ahLst/>
            <a:cxnLst/>
            <a:rect l="l" t="t" r="r" b="b"/>
            <a:pathLst>
              <a:path w="4159288" h="5632844">
                <a:moveTo>
                  <a:pt x="0" y="0"/>
                </a:moveTo>
                <a:lnTo>
                  <a:pt x="4159288" y="0"/>
                </a:lnTo>
                <a:lnTo>
                  <a:pt x="4159288" y="5632844"/>
                </a:lnTo>
                <a:lnTo>
                  <a:pt x="0" y="5632844"/>
                </a:lnTo>
                <a:lnTo>
                  <a:pt x="0" y="0"/>
                </a:lnTo>
                <a:close/>
              </a:path>
            </a:pathLst>
          </a:custGeom>
          <a:blipFill>
            <a:blip r:embed="rId5"/>
            <a:stretch>
              <a:fillRect l="-74110" r="-74381"/>
            </a:stretch>
          </a:blipFill>
        </p:spPr>
        <p:txBody>
          <a:bodyPr/>
          <a:lstStyle/>
          <a:p>
            <a:endParaRPr lang="en-US"/>
          </a:p>
        </p:txBody>
      </p:sp>
      <p:sp>
        <p:nvSpPr>
          <p:cNvPr id="9" name="TextBox 9"/>
          <p:cNvSpPr txBox="1"/>
          <p:nvPr/>
        </p:nvSpPr>
        <p:spPr>
          <a:xfrm>
            <a:off x="5025655" y="2809189"/>
            <a:ext cx="11014472" cy="2248662"/>
          </a:xfrm>
          <a:prstGeom prst="rect">
            <a:avLst/>
          </a:prstGeom>
        </p:spPr>
        <p:txBody>
          <a:bodyPr lIns="0" tIns="0" rIns="0" bIns="0" rtlCol="0" anchor="t">
            <a:spAutoFit/>
          </a:bodyPr>
          <a:lstStyle/>
          <a:p>
            <a:pPr algn="l">
              <a:lnSpc>
                <a:spcPts val="9023"/>
              </a:lnSpc>
            </a:pPr>
            <a:r>
              <a:rPr lang="en-US" sz="6399" spc="236">
                <a:solidFill>
                  <a:srgbClr val="000000"/>
                </a:solidFill>
                <a:latin typeface="League Spartan"/>
                <a:ea typeface="League Spartan"/>
                <a:cs typeface="League Spartan"/>
                <a:sym typeface="League Spartan"/>
              </a:rPr>
              <a:t>AI-POWERED JOB SCAM</a:t>
            </a:r>
          </a:p>
          <a:p>
            <a:pPr algn="l">
              <a:lnSpc>
                <a:spcPts val="9023"/>
              </a:lnSpc>
            </a:pPr>
            <a:r>
              <a:rPr lang="en-US" sz="6399" spc="236">
                <a:solidFill>
                  <a:srgbClr val="000000"/>
                </a:solidFill>
                <a:latin typeface="League Spartan"/>
                <a:ea typeface="League Spartan"/>
                <a:cs typeface="League Spartan"/>
                <a:sym typeface="League Spartan"/>
              </a:rPr>
              <a:t>DETECTION ECO SYSTEM</a:t>
            </a:r>
          </a:p>
        </p:txBody>
      </p:sp>
      <p:sp>
        <p:nvSpPr>
          <p:cNvPr id="10" name="TextBox 10"/>
          <p:cNvSpPr txBox="1"/>
          <p:nvPr/>
        </p:nvSpPr>
        <p:spPr>
          <a:xfrm>
            <a:off x="5025655" y="5290794"/>
            <a:ext cx="12778722" cy="957931"/>
          </a:xfrm>
          <a:prstGeom prst="rect">
            <a:avLst/>
          </a:prstGeom>
        </p:spPr>
        <p:txBody>
          <a:bodyPr lIns="0" tIns="0" rIns="0" bIns="0" rtlCol="0" anchor="t">
            <a:spAutoFit/>
          </a:bodyPr>
          <a:lstStyle/>
          <a:p>
            <a:pPr algn="l">
              <a:lnSpc>
                <a:spcPts val="3890"/>
              </a:lnSpc>
              <a:spcBef>
                <a:spcPct val="0"/>
              </a:spcBef>
            </a:pPr>
            <a:r>
              <a:rPr lang="en-US" sz="2778" spc="225">
                <a:solidFill>
                  <a:srgbClr val="000000"/>
                </a:solidFill>
                <a:latin typeface="Open Sans"/>
                <a:ea typeface="Open Sans"/>
                <a:cs typeface="Open Sans"/>
                <a:sym typeface="Open Sans"/>
              </a:rPr>
              <a:t>A Multi-Model Framework for Fake Job Detection, Employer Verification, Communication Analysis &amp; Explainable Risk Scoring</a:t>
            </a:r>
          </a:p>
        </p:txBody>
      </p:sp>
      <p:sp>
        <p:nvSpPr>
          <p:cNvPr id="11" name="Freeform 11"/>
          <p:cNvSpPr/>
          <p:nvPr/>
        </p:nvSpPr>
        <p:spPr>
          <a:xfrm>
            <a:off x="4561741"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a:extLst>
                <a:ext uri="{96DAC541-7B7A-43D3-8B79-37D633B846F1}">
                  <asvg:svgBlip xmlns:asvg="http://schemas.microsoft.com/office/drawing/2016/SVG/main" r:embed="rId3"/>
                </a:ext>
              </a:extLst>
            </a:blip>
            <a:stretch>
              <a:fillRect b="-211081"/>
            </a:stretch>
          </a:blipFill>
        </p:spPr>
        <p:txBody>
          <a:bodyPr/>
          <a:lstStyle/>
          <a:p>
            <a:endParaRPr lang="en-US"/>
          </a:p>
        </p:txBody>
      </p:sp>
      <p:sp>
        <p:nvSpPr>
          <p:cNvPr id="12" name="Freeform 12"/>
          <p:cNvSpPr/>
          <p:nvPr/>
        </p:nvSpPr>
        <p:spPr>
          <a:xfrm>
            <a:off x="9091599"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a:extLst>
                <a:ext uri="{96DAC541-7B7A-43D3-8B79-37D633B846F1}">
                  <asvg:svgBlip xmlns:asvg="http://schemas.microsoft.com/office/drawing/2016/SVG/main" r:embed="rId3"/>
                </a:ext>
              </a:extLst>
            </a:blip>
            <a:stretch>
              <a:fillRect b="-211081"/>
            </a:stretch>
          </a:blipFill>
        </p:spPr>
        <p:txBody>
          <a:bodyPr/>
          <a:lstStyle/>
          <a:p>
            <a:endParaRPr lang="en-US"/>
          </a:p>
        </p:txBody>
      </p:sp>
      <p:sp>
        <p:nvSpPr>
          <p:cNvPr id="13" name="Freeform 13"/>
          <p:cNvSpPr/>
          <p:nvPr/>
        </p:nvSpPr>
        <p:spPr>
          <a:xfrm>
            <a:off x="13705741"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a:extLst>
                <a:ext uri="{96DAC541-7B7A-43D3-8B79-37D633B846F1}">
                  <asvg:svgBlip xmlns:asvg="http://schemas.microsoft.com/office/drawing/2016/SVG/main" r:embed="rId3"/>
                </a:ext>
              </a:extLst>
            </a:blip>
            <a:stretch>
              <a:fillRect b="-211081"/>
            </a:stretch>
          </a:blipFill>
        </p:spPr>
        <p:txBody>
          <a:bodyPr/>
          <a:lstStyle/>
          <a:p>
            <a:endParaRPr lang="en-US"/>
          </a:p>
        </p:txBody>
      </p:sp>
      <p:sp>
        <p:nvSpPr>
          <p:cNvPr id="14" name="TextBox 14"/>
          <p:cNvSpPr txBox="1"/>
          <p:nvPr/>
        </p:nvSpPr>
        <p:spPr>
          <a:xfrm>
            <a:off x="7432214" y="8156233"/>
            <a:ext cx="5978986" cy="975267"/>
          </a:xfrm>
          <a:prstGeom prst="rect">
            <a:avLst/>
          </a:prstGeom>
        </p:spPr>
        <p:txBody>
          <a:bodyPr wrap="square" lIns="0" tIns="0" rIns="0" bIns="0" rtlCol="0" anchor="t">
            <a:spAutoFit/>
          </a:bodyPr>
          <a:lstStyle/>
          <a:p>
            <a:pPr marL="0" lvl="0" indent="0" algn="l">
              <a:lnSpc>
                <a:spcPts val="7896"/>
              </a:lnSpc>
              <a:spcBef>
                <a:spcPct val="0"/>
              </a:spcBef>
            </a:pPr>
            <a:r>
              <a:rPr lang="en-US" sz="5600" b="1" u="none" strike="noStrike" spc="207" dirty="0">
                <a:solidFill>
                  <a:srgbClr val="000000"/>
                </a:solidFill>
                <a:latin typeface="League Spartan"/>
                <a:ea typeface="League Spartan"/>
                <a:cs typeface="League Spartan"/>
                <a:sym typeface="League Spartan"/>
              </a:rPr>
              <a:t>R26-SE-002</a:t>
            </a:r>
          </a:p>
        </p:txBody>
      </p:sp>
      <p:sp>
        <p:nvSpPr>
          <p:cNvPr id="15" name="Freeform 15"/>
          <p:cNvSpPr/>
          <p:nvPr/>
        </p:nvSpPr>
        <p:spPr>
          <a:xfrm>
            <a:off x="-52401" y="8829242"/>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6"/>
            <a:stretch>
              <a:fillRect l="-1652" t="-36979" b="-5607"/>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85702" y="1166865"/>
            <a:ext cx="3163980" cy="85587"/>
          </a:xfrm>
          <a:custGeom>
            <a:avLst/>
            <a:gdLst/>
            <a:ahLst/>
            <a:cxnLst/>
            <a:rect l="l" t="t" r="r" b="b"/>
            <a:pathLst>
              <a:path w="3163980" h="85587">
                <a:moveTo>
                  <a:pt x="0" y="0"/>
                </a:moveTo>
                <a:lnTo>
                  <a:pt x="3163981" y="0"/>
                </a:lnTo>
                <a:lnTo>
                  <a:pt x="3163981"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rot="-5400000">
            <a:off x="-5110709"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graphicFrame>
        <p:nvGraphicFramePr>
          <p:cNvPr id="5" name="Table 5"/>
          <p:cNvGraphicFramePr>
            <a:graphicFrameLocks noGrp="1"/>
          </p:cNvGraphicFramePr>
          <p:nvPr>
            <p:extLst>
              <p:ext uri="{D42A27DB-BD31-4B8C-83A1-F6EECF244321}">
                <p14:modId xmlns:p14="http://schemas.microsoft.com/office/powerpoint/2010/main" val="568422141"/>
              </p:ext>
            </p:extLst>
          </p:nvPr>
        </p:nvGraphicFramePr>
        <p:xfrm>
          <a:off x="1485702" y="1710365"/>
          <a:ext cx="16802297" cy="7292756"/>
        </p:xfrm>
        <a:graphic>
          <a:graphicData uri="http://schemas.openxmlformats.org/drawingml/2006/table">
            <a:tbl>
              <a:tblPr/>
              <a:tblGrid>
                <a:gridCol w="2561631">
                  <a:extLst>
                    <a:ext uri="{9D8B030D-6E8A-4147-A177-3AD203B41FA5}">
                      <a16:colId xmlns:a16="http://schemas.microsoft.com/office/drawing/2014/main" val="20000"/>
                    </a:ext>
                  </a:extLst>
                </a:gridCol>
                <a:gridCol w="5094978">
                  <a:extLst>
                    <a:ext uri="{9D8B030D-6E8A-4147-A177-3AD203B41FA5}">
                      <a16:colId xmlns:a16="http://schemas.microsoft.com/office/drawing/2014/main" val="20001"/>
                    </a:ext>
                  </a:extLst>
                </a:gridCol>
                <a:gridCol w="9145688">
                  <a:extLst>
                    <a:ext uri="{9D8B030D-6E8A-4147-A177-3AD203B41FA5}">
                      <a16:colId xmlns:a16="http://schemas.microsoft.com/office/drawing/2014/main" val="20002"/>
                    </a:ext>
                  </a:extLst>
                </a:gridCol>
              </a:tblGrid>
              <a:tr h="1301680">
                <a:tc>
                  <a:txBody>
                    <a:bodyPr/>
                    <a:lstStyle/>
                    <a:p>
                      <a:pPr algn="ctr">
                        <a:lnSpc>
                          <a:spcPts val="3448"/>
                        </a:lnSpc>
                        <a:defRPr/>
                      </a:pPr>
                      <a:r>
                        <a:rPr lang="en-US" sz="2463" b="1" dirty="0">
                          <a:solidFill>
                            <a:srgbClr val="5E17EB"/>
                          </a:solidFill>
                          <a:latin typeface="Open Sans Bold"/>
                          <a:ea typeface="Open Sans Bold"/>
                          <a:cs typeface="Open Sans Bold"/>
                          <a:sym typeface="Open Sans Bold"/>
                        </a:rPr>
                        <a:t>Student ID</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Pannel Comments</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How you/team addressed them</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0"/>
                  </a:ext>
                </a:extLst>
              </a:tr>
              <a:tr h="3389558">
                <a:tc>
                  <a:txBody>
                    <a:bodyPr/>
                    <a:lstStyle/>
                    <a:p>
                      <a:pPr algn="ctr">
                        <a:lnSpc>
                          <a:spcPts val="2748"/>
                        </a:lnSpc>
                        <a:defRPr/>
                      </a:pPr>
                      <a:r>
                        <a:rPr lang="en-US" sz="1963" b="1">
                          <a:solidFill>
                            <a:srgbClr val="000000"/>
                          </a:solidFill>
                          <a:latin typeface="Open Sans Bold"/>
                          <a:ea typeface="Open Sans Bold"/>
                          <a:cs typeface="Open Sans Bold"/>
                          <a:sym typeface="Open Sans Bold"/>
                        </a:rPr>
                        <a:t>IT22224002</a:t>
                      </a:r>
                      <a:endParaRPr lang="en-US" sz="1100"/>
                    </a:p>
                    <a:p>
                      <a:pPr algn="ctr">
                        <a:lnSpc>
                          <a:spcPts val="2748"/>
                        </a:lnSpc>
                      </a:pPr>
                      <a:r>
                        <a:rPr lang="en-US" sz="1963" b="1">
                          <a:solidFill>
                            <a:srgbClr val="000000"/>
                          </a:solidFill>
                          <a:latin typeface="Open Sans Bold"/>
                          <a:ea typeface="Open Sans Bold"/>
                          <a:cs typeface="Open Sans Bold"/>
                          <a:sym typeface="Open Sans Bold"/>
                        </a:rPr>
                        <a:t>Kajanthan U</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a:lnSpc>
                          <a:spcPts val="2608"/>
                        </a:lnSpc>
                        <a:spcBef>
                          <a:spcPct val="0"/>
                        </a:spcBef>
                        <a:defRPr/>
                      </a:pPr>
                      <a:r>
                        <a:rPr lang="en-US" sz="1863" u="none" strike="noStrike" dirty="0">
                          <a:solidFill>
                            <a:srgbClr val="000000"/>
                          </a:solidFill>
                          <a:latin typeface="Open Sans"/>
                          <a:ea typeface="Open Sans"/>
                          <a:cs typeface="Open Sans"/>
                          <a:sym typeface="Open Sans"/>
                        </a:rPr>
                        <a:t>AS A GROUP, time management should be there. Further, with whole group, literature is missing. Try to do the survey much more. mainly focuses on the inchat statements. Going to analyze the scam messages behaviour. Currently he has trying to get a data set from phd candidate.</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359148" lvl="1" indent="-179574" algn="l">
                        <a:lnSpc>
                          <a:spcPts val="2328"/>
                        </a:lnSpc>
                        <a:buFont typeface="Arial"/>
                        <a:buChar char="•"/>
                        <a:defRPr/>
                      </a:pPr>
                      <a:r>
                        <a:rPr lang="en-US" sz="1663" dirty="0">
                          <a:solidFill>
                            <a:srgbClr val="000000"/>
                          </a:solidFill>
                          <a:latin typeface="Open Sans"/>
                          <a:ea typeface="Open Sans"/>
                          <a:cs typeface="Open Sans"/>
                          <a:sym typeface="Open Sans"/>
                        </a:rPr>
                        <a:t> Literature review expanded — added Songailaitė et al. (DistilBERT justification), Anagha et al. (tactic taxonomy), Pitumpe &amp; Rahmati (scam message behaviour), Shinde et al. (OCR validation)</a:t>
                      </a:r>
                      <a:endParaRPr lang="en-US" sz="1100" dirty="0"/>
                    </a:p>
                    <a:p>
                      <a:pPr marL="359148" lvl="1" indent="-179574" algn="l">
                        <a:lnSpc>
                          <a:spcPts val="2328"/>
                        </a:lnSpc>
                        <a:buFont typeface="Arial"/>
                        <a:buChar char="•"/>
                      </a:pPr>
                      <a:r>
                        <a:rPr lang="en-US" sz="1663" dirty="0">
                          <a:solidFill>
                            <a:srgbClr val="000000"/>
                          </a:solidFill>
                          <a:latin typeface="Open Sans"/>
                          <a:ea typeface="Open Sans"/>
                          <a:cs typeface="Open Sans"/>
                          <a:sym typeface="Open Sans"/>
                        </a:rPr>
                        <a:t>Did not use PhD candidate dataset — instead used transfer learning on publicly available datasets — EMSCAD (3,364) and UCI SMS (2,747) — combined with 2,000 synthetic messages and 522 real messages manually collected from participants</a:t>
                      </a:r>
                    </a:p>
                    <a:p>
                      <a:pPr marL="359148" lvl="1" indent="-179574" algn="l">
                        <a:lnSpc>
                          <a:spcPts val="2328"/>
                        </a:lnSpc>
                        <a:buFont typeface="Arial"/>
                        <a:buChar char="•"/>
                      </a:pPr>
                      <a:r>
                        <a:rPr lang="en-US" sz="1663" dirty="0">
                          <a:solidFill>
                            <a:srgbClr val="000000"/>
                          </a:solidFill>
                          <a:latin typeface="Open Sans"/>
                          <a:ea typeface="Open Sans"/>
                          <a:cs typeface="Open Sans"/>
                          <a:sym typeface="Open Sans"/>
                        </a:rPr>
                        <a:t>System analyses full recruiter–candidate conversation behaviour across 3 input modes — built-in chat, text paste, and screenshot upload</a:t>
                      </a:r>
                    </a:p>
                    <a:p>
                      <a:pPr marL="359148" lvl="1" indent="-179574" algn="l">
                        <a:lnSpc>
                          <a:spcPts val="2328"/>
                        </a:lnSpc>
                        <a:buFont typeface="Arial"/>
                        <a:buChar char="•"/>
                      </a:pPr>
                      <a:r>
                        <a:rPr lang="en-US" sz="1663" dirty="0">
                          <a:solidFill>
                            <a:srgbClr val="000000"/>
                          </a:solidFill>
                          <a:latin typeface="Open Sans"/>
                          <a:ea typeface="Open Sans"/>
                          <a:cs typeface="Open Sans"/>
                          <a:sym typeface="Open Sans"/>
                        </a:rPr>
                        <a:t>Scam message behaviour analysis implemented through BSTD framework detecting 4 psychological manipulation tactics — urgency, FOMO, sunk-cost, social proof</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1"/>
                  </a:ext>
                </a:extLst>
              </a:tr>
              <a:tr h="2601518">
                <a:tc>
                  <a:txBody>
                    <a:bodyPr/>
                    <a:lstStyle/>
                    <a:p>
                      <a:pPr marL="0" lvl="0" indent="0" algn="ctr">
                        <a:lnSpc>
                          <a:spcPts val="2748"/>
                        </a:lnSpc>
                        <a:spcBef>
                          <a:spcPct val="0"/>
                        </a:spcBef>
                        <a:defRPr/>
                      </a:pPr>
                      <a:r>
                        <a:rPr lang="en-US" sz="1963" b="1" u="none" strike="noStrike" dirty="0">
                          <a:solidFill>
                            <a:srgbClr val="000000"/>
                          </a:solidFill>
                          <a:latin typeface="Open Sans Bold"/>
                          <a:ea typeface="Open Sans Bold"/>
                          <a:cs typeface="Open Sans Bold"/>
                          <a:sym typeface="Open Sans Bold"/>
                        </a:rPr>
                        <a:t>IT22113740</a:t>
                      </a:r>
                      <a:endParaRPr lang="en-US" sz="1100" dirty="0"/>
                    </a:p>
                    <a:p>
                      <a:pPr marL="0" lvl="0" indent="0" algn="ctr">
                        <a:lnSpc>
                          <a:spcPts val="2748"/>
                        </a:lnSpc>
                        <a:spcBef>
                          <a:spcPct val="0"/>
                        </a:spcBef>
                      </a:pPr>
                      <a:r>
                        <a:rPr lang="en-US" sz="1963" b="1" u="none" strike="noStrike" dirty="0">
                          <a:solidFill>
                            <a:srgbClr val="000000"/>
                          </a:solidFill>
                          <a:latin typeface="Open Sans Bold"/>
                          <a:ea typeface="Open Sans Bold"/>
                          <a:cs typeface="Open Sans Bold"/>
                          <a:sym typeface="Open Sans Bold"/>
                        </a:rPr>
                        <a:t>Santhosh S</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ctr">
                        <a:lnSpc>
                          <a:spcPts val="2608"/>
                        </a:lnSpc>
                        <a:spcBef>
                          <a:spcPct val="0"/>
                        </a:spcBef>
                        <a:defRPr/>
                      </a:pPr>
                      <a:r>
                        <a:rPr lang="en-US" sz="1863" u="none" strike="noStrike" dirty="0">
                          <a:solidFill>
                            <a:srgbClr val="000000"/>
                          </a:solidFill>
                          <a:latin typeface="Open Sans"/>
                          <a:ea typeface="Open Sans"/>
                          <a:cs typeface="Open Sans"/>
                          <a:sym typeface="Open Sans"/>
                        </a:rPr>
                        <a:t>Student need to figure out what is the actual novelty path you take after discussing with the supervisor. At least for </a:t>
                      </a:r>
                      <a:r>
                        <a:rPr lang="en-US" sz="1863" u="none" strike="noStrike" dirty="0" err="1">
                          <a:solidFill>
                            <a:srgbClr val="000000"/>
                          </a:solidFill>
                          <a:latin typeface="Open Sans"/>
                          <a:ea typeface="Open Sans"/>
                          <a:cs typeface="Open Sans"/>
                          <a:sym typeface="Open Sans"/>
                        </a:rPr>
                        <a:t>sinhala</a:t>
                      </a:r>
                      <a:r>
                        <a:rPr lang="en-US" sz="1863" u="none" strike="noStrike" dirty="0">
                          <a:solidFill>
                            <a:srgbClr val="000000"/>
                          </a:solidFill>
                          <a:latin typeface="Open Sans"/>
                          <a:ea typeface="Open Sans"/>
                          <a:cs typeface="Open Sans"/>
                          <a:sym typeface="Open Sans"/>
                        </a:rPr>
                        <a:t> language, do it perfectly. Need to include the related literature </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285750" indent="-285750" algn="l">
                        <a:lnSpc>
                          <a:spcPts val="2328"/>
                        </a:lnSpc>
                        <a:buFont typeface="Arial" panose="020B0604020202020204" pitchFamily="34" charset="0"/>
                        <a:buChar char="•"/>
                        <a:defRPr/>
                      </a:pPr>
                      <a:r>
                        <a:rPr lang="en-US" sz="1663" kern="1200" dirty="0">
                          <a:solidFill>
                            <a:srgbClr val="000000"/>
                          </a:solidFill>
                          <a:latin typeface="Open Sans"/>
                          <a:ea typeface="Open Sans"/>
                          <a:cs typeface="Open Sans"/>
                        </a:rPr>
                        <a:t>Discussed with supervisor and finalize the novelty part</a:t>
                      </a:r>
                    </a:p>
                    <a:p>
                      <a:pPr marL="285750" indent="-285750" algn="l">
                        <a:lnSpc>
                          <a:spcPts val="2328"/>
                        </a:lnSpc>
                        <a:buFont typeface="Arial" panose="020B0604020202020204" pitchFamily="34" charset="0"/>
                        <a:buChar char="•"/>
                        <a:defRPr/>
                      </a:pPr>
                      <a:r>
                        <a:rPr lang="en-US" sz="1663" kern="1200" dirty="0">
                          <a:solidFill>
                            <a:srgbClr val="000000"/>
                          </a:solidFill>
                          <a:latin typeface="Open Sans"/>
                          <a:ea typeface="Open Sans"/>
                          <a:cs typeface="Open Sans"/>
                        </a:rPr>
                        <a:t>Gathered Sinhala post data as well by extracting post contents</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2"/>
                  </a:ext>
                </a:extLst>
              </a:tr>
            </a:tbl>
          </a:graphicData>
        </a:graphic>
      </p:graphicFrame>
      <p:sp>
        <p:nvSpPr>
          <p:cNvPr id="6" name="TextBox 6"/>
          <p:cNvSpPr txBox="1"/>
          <p:nvPr/>
        </p:nvSpPr>
        <p:spPr>
          <a:xfrm>
            <a:off x="649311" y="428543"/>
            <a:ext cx="15080620" cy="738321"/>
          </a:xfrm>
          <a:prstGeom prst="rect">
            <a:avLst/>
          </a:prstGeom>
        </p:spPr>
        <p:txBody>
          <a:bodyPr lIns="0" tIns="0" rIns="0" bIns="0" rtlCol="0" anchor="t">
            <a:spAutoFit/>
          </a:bodyPr>
          <a:lstStyle/>
          <a:p>
            <a:pPr marL="0" lvl="0" indent="0" algn="ctr">
              <a:lnSpc>
                <a:spcPts val="6030"/>
              </a:lnSpc>
              <a:spcBef>
                <a:spcPct val="0"/>
              </a:spcBef>
            </a:pPr>
            <a:r>
              <a:rPr lang="en-US" sz="4307" spc="120">
                <a:solidFill>
                  <a:srgbClr val="000000"/>
                </a:solidFill>
                <a:latin typeface="League Spartan"/>
                <a:ea typeface="League Spartan"/>
                <a:cs typeface="League Spartan"/>
                <a:sym typeface="League Spartan"/>
              </a:rPr>
              <a:t>PANEL COMMENTS AND HOW WE ADDRESSED</a:t>
            </a:r>
          </a:p>
        </p:txBody>
      </p:sp>
      <p:sp>
        <p:nvSpPr>
          <p:cNvPr id="7" name="TextBox 7"/>
          <p:cNvSpPr txBox="1"/>
          <p:nvPr/>
        </p:nvSpPr>
        <p:spPr>
          <a:xfrm>
            <a:off x="1485702" y="121875"/>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8" name="TextBox 8"/>
          <p:cNvSpPr txBox="1"/>
          <p:nvPr/>
        </p:nvSpPr>
        <p:spPr>
          <a:xfrm>
            <a:off x="7924800" y="9546622"/>
            <a:ext cx="2590800" cy="467757"/>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00000"/>
                </a:solidFill>
                <a:latin typeface="Canva Sans Bold"/>
                <a:ea typeface="Canva Sans Bold"/>
                <a:cs typeface="Canva Sans Bold"/>
                <a:sym typeface="Canva Sans Bold"/>
              </a:rPr>
              <a:t>R26-SE-002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110709"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
        <p:nvSpPr>
          <p:cNvPr id="4" name="TextBox 4"/>
          <p:cNvSpPr txBox="1"/>
          <p:nvPr/>
        </p:nvSpPr>
        <p:spPr>
          <a:xfrm>
            <a:off x="1485702" y="121875"/>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5" name="TextBox 5"/>
          <p:cNvSpPr txBox="1"/>
          <p:nvPr/>
        </p:nvSpPr>
        <p:spPr>
          <a:xfrm>
            <a:off x="8114228" y="9766691"/>
            <a:ext cx="2629972" cy="481331"/>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00000"/>
                </a:solidFill>
                <a:latin typeface="Canva Sans Bold"/>
                <a:ea typeface="Canva Sans Bold"/>
                <a:cs typeface="Canva Sans Bold"/>
                <a:sym typeface="Canva Sans Bold"/>
              </a:rPr>
              <a:t>R26-SE-002</a:t>
            </a:r>
          </a:p>
        </p:txBody>
      </p:sp>
      <p:sp>
        <p:nvSpPr>
          <p:cNvPr id="6" name="Freeform 6"/>
          <p:cNvSpPr/>
          <p:nvPr/>
        </p:nvSpPr>
        <p:spPr>
          <a:xfrm>
            <a:off x="1485702" y="1166865"/>
            <a:ext cx="3163980" cy="85587"/>
          </a:xfrm>
          <a:custGeom>
            <a:avLst/>
            <a:gdLst/>
            <a:ahLst/>
            <a:cxnLst/>
            <a:rect l="l" t="t" r="r" b="b"/>
            <a:pathLst>
              <a:path w="3163980" h="85587">
                <a:moveTo>
                  <a:pt x="0" y="0"/>
                </a:moveTo>
                <a:lnTo>
                  <a:pt x="3163981" y="0"/>
                </a:lnTo>
                <a:lnTo>
                  <a:pt x="3163981"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7" name="TextBox 7"/>
          <p:cNvSpPr txBox="1"/>
          <p:nvPr/>
        </p:nvSpPr>
        <p:spPr>
          <a:xfrm>
            <a:off x="649311" y="428543"/>
            <a:ext cx="15080620" cy="738321"/>
          </a:xfrm>
          <a:prstGeom prst="rect">
            <a:avLst/>
          </a:prstGeom>
        </p:spPr>
        <p:txBody>
          <a:bodyPr lIns="0" tIns="0" rIns="0" bIns="0" rtlCol="0" anchor="t">
            <a:spAutoFit/>
          </a:bodyPr>
          <a:lstStyle/>
          <a:p>
            <a:pPr marL="0" lvl="0" indent="0" algn="ctr">
              <a:lnSpc>
                <a:spcPts val="6030"/>
              </a:lnSpc>
              <a:spcBef>
                <a:spcPct val="0"/>
              </a:spcBef>
            </a:pPr>
            <a:r>
              <a:rPr lang="en-US" sz="4307" spc="120" dirty="0">
                <a:solidFill>
                  <a:srgbClr val="000000"/>
                </a:solidFill>
                <a:latin typeface="League Spartan"/>
                <a:ea typeface="League Spartan"/>
                <a:cs typeface="League Spartan"/>
                <a:sym typeface="League Spartan"/>
              </a:rPr>
              <a:t>PANEL COMMENTS AND HOW WE ADDRESSED</a:t>
            </a:r>
          </a:p>
        </p:txBody>
      </p:sp>
      <p:graphicFrame>
        <p:nvGraphicFramePr>
          <p:cNvPr id="8" name="Table 8"/>
          <p:cNvGraphicFramePr>
            <a:graphicFrameLocks noGrp="1"/>
          </p:cNvGraphicFramePr>
          <p:nvPr/>
        </p:nvGraphicFramePr>
        <p:xfrm>
          <a:off x="1485702" y="1709324"/>
          <a:ext cx="16493047" cy="6718065"/>
        </p:xfrm>
        <a:graphic>
          <a:graphicData uri="http://schemas.openxmlformats.org/drawingml/2006/table">
            <a:tbl>
              <a:tblPr/>
              <a:tblGrid>
                <a:gridCol w="2561741">
                  <a:extLst>
                    <a:ext uri="{9D8B030D-6E8A-4147-A177-3AD203B41FA5}">
                      <a16:colId xmlns:a16="http://schemas.microsoft.com/office/drawing/2014/main" val="20000"/>
                    </a:ext>
                  </a:extLst>
                </a:gridCol>
                <a:gridCol w="8699031">
                  <a:extLst>
                    <a:ext uri="{9D8B030D-6E8A-4147-A177-3AD203B41FA5}">
                      <a16:colId xmlns:a16="http://schemas.microsoft.com/office/drawing/2014/main" val="20001"/>
                    </a:ext>
                  </a:extLst>
                </a:gridCol>
                <a:gridCol w="5232275">
                  <a:extLst>
                    <a:ext uri="{9D8B030D-6E8A-4147-A177-3AD203B41FA5}">
                      <a16:colId xmlns:a16="http://schemas.microsoft.com/office/drawing/2014/main" val="20002"/>
                    </a:ext>
                  </a:extLst>
                </a:gridCol>
              </a:tblGrid>
              <a:tr h="1302788">
                <a:tc>
                  <a:txBody>
                    <a:bodyPr/>
                    <a:lstStyle/>
                    <a:p>
                      <a:pPr algn="ctr">
                        <a:lnSpc>
                          <a:spcPts val="3448"/>
                        </a:lnSpc>
                        <a:defRPr/>
                      </a:pPr>
                      <a:r>
                        <a:rPr lang="en-US" sz="2463" b="1">
                          <a:solidFill>
                            <a:srgbClr val="5E17EB"/>
                          </a:solidFill>
                          <a:latin typeface="Open Sans Bold"/>
                          <a:ea typeface="Open Sans Bold"/>
                          <a:cs typeface="Open Sans Bold"/>
                          <a:sym typeface="Open Sans Bold"/>
                        </a:rPr>
                        <a:t>Student ID</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Pannel Comments</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How you/team addressed them</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0"/>
                  </a:ext>
                </a:extLst>
              </a:tr>
              <a:tr h="2812589">
                <a:tc>
                  <a:txBody>
                    <a:bodyPr/>
                    <a:lstStyle/>
                    <a:p>
                      <a:pPr algn="ctr">
                        <a:lnSpc>
                          <a:spcPts val="2748"/>
                        </a:lnSpc>
                        <a:defRPr/>
                      </a:pPr>
                      <a:r>
                        <a:rPr lang="en-US" sz="1963" b="1">
                          <a:solidFill>
                            <a:srgbClr val="000000"/>
                          </a:solidFill>
                          <a:latin typeface="Open Sans Bold"/>
                          <a:ea typeface="Open Sans Bold"/>
                          <a:cs typeface="Open Sans Bold"/>
                          <a:sym typeface="Open Sans Bold"/>
                        </a:rPr>
                        <a:t>IT22251664</a:t>
                      </a:r>
                      <a:endParaRPr lang="en-US" sz="1100"/>
                    </a:p>
                    <a:p>
                      <a:pPr algn="ctr">
                        <a:lnSpc>
                          <a:spcPts val="2748"/>
                        </a:lnSpc>
                      </a:pPr>
                      <a:r>
                        <a:rPr lang="en-US" sz="1963" b="1">
                          <a:solidFill>
                            <a:srgbClr val="000000"/>
                          </a:solidFill>
                          <a:latin typeface="Open Sans Bold"/>
                          <a:ea typeface="Open Sans Bold"/>
                          <a:cs typeface="Open Sans Bold"/>
                          <a:sym typeface="Open Sans Bold"/>
                        </a:rPr>
                        <a:t>Nipuni Bandara</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a:lnSpc>
                          <a:spcPts val="2608"/>
                        </a:lnSpc>
                        <a:spcBef>
                          <a:spcPct val="0"/>
                        </a:spcBef>
                        <a:defRPr/>
                      </a:pPr>
                      <a:r>
                        <a:rPr lang="en-US" sz="1863" u="none" strike="noStrike" dirty="0">
                          <a:solidFill>
                            <a:srgbClr val="000000"/>
                          </a:solidFill>
                          <a:latin typeface="Open Sans"/>
                          <a:ea typeface="Open Sans"/>
                          <a:cs typeface="Open Sans"/>
                          <a:sym typeface="Open Sans"/>
                        </a:rPr>
                        <a:t>AS A GROUP, time management should be there. Further, with whole group, literature is missing. Try to do the survey much more. mainly focuses on the inchat statements. Going to analyze the scam messages behaviour. Currently he has trying to get a data set from phd candidate.</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l">
                        <a:lnSpc>
                          <a:spcPts val="2328"/>
                        </a:lnSpc>
                        <a:defRPr/>
                      </a:pP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1"/>
                  </a:ext>
                </a:extLst>
              </a:tr>
              <a:tr h="2602688">
                <a:tc>
                  <a:txBody>
                    <a:bodyPr/>
                    <a:lstStyle/>
                    <a:p>
                      <a:pPr marL="0" lvl="0" indent="0" algn="ctr">
                        <a:lnSpc>
                          <a:spcPts val="2748"/>
                        </a:lnSpc>
                        <a:spcBef>
                          <a:spcPct val="0"/>
                        </a:spcBef>
                        <a:defRPr/>
                      </a:pPr>
                      <a:r>
                        <a:rPr lang="en-US" sz="1963" b="1" u="none" strike="noStrike">
                          <a:solidFill>
                            <a:srgbClr val="000000"/>
                          </a:solidFill>
                          <a:latin typeface="Open Sans Bold"/>
                          <a:ea typeface="Open Sans Bold"/>
                          <a:cs typeface="Open Sans Bold"/>
                          <a:sym typeface="Open Sans Bold"/>
                        </a:rPr>
                        <a:t>IT22113740</a:t>
                      </a:r>
                      <a:endParaRPr lang="en-US" sz="1100"/>
                    </a:p>
                    <a:p>
                      <a:pPr marL="0" lvl="0" indent="0" algn="ctr">
                        <a:lnSpc>
                          <a:spcPts val="2748"/>
                        </a:lnSpc>
                        <a:spcBef>
                          <a:spcPct val="0"/>
                        </a:spcBef>
                      </a:pPr>
                      <a:r>
                        <a:rPr lang="en-US" sz="1963" b="1" u="none" strike="noStrike">
                          <a:solidFill>
                            <a:srgbClr val="000000"/>
                          </a:solidFill>
                          <a:latin typeface="Open Sans Bold"/>
                          <a:ea typeface="Open Sans Bold"/>
                          <a:cs typeface="Open Sans Bold"/>
                          <a:sym typeface="Open Sans Bold"/>
                        </a:rPr>
                        <a:t>Santhosh S</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ctr">
                        <a:lnSpc>
                          <a:spcPts val="2608"/>
                        </a:lnSpc>
                        <a:spcBef>
                          <a:spcPct val="0"/>
                        </a:spcBef>
                        <a:defRPr/>
                      </a:pPr>
                      <a:r>
                        <a:rPr lang="en-US" sz="1863" u="none" strike="noStrike">
                          <a:solidFill>
                            <a:srgbClr val="000000"/>
                          </a:solidFill>
                          <a:latin typeface="Open Sans"/>
                          <a:ea typeface="Open Sans"/>
                          <a:cs typeface="Open Sans"/>
                          <a:sym typeface="Open Sans"/>
                        </a:rPr>
                        <a:t>Student need to figure out what is the actual novelty path you take after discussing with the supervisor. At least for sinhala language, do it perfectly. Need to include the related literature </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2328"/>
                        </a:lnSpc>
                        <a:defRPr/>
                      </a:pP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2"/>
                  </a:ext>
                </a:extLst>
              </a:tr>
            </a:tbl>
          </a:graphicData>
        </a:graphic>
      </p:graphicFrame>
      <p:graphicFrame>
        <p:nvGraphicFramePr>
          <p:cNvPr id="9" name="Table 9"/>
          <p:cNvGraphicFramePr>
            <a:graphicFrameLocks noGrp="1"/>
          </p:cNvGraphicFramePr>
          <p:nvPr>
            <p:extLst>
              <p:ext uri="{D42A27DB-BD31-4B8C-83A1-F6EECF244321}">
                <p14:modId xmlns:p14="http://schemas.microsoft.com/office/powerpoint/2010/main" val="1280832407"/>
              </p:ext>
            </p:extLst>
          </p:nvPr>
        </p:nvGraphicFramePr>
        <p:xfrm>
          <a:off x="1485702" y="1710365"/>
          <a:ext cx="16493046" cy="7588032"/>
        </p:xfrm>
        <a:graphic>
          <a:graphicData uri="http://schemas.openxmlformats.org/drawingml/2006/table">
            <a:tbl>
              <a:tblPr/>
              <a:tblGrid>
                <a:gridCol w="2561741">
                  <a:extLst>
                    <a:ext uri="{9D8B030D-6E8A-4147-A177-3AD203B41FA5}">
                      <a16:colId xmlns:a16="http://schemas.microsoft.com/office/drawing/2014/main" val="20000"/>
                    </a:ext>
                  </a:extLst>
                </a:gridCol>
                <a:gridCol w="6649943">
                  <a:extLst>
                    <a:ext uri="{9D8B030D-6E8A-4147-A177-3AD203B41FA5}">
                      <a16:colId xmlns:a16="http://schemas.microsoft.com/office/drawing/2014/main" val="20001"/>
                    </a:ext>
                  </a:extLst>
                </a:gridCol>
                <a:gridCol w="7281362">
                  <a:extLst>
                    <a:ext uri="{9D8B030D-6E8A-4147-A177-3AD203B41FA5}">
                      <a16:colId xmlns:a16="http://schemas.microsoft.com/office/drawing/2014/main" val="20002"/>
                    </a:ext>
                  </a:extLst>
                </a:gridCol>
              </a:tblGrid>
              <a:tr h="1301414">
                <a:tc>
                  <a:txBody>
                    <a:bodyPr/>
                    <a:lstStyle/>
                    <a:p>
                      <a:pPr algn="ctr">
                        <a:lnSpc>
                          <a:spcPts val="3448"/>
                        </a:lnSpc>
                        <a:defRPr/>
                      </a:pPr>
                      <a:r>
                        <a:rPr lang="en-US" sz="2463" b="1">
                          <a:solidFill>
                            <a:srgbClr val="5E17EB"/>
                          </a:solidFill>
                          <a:latin typeface="Open Sans Bold"/>
                          <a:ea typeface="Open Sans Bold"/>
                          <a:cs typeface="Open Sans Bold"/>
                          <a:sym typeface="Open Sans Bold"/>
                        </a:rPr>
                        <a:t>Student ID</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Pannel Comments</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How you/team addressed them</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0"/>
                  </a:ext>
                </a:extLst>
              </a:tr>
              <a:tr h="3685631">
                <a:tc>
                  <a:txBody>
                    <a:bodyPr/>
                    <a:lstStyle/>
                    <a:p>
                      <a:pPr algn="ctr">
                        <a:lnSpc>
                          <a:spcPts val="2748"/>
                        </a:lnSpc>
                        <a:defRPr/>
                      </a:pPr>
                      <a:r>
                        <a:rPr lang="en-US" sz="1963" b="1" dirty="0">
                          <a:solidFill>
                            <a:srgbClr val="000000"/>
                          </a:solidFill>
                          <a:latin typeface="Open Sans Bold"/>
                          <a:ea typeface="Open Sans Bold"/>
                          <a:cs typeface="Open Sans Bold"/>
                          <a:sym typeface="Open Sans Bold"/>
                        </a:rPr>
                        <a:t>IT22251664</a:t>
                      </a:r>
                      <a:endParaRPr lang="en-US" sz="1100" dirty="0"/>
                    </a:p>
                    <a:p>
                      <a:pPr algn="ctr">
                        <a:lnSpc>
                          <a:spcPts val="2748"/>
                        </a:lnSpc>
                      </a:pPr>
                      <a:r>
                        <a:rPr lang="en-US" sz="1963" b="1" dirty="0">
                          <a:solidFill>
                            <a:srgbClr val="000000"/>
                          </a:solidFill>
                          <a:latin typeface="Open Sans Bold"/>
                          <a:ea typeface="Open Sans Bold"/>
                          <a:cs typeface="Open Sans Bold"/>
                          <a:sym typeface="Open Sans Bold"/>
                        </a:rPr>
                        <a:t>Nipuni Bandara</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a:lnSpc>
                          <a:spcPts val="2608"/>
                        </a:lnSpc>
                        <a:spcBef>
                          <a:spcPct val="0"/>
                        </a:spcBef>
                        <a:defRPr/>
                      </a:pPr>
                      <a:r>
                        <a:rPr lang="en-US" sz="1863" dirty="0">
                          <a:solidFill>
                            <a:srgbClr val="000000"/>
                          </a:solidFill>
                          <a:latin typeface="Open Sans"/>
                          <a:ea typeface="Open Sans"/>
                          <a:cs typeface="Open Sans"/>
                          <a:sym typeface="Open Sans"/>
                        </a:rPr>
                        <a:t>Why</a:t>
                      </a:r>
                      <a:r>
                        <a:rPr lang="en-US" sz="1863" u="none" strike="noStrike" dirty="0">
                          <a:solidFill>
                            <a:srgbClr val="000000"/>
                          </a:solidFill>
                          <a:latin typeface="Open Sans"/>
                          <a:ea typeface="Open Sans"/>
                          <a:cs typeface="Open Sans"/>
                          <a:sym typeface="Open Sans"/>
                        </a:rPr>
                        <a:t> student need to have model, is not clearly explained. Better to think about it again before go to the next level. just because of mismatch in email address, cannot say it is a fraud employer. Need to include the literature</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402327" lvl="1" indent="-201163" algn="l">
                        <a:lnSpc>
                          <a:spcPts val="2608"/>
                        </a:lnSpc>
                        <a:buFont typeface="Arial"/>
                        <a:buChar char="•"/>
                        <a:defRPr/>
                      </a:pPr>
                      <a:r>
                        <a:rPr lang="en-US" sz="1863" u="none" strike="noStrike" dirty="0">
                          <a:solidFill>
                            <a:srgbClr val="000000"/>
                          </a:solidFill>
                          <a:latin typeface="Open Sans"/>
                          <a:ea typeface="Open Sans"/>
                          <a:cs typeface="Open Sans"/>
                          <a:sym typeface="Open Sans"/>
                        </a:rPr>
                        <a:t>Re-evaluated the need for ML and redesigned the system as a multi-factor fraud detection model</a:t>
                      </a:r>
                      <a:endParaRPr lang="en-US" sz="1100" dirty="0"/>
                    </a:p>
                    <a:p>
                      <a:pPr marL="402327" lvl="1" indent="-201163" algn="l">
                        <a:lnSpc>
                          <a:spcPts val="2608"/>
                        </a:lnSpc>
                        <a:buFont typeface="Arial"/>
                        <a:buChar char="•"/>
                      </a:pPr>
                      <a:r>
                        <a:rPr lang="en-US" sz="1863" u="none" strike="noStrike" dirty="0">
                          <a:solidFill>
                            <a:srgbClr val="000000"/>
                          </a:solidFill>
                          <a:latin typeface="Open Sans"/>
                          <a:ea typeface="Open Sans"/>
                          <a:cs typeface="Open Sans"/>
                          <a:sym typeface="Open Sans"/>
                        </a:rPr>
                        <a:t>Reduced dependence on single indicators such as email mismatch</a:t>
                      </a:r>
                    </a:p>
                    <a:p>
                      <a:pPr marL="402327" lvl="1" indent="-201163" algn="l">
                        <a:lnSpc>
                          <a:spcPts val="2608"/>
                        </a:lnSpc>
                        <a:buFont typeface="Arial"/>
                        <a:buChar char="•"/>
                      </a:pPr>
                      <a:r>
                        <a:rPr lang="en-US" sz="1863" u="none" strike="noStrike" dirty="0">
                          <a:solidFill>
                            <a:srgbClr val="000000"/>
                          </a:solidFill>
                          <a:latin typeface="Open Sans"/>
                          <a:ea typeface="Open Sans"/>
                          <a:cs typeface="Open Sans"/>
                          <a:sym typeface="Open Sans"/>
                        </a:rPr>
                        <a:t>Added company registration and reputation verification methods</a:t>
                      </a:r>
                    </a:p>
                    <a:p>
                      <a:pPr marL="402327" lvl="1" indent="-201163" algn="l">
                        <a:lnSpc>
                          <a:spcPts val="2608"/>
                        </a:lnSpc>
                        <a:buFont typeface="Arial"/>
                        <a:buChar char="•"/>
                      </a:pPr>
                      <a:r>
                        <a:rPr lang="en-US" sz="1863" u="none" strike="noStrike" dirty="0">
                          <a:solidFill>
                            <a:srgbClr val="000000"/>
                          </a:solidFill>
                          <a:latin typeface="Open Sans"/>
                          <a:ea typeface="Open Sans"/>
                          <a:cs typeface="Open Sans"/>
                          <a:sym typeface="Open Sans"/>
                        </a:rPr>
                        <a:t>Improved the system using literature and real-world scam detection concepts</a:t>
                      </a:r>
                    </a:p>
                    <a:p>
                      <a:pPr marL="402327" lvl="1" indent="-201163" algn="l">
                        <a:lnSpc>
                          <a:spcPts val="2608"/>
                        </a:lnSpc>
                        <a:buFont typeface="Arial"/>
                        <a:buChar char="•"/>
                      </a:pPr>
                      <a:r>
                        <a:rPr lang="en-US" sz="1863" u="none" strike="noStrike" dirty="0">
                          <a:solidFill>
                            <a:srgbClr val="000000"/>
                          </a:solidFill>
                          <a:latin typeface="Open Sans"/>
                          <a:ea typeface="Open Sans"/>
                          <a:cs typeface="Open Sans"/>
                          <a:sym typeface="Open Sans"/>
                        </a:rPr>
                        <a:t>Enhanced transparency with explainable risk scoring and evidence tracing</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1"/>
                  </a:ext>
                </a:extLst>
              </a:tr>
              <a:tr h="2600987">
                <a:tc>
                  <a:txBody>
                    <a:bodyPr/>
                    <a:lstStyle/>
                    <a:p>
                      <a:pPr marL="0" lvl="0" indent="0" algn="ctr">
                        <a:lnSpc>
                          <a:spcPts val="2748"/>
                        </a:lnSpc>
                        <a:spcBef>
                          <a:spcPct val="0"/>
                        </a:spcBef>
                        <a:defRPr/>
                      </a:pPr>
                      <a:r>
                        <a:rPr lang="en-US" sz="1963" b="1" u="none" strike="noStrike">
                          <a:solidFill>
                            <a:srgbClr val="000000"/>
                          </a:solidFill>
                          <a:latin typeface="Open Sans Bold"/>
                          <a:ea typeface="Open Sans Bold"/>
                          <a:cs typeface="Open Sans Bold"/>
                          <a:sym typeface="Open Sans Bold"/>
                        </a:rPr>
                        <a:t>IT22188618</a:t>
                      </a:r>
                      <a:endParaRPr lang="en-US" sz="1100"/>
                    </a:p>
                    <a:p>
                      <a:pPr marL="0" lvl="0" indent="0" algn="ctr">
                        <a:lnSpc>
                          <a:spcPts val="2748"/>
                        </a:lnSpc>
                        <a:spcBef>
                          <a:spcPct val="0"/>
                        </a:spcBef>
                      </a:pPr>
                      <a:r>
                        <a:rPr lang="en-US" sz="1963" b="1" u="none" strike="noStrike">
                          <a:solidFill>
                            <a:srgbClr val="000000"/>
                          </a:solidFill>
                          <a:latin typeface="Open Sans Bold"/>
                          <a:ea typeface="Open Sans Bold"/>
                          <a:cs typeface="Open Sans Bold"/>
                          <a:sym typeface="Open Sans Bold"/>
                        </a:rPr>
                        <a:t>Methmi N P C S</a:t>
                      </a:r>
                    </a:p>
                    <a:p>
                      <a:pPr marL="0" lvl="0" indent="0" algn="ctr">
                        <a:lnSpc>
                          <a:spcPts val="2748"/>
                        </a:lnSpc>
                        <a:spcBef>
                          <a:spcPct val="0"/>
                        </a:spcBef>
                      </a:pPr>
                      <a:endParaRPr lang="en-US" sz="1963" b="1" u="none" strike="noStrike">
                        <a:solidFill>
                          <a:srgbClr val="000000"/>
                        </a:solidFill>
                        <a:latin typeface="Open Sans Bold"/>
                        <a:ea typeface="Open Sans Bold"/>
                        <a:cs typeface="Open Sans Bold"/>
                        <a:sym typeface="Open Sans Bold"/>
                      </a:endParaRP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ctr">
                        <a:lnSpc>
                          <a:spcPts val="2608"/>
                        </a:lnSpc>
                        <a:spcBef>
                          <a:spcPct val="0"/>
                        </a:spcBef>
                        <a:defRPr/>
                      </a:pPr>
                      <a:r>
                        <a:rPr lang="en-US" sz="1863">
                          <a:solidFill>
                            <a:srgbClr val="000000"/>
                          </a:solidFill>
                          <a:latin typeface="Open Sans"/>
                          <a:ea typeface="Open Sans"/>
                          <a:cs typeface="Open Sans"/>
                          <a:sym typeface="Open Sans"/>
                        </a:rPr>
                        <a:t>Compo</a:t>
                      </a:r>
                      <a:r>
                        <a:rPr lang="en-US" sz="1863" u="none" strike="noStrike">
                          <a:solidFill>
                            <a:srgbClr val="000000"/>
                          </a:solidFill>
                          <a:latin typeface="Open Sans"/>
                          <a:ea typeface="Open Sans"/>
                          <a:cs typeface="Open Sans"/>
                          <a:sym typeface="Open Sans"/>
                        </a:rPr>
                        <a:t>nenet is fine. No major issues. Need to manage time properly. Literature and the background is missing.</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342900" indent="-342900" algn="l">
                        <a:lnSpc>
                          <a:spcPts val="2328"/>
                        </a:lnSpc>
                        <a:buFont typeface="Arial" panose="020B0604020202020204" pitchFamily="34" charset="0"/>
                        <a:buChar char="•"/>
                        <a:defRPr/>
                      </a:pPr>
                      <a:r>
                        <a:rPr lang="en-US" sz="1863" u="none" strike="noStrike" kern="1200" dirty="0">
                          <a:solidFill>
                            <a:srgbClr val="000000"/>
                          </a:solidFill>
                          <a:latin typeface="Open Sans"/>
                          <a:ea typeface="Open Sans"/>
                          <a:cs typeface="Open Sans"/>
                        </a:rPr>
                        <a:t>Strengthened the literature review by analyzing existing recommendation techniques, their limitations, and research gaps.</a:t>
                      </a:r>
                    </a:p>
                    <a:p>
                      <a:pPr marL="342900" indent="-342900" algn="l">
                        <a:lnSpc>
                          <a:spcPts val="2328"/>
                        </a:lnSpc>
                        <a:buFont typeface="Arial" panose="020B0604020202020204" pitchFamily="34" charset="0"/>
                        <a:buChar char="•"/>
                        <a:defRPr/>
                      </a:pPr>
                      <a:r>
                        <a:rPr lang="en-US" sz="1863" u="none" strike="noStrike" kern="1200" dirty="0">
                          <a:solidFill>
                            <a:srgbClr val="000000"/>
                          </a:solidFill>
                          <a:latin typeface="Open Sans"/>
                          <a:ea typeface="Open Sans"/>
                          <a:cs typeface="Open Sans"/>
                        </a:rPr>
                        <a:t>Improved the research background by justifying the selection of TF-IDF, EWM, and TOPSIS based on limitations of existing approaches.</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62745" y="2150344"/>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rot="-5400000">
            <a:off x="-5967191" y="4494189"/>
            <a:ext cx="11520040" cy="1298623"/>
          </a:xfrm>
          <a:custGeom>
            <a:avLst/>
            <a:gdLst/>
            <a:ahLst/>
            <a:cxnLst/>
            <a:rect l="l" t="t" r="r" b="b"/>
            <a:pathLst>
              <a:path w="11520040" h="1298623">
                <a:moveTo>
                  <a:pt x="0" y="0"/>
                </a:moveTo>
                <a:lnTo>
                  <a:pt x="11520040" y="0"/>
                </a:lnTo>
                <a:lnTo>
                  <a:pt x="11520040" y="1298622"/>
                </a:lnTo>
                <a:lnTo>
                  <a:pt x="0" y="12986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6630774" y="1271239"/>
            <a:ext cx="1203916" cy="1203916"/>
          </a:xfrm>
          <a:custGeom>
            <a:avLst/>
            <a:gdLst/>
            <a:ahLst/>
            <a:cxnLst/>
            <a:rect l="l" t="t" r="r" b="b"/>
            <a:pathLst>
              <a:path w="1203916" h="1203916">
                <a:moveTo>
                  <a:pt x="0" y="0"/>
                </a:moveTo>
                <a:lnTo>
                  <a:pt x="1203916" y="0"/>
                </a:lnTo>
                <a:lnTo>
                  <a:pt x="1203916" y="1203916"/>
                </a:lnTo>
                <a:lnTo>
                  <a:pt x="0" y="12039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4213598" y="8265069"/>
            <a:ext cx="1472057" cy="1580732"/>
          </a:xfrm>
          <a:custGeom>
            <a:avLst/>
            <a:gdLst/>
            <a:ahLst/>
            <a:cxnLst/>
            <a:rect l="l" t="t" r="r" b="b"/>
            <a:pathLst>
              <a:path w="1472057" h="1580732">
                <a:moveTo>
                  <a:pt x="0" y="0"/>
                </a:moveTo>
                <a:lnTo>
                  <a:pt x="1472057" y="0"/>
                </a:lnTo>
                <a:lnTo>
                  <a:pt x="1472057" y="1580732"/>
                </a:lnTo>
                <a:lnTo>
                  <a:pt x="0" y="1580732"/>
                </a:lnTo>
                <a:lnTo>
                  <a:pt x="0" y="0"/>
                </a:lnTo>
                <a:close/>
              </a:path>
            </a:pathLst>
          </a:custGeom>
          <a:blipFill>
            <a:blip r:embed="rId4"/>
            <a:stretch>
              <a:fillRect/>
            </a:stretch>
          </a:blipFill>
        </p:spPr>
        <p:txBody>
          <a:bodyPr/>
          <a:lstStyle/>
          <a:p>
            <a:endParaRPr lang="en-US"/>
          </a:p>
        </p:txBody>
      </p:sp>
      <p:sp>
        <p:nvSpPr>
          <p:cNvPr id="6" name="Freeform 6"/>
          <p:cNvSpPr/>
          <p:nvPr/>
        </p:nvSpPr>
        <p:spPr>
          <a:xfrm>
            <a:off x="16801629" y="871408"/>
            <a:ext cx="896744" cy="1449284"/>
          </a:xfrm>
          <a:custGeom>
            <a:avLst/>
            <a:gdLst/>
            <a:ahLst/>
            <a:cxnLst/>
            <a:rect l="l" t="t" r="r" b="b"/>
            <a:pathLst>
              <a:path w="896744" h="1449284">
                <a:moveTo>
                  <a:pt x="0" y="0"/>
                </a:moveTo>
                <a:lnTo>
                  <a:pt x="896744" y="0"/>
                </a:lnTo>
                <a:lnTo>
                  <a:pt x="896744" y="1449284"/>
                </a:lnTo>
                <a:lnTo>
                  <a:pt x="0" y="14492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6"/>
            <a:stretch>
              <a:fillRect l="-1652" t="-36979" b="-5607"/>
            </a:stretch>
          </a:blipFill>
        </p:spPr>
        <p:txBody>
          <a:bodyPr/>
          <a:lstStyle/>
          <a:p>
            <a:endParaRPr lang="en-US"/>
          </a:p>
        </p:txBody>
      </p:sp>
      <p:sp>
        <p:nvSpPr>
          <p:cNvPr id="8" name="TextBox 8"/>
          <p:cNvSpPr txBox="1"/>
          <p:nvPr/>
        </p:nvSpPr>
        <p:spPr>
          <a:xfrm>
            <a:off x="716504" y="7042237"/>
            <a:ext cx="6063376" cy="1927611"/>
          </a:xfrm>
          <a:prstGeom prst="rect">
            <a:avLst/>
          </a:prstGeom>
        </p:spPr>
        <p:txBody>
          <a:bodyPr lIns="0" tIns="0" rIns="0" bIns="0" rtlCol="0" anchor="t">
            <a:spAutoFit/>
          </a:bodyPr>
          <a:lstStyle/>
          <a:p>
            <a:pPr marL="0" lvl="0" indent="0" algn="l">
              <a:lnSpc>
                <a:spcPts val="5148"/>
              </a:lnSpc>
              <a:spcBef>
                <a:spcPct val="0"/>
              </a:spcBef>
            </a:pPr>
            <a:r>
              <a:rPr lang="en-US" sz="3677" spc="102">
                <a:solidFill>
                  <a:srgbClr val="000000"/>
                </a:solidFill>
                <a:latin typeface="League Spartan"/>
                <a:ea typeface="League Spartan"/>
                <a:cs typeface="League Spartan"/>
                <a:sym typeface="League Spartan"/>
              </a:rPr>
              <a:t>DESIGN EXCELLENCE OF THE OVERALL SOLUTION</a:t>
            </a:r>
          </a:p>
        </p:txBody>
      </p:sp>
      <p:sp>
        <p:nvSpPr>
          <p:cNvPr id="9" name="Freeform 9"/>
          <p:cNvSpPr/>
          <p:nvPr/>
        </p:nvSpPr>
        <p:spPr>
          <a:xfrm>
            <a:off x="11252931" y="1710462"/>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10" name="Freeform 10"/>
          <p:cNvSpPr/>
          <p:nvPr/>
        </p:nvSpPr>
        <p:spPr>
          <a:xfrm>
            <a:off x="744818" y="8969848"/>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grpSp>
        <p:nvGrpSpPr>
          <p:cNvPr id="11" name="Group 11"/>
          <p:cNvGrpSpPr/>
          <p:nvPr/>
        </p:nvGrpSpPr>
        <p:grpSpPr>
          <a:xfrm>
            <a:off x="562745" y="2629516"/>
            <a:ext cx="9458396" cy="3016011"/>
            <a:chOff x="0" y="0"/>
            <a:chExt cx="1946172" cy="620578"/>
          </a:xfrm>
        </p:grpSpPr>
        <p:sp>
          <p:nvSpPr>
            <p:cNvPr id="12" name="Freeform 12"/>
            <p:cNvSpPr/>
            <p:nvPr/>
          </p:nvSpPr>
          <p:spPr>
            <a:xfrm>
              <a:off x="0" y="0"/>
              <a:ext cx="1946172" cy="620578"/>
            </a:xfrm>
            <a:custGeom>
              <a:avLst/>
              <a:gdLst/>
              <a:ahLst/>
              <a:cxnLst/>
              <a:rect l="l" t="t" r="r" b="b"/>
              <a:pathLst>
                <a:path w="1946172" h="620578">
                  <a:moveTo>
                    <a:pt x="15987" y="0"/>
                  </a:moveTo>
                  <a:lnTo>
                    <a:pt x="1930185" y="0"/>
                  </a:lnTo>
                  <a:cubicBezTo>
                    <a:pt x="1939014" y="0"/>
                    <a:pt x="1946172" y="7158"/>
                    <a:pt x="1946172" y="15987"/>
                  </a:cubicBezTo>
                  <a:lnTo>
                    <a:pt x="1946172" y="604592"/>
                  </a:lnTo>
                  <a:cubicBezTo>
                    <a:pt x="1946172" y="608832"/>
                    <a:pt x="1944488" y="612898"/>
                    <a:pt x="1941489" y="615896"/>
                  </a:cubicBezTo>
                  <a:cubicBezTo>
                    <a:pt x="1938491" y="618894"/>
                    <a:pt x="1934425" y="620578"/>
                    <a:pt x="1930185" y="620578"/>
                  </a:cubicBezTo>
                  <a:lnTo>
                    <a:pt x="15987" y="620578"/>
                  </a:lnTo>
                  <a:cubicBezTo>
                    <a:pt x="11747" y="620578"/>
                    <a:pt x="7681" y="618894"/>
                    <a:pt x="4682" y="615896"/>
                  </a:cubicBezTo>
                  <a:cubicBezTo>
                    <a:pt x="1684" y="612898"/>
                    <a:pt x="0" y="608832"/>
                    <a:pt x="0" y="604592"/>
                  </a:cubicBezTo>
                  <a:lnTo>
                    <a:pt x="0" y="15987"/>
                  </a:lnTo>
                  <a:cubicBezTo>
                    <a:pt x="0" y="11747"/>
                    <a:pt x="1684" y="7681"/>
                    <a:pt x="4682" y="4682"/>
                  </a:cubicBezTo>
                  <a:cubicBezTo>
                    <a:pt x="7681" y="1684"/>
                    <a:pt x="11747" y="0"/>
                    <a:pt x="15987" y="0"/>
                  </a:cubicBezTo>
                  <a:close/>
                </a:path>
              </a:pathLst>
            </a:custGeom>
            <a:gradFill rotWithShape="1">
              <a:gsLst>
                <a:gs pos="0">
                  <a:srgbClr val="FFFCF5">
                    <a:alpha val="100000"/>
                  </a:srgbClr>
                </a:gs>
                <a:gs pos="100000">
                  <a:srgbClr val="D8D5CA">
                    <a:alpha val="100000"/>
                  </a:srgbClr>
                </a:gs>
              </a:gsLst>
              <a:lin ang="5400000"/>
            </a:gradFill>
            <a:ln cap="rnd">
              <a:noFill/>
              <a:prstDash val="solid"/>
              <a:round/>
            </a:ln>
          </p:spPr>
          <p:txBody>
            <a:bodyPr/>
            <a:lstStyle/>
            <a:p>
              <a:endParaRPr lang="en-US"/>
            </a:p>
          </p:txBody>
        </p:sp>
        <p:sp>
          <p:nvSpPr>
            <p:cNvPr id="13" name="TextBox 13"/>
            <p:cNvSpPr txBox="1"/>
            <p:nvPr/>
          </p:nvSpPr>
          <p:spPr>
            <a:xfrm>
              <a:off x="0" y="-57150"/>
              <a:ext cx="1946172" cy="677728"/>
            </a:xfrm>
            <a:prstGeom prst="rect">
              <a:avLst/>
            </a:prstGeom>
          </p:spPr>
          <p:txBody>
            <a:bodyPr lIns="50800" tIns="50800" rIns="50800" bIns="50800" rtlCol="0" anchor="ctr"/>
            <a:lstStyle/>
            <a:p>
              <a:pPr marL="578471" lvl="1" indent="-289235" algn="l">
                <a:lnSpc>
                  <a:spcPts val="3751"/>
                </a:lnSpc>
                <a:spcBef>
                  <a:spcPct val="0"/>
                </a:spcBef>
                <a:buFont typeface="Arial"/>
                <a:buChar char="•"/>
              </a:pPr>
              <a:r>
                <a:rPr lang="en-US" sz="2679" u="none" strike="noStrike">
                  <a:solidFill>
                    <a:srgbClr val="000000"/>
                  </a:solidFill>
                  <a:latin typeface="Open Sans"/>
                  <a:ea typeface="Open Sans"/>
                  <a:cs typeface="Open Sans"/>
                  <a:sym typeface="Open Sans"/>
                </a:rPr>
                <a:t>Increasing fake job scams and online recruitment fraud in Sri Lanka</a:t>
              </a:r>
            </a:p>
            <a:p>
              <a:pPr marL="578471" lvl="1" indent="-289235" algn="l">
                <a:lnSpc>
                  <a:spcPts val="3751"/>
                </a:lnSpc>
                <a:spcBef>
                  <a:spcPct val="0"/>
                </a:spcBef>
                <a:buFont typeface="Arial"/>
                <a:buChar char="•"/>
              </a:pPr>
              <a:r>
                <a:rPr lang="en-US" sz="2679" u="none" strike="noStrike">
                  <a:solidFill>
                    <a:srgbClr val="000000"/>
                  </a:solidFill>
                  <a:latin typeface="Open Sans"/>
                  <a:ea typeface="Open Sans"/>
                  <a:cs typeface="Open Sans"/>
                  <a:sym typeface="Open Sans"/>
                </a:rPr>
                <a:t>Causes financial loss, personal data theft, psychological stress, and career setbacks</a:t>
              </a:r>
            </a:p>
            <a:p>
              <a:pPr marL="578471" lvl="1" indent="-289235" algn="l">
                <a:lnSpc>
                  <a:spcPts val="3751"/>
                </a:lnSpc>
                <a:spcBef>
                  <a:spcPct val="0"/>
                </a:spcBef>
                <a:buFont typeface="Arial"/>
                <a:buChar char="•"/>
              </a:pPr>
              <a:r>
                <a:rPr lang="en-US" sz="2679" u="none" strike="noStrike">
                  <a:solidFill>
                    <a:srgbClr val="000000"/>
                  </a:solidFill>
                  <a:latin typeface="Open Sans"/>
                  <a:ea typeface="Open Sans"/>
                  <a:cs typeface="Open Sans"/>
                  <a:sym typeface="Open Sans"/>
                </a:rPr>
                <a:t>Reduces trust in digital recruitment platforms and creates social and economic impact</a:t>
              </a:r>
            </a:p>
          </p:txBody>
        </p:sp>
      </p:grpSp>
      <p:sp>
        <p:nvSpPr>
          <p:cNvPr id="14" name="TextBox 14"/>
          <p:cNvSpPr txBox="1"/>
          <p:nvPr/>
        </p:nvSpPr>
        <p:spPr>
          <a:xfrm>
            <a:off x="562745" y="1529375"/>
            <a:ext cx="6260136" cy="620969"/>
          </a:xfrm>
          <a:prstGeom prst="rect">
            <a:avLst/>
          </a:prstGeom>
        </p:spPr>
        <p:txBody>
          <a:bodyPr lIns="0" tIns="0" rIns="0" bIns="0" rtlCol="0" anchor="t">
            <a:spAutoFit/>
          </a:bodyPr>
          <a:lstStyle/>
          <a:p>
            <a:pPr marL="0" lvl="0" indent="0" algn="l">
              <a:lnSpc>
                <a:spcPts val="5148"/>
              </a:lnSpc>
              <a:spcBef>
                <a:spcPct val="0"/>
              </a:spcBef>
            </a:pPr>
            <a:r>
              <a:rPr lang="en-US" sz="3677" b="1" u="none" strike="noStrike" spc="102">
                <a:solidFill>
                  <a:srgbClr val="000000"/>
                </a:solidFill>
                <a:latin typeface="League Spartan"/>
                <a:ea typeface="League Spartan"/>
                <a:cs typeface="League Spartan"/>
                <a:sym typeface="League Spartan"/>
              </a:rPr>
              <a:t>PROBLEM AND IMPACT</a:t>
            </a:r>
          </a:p>
        </p:txBody>
      </p:sp>
      <p:sp>
        <p:nvSpPr>
          <p:cNvPr id="15" name="TextBox 15"/>
          <p:cNvSpPr txBox="1"/>
          <p:nvPr/>
        </p:nvSpPr>
        <p:spPr>
          <a:xfrm>
            <a:off x="562745" y="100311"/>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16" name="TextBox 16"/>
          <p:cNvSpPr txBox="1"/>
          <p:nvPr/>
        </p:nvSpPr>
        <p:spPr>
          <a:xfrm>
            <a:off x="8114228" y="9805669"/>
            <a:ext cx="2934772" cy="467757"/>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00000"/>
                </a:solidFill>
                <a:latin typeface="Canva Sans Bold"/>
                <a:ea typeface="Canva Sans Bold"/>
                <a:cs typeface="Canva Sans Bold"/>
                <a:sym typeface="Canva Sans Bold"/>
              </a:rPr>
              <a:t>R26-SE-002</a:t>
            </a:r>
          </a:p>
        </p:txBody>
      </p:sp>
      <p:sp>
        <p:nvSpPr>
          <p:cNvPr id="17" name="TextBox 17"/>
          <p:cNvSpPr txBox="1"/>
          <p:nvPr/>
        </p:nvSpPr>
        <p:spPr>
          <a:xfrm>
            <a:off x="11154047" y="1089493"/>
            <a:ext cx="4079871" cy="620969"/>
          </a:xfrm>
          <a:prstGeom prst="rect">
            <a:avLst/>
          </a:prstGeom>
        </p:spPr>
        <p:txBody>
          <a:bodyPr lIns="0" tIns="0" rIns="0" bIns="0" rtlCol="0" anchor="t">
            <a:spAutoFit/>
          </a:bodyPr>
          <a:lstStyle/>
          <a:p>
            <a:pPr marL="0" lvl="0" indent="0" algn="l">
              <a:lnSpc>
                <a:spcPts val="5148"/>
              </a:lnSpc>
              <a:spcBef>
                <a:spcPct val="0"/>
              </a:spcBef>
            </a:pPr>
            <a:r>
              <a:rPr lang="en-US" sz="3677" b="1" u="none" strike="noStrike" spc="102">
                <a:solidFill>
                  <a:srgbClr val="000000"/>
                </a:solidFill>
                <a:latin typeface="League Spartan"/>
                <a:ea typeface="League Spartan"/>
                <a:cs typeface="League Spartan"/>
                <a:sym typeface="League Spartan"/>
              </a:rPr>
              <a:t>BENEFICIARIES</a:t>
            </a:r>
          </a:p>
        </p:txBody>
      </p:sp>
      <p:grpSp>
        <p:nvGrpSpPr>
          <p:cNvPr id="18" name="Group 18"/>
          <p:cNvGrpSpPr/>
          <p:nvPr/>
        </p:nvGrpSpPr>
        <p:grpSpPr>
          <a:xfrm>
            <a:off x="10271808" y="2193138"/>
            <a:ext cx="7884237" cy="2539761"/>
            <a:chOff x="0" y="0"/>
            <a:chExt cx="1622271" cy="522585"/>
          </a:xfrm>
        </p:grpSpPr>
        <p:sp>
          <p:nvSpPr>
            <p:cNvPr id="19" name="Freeform 19"/>
            <p:cNvSpPr/>
            <p:nvPr/>
          </p:nvSpPr>
          <p:spPr>
            <a:xfrm>
              <a:off x="0" y="0"/>
              <a:ext cx="1622271" cy="522585"/>
            </a:xfrm>
            <a:custGeom>
              <a:avLst/>
              <a:gdLst/>
              <a:ahLst/>
              <a:cxnLst/>
              <a:rect l="l" t="t" r="r" b="b"/>
              <a:pathLst>
                <a:path w="1622271" h="522585">
                  <a:moveTo>
                    <a:pt x="19179" y="0"/>
                  </a:moveTo>
                  <a:lnTo>
                    <a:pt x="1603092" y="0"/>
                  </a:lnTo>
                  <a:cubicBezTo>
                    <a:pt x="1613684" y="0"/>
                    <a:pt x="1622271" y="8587"/>
                    <a:pt x="1622271" y="19179"/>
                  </a:cubicBezTo>
                  <a:lnTo>
                    <a:pt x="1622271" y="503406"/>
                  </a:lnTo>
                  <a:cubicBezTo>
                    <a:pt x="1622271" y="513998"/>
                    <a:pt x="1613684" y="522585"/>
                    <a:pt x="1603092" y="522585"/>
                  </a:cubicBezTo>
                  <a:lnTo>
                    <a:pt x="19179" y="522585"/>
                  </a:lnTo>
                  <a:cubicBezTo>
                    <a:pt x="8587" y="522585"/>
                    <a:pt x="0" y="513998"/>
                    <a:pt x="0" y="503406"/>
                  </a:cubicBezTo>
                  <a:lnTo>
                    <a:pt x="0" y="19179"/>
                  </a:lnTo>
                  <a:cubicBezTo>
                    <a:pt x="0" y="8587"/>
                    <a:pt x="8587" y="0"/>
                    <a:pt x="19179" y="0"/>
                  </a:cubicBezTo>
                  <a:close/>
                </a:path>
              </a:pathLst>
            </a:custGeom>
            <a:gradFill rotWithShape="1">
              <a:gsLst>
                <a:gs pos="0">
                  <a:srgbClr val="FEFFFF">
                    <a:alpha val="100000"/>
                  </a:srgbClr>
                </a:gs>
                <a:gs pos="100000">
                  <a:srgbClr val="C5C5C5">
                    <a:alpha val="100000"/>
                  </a:srgbClr>
                </a:gs>
              </a:gsLst>
              <a:lin ang="5400000"/>
            </a:gradFill>
          </p:spPr>
          <p:txBody>
            <a:bodyPr/>
            <a:lstStyle/>
            <a:p>
              <a:endParaRPr lang="en-US"/>
            </a:p>
          </p:txBody>
        </p:sp>
        <p:sp>
          <p:nvSpPr>
            <p:cNvPr id="20" name="TextBox 20"/>
            <p:cNvSpPr txBox="1"/>
            <p:nvPr/>
          </p:nvSpPr>
          <p:spPr>
            <a:xfrm>
              <a:off x="0" y="-57150"/>
              <a:ext cx="1622271" cy="579735"/>
            </a:xfrm>
            <a:prstGeom prst="rect">
              <a:avLst/>
            </a:prstGeom>
          </p:spPr>
          <p:txBody>
            <a:bodyPr lIns="50800" tIns="50800" rIns="50800" bIns="50800" rtlCol="0" anchor="ctr"/>
            <a:lstStyle/>
            <a:p>
              <a:pPr marL="578471" lvl="1" indent="-289235" algn="l">
                <a:lnSpc>
                  <a:spcPts val="3751"/>
                </a:lnSpc>
                <a:buFont typeface="Arial"/>
                <a:buChar char="•"/>
              </a:pPr>
              <a:r>
                <a:rPr lang="en-US" sz="2679">
                  <a:solidFill>
                    <a:srgbClr val="000000"/>
                  </a:solidFill>
                  <a:latin typeface="Open Sans"/>
                  <a:ea typeface="Open Sans"/>
                  <a:cs typeface="Open Sans"/>
                  <a:sym typeface="Open Sans"/>
                </a:rPr>
                <a:t>Job seekers and undergraduates</a:t>
              </a:r>
            </a:p>
            <a:p>
              <a:pPr marL="578471" lvl="1" indent="-289235" algn="l">
                <a:lnSpc>
                  <a:spcPts val="3751"/>
                </a:lnSpc>
                <a:buFont typeface="Arial"/>
                <a:buChar char="•"/>
              </a:pPr>
              <a:r>
                <a:rPr lang="en-US" sz="2679">
                  <a:solidFill>
                    <a:srgbClr val="000000"/>
                  </a:solidFill>
                  <a:latin typeface="Open Sans"/>
                  <a:ea typeface="Open Sans"/>
                  <a:cs typeface="Open Sans"/>
                  <a:sym typeface="Open Sans"/>
                </a:rPr>
                <a:t>Online job platforms, recruitment agencies, and educational institutions</a:t>
              </a:r>
            </a:p>
            <a:p>
              <a:pPr marL="578471" lvl="1" indent="-289235" algn="l">
                <a:lnSpc>
                  <a:spcPts val="3751"/>
                </a:lnSpc>
                <a:buFont typeface="Arial"/>
                <a:buChar char="•"/>
              </a:pPr>
              <a:r>
                <a:rPr lang="en-US" sz="2679">
                  <a:solidFill>
                    <a:srgbClr val="000000"/>
                  </a:solidFill>
                  <a:latin typeface="Open Sans"/>
                  <a:ea typeface="Open Sans"/>
                  <a:cs typeface="Open Sans"/>
                  <a:sym typeface="Open Sans"/>
                </a:rPr>
                <a:t>Government authorities and law enforcement agencies</a:t>
              </a:r>
            </a:p>
          </p:txBody>
        </p:sp>
      </p:grpSp>
      <p:grpSp>
        <p:nvGrpSpPr>
          <p:cNvPr id="21" name="Group 21"/>
          <p:cNvGrpSpPr/>
          <p:nvPr/>
        </p:nvGrpSpPr>
        <p:grpSpPr>
          <a:xfrm>
            <a:off x="6630774" y="6133891"/>
            <a:ext cx="11525270" cy="3549671"/>
            <a:chOff x="0" y="0"/>
            <a:chExt cx="2333101" cy="718572"/>
          </a:xfrm>
        </p:grpSpPr>
        <p:sp>
          <p:nvSpPr>
            <p:cNvPr id="22" name="Freeform 22"/>
            <p:cNvSpPr/>
            <p:nvPr/>
          </p:nvSpPr>
          <p:spPr>
            <a:xfrm>
              <a:off x="0" y="0"/>
              <a:ext cx="2333101" cy="718572"/>
            </a:xfrm>
            <a:custGeom>
              <a:avLst/>
              <a:gdLst/>
              <a:ahLst/>
              <a:cxnLst/>
              <a:rect l="l" t="t" r="r" b="b"/>
              <a:pathLst>
                <a:path w="2333101" h="718572">
                  <a:moveTo>
                    <a:pt x="13120" y="0"/>
                  </a:moveTo>
                  <a:lnTo>
                    <a:pt x="2319981" y="0"/>
                  </a:lnTo>
                  <a:cubicBezTo>
                    <a:pt x="2323460" y="0"/>
                    <a:pt x="2326798" y="1382"/>
                    <a:pt x="2329258" y="3843"/>
                  </a:cubicBezTo>
                  <a:cubicBezTo>
                    <a:pt x="2331718" y="6303"/>
                    <a:pt x="2333101" y="9640"/>
                    <a:pt x="2333101" y="13120"/>
                  </a:cubicBezTo>
                  <a:lnTo>
                    <a:pt x="2333101" y="705452"/>
                  </a:lnTo>
                  <a:cubicBezTo>
                    <a:pt x="2333101" y="712698"/>
                    <a:pt x="2327227" y="718572"/>
                    <a:pt x="2319981" y="718572"/>
                  </a:cubicBezTo>
                  <a:lnTo>
                    <a:pt x="13120" y="718572"/>
                  </a:lnTo>
                  <a:cubicBezTo>
                    <a:pt x="9640" y="718572"/>
                    <a:pt x="6303" y="717190"/>
                    <a:pt x="3843" y="714730"/>
                  </a:cubicBezTo>
                  <a:cubicBezTo>
                    <a:pt x="1382" y="712269"/>
                    <a:pt x="0" y="708932"/>
                    <a:pt x="0" y="705452"/>
                  </a:cubicBezTo>
                  <a:lnTo>
                    <a:pt x="0" y="13120"/>
                  </a:lnTo>
                  <a:cubicBezTo>
                    <a:pt x="0" y="5874"/>
                    <a:pt x="5874" y="0"/>
                    <a:pt x="13120" y="0"/>
                  </a:cubicBezTo>
                  <a:close/>
                </a:path>
              </a:pathLst>
            </a:custGeom>
            <a:gradFill rotWithShape="1">
              <a:gsLst>
                <a:gs pos="0">
                  <a:srgbClr val="E9F0F3">
                    <a:alpha val="100000"/>
                  </a:srgbClr>
                </a:gs>
                <a:gs pos="100000">
                  <a:srgbClr val="A2A5AC">
                    <a:alpha val="100000"/>
                  </a:srgbClr>
                </a:gs>
              </a:gsLst>
              <a:lin ang="5400000"/>
            </a:gradFill>
            <a:ln cap="rnd">
              <a:noFill/>
              <a:prstDash val="solid"/>
              <a:round/>
            </a:ln>
          </p:spPr>
          <p:txBody>
            <a:bodyPr/>
            <a:lstStyle/>
            <a:p>
              <a:endParaRPr lang="en-US"/>
            </a:p>
          </p:txBody>
        </p:sp>
        <p:sp>
          <p:nvSpPr>
            <p:cNvPr id="23" name="TextBox 23"/>
            <p:cNvSpPr txBox="1"/>
            <p:nvPr/>
          </p:nvSpPr>
          <p:spPr>
            <a:xfrm>
              <a:off x="0" y="-57150"/>
              <a:ext cx="2333101" cy="775722"/>
            </a:xfrm>
            <a:prstGeom prst="rect">
              <a:avLst/>
            </a:prstGeom>
          </p:spPr>
          <p:txBody>
            <a:bodyPr lIns="50800" tIns="50800" rIns="50800" bIns="50800" rtlCol="0" anchor="ctr"/>
            <a:lstStyle/>
            <a:p>
              <a:pPr marL="578471" lvl="1" indent="-289235" algn="l">
                <a:lnSpc>
                  <a:spcPts val="3751"/>
                </a:lnSpc>
                <a:spcBef>
                  <a:spcPct val="0"/>
                </a:spcBef>
                <a:buFont typeface="Arial"/>
                <a:buChar char="•"/>
              </a:pPr>
              <a:r>
                <a:rPr lang="en-US" sz="2679" u="none" strike="noStrike">
                  <a:solidFill>
                    <a:srgbClr val="000000"/>
                  </a:solidFill>
                  <a:latin typeface="Open Sans"/>
                  <a:ea typeface="Open Sans"/>
                  <a:cs typeface="Open Sans"/>
                  <a:sym typeface="Open Sans"/>
                </a:rPr>
                <a:t>AI ecosystem integrating fake job detection, employer legitimacy verification, communication analysis, and fraud-aware job recommendation</a:t>
              </a:r>
            </a:p>
            <a:p>
              <a:pPr marL="578471" lvl="1" indent="-289235" algn="l">
                <a:lnSpc>
                  <a:spcPts val="3751"/>
                </a:lnSpc>
                <a:spcBef>
                  <a:spcPct val="0"/>
                </a:spcBef>
                <a:buFont typeface="Arial"/>
                <a:buChar char="•"/>
              </a:pPr>
              <a:r>
                <a:rPr lang="en-US" sz="2679" u="none" strike="noStrike">
                  <a:solidFill>
                    <a:srgbClr val="000000"/>
                  </a:solidFill>
                  <a:latin typeface="Open Sans"/>
                  <a:ea typeface="Open Sans"/>
                  <a:cs typeface="Open Sans"/>
                  <a:sym typeface="Open Sans"/>
                </a:rPr>
                <a:t>Detects recruitment fraud from multiple stages instead of relying only on job post analysis</a:t>
              </a:r>
            </a:p>
            <a:p>
              <a:pPr marL="578471" lvl="1" indent="-289235" algn="l">
                <a:lnSpc>
                  <a:spcPts val="3751"/>
                </a:lnSpc>
                <a:spcBef>
                  <a:spcPct val="0"/>
                </a:spcBef>
                <a:buFont typeface="Arial"/>
                <a:buChar char="•"/>
              </a:pPr>
              <a:r>
                <a:rPr lang="en-US" sz="2679" u="none" strike="noStrike">
                  <a:solidFill>
                    <a:srgbClr val="000000"/>
                  </a:solidFill>
                  <a:latin typeface="Open Sans"/>
                  <a:ea typeface="Open Sans"/>
                  <a:cs typeface="Open Sans"/>
                  <a:sym typeface="Open Sans"/>
                </a:rPr>
                <a:t>Provides overall fraud risk analysis and recommends safer job opportunities for users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884876" y="-159493"/>
            <a:ext cx="5302192" cy="7336962"/>
            <a:chOff x="0" y="0"/>
            <a:chExt cx="812800" cy="1124720"/>
          </a:xfrm>
        </p:grpSpPr>
        <p:sp>
          <p:nvSpPr>
            <p:cNvPr id="3" name="Freeform 3"/>
            <p:cNvSpPr/>
            <p:nvPr/>
          </p:nvSpPr>
          <p:spPr>
            <a:xfrm>
              <a:off x="0" y="0"/>
              <a:ext cx="812800" cy="1124720"/>
            </a:xfrm>
            <a:custGeom>
              <a:avLst/>
              <a:gdLst/>
              <a:ahLst/>
              <a:cxnLst/>
              <a:rect l="l" t="t" r="r" b="b"/>
              <a:pathLst>
                <a:path w="812800" h="1124720">
                  <a:moveTo>
                    <a:pt x="0" y="0"/>
                  </a:moveTo>
                  <a:lnTo>
                    <a:pt x="812800" y="0"/>
                  </a:lnTo>
                  <a:lnTo>
                    <a:pt x="812800" y="1124720"/>
                  </a:lnTo>
                  <a:lnTo>
                    <a:pt x="0" y="1124720"/>
                  </a:lnTo>
                  <a:close/>
                </a:path>
              </a:pathLst>
            </a:custGeom>
            <a:blipFill>
              <a:blip r:embed="rId2"/>
              <a:stretch>
                <a:fillRect t="-7089" b="-1378"/>
              </a:stretch>
            </a:blipFill>
          </p:spPr>
          <p:txBody>
            <a:bodyPr/>
            <a:lstStyle/>
            <a:p>
              <a:endParaRPr lang="en-US"/>
            </a:p>
          </p:txBody>
        </p:sp>
      </p:grpSp>
      <p:sp>
        <p:nvSpPr>
          <p:cNvPr id="4" name="Freeform 4"/>
          <p:cNvSpPr/>
          <p:nvPr/>
        </p:nvSpPr>
        <p:spPr>
          <a:xfrm rot="-4873416">
            <a:off x="6903900" y="4296410"/>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rot="792552">
            <a:off x="10751087" y="-539109"/>
            <a:ext cx="2209301" cy="10969660"/>
            <a:chOff x="0" y="0"/>
            <a:chExt cx="581874" cy="2889129"/>
          </a:xfrm>
        </p:grpSpPr>
        <p:sp>
          <p:nvSpPr>
            <p:cNvPr id="6" name="Freeform 6"/>
            <p:cNvSpPr/>
            <p:nvPr/>
          </p:nvSpPr>
          <p:spPr>
            <a:xfrm>
              <a:off x="0" y="0"/>
              <a:ext cx="581874" cy="2889129"/>
            </a:xfrm>
            <a:custGeom>
              <a:avLst/>
              <a:gdLst/>
              <a:ahLst/>
              <a:cxnLst/>
              <a:rect l="l" t="t" r="r" b="b"/>
              <a:pathLst>
                <a:path w="581874" h="2889129">
                  <a:moveTo>
                    <a:pt x="0" y="0"/>
                  </a:moveTo>
                  <a:lnTo>
                    <a:pt x="581874" y="0"/>
                  </a:lnTo>
                  <a:lnTo>
                    <a:pt x="581874" y="2889129"/>
                  </a:lnTo>
                  <a:lnTo>
                    <a:pt x="0" y="2889129"/>
                  </a:lnTo>
                  <a:close/>
                </a:path>
              </a:pathLst>
            </a:custGeom>
            <a:solidFill>
              <a:srgbClr val="FFFFFF"/>
            </a:solidFill>
          </p:spPr>
          <p:txBody>
            <a:bodyPr/>
            <a:lstStyle/>
            <a:p>
              <a:endParaRPr lang="en-US"/>
            </a:p>
          </p:txBody>
        </p:sp>
        <p:sp>
          <p:nvSpPr>
            <p:cNvPr id="7" name="TextBox 7"/>
            <p:cNvSpPr txBox="1"/>
            <p:nvPr/>
          </p:nvSpPr>
          <p:spPr>
            <a:xfrm>
              <a:off x="0" y="-47625"/>
              <a:ext cx="581874" cy="2936754"/>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4"/>
            <a:stretch>
              <a:fillRect l="-1652" t="-36979" b="-5607"/>
            </a:stretch>
          </a:blipFill>
        </p:spPr>
        <p:txBody>
          <a:bodyPr/>
          <a:lstStyle/>
          <a:p>
            <a:endParaRPr lang="en-US"/>
          </a:p>
        </p:txBody>
      </p:sp>
      <p:sp>
        <p:nvSpPr>
          <p:cNvPr id="9" name="TextBox 9"/>
          <p:cNvSpPr txBox="1"/>
          <p:nvPr/>
        </p:nvSpPr>
        <p:spPr>
          <a:xfrm>
            <a:off x="56648" y="3356677"/>
            <a:ext cx="12607272" cy="2551426"/>
          </a:xfrm>
          <a:prstGeom prst="rect">
            <a:avLst/>
          </a:prstGeom>
        </p:spPr>
        <p:txBody>
          <a:bodyPr lIns="0" tIns="0" rIns="0" bIns="0" rtlCol="0" anchor="t">
            <a:spAutoFit/>
          </a:bodyPr>
          <a:lstStyle/>
          <a:p>
            <a:pPr marL="0" lvl="0" indent="0" algn="ctr">
              <a:lnSpc>
                <a:spcPts val="10045"/>
              </a:lnSpc>
              <a:spcBef>
                <a:spcPct val="0"/>
              </a:spcBef>
            </a:pPr>
            <a:r>
              <a:rPr lang="en-US" sz="7175" b="1" spc="200">
                <a:solidFill>
                  <a:srgbClr val="000000"/>
                </a:solidFill>
                <a:latin typeface="Poppins Bold"/>
                <a:ea typeface="Poppins Bold"/>
                <a:cs typeface="Poppins Bold"/>
                <a:sym typeface="Poppins Bold"/>
              </a:rPr>
              <a:t>FAKE JOB DETECTION SYSTEM</a:t>
            </a:r>
          </a:p>
        </p:txBody>
      </p:sp>
      <p:sp>
        <p:nvSpPr>
          <p:cNvPr id="10" name="TextBox 10"/>
          <p:cNvSpPr txBox="1"/>
          <p:nvPr/>
        </p:nvSpPr>
        <p:spPr>
          <a:xfrm>
            <a:off x="321020" y="164159"/>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11" name="TextBox 11"/>
          <p:cNvSpPr txBox="1"/>
          <p:nvPr/>
        </p:nvSpPr>
        <p:spPr>
          <a:xfrm>
            <a:off x="3532882" y="2127407"/>
            <a:ext cx="7439739" cy="828042"/>
          </a:xfrm>
          <a:prstGeom prst="rect">
            <a:avLst/>
          </a:prstGeom>
        </p:spPr>
        <p:txBody>
          <a:bodyPr lIns="0" tIns="0" rIns="0" bIns="0" rtlCol="0" anchor="t">
            <a:spAutoFit/>
          </a:bodyPr>
          <a:lstStyle/>
          <a:p>
            <a:pPr algn="ctr">
              <a:lnSpc>
                <a:spcPts val="6859"/>
              </a:lnSpc>
              <a:spcBef>
                <a:spcPct val="0"/>
              </a:spcBef>
            </a:pPr>
            <a:r>
              <a:rPr lang="en-US" sz="4899" b="1">
                <a:solidFill>
                  <a:srgbClr val="092A5E"/>
                </a:solidFill>
                <a:latin typeface="Canva Sans Bold"/>
                <a:ea typeface="Canva Sans Bold"/>
                <a:cs typeface="Canva Sans Bold"/>
                <a:sym typeface="Canva Sans Bold"/>
              </a:rPr>
              <a:t>IT22113740 | Santhosh S </a:t>
            </a:r>
          </a:p>
        </p:txBody>
      </p:sp>
      <p:sp>
        <p:nvSpPr>
          <p:cNvPr id="12" name="TextBox 12"/>
          <p:cNvSpPr txBox="1"/>
          <p:nvPr/>
        </p:nvSpPr>
        <p:spPr>
          <a:xfrm>
            <a:off x="4619063" y="9523905"/>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IT22113740 | Santhosh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13" name="TextBox 13"/>
          <p:cNvSpPr txBox="1"/>
          <p:nvPr/>
        </p:nvSpPr>
        <p:spPr>
          <a:xfrm>
            <a:off x="137780" y="6422453"/>
            <a:ext cx="12526140" cy="755017"/>
          </a:xfrm>
          <a:prstGeom prst="rect">
            <a:avLst/>
          </a:prstGeom>
        </p:spPr>
        <p:txBody>
          <a:bodyPr lIns="0" tIns="0" rIns="0" bIns="0" rtlCol="0" anchor="t">
            <a:spAutoFit/>
          </a:bodyPr>
          <a:lstStyle/>
          <a:p>
            <a:pPr algn="ctr">
              <a:lnSpc>
                <a:spcPts val="6159"/>
              </a:lnSpc>
              <a:spcBef>
                <a:spcPct val="0"/>
              </a:spcBef>
            </a:pPr>
            <a:r>
              <a:rPr lang="en-US" sz="4399" b="1">
                <a:solidFill>
                  <a:srgbClr val="092A5E"/>
                </a:solidFill>
                <a:latin typeface="Canva Sans Bold"/>
                <a:ea typeface="Canva Sans Bold"/>
                <a:cs typeface="Canva Sans Bold"/>
                <a:sym typeface="Canva Sans Bold"/>
              </a:rPr>
              <a:t>Specialization: Software Engineering (SE)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9486" y="1426819"/>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rot="-5400000">
            <a:off x="-5391795" y="4494189"/>
            <a:ext cx="11520040" cy="1298623"/>
          </a:xfrm>
          <a:custGeom>
            <a:avLst/>
            <a:gdLst/>
            <a:ahLst/>
            <a:cxnLst/>
            <a:rect l="l" t="t" r="r" b="b"/>
            <a:pathLst>
              <a:path w="11520040" h="1298623">
                <a:moveTo>
                  <a:pt x="0" y="0"/>
                </a:moveTo>
                <a:lnTo>
                  <a:pt x="11520040" y="0"/>
                </a:lnTo>
                <a:lnTo>
                  <a:pt x="11520040" y="1298622"/>
                </a:lnTo>
                <a:lnTo>
                  <a:pt x="0" y="12986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5242952" y="288361"/>
            <a:ext cx="3686383" cy="3686383"/>
          </a:xfrm>
          <a:custGeom>
            <a:avLst/>
            <a:gdLst/>
            <a:ahLst/>
            <a:cxnLst/>
            <a:rect l="l" t="t" r="r" b="b"/>
            <a:pathLst>
              <a:path w="3686383" h="3686383">
                <a:moveTo>
                  <a:pt x="0" y="0"/>
                </a:moveTo>
                <a:lnTo>
                  <a:pt x="3686382" y="0"/>
                </a:lnTo>
                <a:lnTo>
                  <a:pt x="3686382" y="3686383"/>
                </a:lnTo>
                <a:lnTo>
                  <a:pt x="0" y="3686383"/>
                </a:lnTo>
                <a:lnTo>
                  <a:pt x="0" y="0"/>
                </a:lnTo>
                <a:close/>
              </a:path>
            </a:pathLst>
          </a:custGeom>
          <a:blipFill>
            <a:blip r:embed="rId3">
              <a:alphaModFix amt="7999"/>
            </a:blip>
            <a:stretch>
              <a:fillRect/>
            </a:stretch>
          </a:blipFill>
          <a:ln cap="sq">
            <a:noFill/>
            <a:prstDash val="solid"/>
            <a:miter/>
          </a:ln>
        </p:spPr>
        <p:txBody>
          <a:bodyPr/>
          <a:lstStyle/>
          <a:p>
            <a:endParaRPr lang="en-US"/>
          </a:p>
        </p:txBody>
      </p:sp>
      <p:sp>
        <p:nvSpPr>
          <p:cNvPr id="5" name="TextBox 5"/>
          <p:cNvSpPr txBox="1"/>
          <p:nvPr/>
        </p:nvSpPr>
        <p:spPr>
          <a:xfrm>
            <a:off x="1379486" y="1617181"/>
            <a:ext cx="16789528" cy="2261561"/>
          </a:xfrm>
          <a:prstGeom prst="rect">
            <a:avLst/>
          </a:prstGeom>
        </p:spPr>
        <p:txBody>
          <a:bodyPr lIns="0" tIns="0" rIns="0" bIns="0" rtlCol="0" anchor="t">
            <a:spAutoFit/>
          </a:bodyPr>
          <a:lstStyle/>
          <a:p>
            <a:pPr algn="just">
              <a:lnSpc>
                <a:spcPts val="4596"/>
              </a:lnSpc>
            </a:pPr>
            <a:r>
              <a:rPr lang="en-US" sz="2298">
                <a:solidFill>
                  <a:srgbClr val="000000"/>
                </a:solidFill>
                <a:latin typeface="Open Sans"/>
                <a:ea typeface="Open Sans"/>
                <a:cs typeface="Open Sans"/>
                <a:sym typeface="Open Sans"/>
              </a:rPr>
              <a:t>Fraudulent job advertisements on topjobs.lk and ikman.lk are targeting Sri Lankan job seekers causing financial loss. The system enables users to photograph any job post and receive an instant verdict — FAKE, SUSPICIOUS, or LEGITIMATE — using a fine-tuned XLM-RoBERTa multilingual model trained on 4,230 English and Sinhala job posts.</a:t>
            </a:r>
          </a:p>
          <a:p>
            <a:pPr algn="just">
              <a:lnSpc>
                <a:spcPts val="4596"/>
              </a:lnSpc>
            </a:pPr>
            <a:endParaRPr lang="en-US" sz="2298">
              <a:solidFill>
                <a:srgbClr val="000000"/>
              </a:solidFill>
              <a:latin typeface="Open Sans"/>
              <a:ea typeface="Open Sans"/>
              <a:cs typeface="Open Sans"/>
              <a:sym typeface="Open Sans"/>
            </a:endParaRPr>
          </a:p>
        </p:txBody>
      </p:sp>
      <p:sp>
        <p:nvSpPr>
          <p:cNvPr id="6" name="Freeform 6"/>
          <p:cNvSpPr/>
          <p:nvPr/>
        </p:nvSpPr>
        <p:spPr>
          <a:xfrm>
            <a:off x="0" y="9213806"/>
            <a:ext cx="4543466" cy="1158860"/>
          </a:xfrm>
          <a:custGeom>
            <a:avLst/>
            <a:gdLst/>
            <a:ahLst/>
            <a:cxnLst/>
            <a:rect l="l" t="t" r="r" b="b"/>
            <a:pathLst>
              <a:path w="4543466" h="1158860">
                <a:moveTo>
                  <a:pt x="0" y="0"/>
                </a:moveTo>
                <a:lnTo>
                  <a:pt x="4543466" y="0"/>
                </a:lnTo>
                <a:lnTo>
                  <a:pt x="4543466" y="1158861"/>
                </a:lnTo>
                <a:lnTo>
                  <a:pt x="0" y="1158861"/>
                </a:lnTo>
                <a:lnTo>
                  <a:pt x="0" y="0"/>
                </a:lnTo>
                <a:close/>
              </a:path>
            </a:pathLst>
          </a:custGeom>
          <a:blipFill>
            <a:blip r:embed="rId4"/>
            <a:stretch>
              <a:fillRect l="-1652" t="-36979" b="-5607"/>
            </a:stretch>
          </a:blipFill>
        </p:spPr>
        <p:txBody>
          <a:bodyPr/>
          <a:lstStyle/>
          <a:p>
            <a:endParaRPr lang="en-US"/>
          </a:p>
        </p:txBody>
      </p:sp>
      <p:sp>
        <p:nvSpPr>
          <p:cNvPr id="7" name="Freeform 7"/>
          <p:cNvSpPr/>
          <p:nvPr/>
        </p:nvSpPr>
        <p:spPr>
          <a:xfrm>
            <a:off x="1017536" y="3586150"/>
            <a:ext cx="2232258" cy="2232258"/>
          </a:xfrm>
          <a:custGeom>
            <a:avLst/>
            <a:gdLst/>
            <a:ahLst/>
            <a:cxnLst/>
            <a:rect l="l" t="t" r="r" b="b"/>
            <a:pathLst>
              <a:path w="2232258" h="2232258">
                <a:moveTo>
                  <a:pt x="0" y="0"/>
                </a:moveTo>
                <a:lnTo>
                  <a:pt x="2232258" y="0"/>
                </a:lnTo>
                <a:lnTo>
                  <a:pt x="2232258" y="2232258"/>
                </a:lnTo>
                <a:lnTo>
                  <a:pt x="0" y="2232258"/>
                </a:lnTo>
                <a:lnTo>
                  <a:pt x="0" y="0"/>
                </a:lnTo>
                <a:close/>
              </a:path>
            </a:pathLst>
          </a:custGeom>
          <a:blipFill>
            <a:blip r:embed="rId5"/>
            <a:stretch>
              <a:fillRect/>
            </a:stretch>
          </a:blipFill>
        </p:spPr>
        <p:txBody>
          <a:bodyPr/>
          <a:lstStyle/>
          <a:p>
            <a:endParaRPr lang="en-US"/>
          </a:p>
        </p:txBody>
      </p:sp>
      <p:sp>
        <p:nvSpPr>
          <p:cNvPr id="8" name="Freeform 8"/>
          <p:cNvSpPr/>
          <p:nvPr/>
        </p:nvSpPr>
        <p:spPr>
          <a:xfrm>
            <a:off x="4394792" y="3974744"/>
            <a:ext cx="1902768" cy="1902768"/>
          </a:xfrm>
          <a:custGeom>
            <a:avLst/>
            <a:gdLst/>
            <a:ahLst/>
            <a:cxnLst/>
            <a:rect l="l" t="t" r="r" b="b"/>
            <a:pathLst>
              <a:path w="1902768" h="1902768">
                <a:moveTo>
                  <a:pt x="0" y="0"/>
                </a:moveTo>
                <a:lnTo>
                  <a:pt x="1902768" y="0"/>
                </a:lnTo>
                <a:lnTo>
                  <a:pt x="1902768" y="1902768"/>
                </a:lnTo>
                <a:lnTo>
                  <a:pt x="0" y="19027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a:off x="8207321" y="3630787"/>
            <a:ext cx="2187622" cy="2187622"/>
          </a:xfrm>
          <a:custGeom>
            <a:avLst/>
            <a:gdLst/>
            <a:ahLst/>
            <a:cxnLst/>
            <a:rect l="l" t="t" r="r" b="b"/>
            <a:pathLst>
              <a:path w="2187622" h="2187622">
                <a:moveTo>
                  <a:pt x="0" y="0"/>
                </a:moveTo>
                <a:lnTo>
                  <a:pt x="2187622" y="0"/>
                </a:lnTo>
                <a:lnTo>
                  <a:pt x="2187622" y="2187621"/>
                </a:lnTo>
                <a:lnTo>
                  <a:pt x="0" y="218762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10" name="Group 10"/>
          <p:cNvGrpSpPr/>
          <p:nvPr/>
        </p:nvGrpSpPr>
        <p:grpSpPr>
          <a:xfrm rot="-10800000">
            <a:off x="2961476" y="4231896"/>
            <a:ext cx="1189633" cy="979697"/>
            <a:chOff x="0" y="0"/>
            <a:chExt cx="647700" cy="533400"/>
          </a:xfrm>
        </p:grpSpPr>
        <p:sp>
          <p:nvSpPr>
            <p:cNvPr id="11" name="Freeform 11"/>
            <p:cNvSpPr/>
            <p:nvPr/>
          </p:nvSpPr>
          <p:spPr>
            <a:xfrm>
              <a:off x="0" y="0"/>
              <a:ext cx="647700" cy="533400"/>
            </a:xfrm>
            <a:custGeom>
              <a:avLst/>
              <a:gdLst/>
              <a:ahLst/>
              <a:cxnLst/>
              <a:rect l="l" t="t" r="r" b="b"/>
              <a:pathLst>
                <a:path w="647700" h="5334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000000"/>
            </a:solidFill>
          </p:spPr>
          <p:txBody>
            <a:bodyPr/>
            <a:lstStyle/>
            <a:p>
              <a:endParaRPr lang="en-US"/>
            </a:p>
          </p:txBody>
        </p:sp>
        <p:sp>
          <p:nvSpPr>
            <p:cNvPr id="12" name="TextBox 12"/>
            <p:cNvSpPr txBox="1"/>
            <p:nvPr/>
          </p:nvSpPr>
          <p:spPr>
            <a:xfrm>
              <a:off x="120650" y="127000"/>
              <a:ext cx="527050" cy="241300"/>
            </a:xfrm>
            <a:prstGeom prst="rect">
              <a:avLst/>
            </a:prstGeom>
          </p:spPr>
          <p:txBody>
            <a:bodyPr lIns="50800" tIns="50800" rIns="50800" bIns="50800" rtlCol="0" anchor="ctr"/>
            <a:lstStyle/>
            <a:p>
              <a:pPr algn="ctr">
                <a:lnSpc>
                  <a:spcPts val="2779"/>
                </a:lnSpc>
              </a:pPr>
              <a:endParaRPr/>
            </a:p>
          </p:txBody>
        </p:sp>
      </p:grpSp>
      <p:grpSp>
        <p:nvGrpSpPr>
          <p:cNvPr id="13" name="Group 13"/>
          <p:cNvGrpSpPr/>
          <p:nvPr/>
        </p:nvGrpSpPr>
        <p:grpSpPr>
          <a:xfrm rot="-10800000">
            <a:off x="6819556" y="4353303"/>
            <a:ext cx="1189633" cy="979697"/>
            <a:chOff x="0" y="0"/>
            <a:chExt cx="647700" cy="533400"/>
          </a:xfrm>
        </p:grpSpPr>
        <p:sp>
          <p:nvSpPr>
            <p:cNvPr id="14" name="Freeform 14"/>
            <p:cNvSpPr/>
            <p:nvPr/>
          </p:nvSpPr>
          <p:spPr>
            <a:xfrm>
              <a:off x="0" y="0"/>
              <a:ext cx="647700" cy="533400"/>
            </a:xfrm>
            <a:custGeom>
              <a:avLst/>
              <a:gdLst/>
              <a:ahLst/>
              <a:cxnLst/>
              <a:rect l="l" t="t" r="r" b="b"/>
              <a:pathLst>
                <a:path w="647700" h="5334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000000"/>
            </a:solidFill>
          </p:spPr>
          <p:txBody>
            <a:bodyPr/>
            <a:lstStyle/>
            <a:p>
              <a:endParaRPr lang="en-US"/>
            </a:p>
          </p:txBody>
        </p:sp>
        <p:sp>
          <p:nvSpPr>
            <p:cNvPr id="15" name="TextBox 15"/>
            <p:cNvSpPr txBox="1"/>
            <p:nvPr/>
          </p:nvSpPr>
          <p:spPr>
            <a:xfrm>
              <a:off x="120650" y="127000"/>
              <a:ext cx="527050" cy="241300"/>
            </a:xfrm>
            <a:prstGeom prst="rect">
              <a:avLst/>
            </a:prstGeom>
          </p:spPr>
          <p:txBody>
            <a:bodyPr lIns="50800" tIns="50800" rIns="50800" bIns="50800" rtlCol="0" anchor="ctr"/>
            <a:lstStyle/>
            <a:p>
              <a:pPr algn="ctr">
                <a:lnSpc>
                  <a:spcPts val="2779"/>
                </a:lnSpc>
              </a:pPr>
              <a:endParaRPr/>
            </a:p>
          </p:txBody>
        </p:sp>
      </p:grpSp>
      <p:sp>
        <p:nvSpPr>
          <p:cNvPr id="16" name="Freeform 16"/>
          <p:cNvSpPr/>
          <p:nvPr/>
        </p:nvSpPr>
        <p:spPr>
          <a:xfrm>
            <a:off x="12299943" y="3790648"/>
            <a:ext cx="1681109" cy="1867899"/>
          </a:xfrm>
          <a:custGeom>
            <a:avLst/>
            <a:gdLst/>
            <a:ahLst/>
            <a:cxnLst/>
            <a:rect l="l" t="t" r="r" b="b"/>
            <a:pathLst>
              <a:path w="1681109" h="1867899">
                <a:moveTo>
                  <a:pt x="0" y="0"/>
                </a:moveTo>
                <a:lnTo>
                  <a:pt x="1681110" y="0"/>
                </a:lnTo>
                <a:lnTo>
                  <a:pt x="1681110" y="1867899"/>
                </a:lnTo>
                <a:lnTo>
                  <a:pt x="0" y="186789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7" name="Group 17"/>
          <p:cNvGrpSpPr/>
          <p:nvPr/>
        </p:nvGrpSpPr>
        <p:grpSpPr>
          <a:xfrm rot="-10800000">
            <a:off x="10752627" y="4193067"/>
            <a:ext cx="1189633" cy="979697"/>
            <a:chOff x="0" y="0"/>
            <a:chExt cx="647700" cy="533400"/>
          </a:xfrm>
        </p:grpSpPr>
        <p:sp>
          <p:nvSpPr>
            <p:cNvPr id="18" name="Freeform 18"/>
            <p:cNvSpPr/>
            <p:nvPr/>
          </p:nvSpPr>
          <p:spPr>
            <a:xfrm>
              <a:off x="0" y="0"/>
              <a:ext cx="647700" cy="533400"/>
            </a:xfrm>
            <a:custGeom>
              <a:avLst/>
              <a:gdLst/>
              <a:ahLst/>
              <a:cxnLst/>
              <a:rect l="l" t="t" r="r" b="b"/>
              <a:pathLst>
                <a:path w="647700" h="5334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000000"/>
            </a:solidFill>
          </p:spPr>
          <p:txBody>
            <a:bodyPr/>
            <a:lstStyle/>
            <a:p>
              <a:endParaRPr lang="en-US"/>
            </a:p>
          </p:txBody>
        </p:sp>
        <p:sp>
          <p:nvSpPr>
            <p:cNvPr id="19" name="TextBox 19"/>
            <p:cNvSpPr txBox="1"/>
            <p:nvPr/>
          </p:nvSpPr>
          <p:spPr>
            <a:xfrm>
              <a:off x="120650" y="127000"/>
              <a:ext cx="527050" cy="241300"/>
            </a:xfrm>
            <a:prstGeom prst="rect">
              <a:avLst/>
            </a:prstGeom>
          </p:spPr>
          <p:txBody>
            <a:bodyPr lIns="50800" tIns="50800" rIns="50800" bIns="50800" rtlCol="0" anchor="ctr"/>
            <a:lstStyle/>
            <a:p>
              <a:pPr algn="ctr">
                <a:lnSpc>
                  <a:spcPts val="2779"/>
                </a:lnSpc>
              </a:pPr>
              <a:endParaRPr/>
            </a:p>
          </p:txBody>
        </p:sp>
      </p:grpSp>
      <p:sp>
        <p:nvSpPr>
          <p:cNvPr id="20" name="Freeform 20"/>
          <p:cNvSpPr/>
          <p:nvPr/>
        </p:nvSpPr>
        <p:spPr>
          <a:xfrm>
            <a:off x="1028700" y="7237008"/>
            <a:ext cx="17259300" cy="2260185"/>
          </a:xfrm>
          <a:custGeom>
            <a:avLst/>
            <a:gdLst/>
            <a:ahLst/>
            <a:cxnLst/>
            <a:rect l="l" t="t" r="r" b="b"/>
            <a:pathLst>
              <a:path w="17259300" h="2260185">
                <a:moveTo>
                  <a:pt x="0" y="0"/>
                </a:moveTo>
                <a:lnTo>
                  <a:pt x="17259300" y="0"/>
                </a:lnTo>
                <a:lnTo>
                  <a:pt x="17259300" y="2260185"/>
                </a:lnTo>
                <a:lnTo>
                  <a:pt x="0" y="2260185"/>
                </a:lnTo>
                <a:lnTo>
                  <a:pt x="0" y="0"/>
                </a:lnTo>
                <a:close/>
              </a:path>
            </a:pathLst>
          </a:custGeom>
          <a:blipFill>
            <a:blip r:embed="rId9"/>
            <a:stretch>
              <a:fillRect l="-606" t="-2817" b="-2817"/>
            </a:stretch>
          </a:blipFill>
        </p:spPr>
        <p:txBody>
          <a:bodyPr/>
          <a:lstStyle/>
          <a:p>
            <a:endParaRPr lang="en-US"/>
          </a:p>
        </p:txBody>
      </p:sp>
      <p:sp>
        <p:nvSpPr>
          <p:cNvPr id="21" name="TextBox 21"/>
          <p:cNvSpPr txBox="1"/>
          <p:nvPr/>
        </p:nvSpPr>
        <p:spPr>
          <a:xfrm>
            <a:off x="1379486" y="606013"/>
            <a:ext cx="14843143" cy="863600"/>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SUB PROBLEM AND HOW ADDRESSED</a:t>
            </a:r>
          </a:p>
        </p:txBody>
      </p:sp>
      <p:sp>
        <p:nvSpPr>
          <p:cNvPr id="22" name="TextBox 22"/>
          <p:cNvSpPr txBox="1"/>
          <p:nvPr/>
        </p:nvSpPr>
        <p:spPr>
          <a:xfrm>
            <a:off x="1379486" y="103912"/>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 - COMPONENT 01</a:t>
            </a:r>
          </a:p>
        </p:txBody>
      </p:sp>
      <p:sp>
        <p:nvSpPr>
          <p:cNvPr id="23" name="TextBox 23"/>
          <p:cNvSpPr txBox="1"/>
          <p:nvPr/>
        </p:nvSpPr>
        <p:spPr>
          <a:xfrm>
            <a:off x="5881854" y="9755136"/>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IT22113740 | Santhosh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24" name="TextBox 24"/>
          <p:cNvSpPr txBox="1"/>
          <p:nvPr/>
        </p:nvSpPr>
        <p:spPr>
          <a:xfrm>
            <a:off x="1017536" y="5896011"/>
            <a:ext cx="2725746" cy="1044954"/>
          </a:xfrm>
          <a:prstGeom prst="rect">
            <a:avLst/>
          </a:prstGeom>
        </p:spPr>
        <p:txBody>
          <a:bodyPr lIns="0" tIns="0" rIns="0" bIns="0" rtlCol="0" anchor="t">
            <a:spAutoFit/>
          </a:bodyPr>
          <a:lstStyle/>
          <a:p>
            <a:pPr algn="ctr">
              <a:lnSpc>
                <a:spcPts val="2779"/>
              </a:lnSpc>
              <a:spcBef>
                <a:spcPct val="0"/>
              </a:spcBef>
            </a:pPr>
            <a:r>
              <a:rPr lang="en-US" sz="1985" b="1">
                <a:solidFill>
                  <a:srgbClr val="000000"/>
                </a:solidFill>
                <a:latin typeface="Canva Sans Bold"/>
                <a:ea typeface="Canva Sans Bold"/>
                <a:cs typeface="Canva Sans Bold"/>
                <a:sym typeface="Canva Sans Bold"/>
              </a:rPr>
              <a:t>React Native App</a:t>
            </a:r>
          </a:p>
          <a:p>
            <a:pPr algn="ctr">
              <a:lnSpc>
                <a:spcPts val="2779"/>
              </a:lnSpc>
              <a:spcBef>
                <a:spcPct val="0"/>
              </a:spcBef>
            </a:pPr>
            <a:r>
              <a:rPr lang="en-US" sz="1985">
                <a:solidFill>
                  <a:srgbClr val="000000"/>
                </a:solidFill>
                <a:latin typeface="Canva Sans"/>
                <a:ea typeface="Canva Sans"/>
                <a:cs typeface="Canva Sans"/>
                <a:sym typeface="Canva Sans"/>
              </a:rPr>
              <a:t>User input &amp; image upload</a:t>
            </a:r>
          </a:p>
        </p:txBody>
      </p:sp>
      <p:sp>
        <p:nvSpPr>
          <p:cNvPr id="25" name="TextBox 25"/>
          <p:cNvSpPr txBox="1"/>
          <p:nvPr/>
        </p:nvSpPr>
        <p:spPr>
          <a:xfrm>
            <a:off x="4151109" y="5934662"/>
            <a:ext cx="2725746" cy="692529"/>
          </a:xfrm>
          <a:prstGeom prst="rect">
            <a:avLst/>
          </a:prstGeom>
        </p:spPr>
        <p:txBody>
          <a:bodyPr lIns="0" tIns="0" rIns="0" bIns="0" rtlCol="0" anchor="t">
            <a:spAutoFit/>
          </a:bodyPr>
          <a:lstStyle/>
          <a:p>
            <a:pPr algn="ctr">
              <a:lnSpc>
                <a:spcPts val="2779"/>
              </a:lnSpc>
            </a:pPr>
            <a:r>
              <a:rPr lang="en-US" sz="1985" b="1">
                <a:solidFill>
                  <a:srgbClr val="000000"/>
                </a:solidFill>
                <a:latin typeface="Canva Sans Bold"/>
                <a:ea typeface="Canva Sans Bold"/>
                <a:cs typeface="Canva Sans Bold"/>
                <a:sym typeface="Canva Sans Bold"/>
              </a:rPr>
              <a:t>👁 Claude Vision</a:t>
            </a:r>
          </a:p>
          <a:p>
            <a:pPr algn="ctr">
              <a:lnSpc>
                <a:spcPts val="2779"/>
              </a:lnSpc>
              <a:spcBef>
                <a:spcPct val="0"/>
              </a:spcBef>
            </a:pPr>
            <a:r>
              <a:rPr lang="en-US" sz="1985" b="1">
                <a:solidFill>
                  <a:srgbClr val="000000"/>
                </a:solidFill>
                <a:latin typeface="Canva Sans Bold"/>
                <a:ea typeface="Canva Sans Bold"/>
                <a:cs typeface="Canva Sans Bold"/>
                <a:sym typeface="Canva Sans Bold"/>
              </a:rPr>
              <a:t>Text Extraction</a:t>
            </a:r>
          </a:p>
        </p:txBody>
      </p:sp>
      <p:sp>
        <p:nvSpPr>
          <p:cNvPr id="26" name="TextBox 26"/>
          <p:cNvSpPr txBox="1"/>
          <p:nvPr/>
        </p:nvSpPr>
        <p:spPr>
          <a:xfrm>
            <a:off x="8009189" y="5934662"/>
            <a:ext cx="2725746" cy="692529"/>
          </a:xfrm>
          <a:prstGeom prst="rect">
            <a:avLst/>
          </a:prstGeom>
        </p:spPr>
        <p:txBody>
          <a:bodyPr lIns="0" tIns="0" rIns="0" bIns="0" rtlCol="0" anchor="t">
            <a:spAutoFit/>
          </a:bodyPr>
          <a:lstStyle/>
          <a:p>
            <a:pPr algn="ctr">
              <a:lnSpc>
                <a:spcPts val="2779"/>
              </a:lnSpc>
              <a:spcBef>
                <a:spcPct val="0"/>
              </a:spcBef>
            </a:pPr>
            <a:r>
              <a:rPr lang="en-US" sz="1985" b="1">
                <a:solidFill>
                  <a:srgbClr val="000000"/>
                </a:solidFill>
                <a:latin typeface="Canva Sans Bold"/>
                <a:ea typeface="Canva Sans Bold"/>
                <a:cs typeface="Canva Sans Bold"/>
                <a:sym typeface="Canva Sans Bold"/>
              </a:rPr>
              <a:t>XLM-RoBERTa Model</a:t>
            </a:r>
          </a:p>
          <a:p>
            <a:pPr algn="ctr">
              <a:lnSpc>
                <a:spcPts val="2779"/>
              </a:lnSpc>
              <a:spcBef>
                <a:spcPct val="0"/>
              </a:spcBef>
            </a:pPr>
            <a:r>
              <a:rPr lang="en-US" sz="1985">
                <a:solidFill>
                  <a:srgbClr val="000000"/>
                </a:solidFill>
                <a:latin typeface="Canva Sans"/>
                <a:ea typeface="Canva Sans"/>
                <a:cs typeface="Canva Sans"/>
                <a:sym typeface="Canva Sans"/>
              </a:rPr>
              <a:t>Fake job classification</a:t>
            </a:r>
          </a:p>
        </p:txBody>
      </p:sp>
      <p:sp>
        <p:nvSpPr>
          <p:cNvPr id="27" name="TextBox 27"/>
          <p:cNvSpPr txBox="1"/>
          <p:nvPr/>
        </p:nvSpPr>
        <p:spPr>
          <a:xfrm>
            <a:off x="11777625" y="5780308"/>
            <a:ext cx="2725746" cy="340104"/>
          </a:xfrm>
          <a:prstGeom prst="rect">
            <a:avLst/>
          </a:prstGeom>
        </p:spPr>
        <p:txBody>
          <a:bodyPr lIns="0" tIns="0" rIns="0" bIns="0" rtlCol="0" anchor="t">
            <a:spAutoFit/>
          </a:bodyPr>
          <a:lstStyle/>
          <a:p>
            <a:pPr algn="ctr">
              <a:lnSpc>
                <a:spcPts val="2779"/>
              </a:lnSpc>
              <a:spcBef>
                <a:spcPct val="0"/>
              </a:spcBef>
            </a:pPr>
            <a:r>
              <a:rPr lang="en-US" sz="1985" b="1">
                <a:solidFill>
                  <a:srgbClr val="000000"/>
                </a:solidFill>
                <a:latin typeface="Canva Sans Bold"/>
                <a:ea typeface="Canva Sans Bold"/>
                <a:cs typeface="Canva Sans Bold"/>
                <a:sym typeface="Canva Sans Bold"/>
              </a:rPr>
              <a:t>Instant result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760020" y="4494189"/>
            <a:ext cx="11520040" cy="1298623"/>
          </a:xfrm>
          <a:custGeom>
            <a:avLst/>
            <a:gdLst/>
            <a:ahLst/>
            <a:cxnLst/>
            <a:rect l="l" t="t" r="r" b="b"/>
            <a:pathLst>
              <a:path w="11520040" h="1298623">
                <a:moveTo>
                  <a:pt x="0" y="0"/>
                </a:moveTo>
                <a:lnTo>
                  <a:pt x="11520040" y="0"/>
                </a:lnTo>
                <a:lnTo>
                  <a:pt x="11520040" y="1298622"/>
                </a:lnTo>
                <a:lnTo>
                  <a:pt x="0" y="12986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
        <p:nvSpPr>
          <p:cNvPr id="4" name="Freeform 4"/>
          <p:cNvSpPr/>
          <p:nvPr/>
        </p:nvSpPr>
        <p:spPr>
          <a:xfrm>
            <a:off x="1028700" y="1968792"/>
            <a:ext cx="16897603" cy="3658892"/>
          </a:xfrm>
          <a:custGeom>
            <a:avLst/>
            <a:gdLst/>
            <a:ahLst/>
            <a:cxnLst/>
            <a:rect l="l" t="t" r="r" b="b"/>
            <a:pathLst>
              <a:path w="16897603" h="3658892">
                <a:moveTo>
                  <a:pt x="0" y="0"/>
                </a:moveTo>
                <a:lnTo>
                  <a:pt x="16897603" y="0"/>
                </a:lnTo>
                <a:lnTo>
                  <a:pt x="16897603" y="3658892"/>
                </a:lnTo>
                <a:lnTo>
                  <a:pt x="0" y="3658892"/>
                </a:lnTo>
                <a:lnTo>
                  <a:pt x="0" y="0"/>
                </a:lnTo>
                <a:close/>
              </a:path>
            </a:pathLst>
          </a:custGeom>
          <a:blipFill>
            <a:blip r:embed="rId4"/>
            <a:stretch>
              <a:fillRect l="-620" r="-3107"/>
            </a:stretch>
          </a:blipFill>
        </p:spPr>
        <p:txBody>
          <a:bodyPr/>
          <a:lstStyle/>
          <a:p>
            <a:endParaRPr lang="en-US"/>
          </a:p>
        </p:txBody>
      </p:sp>
      <p:sp>
        <p:nvSpPr>
          <p:cNvPr id="5" name="Freeform 5"/>
          <p:cNvSpPr/>
          <p:nvPr/>
        </p:nvSpPr>
        <p:spPr>
          <a:xfrm>
            <a:off x="1028700" y="1616506"/>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6" name="Freeform 6"/>
          <p:cNvSpPr/>
          <p:nvPr/>
        </p:nvSpPr>
        <p:spPr>
          <a:xfrm>
            <a:off x="1028700" y="7216268"/>
            <a:ext cx="16504287" cy="1753581"/>
          </a:xfrm>
          <a:custGeom>
            <a:avLst/>
            <a:gdLst/>
            <a:ahLst/>
            <a:cxnLst/>
            <a:rect l="l" t="t" r="r" b="b"/>
            <a:pathLst>
              <a:path w="16504287" h="1753581">
                <a:moveTo>
                  <a:pt x="0" y="0"/>
                </a:moveTo>
                <a:lnTo>
                  <a:pt x="16504287" y="0"/>
                </a:lnTo>
                <a:lnTo>
                  <a:pt x="16504287" y="1753580"/>
                </a:lnTo>
                <a:lnTo>
                  <a:pt x="0" y="1753580"/>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1028700" y="258114"/>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 - COMPONENT 02</a:t>
            </a:r>
          </a:p>
        </p:txBody>
      </p:sp>
      <p:sp>
        <p:nvSpPr>
          <p:cNvPr id="8" name="TextBox 8"/>
          <p:cNvSpPr txBox="1"/>
          <p:nvPr/>
        </p:nvSpPr>
        <p:spPr>
          <a:xfrm>
            <a:off x="5652300" y="9781981"/>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IT22113740 | Santhosh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9" name="TextBox 9"/>
          <p:cNvSpPr txBox="1"/>
          <p:nvPr/>
        </p:nvSpPr>
        <p:spPr>
          <a:xfrm>
            <a:off x="1028700" y="752917"/>
            <a:ext cx="14043476"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DESIGN EXCELLENCE / CONTRIBUTION</a:t>
            </a:r>
          </a:p>
        </p:txBody>
      </p:sp>
      <p:sp>
        <p:nvSpPr>
          <p:cNvPr id="10" name="Freeform 10"/>
          <p:cNvSpPr/>
          <p:nvPr/>
        </p:nvSpPr>
        <p:spPr>
          <a:xfrm>
            <a:off x="1028700" y="6738923"/>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11" name="TextBox 11"/>
          <p:cNvSpPr txBox="1"/>
          <p:nvPr/>
        </p:nvSpPr>
        <p:spPr>
          <a:xfrm>
            <a:off x="1028700" y="5875334"/>
            <a:ext cx="12325348"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USER FEEDBACK ON PROTOTYPE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76921" y="0"/>
            <a:ext cx="5454431" cy="7336962"/>
            <a:chOff x="0" y="0"/>
            <a:chExt cx="836138" cy="1124720"/>
          </a:xfrm>
        </p:grpSpPr>
        <p:sp>
          <p:nvSpPr>
            <p:cNvPr id="3" name="Freeform 3"/>
            <p:cNvSpPr/>
            <p:nvPr/>
          </p:nvSpPr>
          <p:spPr>
            <a:xfrm>
              <a:off x="0" y="0"/>
              <a:ext cx="836138" cy="1124720"/>
            </a:xfrm>
            <a:custGeom>
              <a:avLst/>
              <a:gdLst/>
              <a:ahLst/>
              <a:cxnLst/>
              <a:rect l="l" t="t" r="r" b="b"/>
              <a:pathLst>
                <a:path w="836138" h="1124720">
                  <a:moveTo>
                    <a:pt x="0" y="0"/>
                  </a:moveTo>
                  <a:lnTo>
                    <a:pt x="836138" y="0"/>
                  </a:lnTo>
                  <a:lnTo>
                    <a:pt x="836138" y="1124720"/>
                  </a:lnTo>
                  <a:lnTo>
                    <a:pt x="0" y="1124720"/>
                  </a:lnTo>
                  <a:close/>
                </a:path>
              </a:pathLst>
            </a:custGeom>
            <a:blipFill>
              <a:blip r:embed="rId2"/>
              <a:stretch>
                <a:fillRect l="-7613" r="-36321"/>
              </a:stretch>
            </a:blipFill>
          </p:spPr>
          <p:txBody>
            <a:bodyPr/>
            <a:lstStyle/>
            <a:p>
              <a:endParaRPr lang="en-US"/>
            </a:p>
          </p:txBody>
        </p:sp>
      </p:grpSp>
      <p:sp>
        <p:nvSpPr>
          <p:cNvPr id="4" name="Freeform 4"/>
          <p:cNvSpPr/>
          <p:nvPr/>
        </p:nvSpPr>
        <p:spPr>
          <a:xfrm rot="-4873416">
            <a:off x="6903899" y="3865997"/>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5" name="Group 5"/>
          <p:cNvGrpSpPr/>
          <p:nvPr/>
        </p:nvGrpSpPr>
        <p:grpSpPr>
          <a:xfrm rot="792552">
            <a:off x="10751087" y="-539109"/>
            <a:ext cx="2209301" cy="10969660"/>
            <a:chOff x="0" y="0"/>
            <a:chExt cx="581874" cy="2889129"/>
          </a:xfrm>
        </p:grpSpPr>
        <p:sp>
          <p:nvSpPr>
            <p:cNvPr id="6" name="Freeform 6"/>
            <p:cNvSpPr/>
            <p:nvPr/>
          </p:nvSpPr>
          <p:spPr>
            <a:xfrm>
              <a:off x="0" y="0"/>
              <a:ext cx="581874" cy="2889129"/>
            </a:xfrm>
            <a:custGeom>
              <a:avLst/>
              <a:gdLst/>
              <a:ahLst/>
              <a:cxnLst/>
              <a:rect l="l" t="t" r="r" b="b"/>
              <a:pathLst>
                <a:path w="581874" h="2889129">
                  <a:moveTo>
                    <a:pt x="0" y="0"/>
                  </a:moveTo>
                  <a:lnTo>
                    <a:pt x="581874" y="0"/>
                  </a:lnTo>
                  <a:lnTo>
                    <a:pt x="581874" y="2889129"/>
                  </a:lnTo>
                  <a:lnTo>
                    <a:pt x="0" y="2889129"/>
                  </a:lnTo>
                  <a:close/>
                </a:path>
              </a:pathLst>
            </a:custGeom>
            <a:solidFill>
              <a:srgbClr val="FFFFFF"/>
            </a:solidFill>
          </p:spPr>
          <p:txBody>
            <a:bodyPr/>
            <a:lstStyle/>
            <a:p>
              <a:endParaRPr lang="en-US"/>
            </a:p>
          </p:txBody>
        </p:sp>
        <p:sp>
          <p:nvSpPr>
            <p:cNvPr id="7" name="TextBox 7"/>
            <p:cNvSpPr txBox="1"/>
            <p:nvPr/>
          </p:nvSpPr>
          <p:spPr>
            <a:xfrm>
              <a:off x="0" y="-47625"/>
              <a:ext cx="581874" cy="2936754"/>
            </a:xfrm>
            <a:prstGeom prst="rect">
              <a:avLst/>
            </a:prstGeom>
          </p:spPr>
          <p:txBody>
            <a:bodyPr lIns="50800" tIns="50800" rIns="50800" bIns="50800" rtlCol="0" anchor="ctr"/>
            <a:lstStyle/>
            <a:p>
              <a:pPr algn="ctr">
                <a:lnSpc>
                  <a:spcPts val="3220"/>
                </a:lnSpc>
              </a:pPr>
              <a:endParaRPr/>
            </a:p>
          </p:txBody>
        </p:sp>
      </p:grpSp>
      <p:sp>
        <p:nvSpPr>
          <p:cNvPr id="8" name="Freeform 8"/>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4"/>
            <a:stretch>
              <a:fillRect l="-1652" t="-36979" b="-5607"/>
            </a:stretch>
          </a:blipFill>
        </p:spPr>
        <p:txBody>
          <a:bodyPr/>
          <a:lstStyle/>
          <a:p>
            <a:endParaRPr lang="en-US"/>
          </a:p>
        </p:txBody>
      </p:sp>
      <p:sp>
        <p:nvSpPr>
          <p:cNvPr id="9" name="TextBox 9"/>
          <p:cNvSpPr txBox="1"/>
          <p:nvPr/>
        </p:nvSpPr>
        <p:spPr>
          <a:xfrm>
            <a:off x="56648" y="3356677"/>
            <a:ext cx="12607272" cy="2551426"/>
          </a:xfrm>
          <a:prstGeom prst="rect">
            <a:avLst/>
          </a:prstGeom>
        </p:spPr>
        <p:txBody>
          <a:bodyPr lIns="0" tIns="0" rIns="0" bIns="0" rtlCol="0" anchor="t">
            <a:spAutoFit/>
          </a:bodyPr>
          <a:lstStyle/>
          <a:p>
            <a:pPr marL="0" lvl="0" indent="0" algn="ctr">
              <a:lnSpc>
                <a:spcPts val="10045"/>
              </a:lnSpc>
              <a:spcBef>
                <a:spcPct val="0"/>
              </a:spcBef>
            </a:pPr>
            <a:r>
              <a:rPr lang="en-US" sz="7175" b="1" spc="200">
                <a:solidFill>
                  <a:srgbClr val="000000"/>
                </a:solidFill>
                <a:latin typeface="Poppins Bold"/>
                <a:ea typeface="Poppins Bold"/>
                <a:cs typeface="Poppins Bold"/>
                <a:sym typeface="Poppins Bold"/>
              </a:rPr>
              <a:t>EMPLOYER LEGITIMACY VERIFICATION SYSTEM</a:t>
            </a:r>
          </a:p>
        </p:txBody>
      </p:sp>
      <p:sp>
        <p:nvSpPr>
          <p:cNvPr id="10" name="TextBox 10"/>
          <p:cNvSpPr txBox="1"/>
          <p:nvPr/>
        </p:nvSpPr>
        <p:spPr>
          <a:xfrm>
            <a:off x="321020" y="164159"/>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11" name="TextBox 11"/>
          <p:cNvSpPr txBox="1"/>
          <p:nvPr/>
        </p:nvSpPr>
        <p:spPr>
          <a:xfrm>
            <a:off x="2826306" y="2127407"/>
            <a:ext cx="8852892" cy="828042"/>
          </a:xfrm>
          <a:prstGeom prst="rect">
            <a:avLst/>
          </a:prstGeom>
        </p:spPr>
        <p:txBody>
          <a:bodyPr lIns="0" tIns="0" rIns="0" bIns="0" rtlCol="0" anchor="t">
            <a:spAutoFit/>
          </a:bodyPr>
          <a:lstStyle/>
          <a:p>
            <a:pPr algn="ctr">
              <a:lnSpc>
                <a:spcPts val="6859"/>
              </a:lnSpc>
              <a:spcBef>
                <a:spcPct val="0"/>
              </a:spcBef>
            </a:pPr>
            <a:r>
              <a:rPr lang="en-US" sz="4899" b="1">
                <a:solidFill>
                  <a:srgbClr val="092A5E"/>
                </a:solidFill>
                <a:latin typeface="Canva Sans Bold"/>
                <a:ea typeface="Canva Sans Bold"/>
                <a:cs typeface="Canva Sans Bold"/>
                <a:sym typeface="Canva Sans Bold"/>
              </a:rPr>
              <a:t>IT22251664 | Nipuni Bandara </a:t>
            </a:r>
          </a:p>
        </p:txBody>
      </p:sp>
      <p:sp>
        <p:nvSpPr>
          <p:cNvPr id="12" name="TextBox 12"/>
          <p:cNvSpPr txBox="1"/>
          <p:nvPr/>
        </p:nvSpPr>
        <p:spPr>
          <a:xfrm>
            <a:off x="4619063" y="9523905"/>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IT22113740 | Nipuni Bandara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13" name="TextBox 13"/>
          <p:cNvSpPr txBox="1"/>
          <p:nvPr/>
        </p:nvSpPr>
        <p:spPr>
          <a:xfrm>
            <a:off x="137780" y="6422453"/>
            <a:ext cx="12526140" cy="755017"/>
          </a:xfrm>
          <a:prstGeom prst="rect">
            <a:avLst/>
          </a:prstGeom>
        </p:spPr>
        <p:txBody>
          <a:bodyPr lIns="0" tIns="0" rIns="0" bIns="0" rtlCol="0" anchor="t">
            <a:spAutoFit/>
          </a:bodyPr>
          <a:lstStyle/>
          <a:p>
            <a:pPr algn="ctr">
              <a:lnSpc>
                <a:spcPts val="6159"/>
              </a:lnSpc>
              <a:spcBef>
                <a:spcPct val="0"/>
              </a:spcBef>
            </a:pPr>
            <a:r>
              <a:rPr lang="en-US" sz="4399" b="1">
                <a:solidFill>
                  <a:srgbClr val="092A5E"/>
                </a:solidFill>
                <a:latin typeface="Canva Sans Bold"/>
                <a:ea typeface="Canva Sans Bold"/>
                <a:cs typeface="Canva Sans Bold"/>
                <a:sym typeface="Canva Sans Bold"/>
              </a:rPr>
              <a:t>Specialization: Software Engineering (SE)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4898" y="1410659"/>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a:off x="15333469" y="695152"/>
            <a:ext cx="2230565" cy="2230565"/>
          </a:xfrm>
          <a:custGeom>
            <a:avLst/>
            <a:gdLst/>
            <a:ahLst/>
            <a:cxnLst/>
            <a:rect l="l" t="t" r="r" b="b"/>
            <a:pathLst>
              <a:path w="2230565" h="2230565">
                <a:moveTo>
                  <a:pt x="0" y="0"/>
                </a:moveTo>
                <a:lnTo>
                  <a:pt x="2230565" y="0"/>
                </a:lnTo>
                <a:lnTo>
                  <a:pt x="2230565" y="2230565"/>
                </a:lnTo>
                <a:lnTo>
                  <a:pt x="0" y="2230565"/>
                </a:lnTo>
                <a:lnTo>
                  <a:pt x="0" y="0"/>
                </a:lnTo>
                <a:close/>
              </a:path>
            </a:pathLst>
          </a:custGeom>
          <a:blipFill>
            <a:blip r:embed="rId3">
              <a:alphaModFix amt="7999"/>
            </a:blip>
            <a:stretch>
              <a:fillRect/>
            </a:stretch>
          </a:blipFill>
          <a:ln cap="sq">
            <a:noFill/>
            <a:prstDash val="solid"/>
            <a:miter/>
          </a:ln>
        </p:spPr>
        <p:txBody>
          <a:bodyPr/>
          <a:lstStyle/>
          <a:p>
            <a:endParaRPr lang="en-US"/>
          </a:p>
        </p:txBody>
      </p:sp>
      <p:sp>
        <p:nvSpPr>
          <p:cNvPr id="4" name="Freeform 4"/>
          <p:cNvSpPr/>
          <p:nvPr/>
        </p:nvSpPr>
        <p:spPr>
          <a:xfrm>
            <a:off x="0" y="9258300"/>
            <a:ext cx="4231242" cy="1034847"/>
          </a:xfrm>
          <a:custGeom>
            <a:avLst/>
            <a:gdLst/>
            <a:ahLst/>
            <a:cxnLst/>
            <a:rect l="l" t="t" r="r" b="b"/>
            <a:pathLst>
              <a:path w="4231242" h="1034847">
                <a:moveTo>
                  <a:pt x="0" y="0"/>
                </a:moveTo>
                <a:lnTo>
                  <a:pt x="4231242" y="0"/>
                </a:lnTo>
                <a:lnTo>
                  <a:pt x="4231242" y="1034847"/>
                </a:lnTo>
                <a:lnTo>
                  <a:pt x="0" y="1034847"/>
                </a:lnTo>
                <a:lnTo>
                  <a:pt x="0" y="0"/>
                </a:lnTo>
                <a:close/>
              </a:path>
            </a:pathLst>
          </a:custGeom>
          <a:blipFill>
            <a:blip r:embed="rId4"/>
            <a:stretch>
              <a:fillRect l="-1652" t="-40709" b="-7992"/>
            </a:stretch>
          </a:blipFill>
        </p:spPr>
        <p:txBody>
          <a:bodyPr/>
          <a:lstStyle/>
          <a:p>
            <a:endParaRPr lang="en-US"/>
          </a:p>
        </p:txBody>
      </p:sp>
      <p:sp>
        <p:nvSpPr>
          <p:cNvPr id="5" name="Freeform 5"/>
          <p:cNvSpPr/>
          <p:nvPr/>
        </p:nvSpPr>
        <p:spPr>
          <a:xfrm>
            <a:off x="8957275" y="8183189"/>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6" name="TextBox 6"/>
          <p:cNvSpPr txBox="1"/>
          <p:nvPr/>
        </p:nvSpPr>
        <p:spPr>
          <a:xfrm>
            <a:off x="294898" y="632657"/>
            <a:ext cx="4940469"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SUB PROBLEM</a:t>
            </a:r>
          </a:p>
        </p:txBody>
      </p:sp>
      <p:sp>
        <p:nvSpPr>
          <p:cNvPr id="7" name="TextBox 7"/>
          <p:cNvSpPr txBox="1"/>
          <p:nvPr/>
        </p:nvSpPr>
        <p:spPr>
          <a:xfrm>
            <a:off x="294898" y="108249"/>
            <a:ext cx="8426353"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EMPLOYER LEGITIMACY VERIFICATION SYSTEM</a:t>
            </a:r>
          </a:p>
        </p:txBody>
      </p:sp>
      <p:sp>
        <p:nvSpPr>
          <p:cNvPr id="8" name="TextBox 8"/>
          <p:cNvSpPr txBox="1"/>
          <p:nvPr/>
        </p:nvSpPr>
        <p:spPr>
          <a:xfrm>
            <a:off x="5695129" y="9886403"/>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IT22251664 | Nipuni Bandara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9" name="TextBox 9"/>
          <p:cNvSpPr txBox="1"/>
          <p:nvPr/>
        </p:nvSpPr>
        <p:spPr>
          <a:xfrm>
            <a:off x="8957275" y="6306451"/>
            <a:ext cx="7519270" cy="1702750"/>
          </a:xfrm>
          <a:prstGeom prst="rect">
            <a:avLst/>
          </a:prstGeom>
        </p:spPr>
        <p:txBody>
          <a:bodyPr lIns="0" tIns="0" rIns="0" bIns="0" rtlCol="0" anchor="t">
            <a:spAutoFit/>
          </a:bodyPr>
          <a:lstStyle/>
          <a:p>
            <a:pPr marL="0" lvl="0" indent="0" algn="l">
              <a:lnSpc>
                <a:spcPts val="6842"/>
              </a:lnSpc>
              <a:spcBef>
                <a:spcPct val="0"/>
              </a:spcBef>
            </a:pPr>
            <a:r>
              <a:rPr lang="en-US" sz="4887" spc="136">
                <a:solidFill>
                  <a:srgbClr val="000000"/>
                </a:solidFill>
                <a:latin typeface="League Spartan"/>
                <a:ea typeface="League Spartan"/>
                <a:cs typeface="League Spartan"/>
                <a:sym typeface="League Spartan"/>
              </a:rPr>
              <a:t>USER REQUIREMENTS ADDRESSED</a:t>
            </a:r>
          </a:p>
        </p:txBody>
      </p:sp>
      <p:grpSp>
        <p:nvGrpSpPr>
          <p:cNvPr id="10" name="Group 10"/>
          <p:cNvGrpSpPr/>
          <p:nvPr/>
        </p:nvGrpSpPr>
        <p:grpSpPr>
          <a:xfrm>
            <a:off x="7681993" y="1240654"/>
            <a:ext cx="10368118" cy="3811205"/>
            <a:chOff x="0" y="0"/>
            <a:chExt cx="2374142" cy="872708"/>
          </a:xfrm>
        </p:grpSpPr>
        <p:sp>
          <p:nvSpPr>
            <p:cNvPr id="11" name="Freeform 11"/>
            <p:cNvSpPr/>
            <p:nvPr/>
          </p:nvSpPr>
          <p:spPr>
            <a:xfrm>
              <a:off x="0" y="0"/>
              <a:ext cx="2374142" cy="872708"/>
            </a:xfrm>
            <a:custGeom>
              <a:avLst/>
              <a:gdLst/>
              <a:ahLst/>
              <a:cxnLst/>
              <a:rect l="l" t="t" r="r" b="b"/>
              <a:pathLst>
                <a:path w="2374142" h="872708">
                  <a:moveTo>
                    <a:pt x="14584" y="0"/>
                  </a:moveTo>
                  <a:lnTo>
                    <a:pt x="2359558" y="0"/>
                  </a:lnTo>
                  <a:cubicBezTo>
                    <a:pt x="2363426" y="0"/>
                    <a:pt x="2367135" y="1537"/>
                    <a:pt x="2369870" y="4272"/>
                  </a:cubicBezTo>
                  <a:cubicBezTo>
                    <a:pt x="2372605" y="7007"/>
                    <a:pt x="2374142" y="10716"/>
                    <a:pt x="2374142" y="14584"/>
                  </a:cubicBezTo>
                  <a:lnTo>
                    <a:pt x="2374142" y="858124"/>
                  </a:lnTo>
                  <a:cubicBezTo>
                    <a:pt x="2374142" y="866179"/>
                    <a:pt x="2367612" y="872708"/>
                    <a:pt x="2359558" y="872708"/>
                  </a:cubicBezTo>
                  <a:lnTo>
                    <a:pt x="14584" y="872708"/>
                  </a:lnTo>
                  <a:cubicBezTo>
                    <a:pt x="10716" y="872708"/>
                    <a:pt x="7007" y="871172"/>
                    <a:pt x="4272" y="868437"/>
                  </a:cubicBezTo>
                  <a:cubicBezTo>
                    <a:pt x="1537" y="865702"/>
                    <a:pt x="0" y="861992"/>
                    <a:pt x="0" y="858124"/>
                  </a:cubicBezTo>
                  <a:lnTo>
                    <a:pt x="0" y="14584"/>
                  </a:lnTo>
                  <a:cubicBezTo>
                    <a:pt x="0" y="10716"/>
                    <a:pt x="1537" y="7007"/>
                    <a:pt x="4272" y="4272"/>
                  </a:cubicBezTo>
                  <a:cubicBezTo>
                    <a:pt x="7007" y="1537"/>
                    <a:pt x="10716" y="0"/>
                    <a:pt x="14584" y="0"/>
                  </a:cubicBezTo>
                  <a:close/>
                </a:path>
              </a:pathLst>
            </a:custGeom>
            <a:solidFill>
              <a:srgbClr val="CDD6FF"/>
            </a:solidFill>
            <a:ln cap="rnd">
              <a:noFill/>
              <a:prstDash val="solid"/>
              <a:round/>
            </a:ln>
          </p:spPr>
          <p:txBody>
            <a:bodyPr/>
            <a:lstStyle/>
            <a:p>
              <a:endParaRPr lang="en-US"/>
            </a:p>
          </p:txBody>
        </p:sp>
        <p:sp>
          <p:nvSpPr>
            <p:cNvPr id="12" name="TextBox 12"/>
            <p:cNvSpPr txBox="1"/>
            <p:nvPr/>
          </p:nvSpPr>
          <p:spPr>
            <a:xfrm>
              <a:off x="0" y="-38100"/>
              <a:ext cx="2374142" cy="910808"/>
            </a:xfrm>
            <a:prstGeom prst="rect">
              <a:avLst/>
            </a:prstGeom>
          </p:spPr>
          <p:txBody>
            <a:bodyPr lIns="50800" tIns="50800" rIns="50800" bIns="50800" rtlCol="0" anchor="ctr"/>
            <a:lstStyle/>
            <a:p>
              <a:pPr marL="0" lvl="0" indent="0" algn="ctr">
                <a:lnSpc>
                  <a:spcPts val="3079"/>
                </a:lnSpc>
                <a:spcBef>
                  <a:spcPct val="0"/>
                </a:spcBef>
              </a:pPr>
              <a:r>
                <a:rPr lang="en-US" sz="2199" b="1" u="none" strike="noStrike">
                  <a:solidFill>
                    <a:srgbClr val="780000"/>
                  </a:solidFill>
                  <a:latin typeface="Canva Sans Bold"/>
                  <a:ea typeface="Canva Sans Bold"/>
                  <a:cs typeface="Canva Sans Bold"/>
                  <a:sym typeface="Canva Sans Bold"/>
                </a:rPr>
                <a:t>The Employer Verification System helps users identify potentially fake employers by combining:</a:t>
              </a:r>
            </a:p>
            <a:p>
              <a:pPr marL="474978" lvl="1" indent="-237489" algn="l">
                <a:lnSpc>
                  <a:spcPts val="3079"/>
                </a:lnSpc>
                <a:buFont typeface="Arial"/>
                <a:buChar char="•"/>
              </a:pPr>
              <a:r>
                <a:rPr lang="en-US" sz="2199" b="1" u="none" strike="noStrike">
                  <a:solidFill>
                    <a:srgbClr val="100D7E"/>
                  </a:solidFill>
                  <a:latin typeface="Canva Sans Bold"/>
                  <a:ea typeface="Canva Sans Bold"/>
                  <a:cs typeface="Canva Sans Bold"/>
                  <a:sym typeface="Canva Sans Bold"/>
                </a:rPr>
                <a:t>machine learning prediction,</a:t>
              </a:r>
            </a:p>
            <a:p>
              <a:pPr marL="474978" lvl="1" indent="-237489" algn="l">
                <a:lnSpc>
                  <a:spcPts val="3079"/>
                </a:lnSpc>
                <a:buFont typeface="Arial"/>
                <a:buChar char="•"/>
              </a:pPr>
              <a:r>
                <a:rPr lang="en-US" sz="2199" b="1" u="none" strike="noStrike">
                  <a:solidFill>
                    <a:srgbClr val="100D7E"/>
                  </a:solidFill>
                  <a:latin typeface="Canva Sans Bold"/>
                  <a:ea typeface="Canva Sans Bold"/>
                  <a:cs typeface="Canva Sans Bold"/>
                  <a:sym typeface="Canva Sans Bold"/>
                </a:rPr>
                <a:t>website analysis,</a:t>
              </a:r>
            </a:p>
            <a:p>
              <a:pPr marL="474978" lvl="1" indent="-237489" algn="l">
                <a:lnSpc>
                  <a:spcPts val="3079"/>
                </a:lnSpc>
                <a:buFont typeface="Arial"/>
                <a:buChar char="•"/>
              </a:pPr>
              <a:r>
                <a:rPr lang="en-US" sz="2199" b="1" u="none" strike="noStrike">
                  <a:solidFill>
                    <a:srgbClr val="100D7E"/>
                  </a:solidFill>
                  <a:latin typeface="Canva Sans Bold"/>
                  <a:ea typeface="Canva Sans Bold"/>
                  <a:cs typeface="Canva Sans Bold"/>
                  <a:sym typeface="Canva Sans Bold"/>
                </a:rPr>
                <a:t>registry verification,</a:t>
              </a:r>
            </a:p>
            <a:p>
              <a:pPr marL="474978" lvl="1" indent="-237489" algn="l">
                <a:lnSpc>
                  <a:spcPts val="3079"/>
                </a:lnSpc>
                <a:buFont typeface="Arial"/>
                <a:buChar char="•"/>
              </a:pPr>
              <a:r>
                <a:rPr lang="en-US" sz="2199" b="1" u="none" strike="noStrike">
                  <a:solidFill>
                    <a:srgbClr val="100D7E"/>
                  </a:solidFill>
                  <a:latin typeface="Canva Sans Bold"/>
                  <a:ea typeface="Canva Sans Bold"/>
                  <a:cs typeface="Canva Sans Bold"/>
                  <a:sym typeface="Canva Sans Bold"/>
                </a:rPr>
                <a:t>and reputation checks.</a:t>
              </a:r>
            </a:p>
            <a:p>
              <a:pPr marL="0" lvl="0" indent="0" algn="ctr">
                <a:lnSpc>
                  <a:spcPts val="3079"/>
                </a:lnSpc>
                <a:spcBef>
                  <a:spcPct val="0"/>
                </a:spcBef>
              </a:pPr>
              <a:r>
                <a:rPr lang="en-US" sz="2199" b="1" u="none" strike="noStrike">
                  <a:solidFill>
                    <a:srgbClr val="780000"/>
                  </a:solidFill>
                  <a:latin typeface="Canva Sans Bold"/>
                  <a:ea typeface="Canva Sans Bold"/>
                  <a:cs typeface="Canva Sans Bold"/>
                  <a:sym typeface="Canva Sans Bold"/>
                </a:rPr>
                <a:t>The system analyzes multiple trust indicators and generates an explainable fraud risk assessment instead of relying on a single feature or manual verification process.</a:t>
              </a:r>
            </a:p>
          </p:txBody>
        </p:sp>
      </p:grpSp>
      <p:grpSp>
        <p:nvGrpSpPr>
          <p:cNvPr id="13" name="Group 13"/>
          <p:cNvGrpSpPr/>
          <p:nvPr/>
        </p:nvGrpSpPr>
        <p:grpSpPr>
          <a:xfrm>
            <a:off x="1028700" y="5474850"/>
            <a:ext cx="7413704" cy="3636136"/>
            <a:chOff x="0" y="0"/>
            <a:chExt cx="1735780" cy="851333"/>
          </a:xfrm>
        </p:grpSpPr>
        <p:sp>
          <p:nvSpPr>
            <p:cNvPr id="14" name="Freeform 14"/>
            <p:cNvSpPr/>
            <p:nvPr/>
          </p:nvSpPr>
          <p:spPr>
            <a:xfrm>
              <a:off x="0" y="0"/>
              <a:ext cx="1735780" cy="851333"/>
            </a:xfrm>
            <a:custGeom>
              <a:avLst/>
              <a:gdLst/>
              <a:ahLst/>
              <a:cxnLst/>
              <a:rect l="l" t="t" r="r" b="b"/>
              <a:pathLst>
                <a:path w="1735780" h="851333">
                  <a:moveTo>
                    <a:pt x="20396" y="0"/>
                  </a:moveTo>
                  <a:lnTo>
                    <a:pt x="1715384" y="0"/>
                  </a:lnTo>
                  <a:cubicBezTo>
                    <a:pt x="1720793" y="0"/>
                    <a:pt x="1725981" y="2149"/>
                    <a:pt x="1729806" y="5974"/>
                  </a:cubicBezTo>
                  <a:cubicBezTo>
                    <a:pt x="1733631" y="9799"/>
                    <a:pt x="1735780" y="14987"/>
                    <a:pt x="1735780" y="20396"/>
                  </a:cubicBezTo>
                  <a:lnTo>
                    <a:pt x="1735780" y="830937"/>
                  </a:lnTo>
                  <a:cubicBezTo>
                    <a:pt x="1735780" y="836347"/>
                    <a:pt x="1733631" y="841534"/>
                    <a:pt x="1729806" y="845359"/>
                  </a:cubicBezTo>
                  <a:cubicBezTo>
                    <a:pt x="1725981" y="849184"/>
                    <a:pt x="1720793" y="851333"/>
                    <a:pt x="1715384" y="851333"/>
                  </a:cubicBezTo>
                  <a:lnTo>
                    <a:pt x="20396" y="851333"/>
                  </a:lnTo>
                  <a:cubicBezTo>
                    <a:pt x="14987" y="851333"/>
                    <a:pt x="9799" y="849184"/>
                    <a:pt x="5974" y="845359"/>
                  </a:cubicBezTo>
                  <a:cubicBezTo>
                    <a:pt x="2149" y="841534"/>
                    <a:pt x="0" y="836347"/>
                    <a:pt x="0" y="830937"/>
                  </a:cubicBezTo>
                  <a:lnTo>
                    <a:pt x="0" y="20396"/>
                  </a:lnTo>
                  <a:cubicBezTo>
                    <a:pt x="0" y="14987"/>
                    <a:pt x="2149" y="9799"/>
                    <a:pt x="5974" y="5974"/>
                  </a:cubicBezTo>
                  <a:cubicBezTo>
                    <a:pt x="9799" y="2149"/>
                    <a:pt x="14987" y="0"/>
                    <a:pt x="20396" y="0"/>
                  </a:cubicBezTo>
                  <a:close/>
                </a:path>
              </a:pathLst>
            </a:custGeom>
            <a:solidFill>
              <a:srgbClr val="F7DDDD"/>
            </a:solidFill>
          </p:spPr>
          <p:txBody>
            <a:bodyPr/>
            <a:lstStyle/>
            <a:p>
              <a:endParaRPr lang="en-US"/>
            </a:p>
          </p:txBody>
        </p:sp>
        <p:sp>
          <p:nvSpPr>
            <p:cNvPr id="15" name="TextBox 15"/>
            <p:cNvSpPr txBox="1"/>
            <p:nvPr/>
          </p:nvSpPr>
          <p:spPr>
            <a:xfrm>
              <a:off x="0" y="-38100"/>
              <a:ext cx="1735780" cy="889433"/>
            </a:xfrm>
            <a:prstGeom prst="rect">
              <a:avLst/>
            </a:prstGeom>
          </p:spPr>
          <p:txBody>
            <a:bodyPr lIns="50800" tIns="50800" rIns="50800" bIns="50800" rtlCol="0" anchor="ctr"/>
            <a:lstStyle/>
            <a:p>
              <a:pPr marL="474978" lvl="1" indent="-237489" algn="l">
                <a:lnSpc>
                  <a:spcPts val="3079"/>
                </a:lnSpc>
                <a:buFont typeface="Arial"/>
                <a:buChar char="•"/>
              </a:pPr>
              <a:r>
                <a:rPr lang="en-US" sz="2199" b="1">
                  <a:solidFill>
                    <a:srgbClr val="052045"/>
                  </a:solidFill>
                  <a:latin typeface="Canva Sans Bold"/>
                  <a:ea typeface="Canva Sans Bold"/>
                  <a:cs typeface="Canva Sans Bold"/>
                  <a:sym typeface="Canva Sans Bold"/>
                </a:rPr>
                <a:t>Verify whether an employer/company is legitimate</a:t>
              </a:r>
            </a:p>
            <a:p>
              <a:pPr marL="474978" lvl="1" indent="-237489" algn="l">
                <a:lnSpc>
                  <a:spcPts val="3079"/>
                </a:lnSpc>
                <a:buFont typeface="Arial"/>
                <a:buChar char="•"/>
              </a:pPr>
              <a:r>
                <a:rPr lang="en-US" sz="2199" b="1">
                  <a:solidFill>
                    <a:srgbClr val="052045"/>
                  </a:solidFill>
                  <a:latin typeface="Canva Sans Bold"/>
                  <a:ea typeface="Canva Sans Bold"/>
                  <a:cs typeface="Canva Sans Bold"/>
                  <a:sym typeface="Canva Sans Bold"/>
                </a:rPr>
                <a:t>Detect suspicious or potentially fake job providers</a:t>
              </a:r>
            </a:p>
            <a:p>
              <a:pPr marL="474978" lvl="1" indent="-237489" algn="l">
                <a:lnSpc>
                  <a:spcPts val="3079"/>
                </a:lnSpc>
                <a:buFont typeface="Arial"/>
                <a:buChar char="•"/>
              </a:pPr>
              <a:r>
                <a:rPr lang="en-US" sz="2199" b="1">
                  <a:solidFill>
                    <a:srgbClr val="052045"/>
                  </a:solidFill>
                  <a:latin typeface="Canva Sans Bold"/>
                  <a:ea typeface="Canva Sans Bold"/>
                  <a:cs typeface="Canva Sans Bold"/>
                  <a:sym typeface="Canva Sans Bold"/>
                </a:rPr>
                <a:t>Provide easy-to-understand verification results</a:t>
              </a:r>
            </a:p>
            <a:p>
              <a:pPr marL="474978" lvl="1" indent="-237489" algn="l">
                <a:lnSpc>
                  <a:spcPts val="3079"/>
                </a:lnSpc>
                <a:buFont typeface="Arial"/>
                <a:buChar char="•"/>
              </a:pPr>
              <a:r>
                <a:rPr lang="en-US" sz="2199" b="1">
                  <a:solidFill>
                    <a:srgbClr val="052045"/>
                  </a:solidFill>
                  <a:latin typeface="Canva Sans Bold"/>
                  <a:ea typeface="Canva Sans Bold"/>
                  <a:cs typeface="Canva Sans Bold"/>
                  <a:sym typeface="Canva Sans Bold"/>
                </a:rPr>
                <a:t>Reduce the risk of job and financial scams</a:t>
              </a:r>
            </a:p>
            <a:p>
              <a:pPr marL="474978" lvl="1" indent="-237489" algn="l">
                <a:lnSpc>
                  <a:spcPts val="3079"/>
                </a:lnSpc>
                <a:buFont typeface="Arial"/>
                <a:buChar char="•"/>
              </a:pPr>
              <a:r>
                <a:rPr lang="en-US" sz="2199" b="1">
                  <a:solidFill>
                    <a:srgbClr val="052045"/>
                  </a:solidFill>
                  <a:latin typeface="Canva Sans Bold"/>
                  <a:ea typeface="Canva Sans Bold"/>
                  <a:cs typeface="Canva Sans Bold"/>
                  <a:sym typeface="Canva Sans Bold"/>
                </a:rPr>
                <a:t>Improve trust through explainable evidence and verification methods</a:t>
              </a:r>
            </a:p>
            <a:p>
              <a:pPr algn="l">
                <a:lnSpc>
                  <a:spcPts val="3079"/>
                </a:lnSpc>
              </a:pPr>
              <a:endParaRPr lang="en-US" sz="2199" b="1">
                <a:solidFill>
                  <a:srgbClr val="052045"/>
                </a:solidFill>
                <a:latin typeface="Canva Sans Bold"/>
                <a:ea typeface="Canva Sans Bold"/>
                <a:cs typeface="Canva Sans Bold"/>
                <a:sym typeface="Canva Sans Bold"/>
              </a:endParaRPr>
            </a:p>
          </p:txBody>
        </p:sp>
      </p:grpSp>
      <p:sp>
        <p:nvSpPr>
          <p:cNvPr id="16" name="Freeform 16"/>
          <p:cNvSpPr/>
          <p:nvPr/>
        </p:nvSpPr>
        <p:spPr>
          <a:xfrm>
            <a:off x="13109641" y="943113"/>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17" name="TextBox 17"/>
          <p:cNvSpPr txBox="1"/>
          <p:nvPr/>
        </p:nvSpPr>
        <p:spPr>
          <a:xfrm>
            <a:off x="13109641" y="210970"/>
            <a:ext cx="4940469"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SOLUTION</a:t>
            </a:r>
          </a:p>
        </p:txBody>
      </p:sp>
      <p:grpSp>
        <p:nvGrpSpPr>
          <p:cNvPr id="18" name="Group 18"/>
          <p:cNvGrpSpPr/>
          <p:nvPr/>
        </p:nvGrpSpPr>
        <p:grpSpPr>
          <a:xfrm>
            <a:off x="294898" y="1768019"/>
            <a:ext cx="6891741" cy="2756476"/>
            <a:chOff x="0" y="0"/>
            <a:chExt cx="1613572" cy="645377"/>
          </a:xfrm>
        </p:grpSpPr>
        <p:sp>
          <p:nvSpPr>
            <p:cNvPr id="19" name="Freeform 19"/>
            <p:cNvSpPr/>
            <p:nvPr/>
          </p:nvSpPr>
          <p:spPr>
            <a:xfrm>
              <a:off x="0" y="0"/>
              <a:ext cx="1613572" cy="645377"/>
            </a:xfrm>
            <a:custGeom>
              <a:avLst/>
              <a:gdLst/>
              <a:ahLst/>
              <a:cxnLst/>
              <a:rect l="l" t="t" r="r" b="b"/>
              <a:pathLst>
                <a:path w="1613572" h="645377">
                  <a:moveTo>
                    <a:pt x="21941" y="0"/>
                  </a:moveTo>
                  <a:lnTo>
                    <a:pt x="1591631" y="0"/>
                  </a:lnTo>
                  <a:cubicBezTo>
                    <a:pt x="1597450" y="0"/>
                    <a:pt x="1603031" y="2312"/>
                    <a:pt x="1607146" y="6426"/>
                  </a:cubicBezTo>
                  <a:cubicBezTo>
                    <a:pt x="1611260" y="10541"/>
                    <a:pt x="1613572" y="16122"/>
                    <a:pt x="1613572" y="21941"/>
                  </a:cubicBezTo>
                  <a:lnTo>
                    <a:pt x="1613572" y="623437"/>
                  </a:lnTo>
                  <a:cubicBezTo>
                    <a:pt x="1613572" y="629256"/>
                    <a:pt x="1611260" y="634836"/>
                    <a:pt x="1607146" y="638951"/>
                  </a:cubicBezTo>
                  <a:cubicBezTo>
                    <a:pt x="1603031" y="643066"/>
                    <a:pt x="1597450" y="645377"/>
                    <a:pt x="1591631" y="645377"/>
                  </a:cubicBezTo>
                  <a:lnTo>
                    <a:pt x="21941" y="645377"/>
                  </a:lnTo>
                  <a:cubicBezTo>
                    <a:pt x="16122" y="645377"/>
                    <a:pt x="10541" y="643066"/>
                    <a:pt x="6426" y="638951"/>
                  </a:cubicBezTo>
                  <a:cubicBezTo>
                    <a:pt x="2312" y="634836"/>
                    <a:pt x="0" y="629256"/>
                    <a:pt x="0" y="623437"/>
                  </a:cubicBezTo>
                  <a:lnTo>
                    <a:pt x="0" y="21941"/>
                  </a:lnTo>
                  <a:cubicBezTo>
                    <a:pt x="0" y="16122"/>
                    <a:pt x="2312" y="10541"/>
                    <a:pt x="6426" y="6426"/>
                  </a:cubicBezTo>
                  <a:cubicBezTo>
                    <a:pt x="10541" y="2312"/>
                    <a:pt x="16122" y="0"/>
                    <a:pt x="21941" y="0"/>
                  </a:cubicBezTo>
                  <a:close/>
                </a:path>
              </a:pathLst>
            </a:custGeom>
            <a:solidFill>
              <a:srgbClr val="D9F4CD"/>
            </a:solidFill>
          </p:spPr>
          <p:txBody>
            <a:bodyPr/>
            <a:lstStyle/>
            <a:p>
              <a:endParaRPr lang="en-US"/>
            </a:p>
          </p:txBody>
        </p:sp>
        <p:sp>
          <p:nvSpPr>
            <p:cNvPr id="20" name="TextBox 20"/>
            <p:cNvSpPr txBox="1"/>
            <p:nvPr/>
          </p:nvSpPr>
          <p:spPr>
            <a:xfrm>
              <a:off x="0" y="-47625"/>
              <a:ext cx="1613572" cy="693002"/>
            </a:xfrm>
            <a:prstGeom prst="rect">
              <a:avLst/>
            </a:prstGeom>
          </p:spPr>
          <p:txBody>
            <a:bodyPr lIns="50800" tIns="50800" rIns="50800" bIns="50800" rtlCol="0" anchor="ctr"/>
            <a:lstStyle/>
            <a:p>
              <a:pPr algn="ctr">
                <a:lnSpc>
                  <a:spcPts val="3499"/>
                </a:lnSpc>
              </a:pPr>
              <a:r>
                <a:rPr lang="en-US" sz="2499" b="1">
                  <a:solidFill>
                    <a:srgbClr val="780000"/>
                  </a:solidFill>
                  <a:latin typeface="Canva Sans Bold"/>
                  <a:ea typeface="Canva Sans Bold"/>
                  <a:cs typeface="Canva Sans Bold"/>
                  <a:sym typeface="Canva Sans Bold"/>
                </a:rPr>
                <a:t>Job seekers and students often struggle to identify whether a company behind a job advertisement is genuine or potentially fraudulent. Many scam employers create realistic websites and social media pages, making manual verification difficult.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4898" y="1525542"/>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a:off x="15333469" y="695152"/>
            <a:ext cx="2230565" cy="2230565"/>
          </a:xfrm>
          <a:custGeom>
            <a:avLst/>
            <a:gdLst/>
            <a:ahLst/>
            <a:cxnLst/>
            <a:rect l="l" t="t" r="r" b="b"/>
            <a:pathLst>
              <a:path w="2230565" h="2230565">
                <a:moveTo>
                  <a:pt x="0" y="0"/>
                </a:moveTo>
                <a:lnTo>
                  <a:pt x="2230565" y="0"/>
                </a:lnTo>
                <a:lnTo>
                  <a:pt x="2230565" y="2230565"/>
                </a:lnTo>
                <a:lnTo>
                  <a:pt x="0" y="2230565"/>
                </a:lnTo>
                <a:lnTo>
                  <a:pt x="0" y="0"/>
                </a:lnTo>
                <a:close/>
              </a:path>
            </a:pathLst>
          </a:custGeom>
          <a:blipFill>
            <a:blip r:embed="rId3">
              <a:alphaModFix amt="7999"/>
            </a:blip>
            <a:stretch>
              <a:fillRect/>
            </a:stretch>
          </a:blipFill>
          <a:ln cap="sq">
            <a:noFill/>
            <a:prstDash val="solid"/>
            <a:miter/>
          </a:ln>
        </p:spPr>
        <p:txBody>
          <a:bodyPr/>
          <a:lstStyle/>
          <a:p>
            <a:endParaRPr lang="en-US"/>
          </a:p>
        </p:txBody>
      </p:sp>
      <p:sp>
        <p:nvSpPr>
          <p:cNvPr id="4" name="Freeform 4"/>
          <p:cNvSpPr/>
          <p:nvPr/>
        </p:nvSpPr>
        <p:spPr>
          <a:xfrm>
            <a:off x="0" y="9258300"/>
            <a:ext cx="4231242" cy="1034847"/>
          </a:xfrm>
          <a:custGeom>
            <a:avLst/>
            <a:gdLst/>
            <a:ahLst/>
            <a:cxnLst/>
            <a:rect l="l" t="t" r="r" b="b"/>
            <a:pathLst>
              <a:path w="4231242" h="1034847">
                <a:moveTo>
                  <a:pt x="0" y="0"/>
                </a:moveTo>
                <a:lnTo>
                  <a:pt x="4231242" y="0"/>
                </a:lnTo>
                <a:lnTo>
                  <a:pt x="4231242" y="1034847"/>
                </a:lnTo>
                <a:lnTo>
                  <a:pt x="0" y="1034847"/>
                </a:lnTo>
                <a:lnTo>
                  <a:pt x="0" y="0"/>
                </a:lnTo>
                <a:close/>
              </a:path>
            </a:pathLst>
          </a:custGeom>
          <a:blipFill>
            <a:blip r:embed="rId4"/>
            <a:stretch>
              <a:fillRect l="-1652" t="-40709" b="-7992"/>
            </a:stretch>
          </a:blipFill>
        </p:spPr>
        <p:txBody>
          <a:bodyPr/>
          <a:lstStyle/>
          <a:p>
            <a:endParaRPr lang="en-US"/>
          </a:p>
        </p:txBody>
      </p:sp>
      <p:sp>
        <p:nvSpPr>
          <p:cNvPr id="5" name="Freeform 5"/>
          <p:cNvSpPr/>
          <p:nvPr/>
        </p:nvSpPr>
        <p:spPr>
          <a:xfrm>
            <a:off x="3698257" y="1525542"/>
            <a:ext cx="13219917" cy="8345501"/>
          </a:xfrm>
          <a:custGeom>
            <a:avLst/>
            <a:gdLst/>
            <a:ahLst/>
            <a:cxnLst/>
            <a:rect l="l" t="t" r="r" b="b"/>
            <a:pathLst>
              <a:path w="13219917" h="8345501">
                <a:moveTo>
                  <a:pt x="0" y="0"/>
                </a:moveTo>
                <a:lnTo>
                  <a:pt x="13219917" y="0"/>
                </a:lnTo>
                <a:lnTo>
                  <a:pt x="13219917" y="8345501"/>
                </a:lnTo>
                <a:lnTo>
                  <a:pt x="0" y="8345501"/>
                </a:lnTo>
                <a:lnTo>
                  <a:pt x="0" y="0"/>
                </a:lnTo>
                <a:close/>
              </a:path>
            </a:pathLst>
          </a:custGeom>
          <a:blipFill>
            <a:blip r:embed="rId5"/>
            <a:stretch>
              <a:fillRect t="-789" b="-789"/>
            </a:stretch>
          </a:blipFill>
        </p:spPr>
        <p:txBody>
          <a:bodyPr/>
          <a:lstStyle/>
          <a:p>
            <a:endParaRPr lang="en-US"/>
          </a:p>
        </p:txBody>
      </p:sp>
      <p:sp>
        <p:nvSpPr>
          <p:cNvPr id="6" name="TextBox 6"/>
          <p:cNvSpPr txBox="1"/>
          <p:nvPr/>
        </p:nvSpPr>
        <p:spPr>
          <a:xfrm>
            <a:off x="294898" y="661953"/>
            <a:ext cx="14043476"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LITERATURE REVIEW</a:t>
            </a:r>
          </a:p>
        </p:txBody>
      </p:sp>
      <p:sp>
        <p:nvSpPr>
          <p:cNvPr id="7" name="TextBox 7"/>
          <p:cNvSpPr txBox="1"/>
          <p:nvPr/>
        </p:nvSpPr>
        <p:spPr>
          <a:xfrm>
            <a:off x="294898" y="108249"/>
            <a:ext cx="8317611"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EMPLOYER LEGITIMACY VERIFICATION SYSTEM</a:t>
            </a:r>
          </a:p>
        </p:txBody>
      </p:sp>
      <p:sp>
        <p:nvSpPr>
          <p:cNvPr id="8" name="TextBox 8"/>
          <p:cNvSpPr txBox="1"/>
          <p:nvPr/>
        </p:nvSpPr>
        <p:spPr>
          <a:xfrm>
            <a:off x="5695129" y="9886403"/>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IT22251664 | Nipuni Bandara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4898" y="1525542"/>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a:off x="15333469" y="695152"/>
            <a:ext cx="2230565" cy="2230565"/>
          </a:xfrm>
          <a:custGeom>
            <a:avLst/>
            <a:gdLst/>
            <a:ahLst/>
            <a:cxnLst/>
            <a:rect l="l" t="t" r="r" b="b"/>
            <a:pathLst>
              <a:path w="2230565" h="2230565">
                <a:moveTo>
                  <a:pt x="0" y="0"/>
                </a:moveTo>
                <a:lnTo>
                  <a:pt x="2230565" y="0"/>
                </a:lnTo>
                <a:lnTo>
                  <a:pt x="2230565" y="2230565"/>
                </a:lnTo>
                <a:lnTo>
                  <a:pt x="0" y="2230565"/>
                </a:lnTo>
                <a:lnTo>
                  <a:pt x="0" y="0"/>
                </a:lnTo>
                <a:close/>
              </a:path>
            </a:pathLst>
          </a:custGeom>
          <a:blipFill>
            <a:blip r:embed="rId3">
              <a:alphaModFix amt="7999"/>
            </a:blip>
            <a:stretch>
              <a:fillRect/>
            </a:stretch>
          </a:blipFill>
          <a:ln cap="sq">
            <a:noFill/>
            <a:prstDash val="solid"/>
            <a:miter/>
          </a:ln>
        </p:spPr>
        <p:txBody>
          <a:bodyPr/>
          <a:lstStyle/>
          <a:p>
            <a:endParaRPr lang="en-US"/>
          </a:p>
        </p:txBody>
      </p:sp>
      <p:sp>
        <p:nvSpPr>
          <p:cNvPr id="4" name="Freeform 4"/>
          <p:cNvSpPr/>
          <p:nvPr/>
        </p:nvSpPr>
        <p:spPr>
          <a:xfrm>
            <a:off x="0" y="9258300"/>
            <a:ext cx="4231242" cy="1034847"/>
          </a:xfrm>
          <a:custGeom>
            <a:avLst/>
            <a:gdLst/>
            <a:ahLst/>
            <a:cxnLst/>
            <a:rect l="l" t="t" r="r" b="b"/>
            <a:pathLst>
              <a:path w="4231242" h="1034847">
                <a:moveTo>
                  <a:pt x="0" y="0"/>
                </a:moveTo>
                <a:lnTo>
                  <a:pt x="4231242" y="0"/>
                </a:lnTo>
                <a:lnTo>
                  <a:pt x="4231242" y="1034847"/>
                </a:lnTo>
                <a:lnTo>
                  <a:pt x="0" y="1034847"/>
                </a:lnTo>
                <a:lnTo>
                  <a:pt x="0" y="0"/>
                </a:lnTo>
                <a:close/>
              </a:path>
            </a:pathLst>
          </a:custGeom>
          <a:blipFill>
            <a:blip r:embed="rId4"/>
            <a:stretch>
              <a:fillRect l="-1652" t="-40709" b="-7992"/>
            </a:stretch>
          </a:blipFill>
        </p:spPr>
        <p:txBody>
          <a:bodyPr/>
          <a:lstStyle/>
          <a:p>
            <a:endParaRPr lang="en-US"/>
          </a:p>
        </p:txBody>
      </p:sp>
      <p:sp>
        <p:nvSpPr>
          <p:cNvPr id="5" name="Freeform 5"/>
          <p:cNvSpPr/>
          <p:nvPr/>
        </p:nvSpPr>
        <p:spPr>
          <a:xfrm>
            <a:off x="2115621" y="1934979"/>
            <a:ext cx="14089621" cy="7686212"/>
          </a:xfrm>
          <a:custGeom>
            <a:avLst/>
            <a:gdLst/>
            <a:ahLst/>
            <a:cxnLst/>
            <a:rect l="l" t="t" r="r" b="b"/>
            <a:pathLst>
              <a:path w="14089621" h="7686212">
                <a:moveTo>
                  <a:pt x="0" y="0"/>
                </a:moveTo>
                <a:lnTo>
                  <a:pt x="14089621" y="0"/>
                </a:lnTo>
                <a:lnTo>
                  <a:pt x="14089621" y="7686211"/>
                </a:lnTo>
                <a:lnTo>
                  <a:pt x="0" y="7686211"/>
                </a:lnTo>
                <a:lnTo>
                  <a:pt x="0" y="0"/>
                </a:lnTo>
                <a:close/>
              </a:path>
            </a:pathLst>
          </a:custGeom>
          <a:blipFill>
            <a:blip r:embed="rId5"/>
            <a:stretch>
              <a:fillRect t="-133"/>
            </a:stretch>
          </a:blipFill>
        </p:spPr>
        <p:txBody>
          <a:bodyPr/>
          <a:lstStyle/>
          <a:p>
            <a:endParaRPr lang="en-US"/>
          </a:p>
        </p:txBody>
      </p:sp>
      <p:sp>
        <p:nvSpPr>
          <p:cNvPr id="6" name="TextBox 6"/>
          <p:cNvSpPr txBox="1"/>
          <p:nvPr/>
        </p:nvSpPr>
        <p:spPr>
          <a:xfrm>
            <a:off x="294898" y="661953"/>
            <a:ext cx="14043476"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DESIGN EXCELLENCE / CONTRIBUTION</a:t>
            </a:r>
          </a:p>
        </p:txBody>
      </p:sp>
      <p:sp>
        <p:nvSpPr>
          <p:cNvPr id="7" name="TextBox 7"/>
          <p:cNvSpPr txBox="1"/>
          <p:nvPr/>
        </p:nvSpPr>
        <p:spPr>
          <a:xfrm>
            <a:off x="294898" y="108249"/>
            <a:ext cx="8317611"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EMPLOYER LEGITIMACY VERIFICATION SYSTEM</a:t>
            </a:r>
          </a:p>
        </p:txBody>
      </p:sp>
      <p:sp>
        <p:nvSpPr>
          <p:cNvPr id="8" name="TextBox 8"/>
          <p:cNvSpPr txBox="1"/>
          <p:nvPr/>
        </p:nvSpPr>
        <p:spPr>
          <a:xfrm>
            <a:off x="5695129" y="9886403"/>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IT22251664 | Nipuni Bandara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4898" y="5496063"/>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a:off x="15333469" y="695152"/>
            <a:ext cx="2230565" cy="2230565"/>
          </a:xfrm>
          <a:custGeom>
            <a:avLst/>
            <a:gdLst/>
            <a:ahLst/>
            <a:cxnLst/>
            <a:rect l="l" t="t" r="r" b="b"/>
            <a:pathLst>
              <a:path w="2230565" h="2230565">
                <a:moveTo>
                  <a:pt x="0" y="0"/>
                </a:moveTo>
                <a:lnTo>
                  <a:pt x="2230565" y="0"/>
                </a:lnTo>
                <a:lnTo>
                  <a:pt x="2230565" y="2230565"/>
                </a:lnTo>
                <a:lnTo>
                  <a:pt x="0" y="2230565"/>
                </a:lnTo>
                <a:lnTo>
                  <a:pt x="0" y="0"/>
                </a:lnTo>
                <a:close/>
              </a:path>
            </a:pathLst>
          </a:custGeom>
          <a:blipFill>
            <a:blip r:embed="rId3">
              <a:alphaModFix amt="7999"/>
            </a:blip>
            <a:stretch>
              <a:fillRect/>
            </a:stretch>
          </a:blipFill>
          <a:ln cap="sq">
            <a:noFill/>
            <a:prstDash val="solid"/>
            <a:miter/>
          </a:ln>
        </p:spPr>
        <p:txBody>
          <a:bodyPr/>
          <a:lstStyle/>
          <a:p>
            <a:endParaRPr lang="en-US"/>
          </a:p>
        </p:txBody>
      </p:sp>
      <p:sp>
        <p:nvSpPr>
          <p:cNvPr id="4" name="Freeform 4"/>
          <p:cNvSpPr/>
          <p:nvPr/>
        </p:nvSpPr>
        <p:spPr>
          <a:xfrm>
            <a:off x="0" y="9258300"/>
            <a:ext cx="4231242" cy="1034847"/>
          </a:xfrm>
          <a:custGeom>
            <a:avLst/>
            <a:gdLst/>
            <a:ahLst/>
            <a:cxnLst/>
            <a:rect l="l" t="t" r="r" b="b"/>
            <a:pathLst>
              <a:path w="4231242" h="1034847">
                <a:moveTo>
                  <a:pt x="0" y="0"/>
                </a:moveTo>
                <a:lnTo>
                  <a:pt x="4231242" y="0"/>
                </a:lnTo>
                <a:lnTo>
                  <a:pt x="4231242" y="1034847"/>
                </a:lnTo>
                <a:lnTo>
                  <a:pt x="0" y="1034847"/>
                </a:lnTo>
                <a:lnTo>
                  <a:pt x="0" y="0"/>
                </a:lnTo>
                <a:close/>
              </a:path>
            </a:pathLst>
          </a:custGeom>
          <a:blipFill>
            <a:blip r:embed="rId4"/>
            <a:stretch>
              <a:fillRect l="-1652" t="-40709" b="-7992"/>
            </a:stretch>
          </a:blipFill>
        </p:spPr>
        <p:txBody>
          <a:bodyPr/>
          <a:lstStyle/>
          <a:p>
            <a:endParaRPr lang="en-US"/>
          </a:p>
        </p:txBody>
      </p:sp>
      <p:sp>
        <p:nvSpPr>
          <p:cNvPr id="5" name="Freeform 5"/>
          <p:cNvSpPr/>
          <p:nvPr/>
        </p:nvSpPr>
        <p:spPr>
          <a:xfrm>
            <a:off x="3732893" y="5439040"/>
            <a:ext cx="14161343" cy="4336684"/>
          </a:xfrm>
          <a:custGeom>
            <a:avLst/>
            <a:gdLst/>
            <a:ahLst/>
            <a:cxnLst/>
            <a:rect l="l" t="t" r="r" b="b"/>
            <a:pathLst>
              <a:path w="14161343" h="4336684">
                <a:moveTo>
                  <a:pt x="0" y="0"/>
                </a:moveTo>
                <a:lnTo>
                  <a:pt x="14161344" y="0"/>
                </a:lnTo>
                <a:lnTo>
                  <a:pt x="14161344" y="4336683"/>
                </a:lnTo>
                <a:lnTo>
                  <a:pt x="0" y="4336683"/>
                </a:lnTo>
                <a:lnTo>
                  <a:pt x="0" y="0"/>
                </a:lnTo>
                <a:close/>
              </a:path>
            </a:pathLst>
          </a:custGeom>
          <a:blipFill>
            <a:blip r:embed="rId5"/>
            <a:stretch>
              <a:fillRect t="-2043" b="-2043"/>
            </a:stretch>
          </a:blipFill>
        </p:spPr>
        <p:txBody>
          <a:bodyPr/>
          <a:lstStyle/>
          <a:p>
            <a:endParaRPr lang="en-US"/>
          </a:p>
        </p:txBody>
      </p:sp>
      <p:sp>
        <p:nvSpPr>
          <p:cNvPr id="6" name="TextBox 6"/>
          <p:cNvSpPr txBox="1"/>
          <p:nvPr/>
        </p:nvSpPr>
        <p:spPr>
          <a:xfrm>
            <a:off x="294898" y="4504571"/>
            <a:ext cx="7547549" cy="863589"/>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MODEL COMPARISON</a:t>
            </a:r>
          </a:p>
        </p:txBody>
      </p:sp>
      <p:sp>
        <p:nvSpPr>
          <p:cNvPr id="7" name="TextBox 7"/>
          <p:cNvSpPr txBox="1"/>
          <p:nvPr/>
        </p:nvSpPr>
        <p:spPr>
          <a:xfrm>
            <a:off x="294898" y="108249"/>
            <a:ext cx="8295862"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EMPLOYER LEGITIMACY VERIFICATION SYSTEM</a:t>
            </a:r>
          </a:p>
        </p:txBody>
      </p:sp>
      <p:sp>
        <p:nvSpPr>
          <p:cNvPr id="8" name="TextBox 8"/>
          <p:cNvSpPr txBox="1"/>
          <p:nvPr/>
        </p:nvSpPr>
        <p:spPr>
          <a:xfrm>
            <a:off x="5695129" y="9886403"/>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IT22251664 | Nipuni Bandara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grpSp>
        <p:nvGrpSpPr>
          <p:cNvPr id="9" name="Group 9"/>
          <p:cNvGrpSpPr/>
          <p:nvPr/>
        </p:nvGrpSpPr>
        <p:grpSpPr>
          <a:xfrm>
            <a:off x="7842448" y="668636"/>
            <a:ext cx="10051789" cy="3712110"/>
            <a:chOff x="0" y="0"/>
            <a:chExt cx="2563102" cy="946550"/>
          </a:xfrm>
        </p:grpSpPr>
        <p:sp>
          <p:nvSpPr>
            <p:cNvPr id="10" name="Freeform 10"/>
            <p:cNvSpPr/>
            <p:nvPr/>
          </p:nvSpPr>
          <p:spPr>
            <a:xfrm>
              <a:off x="0" y="0"/>
              <a:ext cx="2563102" cy="946550"/>
            </a:xfrm>
            <a:custGeom>
              <a:avLst/>
              <a:gdLst/>
              <a:ahLst/>
              <a:cxnLst/>
              <a:rect l="l" t="t" r="r" b="b"/>
              <a:pathLst>
                <a:path w="2563102" h="946550">
                  <a:moveTo>
                    <a:pt x="15043" y="0"/>
                  </a:moveTo>
                  <a:lnTo>
                    <a:pt x="2548059" y="0"/>
                  </a:lnTo>
                  <a:cubicBezTo>
                    <a:pt x="2552049" y="0"/>
                    <a:pt x="2555875" y="1585"/>
                    <a:pt x="2558696" y="4406"/>
                  </a:cubicBezTo>
                  <a:cubicBezTo>
                    <a:pt x="2561517" y="7227"/>
                    <a:pt x="2563102" y="11053"/>
                    <a:pt x="2563102" y="15043"/>
                  </a:cubicBezTo>
                  <a:lnTo>
                    <a:pt x="2563102" y="931507"/>
                  </a:lnTo>
                  <a:cubicBezTo>
                    <a:pt x="2563102" y="939815"/>
                    <a:pt x="2556367" y="946550"/>
                    <a:pt x="2548059" y="946550"/>
                  </a:cubicBezTo>
                  <a:lnTo>
                    <a:pt x="15043" y="946550"/>
                  </a:lnTo>
                  <a:cubicBezTo>
                    <a:pt x="11053" y="946550"/>
                    <a:pt x="7227" y="944965"/>
                    <a:pt x="4406" y="942144"/>
                  </a:cubicBezTo>
                  <a:cubicBezTo>
                    <a:pt x="1585" y="939323"/>
                    <a:pt x="0" y="935496"/>
                    <a:pt x="0" y="931507"/>
                  </a:cubicBezTo>
                  <a:lnTo>
                    <a:pt x="0" y="15043"/>
                  </a:lnTo>
                  <a:cubicBezTo>
                    <a:pt x="0" y="11053"/>
                    <a:pt x="1585" y="7227"/>
                    <a:pt x="4406" y="4406"/>
                  </a:cubicBezTo>
                  <a:cubicBezTo>
                    <a:pt x="7227" y="1585"/>
                    <a:pt x="11053" y="0"/>
                    <a:pt x="15043" y="0"/>
                  </a:cubicBezTo>
                  <a:close/>
                </a:path>
              </a:pathLst>
            </a:custGeom>
            <a:gradFill rotWithShape="1">
              <a:gsLst>
                <a:gs pos="0">
                  <a:srgbClr val="FFFCF5">
                    <a:alpha val="100000"/>
                  </a:srgbClr>
                </a:gs>
                <a:gs pos="100000">
                  <a:srgbClr val="D8D5CA">
                    <a:alpha val="100000"/>
                  </a:srgbClr>
                </a:gs>
              </a:gsLst>
              <a:lin ang="5400000"/>
            </a:gradFill>
          </p:spPr>
          <p:txBody>
            <a:bodyPr/>
            <a:lstStyle/>
            <a:p>
              <a:endParaRPr lang="en-US"/>
            </a:p>
          </p:txBody>
        </p:sp>
        <p:sp>
          <p:nvSpPr>
            <p:cNvPr id="11" name="TextBox 11"/>
            <p:cNvSpPr txBox="1"/>
            <p:nvPr/>
          </p:nvSpPr>
          <p:spPr>
            <a:xfrm>
              <a:off x="0" y="-38100"/>
              <a:ext cx="2563102" cy="984650"/>
            </a:xfrm>
            <a:prstGeom prst="rect">
              <a:avLst/>
            </a:prstGeom>
          </p:spPr>
          <p:txBody>
            <a:bodyPr lIns="50800" tIns="50800" rIns="50800" bIns="50800" rtlCol="0" anchor="ctr"/>
            <a:lstStyle/>
            <a:p>
              <a:pPr marL="474978" lvl="1" indent="-237489" algn="just">
                <a:lnSpc>
                  <a:spcPts val="3079"/>
                </a:lnSpc>
                <a:buFont typeface="Arial"/>
                <a:buChar char="•"/>
              </a:pPr>
              <a:r>
                <a:rPr lang="en-US" sz="2199" b="1">
                  <a:solidFill>
                    <a:srgbClr val="780000"/>
                  </a:solidFill>
                  <a:latin typeface="Canva Sans Bold"/>
                  <a:ea typeface="Canva Sans Bold"/>
                  <a:cs typeface="Canva Sans Bold"/>
                  <a:sym typeface="Canva Sans Bold"/>
                </a:rPr>
                <a:t>Users preferred explainable results instead of simple fake/legit predictions</a:t>
              </a:r>
            </a:p>
            <a:p>
              <a:pPr marL="474978" lvl="1" indent="-237489" algn="just">
                <a:lnSpc>
                  <a:spcPts val="3079"/>
                </a:lnSpc>
                <a:buFont typeface="Arial"/>
                <a:buChar char="•"/>
              </a:pPr>
              <a:r>
                <a:rPr lang="en-US" sz="2199" b="1">
                  <a:solidFill>
                    <a:srgbClr val="780000"/>
                  </a:solidFill>
                  <a:latin typeface="Canva Sans Bold"/>
                  <a:ea typeface="Canva Sans Bold"/>
                  <a:cs typeface="Canva Sans Bold"/>
                  <a:sym typeface="Canva Sans Bold"/>
                </a:rPr>
                <a:t>Feedback highlighted the need for multi-factor verification rather than single-feature detection</a:t>
              </a:r>
            </a:p>
            <a:p>
              <a:pPr marL="474978" lvl="1" indent="-237489" algn="just">
                <a:lnSpc>
                  <a:spcPts val="3079"/>
                </a:lnSpc>
                <a:buFont typeface="Arial"/>
                <a:buChar char="•"/>
              </a:pPr>
              <a:r>
                <a:rPr lang="en-US" sz="2199" b="1">
                  <a:solidFill>
                    <a:srgbClr val="780000"/>
                  </a:solidFill>
                  <a:latin typeface="Canva Sans Bold"/>
                  <a:ea typeface="Canva Sans Bold"/>
                  <a:cs typeface="Canva Sans Bold"/>
                  <a:sym typeface="Canva Sans Bold"/>
                </a:rPr>
                <a:t>Registry verification and evidence tracing improved user trust in the system</a:t>
              </a:r>
            </a:p>
            <a:p>
              <a:pPr marL="474978" lvl="1" indent="-237489" algn="just">
                <a:lnSpc>
                  <a:spcPts val="3079"/>
                </a:lnSpc>
                <a:buFont typeface="Arial"/>
                <a:buChar char="•"/>
              </a:pPr>
              <a:r>
                <a:rPr lang="en-US" sz="2199" b="1">
                  <a:solidFill>
                    <a:srgbClr val="780000"/>
                  </a:solidFill>
                  <a:latin typeface="Canva Sans Bold"/>
                  <a:ea typeface="Canva Sans Bold"/>
                  <a:cs typeface="Canva Sans Bold"/>
                  <a:sym typeface="Canva Sans Bold"/>
                </a:rPr>
                <a:t>Clear risk summaries and score breakdowns made the prototype easier to understand</a:t>
              </a:r>
            </a:p>
            <a:p>
              <a:pPr algn="just">
                <a:lnSpc>
                  <a:spcPts val="3079"/>
                </a:lnSpc>
              </a:pPr>
              <a:endParaRPr lang="en-US" sz="2199" b="1">
                <a:solidFill>
                  <a:srgbClr val="780000"/>
                </a:solidFill>
                <a:latin typeface="Canva Sans Bold"/>
                <a:ea typeface="Canva Sans Bold"/>
                <a:cs typeface="Canva Sans Bold"/>
                <a:sym typeface="Canva Sans Bold"/>
              </a:endParaRPr>
            </a:p>
          </p:txBody>
        </p:sp>
      </p:grpSp>
      <p:sp>
        <p:nvSpPr>
          <p:cNvPr id="12" name="Freeform 12"/>
          <p:cNvSpPr/>
          <p:nvPr/>
        </p:nvSpPr>
        <p:spPr>
          <a:xfrm>
            <a:off x="1067262" y="2925717"/>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13" name="TextBox 13"/>
          <p:cNvSpPr txBox="1"/>
          <p:nvPr/>
        </p:nvSpPr>
        <p:spPr>
          <a:xfrm>
            <a:off x="1028700" y="1083865"/>
            <a:ext cx="6680147" cy="1749414"/>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USER FEEDBACK ON PROTOTYPE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34084" y="-27147"/>
            <a:ext cx="10748929" cy="10969660"/>
            <a:chOff x="0" y="0"/>
            <a:chExt cx="2830994" cy="2889129"/>
          </a:xfrm>
        </p:grpSpPr>
        <p:sp>
          <p:nvSpPr>
            <p:cNvPr id="3" name="Freeform 3"/>
            <p:cNvSpPr/>
            <p:nvPr/>
          </p:nvSpPr>
          <p:spPr>
            <a:xfrm>
              <a:off x="0" y="0"/>
              <a:ext cx="2830993" cy="2889129"/>
            </a:xfrm>
            <a:custGeom>
              <a:avLst/>
              <a:gdLst/>
              <a:ahLst/>
              <a:cxnLst/>
              <a:rect l="l" t="t" r="r" b="b"/>
              <a:pathLst>
                <a:path w="2830993" h="2889129">
                  <a:moveTo>
                    <a:pt x="0" y="0"/>
                  </a:moveTo>
                  <a:lnTo>
                    <a:pt x="2830993" y="0"/>
                  </a:lnTo>
                  <a:lnTo>
                    <a:pt x="2830993" y="2889129"/>
                  </a:lnTo>
                  <a:lnTo>
                    <a:pt x="0" y="2889129"/>
                  </a:lnTo>
                  <a:close/>
                </a:path>
              </a:pathLst>
            </a:custGeom>
            <a:solidFill>
              <a:srgbClr val="282828"/>
            </a:solidFill>
          </p:spPr>
          <p:txBody>
            <a:bodyPr/>
            <a:lstStyle/>
            <a:p>
              <a:endParaRPr lang="en-US"/>
            </a:p>
          </p:txBody>
        </p:sp>
        <p:sp>
          <p:nvSpPr>
            <p:cNvPr id="4" name="TextBox 4"/>
            <p:cNvSpPr txBox="1"/>
            <p:nvPr/>
          </p:nvSpPr>
          <p:spPr>
            <a:xfrm>
              <a:off x="0" y="-47625"/>
              <a:ext cx="2830994" cy="2936754"/>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8643609" y="-27147"/>
            <a:ext cx="10287000" cy="10287000"/>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90" b="-90"/>
              </a:stretch>
            </a:blipFill>
          </p:spPr>
          <p:txBody>
            <a:bodyPr/>
            <a:lstStyle/>
            <a:p>
              <a:endParaRPr lang="en-US"/>
            </a:p>
          </p:txBody>
        </p:sp>
      </p:grpSp>
      <p:sp>
        <p:nvSpPr>
          <p:cNvPr id="7" name="Freeform 7"/>
          <p:cNvSpPr/>
          <p:nvPr/>
        </p:nvSpPr>
        <p:spPr>
          <a:xfrm rot="-4873416">
            <a:off x="3241450"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8" name="Group 8"/>
          <p:cNvGrpSpPr/>
          <p:nvPr/>
        </p:nvGrpSpPr>
        <p:grpSpPr>
          <a:xfrm rot="792552">
            <a:off x="6887549" y="-539109"/>
            <a:ext cx="2209301" cy="10969660"/>
            <a:chOff x="0" y="0"/>
            <a:chExt cx="581874" cy="2889129"/>
          </a:xfrm>
        </p:grpSpPr>
        <p:sp>
          <p:nvSpPr>
            <p:cNvPr id="9" name="Freeform 9"/>
            <p:cNvSpPr/>
            <p:nvPr/>
          </p:nvSpPr>
          <p:spPr>
            <a:xfrm>
              <a:off x="0" y="0"/>
              <a:ext cx="581874" cy="2889129"/>
            </a:xfrm>
            <a:custGeom>
              <a:avLst/>
              <a:gdLst/>
              <a:ahLst/>
              <a:cxnLst/>
              <a:rect l="l" t="t" r="r" b="b"/>
              <a:pathLst>
                <a:path w="581874" h="2889129">
                  <a:moveTo>
                    <a:pt x="0" y="0"/>
                  </a:moveTo>
                  <a:lnTo>
                    <a:pt x="581874" y="0"/>
                  </a:lnTo>
                  <a:lnTo>
                    <a:pt x="581874" y="2889129"/>
                  </a:lnTo>
                  <a:lnTo>
                    <a:pt x="0" y="2889129"/>
                  </a:lnTo>
                  <a:close/>
                </a:path>
              </a:pathLst>
            </a:custGeom>
            <a:solidFill>
              <a:srgbClr val="FFFFFF"/>
            </a:solidFill>
          </p:spPr>
          <p:txBody>
            <a:bodyPr/>
            <a:lstStyle/>
            <a:p>
              <a:endParaRPr lang="en-US"/>
            </a:p>
          </p:txBody>
        </p:sp>
        <p:sp>
          <p:nvSpPr>
            <p:cNvPr id="10" name="TextBox 10"/>
            <p:cNvSpPr txBox="1"/>
            <p:nvPr/>
          </p:nvSpPr>
          <p:spPr>
            <a:xfrm>
              <a:off x="0" y="-47625"/>
              <a:ext cx="581874" cy="2936754"/>
            </a:xfrm>
            <a:prstGeom prst="rect">
              <a:avLst/>
            </a:prstGeom>
          </p:spPr>
          <p:txBody>
            <a:bodyPr lIns="50800" tIns="50800" rIns="50800" bIns="50800" rtlCol="0" anchor="ctr"/>
            <a:lstStyle/>
            <a:p>
              <a:pPr algn="ctr">
                <a:lnSpc>
                  <a:spcPts val="3220"/>
                </a:lnSpc>
              </a:pPr>
              <a:endParaRPr/>
            </a:p>
          </p:txBody>
        </p:sp>
      </p:grpSp>
      <p:sp>
        <p:nvSpPr>
          <p:cNvPr id="11" name="Freeform 11"/>
          <p:cNvSpPr/>
          <p:nvPr/>
        </p:nvSpPr>
        <p:spPr>
          <a:xfrm>
            <a:off x="0" y="9047986"/>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4"/>
            <a:stretch>
              <a:fillRect l="-1652" t="-36979" b="-5607"/>
            </a:stretch>
          </a:blipFill>
        </p:spPr>
        <p:txBody>
          <a:bodyPr/>
          <a:lstStyle/>
          <a:p>
            <a:endParaRPr lang="en-US"/>
          </a:p>
        </p:txBody>
      </p:sp>
      <p:sp>
        <p:nvSpPr>
          <p:cNvPr id="12" name="TextBox 12"/>
          <p:cNvSpPr txBox="1"/>
          <p:nvPr/>
        </p:nvSpPr>
        <p:spPr>
          <a:xfrm>
            <a:off x="1060467" y="3420134"/>
            <a:ext cx="4671218" cy="676211"/>
          </a:xfrm>
          <a:prstGeom prst="rect">
            <a:avLst/>
          </a:prstGeom>
        </p:spPr>
        <p:txBody>
          <a:bodyPr lIns="0" tIns="0" rIns="0" bIns="0" rtlCol="0" anchor="t">
            <a:spAutoFit/>
          </a:bodyPr>
          <a:lstStyle/>
          <a:p>
            <a:pPr marL="0" lvl="0" indent="0" algn="l">
              <a:lnSpc>
                <a:spcPts val="5253"/>
              </a:lnSpc>
              <a:spcBef>
                <a:spcPct val="0"/>
              </a:spcBef>
            </a:pPr>
            <a:r>
              <a:rPr lang="en-US" sz="3752" b="1" spc="105">
                <a:solidFill>
                  <a:srgbClr val="000000"/>
                </a:solidFill>
                <a:latin typeface="Poppins Medium"/>
                <a:ea typeface="Poppins Medium"/>
                <a:cs typeface="Poppins Medium"/>
                <a:sym typeface="Poppins Medium"/>
              </a:rPr>
              <a:t>COMP</a:t>
            </a:r>
            <a:r>
              <a:rPr lang="en-US" sz="3752" b="1" u="none" strike="noStrike" spc="105">
                <a:solidFill>
                  <a:srgbClr val="000000"/>
                </a:solidFill>
                <a:latin typeface="Poppins Medium"/>
                <a:ea typeface="Poppins Medium"/>
                <a:cs typeface="Poppins Medium"/>
                <a:sym typeface="Poppins Medium"/>
              </a:rPr>
              <a:t>ONENT 03</a:t>
            </a:r>
          </a:p>
        </p:txBody>
      </p:sp>
      <p:sp>
        <p:nvSpPr>
          <p:cNvPr id="13" name="TextBox 13"/>
          <p:cNvSpPr txBox="1"/>
          <p:nvPr/>
        </p:nvSpPr>
        <p:spPr>
          <a:xfrm>
            <a:off x="1060467" y="4136550"/>
            <a:ext cx="8931784" cy="1626864"/>
          </a:xfrm>
          <a:prstGeom prst="rect">
            <a:avLst/>
          </a:prstGeom>
        </p:spPr>
        <p:txBody>
          <a:bodyPr lIns="0" tIns="0" rIns="0" bIns="0" rtlCol="0" anchor="t">
            <a:spAutoFit/>
          </a:bodyPr>
          <a:lstStyle/>
          <a:p>
            <a:pPr marL="0" lvl="0" indent="0" algn="l">
              <a:lnSpc>
                <a:spcPts val="6405"/>
              </a:lnSpc>
              <a:spcBef>
                <a:spcPct val="0"/>
              </a:spcBef>
            </a:pPr>
            <a:r>
              <a:rPr lang="en-US" sz="4575" b="1" spc="128">
                <a:solidFill>
                  <a:srgbClr val="000000"/>
                </a:solidFill>
                <a:latin typeface="Poppins Bold"/>
                <a:ea typeface="Poppins Bold"/>
                <a:cs typeface="Poppins Bold"/>
                <a:sym typeface="Poppins Bold"/>
              </a:rPr>
              <a:t>SCAM COMMUNICATION DETECTION MODEL </a:t>
            </a:r>
          </a:p>
        </p:txBody>
      </p:sp>
      <p:sp>
        <p:nvSpPr>
          <p:cNvPr id="14" name="TextBox 14"/>
          <p:cNvSpPr txBox="1"/>
          <p:nvPr/>
        </p:nvSpPr>
        <p:spPr>
          <a:xfrm>
            <a:off x="1060467" y="990600"/>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15" name="TextBox 15"/>
          <p:cNvSpPr txBox="1"/>
          <p:nvPr/>
        </p:nvSpPr>
        <p:spPr>
          <a:xfrm>
            <a:off x="2619708" y="9305964"/>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IT22224002 | Kajanthan U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39211" y="2338472"/>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3" name="Freeform 3"/>
          <p:cNvSpPr/>
          <p:nvPr/>
        </p:nvSpPr>
        <p:spPr>
          <a:xfrm rot="-5400000">
            <a:off x="-5110709"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3712414" y="0"/>
            <a:ext cx="4575586" cy="10415414"/>
          </a:xfrm>
          <a:custGeom>
            <a:avLst/>
            <a:gdLst/>
            <a:ahLst/>
            <a:cxnLst/>
            <a:rect l="l" t="t" r="r" b="b"/>
            <a:pathLst>
              <a:path w="4575586" h="10415414">
                <a:moveTo>
                  <a:pt x="0" y="0"/>
                </a:moveTo>
                <a:lnTo>
                  <a:pt x="4575586" y="0"/>
                </a:lnTo>
                <a:lnTo>
                  <a:pt x="4575586" y="10415414"/>
                </a:lnTo>
                <a:lnTo>
                  <a:pt x="0" y="10415414"/>
                </a:lnTo>
                <a:lnTo>
                  <a:pt x="0" y="0"/>
                </a:lnTo>
                <a:close/>
              </a:path>
            </a:pathLst>
          </a:custGeom>
          <a:blipFill>
            <a:blip r:embed="rId3"/>
            <a:stretch>
              <a:fillRect l="-336749" t="-6760" r="-9158"/>
            </a:stretch>
          </a:blipFill>
        </p:spPr>
        <p:txBody>
          <a:bodyPr/>
          <a:lstStyle/>
          <a:p>
            <a:endParaRPr lang="en-US"/>
          </a:p>
        </p:txBody>
      </p:sp>
      <p:sp>
        <p:nvSpPr>
          <p:cNvPr id="5" name="Freeform 5"/>
          <p:cNvSpPr/>
          <p:nvPr/>
        </p:nvSpPr>
        <p:spPr>
          <a:xfrm>
            <a:off x="15333469" y="695152"/>
            <a:ext cx="2230565" cy="2230565"/>
          </a:xfrm>
          <a:custGeom>
            <a:avLst/>
            <a:gdLst/>
            <a:ahLst/>
            <a:cxnLst/>
            <a:rect l="l" t="t" r="r" b="b"/>
            <a:pathLst>
              <a:path w="2230565" h="2230565">
                <a:moveTo>
                  <a:pt x="0" y="0"/>
                </a:moveTo>
                <a:lnTo>
                  <a:pt x="2230565" y="0"/>
                </a:lnTo>
                <a:lnTo>
                  <a:pt x="2230565" y="2230565"/>
                </a:lnTo>
                <a:lnTo>
                  <a:pt x="0" y="2230565"/>
                </a:lnTo>
                <a:lnTo>
                  <a:pt x="0" y="0"/>
                </a:lnTo>
                <a:close/>
              </a:path>
            </a:pathLst>
          </a:custGeom>
          <a:blipFill>
            <a:blip r:embed="rId4">
              <a:alphaModFix amt="7999"/>
            </a:blip>
            <a:stretch>
              <a:fillRect/>
            </a:stretch>
          </a:blipFill>
          <a:ln cap="sq">
            <a:noFill/>
            <a:prstDash val="solid"/>
            <a:miter/>
          </a:ln>
        </p:spPr>
        <p:txBody>
          <a:bodyPr/>
          <a:lstStyle/>
          <a:p>
            <a:endParaRPr lang="en-US"/>
          </a:p>
        </p:txBody>
      </p:sp>
      <p:sp>
        <p:nvSpPr>
          <p:cNvPr id="6" name="Freeform 6"/>
          <p:cNvSpPr/>
          <p:nvPr/>
        </p:nvSpPr>
        <p:spPr>
          <a:xfrm>
            <a:off x="13712414" y="0"/>
            <a:ext cx="13880378" cy="10287000"/>
          </a:xfrm>
          <a:custGeom>
            <a:avLst/>
            <a:gdLst/>
            <a:ahLst/>
            <a:cxnLst/>
            <a:rect l="l" t="t" r="r" b="b"/>
            <a:pathLst>
              <a:path w="13880378" h="10287000">
                <a:moveTo>
                  <a:pt x="0" y="0"/>
                </a:moveTo>
                <a:lnTo>
                  <a:pt x="13880378" y="0"/>
                </a:lnTo>
                <a:lnTo>
                  <a:pt x="13880378" y="10287000"/>
                </a:lnTo>
                <a:lnTo>
                  <a:pt x="0" y="10287000"/>
                </a:lnTo>
                <a:lnTo>
                  <a:pt x="0" y="0"/>
                </a:lnTo>
                <a:close/>
              </a:path>
            </a:pathLst>
          </a:custGeom>
          <a:blipFill>
            <a:blip r:embed="rId5"/>
            <a:stretch>
              <a:fillRect l="-11237"/>
            </a:stretch>
          </a:blipFill>
        </p:spPr>
        <p:txBody>
          <a:bodyPr/>
          <a:lstStyle/>
          <a:p>
            <a:endParaRPr lang="en-US"/>
          </a:p>
        </p:txBody>
      </p:sp>
      <p:sp>
        <p:nvSpPr>
          <p:cNvPr id="7" name="TextBox 7"/>
          <p:cNvSpPr txBox="1"/>
          <p:nvPr/>
        </p:nvSpPr>
        <p:spPr>
          <a:xfrm>
            <a:off x="1585248" y="2444187"/>
            <a:ext cx="11326670" cy="3231515"/>
          </a:xfrm>
          <a:prstGeom prst="rect">
            <a:avLst/>
          </a:prstGeom>
        </p:spPr>
        <p:txBody>
          <a:bodyPr lIns="0" tIns="0" rIns="0" bIns="0" rtlCol="0" anchor="t">
            <a:spAutoFit/>
          </a:bodyPr>
          <a:lstStyle/>
          <a:p>
            <a:pPr marL="561341" lvl="1" indent="-280670" algn="just">
              <a:lnSpc>
                <a:spcPts val="5200"/>
              </a:lnSpc>
              <a:buFont typeface="Arial"/>
              <a:buChar char="•"/>
            </a:pPr>
            <a:r>
              <a:rPr lang="en-US" sz="2600">
                <a:solidFill>
                  <a:srgbClr val="000000"/>
                </a:solidFill>
                <a:latin typeface="Open Sans"/>
                <a:ea typeface="Open Sans"/>
                <a:cs typeface="Open Sans"/>
                <a:sym typeface="Open Sans"/>
              </a:rPr>
              <a:t>Existing systems detect fake job posts only — no protection once communication moves to WhatsApp, Telegram, or SMS</a:t>
            </a:r>
          </a:p>
          <a:p>
            <a:pPr marL="561341" lvl="1" indent="-280670" algn="just">
              <a:lnSpc>
                <a:spcPts val="5200"/>
              </a:lnSpc>
              <a:buFont typeface="Arial"/>
              <a:buChar char="•"/>
            </a:pPr>
            <a:r>
              <a:rPr lang="en-US" sz="2600">
                <a:solidFill>
                  <a:srgbClr val="000000"/>
                </a:solidFill>
                <a:latin typeface="Open Sans"/>
                <a:ea typeface="Open Sans"/>
                <a:cs typeface="Open Sans"/>
                <a:sym typeface="Open Sans"/>
              </a:rPr>
              <a:t>No system identifies which psychological manipulation tactic is being used</a:t>
            </a:r>
          </a:p>
          <a:p>
            <a:pPr algn="just">
              <a:lnSpc>
                <a:spcPts val="5200"/>
              </a:lnSpc>
            </a:pPr>
            <a:endParaRPr lang="en-US" sz="2600">
              <a:solidFill>
                <a:srgbClr val="000000"/>
              </a:solidFill>
              <a:latin typeface="Open Sans"/>
              <a:ea typeface="Open Sans"/>
              <a:cs typeface="Open Sans"/>
              <a:sym typeface="Open Sans"/>
            </a:endParaRPr>
          </a:p>
        </p:txBody>
      </p:sp>
      <p:sp>
        <p:nvSpPr>
          <p:cNvPr id="8" name="TextBox 8"/>
          <p:cNvSpPr txBox="1"/>
          <p:nvPr/>
        </p:nvSpPr>
        <p:spPr>
          <a:xfrm>
            <a:off x="1939211" y="1753285"/>
            <a:ext cx="11907103" cy="537845"/>
          </a:xfrm>
          <a:prstGeom prst="rect">
            <a:avLst/>
          </a:prstGeom>
        </p:spPr>
        <p:txBody>
          <a:bodyPr lIns="0" tIns="0" rIns="0" bIns="0" rtlCol="0" anchor="t">
            <a:spAutoFit/>
          </a:bodyPr>
          <a:lstStyle/>
          <a:p>
            <a:pPr marL="0" lvl="0" indent="0" algn="l">
              <a:lnSpc>
                <a:spcPts val="4479"/>
              </a:lnSpc>
              <a:spcBef>
                <a:spcPct val="0"/>
              </a:spcBef>
            </a:pPr>
            <a:r>
              <a:rPr lang="en-US" sz="3199" spc="89">
                <a:solidFill>
                  <a:srgbClr val="000000"/>
                </a:solidFill>
                <a:latin typeface="League Spartan"/>
                <a:ea typeface="League Spartan"/>
                <a:cs typeface="League Spartan"/>
                <a:sym typeface="League Spartan"/>
              </a:rPr>
              <a:t>THE PROBLEM</a:t>
            </a:r>
          </a:p>
        </p:txBody>
      </p:sp>
      <p:sp>
        <p:nvSpPr>
          <p:cNvPr id="9" name="TextBox 9"/>
          <p:cNvSpPr txBox="1"/>
          <p:nvPr/>
        </p:nvSpPr>
        <p:spPr>
          <a:xfrm>
            <a:off x="1939211" y="746211"/>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 - COMPONENT 03</a:t>
            </a:r>
          </a:p>
        </p:txBody>
      </p:sp>
      <p:sp>
        <p:nvSpPr>
          <p:cNvPr id="10" name="Freeform 10"/>
          <p:cNvSpPr/>
          <p:nvPr/>
        </p:nvSpPr>
        <p:spPr>
          <a:xfrm>
            <a:off x="-60877" y="9003012"/>
            <a:ext cx="5164069" cy="1317152"/>
          </a:xfrm>
          <a:custGeom>
            <a:avLst/>
            <a:gdLst/>
            <a:ahLst/>
            <a:cxnLst/>
            <a:rect l="l" t="t" r="r" b="b"/>
            <a:pathLst>
              <a:path w="5164069" h="1317152">
                <a:moveTo>
                  <a:pt x="0" y="0"/>
                </a:moveTo>
                <a:lnTo>
                  <a:pt x="5164068" y="0"/>
                </a:lnTo>
                <a:lnTo>
                  <a:pt x="5164068" y="1317152"/>
                </a:lnTo>
                <a:lnTo>
                  <a:pt x="0" y="1317152"/>
                </a:lnTo>
                <a:lnTo>
                  <a:pt x="0" y="0"/>
                </a:lnTo>
                <a:close/>
              </a:path>
            </a:pathLst>
          </a:custGeom>
          <a:blipFill>
            <a:blip r:embed="rId6"/>
            <a:stretch>
              <a:fillRect l="-1652" t="-36979" b="-5607"/>
            </a:stretch>
          </a:blipFill>
        </p:spPr>
        <p:txBody>
          <a:bodyPr/>
          <a:lstStyle/>
          <a:p>
            <a:endParaRPr lang="en-US"/>
          </a:p>
        </p:txBody>
      </p:sp>
      <p:sp>
        <p:nvSpPr>
          <p:cNvPr id="11" name="TextBox 11"/>
          <p:cNvSpPr txBox="1"/>
          <p:nvPr/>
        </p:nvSpPr>
        <p:spPr>
          <a:xfrm>
            <a:off x="5652300" y="9781981"/>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IT22224002 | Kajanthan U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12" name="Freeform 12"/>
          <p:cNvSpPr/>
          <p:nvPr/>
        </p:nvSpPr>
        <p:spPr>
          <a:xfrm>
            <a:off x="2135243" y="6023047"/>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13" name="TextBox 13"/>
          <p:cNvSpPr txBox="1"/>
          <p:nvPr/>
        </p:nvSpPr>
        <p:spPr>
          <a:xfrm>
            <a:off x="2135243" y="5437577"/>
            <a:ext cx="11907103" cy="537845"/>
          </a:xfrm>
          <a:prstGeom prst="rect">
            <a:avLst/>
          </a:prstGeom>
        </p:spPr>
        <p:txBody>
          <a:bodyPr lIns="0" tIns="0" rIns="0" bIns="0" rtlCol="0" anchor="t">
            <a:spAutoFit/>
          </a:bodyPr>
          <a:lstStyle/>
          <a:p>
            <a:pPr marL="0" lvl="0" indent="0" algn="l">
              <a:lnSpc>
                <a:spcPts val="4479"/>
              </a:lnSpc>
              <a:spcBef>
                <a:spcPct val="0"/>
              </a:spcBef>
            </a:pPr>
            <a:r>
              <a:rPr lang="en-US" sz="3199" spc="89">
                <a:solidFill>
                  <a:srgbClr val="000000"/>
                </a:solidFill>
                <a:latin typeface="League Spartan"/>
                <a:ea typeface="League Spartan"/>
                <a:cs typeface="League Spartan"/>
                <a:sym typeface="League Spartan"/>
              </a:rPr>
              <a:t>NOVELTY</a:t>
            </a:r>
          </a:p>
        </p:txBody>
      </p:sp>
      <p:sp>
        <p:nvSpPr>
          <p:cNvPr id="14" name="TextBox 14"/>
          <p:cNvSpPr txBox="1"/>
          <p:nvPr/>
        </p:nvSpPr>
        <p:spPr>
          <a:xfrm>
            <a:off x="1585248" y="6127683"/>
            <a:ext cx="11326670" cy="3888740"/>
          </a:xfrm>
          <a:prstGeom prst="rect">
            <a:avLst/>
          </a:prstGeom>
        </p:spPr>
        <p:txBody>
          <a:bodyPr lIns="0" tIns="0" rIns="0" bIns="0" rtlCol="0" anchor="t">
            <a:spAutoFit/>
          </a:bodyPr>
          <a:lstStyle/>
          <a:p>
            <a:pPr marL="561341" lvl="1" indent="-280670" algn="just">
              <a:lnSpc>
                <a:spcPts val="5200"/>
              </a:lnSpc>
              <a:buFont typeface="Arial"/>
              <a:buChar char="•"/>
            </a:pPr>
            <a:r>
              <a:rPr lang="en-US" sz="2600">
                <a:solidFill>
                  <a:srgbClr val="000000"/>
                </a:solidFill>
                <a:latin typeface="Open Sans"/>
                <a:ea typeface="Open Sans"/>
                <a:cs typeface="Open Sans"/>
                <a:sym typeface="Open Sans"/>
              </a:rPr>
              <a:t>First system to operationalise Anagha et al. 4 tactics — urgency, FOMO, sunk-cost, social proof </a:t>
            </a:r>
          </a:p>
          <a:p>
            <a:pPr marL="561341" lvl="1" indent="-280670" algn="just">
              <a:lnSpc>
                <a:spcPts val="5200"/>
              </a:lnSpc>
              <a:buFont typeface="Arial"/>
              <a:buChar char="•"/>
            </a:pPr>
            <a:r>
              <a:rPr lang="en-US" sz="2600">
                <a:solidFill>
                  <a:srgbClr val="000000"/>
                </a:solidFill>
                <a:latin typeface="Open Sans"/>
                <a:ea typeface="Open Sans"/>
                <a:cs typeface="Open Sans"/>
                <a:sym typeface="Open Sans"/>
              </a:rPr>
              <a:t>Works across WhatsApp, Telegram, SMS, LinkedIn, email</a:t>
            </a:r>
          </a:p>
          <a:p>
            <a:pPr marL="561341" lvl="1" indent="-280670" algn="just">
              <a:lnSpc>
                <a:spcPts val="5200"/>
              </a:lnSpc>
              <a:buFont typeface="Arial"/>
              <a:buChar char="•"/>
            </a:pPr>
            <a:r>
              <a:rPr lang="en-US" sz="2600">
                <a:solidFill>
                  <a:srgbClr val="000000"/>
                </a:solidFill>
                <a:latin typeface="Open Sans"/>
                <a:ea typeface="Open Sans"/>
                <a:cs typeface="Open Sans"/>
                <a:sym typeface="Open Sans"/>
              </a:rPr>
              <a:t>Plain-language explainable warnings for non-technical job seekers</a:t>
            </a:r>
          </a:p>
          <a:p>
            <a:pPr algn="just">
              <a:lnSpc>
                <a:spcPts val="5200"/>
              </a:lnSpc>
            </a:pPr>
            <a:endParaRPr lang="en-US" sz="2600">
              <a:solidFill>
                <a:srgbClr val="000000"/>
              </a:solidFill>
              <a:latin typeface="Open Sans"/>
              <a:ea typeface="Open Sans"/>
              <a:cs typeface="Open Sans"/>
              <a:sym typeface="Open Sans"/>
            </a:endParaRPr>
          </a:p>
          <a:p>
            <a:pPr algn="just">
              <a:lnSpc>
                <a:spcPts val="5200"/>
              </a:lnSpc>
            </a:pPr>
            <a:endParaRPr lang="en-US" sz="2600">
              <a:solidFill>
                <a:srgbClr val="00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110709"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
        <p:nvSpPr>
          <p:cNvPr id="4" name="Freeform 4"/>
          <p:cNvSpPr/>
          <p:nvPr/>
        </p:nvSpPr>
        <p:spPr>
          <a:xfrm>
            <a:off x="2105549" y="1445619"/>
            <a:ext cx="15153751" cy="8182805"/>
          </a:xfrm>
          <a:custGeom>
            <a:avLst/>
            <a:gdLst/>
            <a:ahLst/>
            <a:cxnLst/>
            <a:rect l="l" t="t" r="r" b="b"/>
            <a:pathLst>
              <a:path w="15153751" h="8182805">
                <a:moveTo>
                  <a:pt x="0" y="0"/>
                </a:moveTo>
                <a:lnTo>
                  <a:pt x="15153751" y="0"/>
                </a:lnTo>
                <a:lnTo>
                  <a:pt x="15153751" y="8182805"/>
                </a:lnTo>
                <a:lnTo>
                  <a:pt x="0" y="8182805"/>
                </a:lnTo>
                <a:lnTo>
                  <a:pt x="0" y="0"/>
                </a:lnTo>
                <a:close/>
              </a:path>
            </a:pathLst>
          </a:custGeom>
          <a:blipFill>
            <a:blip r:embed="rId4"/>
            <a:stretch>
              <a:fillRect t="-1390" b="-1390"/>
            </a:stretch>
          </a:blipFill>
        </p:spPr>
        <p:txBody>
          <a:bodyPr/>
          <a:lstStyle/>
          <a:p>
            <a:endParaRPr lang="en-US"/>
          </a:p>
        </p:txBody>
      </p:sp>
      <p:sp>
        <p:nvSpPr>
          <p:cNvPr id="5" name="TextBox 5"/>
          <p:cNvSpPr txBox="1"/>
          <p:nvPr/>
        </p:nvSpPr>
        <p:spPr>
          <a:xfrm>
            <a:off x="1753949" y="157355"/>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 - COMPONENT 03</a:t>
            </a:r>
          </a:p>
        </p:txBody>
      </p:sp>
      <p:sp>
        <p:nvSpPr>
          <p:cNvPr id="6" name="TextBox 6"/>
          <p:cNvSpPr txBox="1"/>
          <p:nvPr/>
        </p:nvSpPr>
        <p:spPr>
          <a:xfrm>
            <a:off x="5652300" y="9781981"/>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IT22224002 | Kajanthan U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7" name="TextBox 7"/>
          <p:cNvSpPr txBox="1"/>
          <p:nvPr/>
        </p:nvSpPr>
        <p:spPr>
          <a:xfrm>
            <a:off x="2342991" y="669389"/>
            <a:ext cx="11907103" cy="537845"/>
          </a:xfrm>
          <a:prstGeom prst="rect">
            <a:avLst/>
          </a:prstGeom>
        </p:spPr>
        <p:txBody>
          <a:bodyPr lIns="0" tIns="0" rIns="0" bIns="0" rtlCol="0" anchor="t">
            <a:spAutoFit/>
          </a:bodyPr>
          <a:lstStyle/>
          <a:p>
            <a:pPr marL="0" lvl="0" indent="0" algn="l">
              <a:lnSpc>
                <a:spcPts val="4479"/>
              </a:lnSpc>
              <a:spcBef>
                <a:spcPct val="0"/>
              </a:spcBef>
            </a:pPr>
            <a:r>
              <a:rPr lang="en-US" sz="3199" spc="89">
                <a:solidFill>
                  <a:srgbClr val="000000"/>
                </a:solidFill>
                <a:latin typeface="League Spartan"/>
                <a:ea typeface="League Spartan"/>
                <a:cs typeface="League Spartan"/>
                <a:sym typeface="League Spartan"/>
              </a:rPr>
              <a:t>LITERATURE REVIEW</a:t>
            </a:r>
          </a:p>
        </p:txBody>
      </p:sp>
      <p:sp>
        <p:nvSpPr>
          <p:cNvPr id="8" name="Freeform 8"/>
          <p:cNvSpPr/>
          <p:nvPr/>
        </p:nvSpPr>
        <p:spPr>
          <a:xfrm>
            <a:off x="2342991" y="1207234"/>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110709"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
        <p:nvSpPr>
          <p:cNvPr id="4" name="Freeform 4"/>
          <p:cNvSpPr/>
          <p:nvPr/>
        </p:nvSpPr>
        <p:spPr>
          <a:xfrm>
            <a:off x="1489123" y="808341"/>
            <a:ext cx="16534051" cy="7729669"/>
          </a:xfrm>
          <a:custGeom>
            <a:avLst/>
            <a:gdLst/>
            <a:ahLst/>
            <a:cxnLst/>
            <a:rect l="l" t="t" r="r" b="b"/>
            <a:pathLst>
              <a:path w="16534051" h="7729669">
                <a:moveTo>
                  <a:pt x="0" y="0"/>
                </a:moveTo>
                <a:lnTo>
                  <a:pt x="16534051" y="0"/>
                </a:lnTo>
                <a:lnTo>
                  <a:pt x="16534051" y="7729669"/>
                </a:lnTo>
                <a:lnTo>
                  <a:pt x="0" y="77296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753949" y="157355"/>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 - COMPONENT 03</a:t>
            </a:r>
          </a:p>
        </p:txBody>
      </p:sp>
      <p:sp>
        <p:nvSpPr>
          <p:cNvPr id="6" name="TextBox 6"/>
          <p:cNvSpPr txBox="1"/>
          <p:nvPr/>
        </p:nvSpPr>
        <p:spPr>
          <a:xfrm>
            <a:off x="5652300" y="9781981"/>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IT22224002 | Kajanthan U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7" name="TextBox 7"/>
          <p:cNvSpPr txBox="1"/>
          <p:nvPr/>
        </p:nvSpPr>
        <p:spPr>
          <a:xfrm>
            <a:off x="-5422285" y="2675812"/>
            <a:ext cx="16534051" cy="580216"/>
          </a:xfrm>
          <a:prstGeom prst="rect">
            <a:avLst/>
          </a:prstGeom>
        </p:spPr>
        <p:txBody>
          <a:bodyPr lIns="0" tIns="0" rIns="0" bIns="0" rtlCol="0" anchor="t">
            <a:spAutoFit/>
          </a:bodyPr>
          <a:lstStyle/>
          <a:p>
            <a:pPr algn="ctr">
              <a:lnSpc>
                <a:spcPts val="4769"/>
              </a:lnSpc>
              <a:spcBef>
                <a:spcPct val="0"/>
              </a:spcBef>
            </a:pPr>
            <a:r>
              <a:rPr lang="en-US" sz="3406">
                <a:solidFill>
                  <a:srgbClr val="000000"/>
                </a:solidFill>
                <a:latin typeface="League Spartan"/>
                <a:ea typeface="League Spartan"/>
                <a:cs typeface="League Spartan"/>
                <a:sym typeface="League Spartan"/>
              </a:rPr>
              <a:t>Baseline</a:t>
            </a:r>
          </a:p>
        </p:txBody>
      </p:sp>
      <p:sp>
        <p:nvSpPr>
          <p:cNvPr id="8" name="Freeform 8"/>
          <p:cNvSpPr/>
          <p:nvPr/>
        </p:nvSpPr>
        <p:spPr>
          <a:xfrm>
            <a:off x="1839674" y="3256028"/>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9" name="TextBox 9"/>
          <p:cNvSpPr txBox="1"/>
          <p:nvPr/>
        </p:nvSpPr>
        <p:spPr>
          <a:xfrm>
            <a:off x="1982549" y="3561641"/>
            <a:ext cx="4001810" cy="398605"/>
          </a:xfrm>
          <a:prstGeom prst="rect">
            <a:avLst/>
          </a:prstGeom>
        </p:spPr>
        <p:txBody>
          <a:bodyPr lIns="0" tIns="0" rIns="0" bIns="0" rtlCol="0" anchor="t">
            <a:spAutoFit/>
          </a:bodyPr>
          <a:lstStyle/>
          <a:p>
            <a:pPr algn="ctr">
              <a:lnSpc>
                <a:spcPts val="3229"/>
              </a:lnSpc>
              <a:spcBef>
                <a:spcPct val="0"/>
              </a:spcBef>
            </a:pPr>
            <a:r>
              <a:rPr lang="en-US" sz="2306" b="1">
                <a:solidFill>
                  <a:srgbClr val="FFFFFF"/>
                </a:solidFill>
                <a:latin typeface="Open Sans Bold"/>
                <a:ea typeface="Open Sans Bold"/>
                <a:cs typeface="Open Sans Bold"/>
                <a:sym typeface="Open Sans Bold"/>
              </a:rPr>
              <a:t>TF-IDF + Logistic Regression</a:t>
            </a:r>
          </a:p>
        </p:txBody>
      </p:sp>
      <p:sp>
        <p:nvSpPr>
          <p:cNvPr id="10" name="TextBox 10"/>
          <p:cNvSpPr txBox="1"/>
          <p:nvPr/>
        </p:nvSpPr>
        <p:spPr>
          <a:xfrm>
            <a:off x="2038812" y="4093596"/>
            <a:ext cx="2689503" cy="398605"/>
          </a:xfrm>
          <a:prstGeom prst="rect">
            <a:avLst/>
          </a:prstGeom>
        </p:spPr>
        <p:txBody>
          <a:bodyPr lIns="0" tIns="0" rIns="0" bIns="0" rtlCol="0" anchor="t">
            <a:spAutoFit/>
          </a:bodyPr>
          <a:lstStyle/>
          <a:p>
            <a:pPr algn="ctr">
              <a:lnSpc>
                <a:spcPts val="3229"/>
              </a:lnSpc>
              <a:spcBef>
                <a:spcPct val="0"/>
              </a:spcBef>
            </a:pPr>
            <a:r>
              <a:rPr lang="en-US" sz="2306" b="1">
                <a:solidFill>
                  <a:srgbClr val="FFFFFF"/>
                </a:solidFill>
                <a:latin typeface="Open Sans Bold"/>
                <a:ea typeface="Open Sans Bold"/>
                <a:cs typeface="Open Sans Bold"/>
                <a:sym typeface="Open Sans Bold"/>
              </a:rPr>
              <a:t>Test Accuracy 84%</a:t>
            </a:r>
          </a:p>
        </p:txBody>
      </p:sp>
      <p:sp>
        <p:nvSpPr>
          <p:cNvPr id="11" name="TextBox 11"/>
          <p:cNvSpPr txBox="1"/>
          <p:nvPr/>
        </p:nvSpPr>
        <p:spPr>
          <a:xfrm>
            <a:off x="2038812" y="4625550"/>
            <a:ext cx="3610689" cy="808180"/>
          </a:xfrm>
          <a:prstGeom prst="rect">
            <a:avLst/>
          </a:prstGeom>
        </p:spPr>
        <p:txBody>
          <a:bodyPr lIns="0" tIns="0" rIns="0" bIns="0" rtlCol="0" anchor="t">
            <a:spAutoFit/>
          </a:bodyPr>
          <a:lstStyle/>
          <a:p>
            <a:pPr algn="ctr">
              <a:lnSpc>
                <a:spcPts val="3229"/>
              </a:lnSpc>
              <a:spcBef>
                <a:spcPct val="0"/>
              </a:spcBef>
            </a:pPr>
            <a:r>
              <a:rPr lang="en-US" sz="2306" b="1">
                <a:solidFill>
                  <a:srgbClr val="FFFFFF"/>
                </a:solidFill>
                <a:latin typeface="Open Sans Bold"/>
                <a:ea typeface="Open Sans Bold"/>
                <a:cs typeface="Open Sans Bold"/>
                <a:sym typeface="Open Sans Bold"/>
              </a:rPr>
              <a:t>Establishes performance</a:t>
            </a:r>
          </a:p>
          <a:p>
            <a:pPr algn="ctr">
              <a:lnSpc>
                <a:spcPts val="3229"/>
              </a:lnSpc>
              <a:spcBef>
                <a:spcPct val="0"/>
              </a:spcBef>
            </a:pPr>
            <a:r>
              <a:rPr lang="en-US" sz="2306" b="1">
                <a:solidFill>
                  <a:srgbClr val="FFFFFF"/>
                </a:solidFill>
                <a:latin typeface="Open Sans Bold"/>
                <a:ea typeface="Open Sans Bold"/>
                <a:cs typeface="Open Sans Bold"/>
                <a:sym typeface="Open Sans Bold"/>
              </a:rPr>
              <a:t> benchmark</a:t>
            </a:r>
          </a:p>
        </p:txBody>
      </p:sp>
      <p:sp>
        <p:nvSpPr>
          <p:cNvPr id="12" name="TextBox 12"/>
          <p:cNvSpPr txBox="1"/>
          <p:nvPr/>
        </p:nvSpPr>
        <p:spPr>
          <a:xfrm>
            <a:off x="2038812" y="5567080"/>
            <a:ext cx="2895600" cy="398605"/>
          </a:xfrm>
          <a:prstGeom prst="rect">
            <a:avLst/>
          </a:prstGeom>
        </p:spPr>
        <p:txBody>
          <a:bodyPr lIns="0" tIns="0" rIns="0" bIns="0" rtlCol="0" anchor="t">
            <a:spAutoFit/>
          </a:bodyPr>
          <a:lstStyle/>
          <a:p>
            <a:pPr algn="ctr">
              <a:lnSpc>
                <a:spcPts val="3229"/>
              </a:lnSpc>
              <a:spcBef>
                <a:spcPct val="0"/>
              </a:spcBef>
            </a:pPr>
            <a:r>
              <a:rPr lang="en-US" sz="2306" b="1">
                <a:solidFill>
                  <a:srgbClr val="FFFFFF"/>
                </a:solidFill>
                <a:latin typeface="Open Sans Bold"/>
                <a:ea typeface="Open Sans Bold"/>
                <a:cs typeface="Open Sans Bold"/>
                <a:sym typeface="Open Sans Bold"/>
              </a:rPr>
              <a:t>Not used in live app</a:t>
            </a:r>
          </a:p>
        </p:txBody>
      </p:sp>
      <p:sp>
        <p:nvSpPr>
          <p:cNvPr id="13" name="TextBox 13"/>
          <p:cNvSpPr txBox="1"/>
          <p:nvPr/>
        </p:nvSpPr>
        <p:spPr>
          <a:xfrm>
            <a:off x="1355773" y="2675812"/>
            <a:ext cx="16534051" cy="580216"/>
          </a:xfrm>
          <a:prstGeom prst="rect">
            <a:avLst/>
          </a:prstGeom>
        </p:spPr>
        <p:txBody>
          <a:bodyPr lIns="0" tIns="0" rIns="0" bIns="0" rtlCol="0" anchor="t">
            <a:spAutoFit/>
          </a:bodyPr>
          <a:lstStyle/>
          <a:p>
            <a:pPr algn="ctr">
              <a:lnSpc>
                <a:spcPts val="4769"/>
              </a:lnSpc>
              <a:spcBef>
                <a:spcPct val="0"/>
              </a:spcBef>
            </a:pPr>
            <a:r>
              <a:rPr lang="en-US" sz="3406">
                <a:solidFill>
                  <a:srgbClr val="000000"/>
                </a:solidFill>
                <a:latin typeface="League Spartan"/>
                <a:ea typeface="League Spartan"/>
                <a:cs typeface="League Spartan"/>
                <a:sym typeface="League Spartan"/>
              </a:rPr>
              <a:t>Phase 1</a:t>
            </a:r>
          </a:p>
        </p:txBody>
      </p:sp>
      <p:sp>
        <p:nvSpPr>
          <p:cNvPr id="14" name="Freeform 14"/>
          <p:cNvSpPr/>
          <p:nvPr/>
        </p:nvSpPr>
        <p:spPr>
          <a:xfrm>
            <a:off x="8617731" y="3256028"/>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15" name="TextBox 15"/>
          <p:cNvSpPr txBox="1"/>
          <p:nvPr/>
        </p:nvSpPr>
        <p:spPr>
          <a:xfrm>
            <a:off x="7090830" y="3492743"/>
            <a:ext cx="4523899" cy="869775"/>
          </a:xfrm>
          <a:prstGeom prst="rect">
            <a:avLst/>
          </a:prstGeom>
        </p:spPr>
        <p:txBody>
          <a:bodyPr lIns="0" tIns="0" rIns="0" bIns="0" rtlCol="0" anchor="t">
            <a:spAutoFit/>
          </a:bodyPr>
          <a:lstStyle/>
          <a:p>
            <a:pPr marL="541238" lvl="1" indent="-270619" algn="l">
              <a:lnSpc>
                <a:spcPts val="3509"/>
              </a:lnSpc>
              <a:buFont typeface="Arial"/>
              <a:buChar char="•"/>
            </a:pPr>
            <a:r>
              <a:rPr lang="en-US" sz="2506" b="1" dirty="0">
                <a:solidFill>
                  <a:srgbClr val="FFFFFF"/>
                </a:solidFill>
                <a:latin typeface="Open Sans Bold"/>
                <a:ea typeface="Open Sans Bold"/>
                <a:cs typeface="Open Sans Bold"/>
                <a:sym typeface="Open Sans Bold"/>
              </a:rPr>
              <a:t>Fine-tuned DistilBERT on </a:t>
            </a:r>
          </a:p>
          <a:p>
            <a:pPr algn="l">
              <a:lnSpc>
                <a:spcPts val="3509"/>
              </a:lnSpc>
            </a:pPr>
            <a:r>
              <a:rPr lang="en-US" sz="2506" b="1" dirty="0">
                <a:solidFill>
                  <a:srgbClr val="FFFFFF"/>
                </a:solidFill>
                <a:latin typeface="Open Sans Bold"/>
                <a:ea typeface="Open Sans Bold"/>
                <a:cs typeface="Open Sans Bold"/>
                <a:sym typeface="Open Sans Bold"/>
              </a:rPr>
              <a:t>         - 7,433 samples</a:t>
            </a:r>
          </a:p>
        </p:txBody>
      </p:sp>
      <p:sp>
        <p:nvSpPr>
          <p:cNvPr id="16" name="TextBox 16"/>
          <p:cNvSpPr txBox="1"/>
          <p:nvPr/>
        </p:nvSpPr>
        <p:spPr>
          <a:xfrm>
            <a:off x="7105765" y="4421485"/>
            <a:ext cx="4635292" cy="807411"/>
          </a:xfrm>
          <a:prstGeom prst="rect">
            <a:avLst/>
          </a:prstGeom>
        </p:spPr>
        <p:txBody>
          <a:bodyPr lIns="0" tIns="0" rIns="0" bIns="0" rtlCol="0" anchor="t">
            <a:spAutoFit/>
          </a:bodyPr>
          <a:lstStyle/>
          <a:p>
            <a:pPr marL="529348" lvl="1" indent="-264674" algn="ctr">
              <a:lnSpc>
                <a:spcPts val="3432"/>
              </a:lnSpc>
              <a:spcBef>
                <a:spcPct val="0"/>
              </a:spcBef>
              <a:buFont typeface="Arial"/>
              <a:buChar char="•"/>
            </a:pPr>
            <a:r>
              <a:rPr lang="en-US" sz="2451" b="1">
                <a:solidFill>
                  <a:srgbClr val="FFFFFF"/>
                </a:solidFill>
                <a:latin typeface="Open Sans Bold"/>
                <a:ea typeface="Open Sans Bold"/>
                <a:cs typeface="Open Sans Bold"/>
                <a:sym typeface="Open Sans Bold"/>
              </a:rPr>
              <a:t>Binary scam classification </a:t>
            </a:r>
          </a:p>
          <a:p>
            <a:pPr algn="ctr">
              <a:lnSpc>
                <a:spcPts val="3158"/>
              </a:lnSpc>
              <a:spcBef>
                <a:spcPct val="0"/>
              </a:spcBef>
            </a:pPr>
            <a:endParaRPr lang="en-US" sz="2451" b="1">
              <a:solidFill>
                <a:srgbClr val="FFFFFF"/>
              </a:solidFill>
              <a:latin typeface="Open Sans Bold"/>
              <a:ea typeface="Open Sans Bold"/>
              <a:cs typeface="Open Sans Bold"/>
              <a:sym typeface="Open Sans Bold"/>
            </a:endParaRPr>
          </a:p>
        </p:txBody>
      </p:sp>
      <p:sp>
        <p:nvSpPr>
          <p:cNvPr id="17" name="TextBox 17"/>
          <p:cNvSpPr txBox="1"/>
          <p:nvPr/>
        </p:nvSpPr>
        <p:spPr>
          <a:xfrm>
            <a:off x="6397287" y="2718605"/>
            <a:ext cx="16534051" cy="580216"/>
          </a:xfrm>
          <a:prstGeom prst="rect">
            <a:avLst/>
          </a:prstGeom>
        </p:spPr>
        <p:txBody>
          <a:bodyPr lIns="0" tIns="0" rIns="0" bIns="0" rtlCol="0" anchor="t">
            <a:spAutoFit/>
          </a:bodyPr>
          <a:lstStyle/>
          <a:p>
            <a:pPr algn="ctr">
              <a:lnSpc>
                <a:spcPts val="4769"/>
              </a:lnSpc>
              <a:spcBef>
                <a:spcPct val="0"/>
              </a:spcBef>
            </a:pPr>
            <a:r>
              <a:rPr lang="en-US" sz="3406">
                <a:solidFill>
                  <a:srgbClr val="000000"/>
                </a:solidFill>
                <a:latin typeface="League Spartan"/>
                <a:ea typeface="League Spartan"/>
                <a:cs typeface="League Spartan"/>
                <a:sym typeface="League Spartan"/>
              </a:rPr>
              <a:t> Phase 2</a:t>
            </a:r>
          </a:p>
        </p:txBody>
      </p:sp>
      <p:sp>
        <p:nvSpPr>
          <p:cNvPr id="18" name="TextBox 18"/>
          <p:cNvSpPr txBox="1"/>
          <p:nvPr/>
        </p:nvSpPr>
        <p:spPr>
          <a:xfrm>
            <a:off x="12672004" y="3414726"/>
            <a:ext cx="5351170" cy="396065"/>
          </a:xfrm>
          <a:prstGeom prst="rect">
            <a:avLst/>
          </a:prstGeom>
        </p:spPr>
        <p:txBody>
          <a:bodyPr lIns="0" tIns="0" rIns="0" bIns="0" rtlCol="0" anchor="t">
            <a:spAutoFit/>
          </a:bodyPr>
          <a:lstStyle/>
          <a:p>
            <a:pPr marL="519648" lvl="1" indent="-259824" algn="l">
              <a:lnSpc>
                <a:spcPts val="3369"/>
              </a:lnSpc>
              <a:buFont typeface="Arial"/>
              <a:buChar char="•"/>
            </a:pPr>
            <a:r>
              <a:rPr lang="en-US" sz="2406" b="1">
                <a:solidFill>
                  <a:srgbClr val="FFFFFF"/>
                </a:solidFill>
                <a:latin typeface="Open Sans Bold"/>
                <a:ea typeface="Open Sans Bold"/>
                <a:cs typeface="Open Sans Bold"/>
                <a:sym typeface="Open Sans Bold"/>
              </a:rPr>
              <a:t>Transfer learning from Phase 1</a:t>
            </a:r>
          </a:p>
        </p:txBody>
      </p:sp>
      <p:sp>
        <p:nvSpPr>
          <p:cNvPr id="19" name="TextBox 19"/>
          <p:cNvSpPr txBox="1"/>
          <p:nvPr/>
        </p:nvSpPr>
        <p:spPr>
          <a:xfrm>
            <a:off x="12724417" y="3879203"/>
            <a:ext cx="5117782" cy="398605"/>
          </a:xfrm>
          <a:prstGeom prst="rect">
            <a:avLst/>
          </a:prstGeom>
        </p:spPr>
        <p:txBody>
          <a:bodyPr lIns="0" tIns="0" rIns="0" bIns="0" rtlCol="0" anchor="t">
            <a:spAutoFit/>
          </a:bodyPr>
          <a:lstStyle/>
          <a:p>
            <a:pPr marL="498059" lvl="1" indent="-249029" algn="l">
              <a:lnSpc>
                <a:spcPts val="3229"/>
              </a:lnSpc>
              <a:buFont typeface="Arial"/>
              <a:buChar char="•"/>
            </a:pPr>
            <a:r>
              <a:rPr lang="en-US" sz="2306" b="1">
                <a:solidFill>
                  <a:srgbClr val="FFFFFF"/>
                </a:solidFill>
                <a:latin typeface="Open Sans Bold"/>
                <a:ea typeface="Open Sans Bold"/>
                <a:cs typeface="Open Sans Bold"/>
                <a:sym typeface="Open Sans Bold"/>
              </a:rPr>
              <a:t>3,890 samples across 6 datasets</a:t>
            </a:r>
          </a:p>
        </p:txBody>
      </p:sp>
      <p:sp>
        <p:nvSpPr>
          <p:cNvPr id="20" name="TextBox 20"/>
          <p:cNvSpPr txBox="1"/>
          <p:nvPr/>
        </p:nvSpPr>
        <p:spPr>
          <a:xfrm>
            <a:off x="12724417" y="4354008"/>
            <a:ext cx="5563583" cy="396065"/>
          </a:xfrm>
          <a:prstGeom prst="rect">
            <a:avLst/>
          </a:prstGeom>
        </p:spPr>
        <p:txBody>
          <a:bodyPr lIns="0" tIns="0" rIns="0" bIns="0" rtlCol="0" anchor="t">
            <a:spAutoFit/>
          </a:bodyPr>
          <a:lstStyle/>
          <a:p>
            <a:pPr marL="519648" lvl="1" indent="-259824" algn="l">
              <a:lnSpc>
                <a:spcPts val="3369"/>
              </a:lnSpc>
              <a:buFont typeface="Arial"/>
              <a:buChar char="•"/>
            </a:pPr>
            <a:r>
              <a:rPr lang="en-US" sz="2406" b="1">
                <a:solidFill>
                  <a:srgbClr val="FFFFFF"/>
                </a:solidFill>
                <a:latin typeface="Open Sans Bold"/>
                <a:ea typeface="Open Sans Bold"/>
                <a:cs typeface="Open Sans Bold"/>
                <a:sym typeface="Open Sans Bold"/>
              </a:rPr>
              <a:t>Multi-label tactic classification</a:t>
            </a:r>
          </a:p>
        </p:txBody>
      </p:sp>
      <p:sp>
        <p:nvSpPr>
          <p:cNvPr id="21" name="TextBox 21"/>
          <p:cNvSpPr txBox="1"/>
          <p:nvPr/>
        </p:nvSpPr>
        <p:spPr>
          <a:xfrm>
            <a:off x="1982549" y="7949480"/>
            <a:ext cx="15246437" cy="1332056"/>
          </a:xfrm>
          <a:prstGeom prst="rect">
            <a:avLst/>
          </a:prstGeom>
        </p:spPr>
        <p:txBody>
          <a:bodyPr lIns="0" tIns="0" rIns="0" bIns="0" rtlCol="0" anchor="t">
            <a:spAutoFit/>
          </a:bodyPr>
          <a:lstStyle/>
          <a:p>
            <a:pPr algn="ctr">
              <a:lnSpc>
                <a:spcPts val="5329"/>
              </a:lnSpc>
              <a:spcBef>
                <a:spcPct val="0"/>
              </a:spcBef>
            </a:pPr>
            <a:r>
              <a:rPr lang="en-US" sz="3806" b="1">
                <a:solidFill>
                  <a:srgbClr val="092A5E"/>
                </a:solidFill>
                <a:latin typeface="Open Sans Bold"/>
                <a:ea typeface="Open Sans Bold"/>
                <a:cs typeface="Open Sans Bold"/>
                <a:sym typeface="Open Sans Bold"/>
              </a:rPr>
              <a:t>Both models run simultaneously — ensemble decision — Phase2 tactic detection overrides Phase 1 if tactic found</a:t>
            </a:r>
          </a:p>
        </p:txBody>
      </p:sp>
      <p:sp>
        <p:nvSpPr>
          <p:cNvPr id="22" name="TextBox 22"/>
          <p:cNvSpPr txBox="1"/>
          <p:nvPr/>
        </p:nvSpPr>
        <p:spPr>
          <a:xfrm>
            <a:off x="1753949" y="731202"/>
            <a:ext cx="11907103" cy="1099820"/>
          </a:xfrm>
          <a:prstGeom prst="rect">
            <a:avLst/>
          </a:prstGeom>
        </p:spPr>
        <p:txBody>
          <a:bodyPr lIns="0" tIns="0" rIns="0" bIns="0" rtlCol="0" anchor="t">
            <a:spAutoFit/>
          </a:bodyPr>
          <a:lstStyle/>
          <a:p>
            <a:pPr algn="l">
              <a:lnSpc>
                <a:spcPts val="4479"/>
              </a:lnSpc>
            </a:pPr>
            <a:r>
              <a:rPr lang="en-US" sz="3199" spc="89">
                <a:solidFill>
                  <a:srgbClr val="000000"/>
                </a:solidFill>
                <a:latin typeface="League Spartan"/>
                <a:ea typeface="League Spartan"/>
                <a:cs typeface="League Spartan"/>
                <a:sym typeface="League Spartan"/>
              </a:rPr>
              <a:t>DOMAIN KNOWLEDGE &amp; METHODOLOGY</a:t>
            </a:r>
          </a:p>
          <a:p>
            <a:pPr marL="0" lvl="0" indent="0" algn="l">
              <a:lnSpc>
                <a:spcPts val="4479"/>
              </a:lnSpc>
              <a:spcBef>
                <a:spcPct val="0"/>
              </a:spcBef>
            </a:pPr>
            <a:endParaRPr lang="en-US" sz="3199" spc="89">
              <a:solidFill>
                <a:srgbClr val="000000"/>
              </a:solidFill>
              <a:latin typeface="League Spartan"/>
              <a:ea typeface="League Spartan"/>
              <a:cs typeface="League Spartan"/>
              <a:sym typeface="League Spartan"/>
            </a:endParaRPr>
          </a:p>
        </p:txBody>
      </p:sp>
      <p:sp>
        <p:nvSpPr>
          <p:cNvPr id="23" name="Freeform 23"/>
          <p:cNvSpPr/>
          <p:nvPr/>
        </p:nvSpPr>
        <p:spPr>
          <a:xfrm>
            <a:off x="3582079" y="1288236"/>
            <a:ext cx="3163980" cy="85587"/>
          </a:xfrm>
          <a:custGeom>
            <a:avLst/>
            <a:gdLst/>
            <a:ahLst/>
            <a:cxnLst/>
            <a:rect l="l" t="t" r="r" b="b"/>
            <a:pathLst>
              <a:path w="3163980" h="85587">
                <a:moveTo>
                  <a:pt x="0" y="0"/>
                </a:moveTo>
                <a:lnTo>
                  <a:pt x="3163980" y="0"/>
                </a:lnTo>
                <a:lnTo>
                  <a:pt x="3163980" y="85587"/>
                </a:lnTo>
                <a:lnTo>
                  <a:pt x="0" y="85587"/>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24" name="TextBox 24"/>
          <p:cNvSpPr txBox="1"/>
          <p:nvPr/>
        </p:nvSpPr>
        <p:spPr>
          <a:xfrm>
            <a:off x="7138455" y="4932194"/>
            <a:ext cx="5166236" cy="1691465"/>
          </a:xfrm>
          <a:prstGeom prst="rect">
            <a:avLst/>
          </a:prstGeom>
        </p:spPr>
        <p:txBody>
          <a:bodyPr lIns="0" tIns="0" rIns="0" bIns="0" rtlCol="0" anchor="t">
            <a:spAutoFit/>
          </a:bodyPr>
          <a:lstStyle/>
          <a:p>
            <a:pPr marL="541238" lvl="1" indent="-270619" algn="l">
              <a:lnSpc>
                <a:spcPts val="3509"/>
              </a:lnSpc>
              <a:buFont typeface="Arial"/>
              <a:buChar char="•"/>
            </a:pPr>
            <a:r>
              <a:rPr lang="en-US" sz="2506" b="1">
                <a:solidFill>
                  <a:srgbClr val="FFFFFF"/>
                </a:solidFill>
                <a:latin typeface="Open Sans Bold"/>
                <a:ea typeface="Open Sans Bold"/>
                <a:cs typeface="Open Sans Bold"/>
                <a:sym typeface="Open Sans Bold"/>
              </a:rPr>
              <a:t>4 datasets — EMSCAD, UCI SMS, synthetic, real collected</a:t>
            </a:r>
          </a:p>
          <a:p>
            <a:pPr algn="ctr">
              <a:lnSpc>
                <a:spcPts val="3229"/>
              </a:lnSpc>
              <a:spcBef>
                <a:spcPct val="0"/>
              </a:spcBef>
            </a:pPr>
            <a:endParaRPr lang="en-US" sz="2506" b="1">
              <a:solidFill>
                <a:srgbClr val="FFFFFF"/>
              </a:solidFill>
              <a:latin typeface="Open Sans Bold"/>
              <a:ea typeface="Open Sans Bold"/>
              <a:cs typeface="Open Sans Bold"/>
              <a:sym typeface="Open Sans Bold"/>
            </a:endParaRPr>
          </a:p>
          <a:p>
            <a:pPr algn="ctr">
              <a:lnSpc>
                <a:spcPts val="3229"/>
              </a:lnSpc>
              <a:spcBef>
                <a:spcPct val="0"/>
              </a:spcBef>
            </a:pPr>
            <a:endParaRPr lang="en-US" sz="2506" b="1">
              <a:solidFill>
                <a:srgbClr val="FFFFFF"/>
              </a:solidFill>
              <a:latin typeface="Open Sans Bold"/>
              <a:ea typeface="Open Sans Bold"/>
              <a:cs typeface="Open Sans Bold"/>
              <a:sym typeface="Open Sans Bold"/>
            </a:endParaRPr>
          </a:p>
        </p:txBody>
      </p:sp>
      <p:sp>
        <p:nvSpPr>
          <p:cNvPr id="25" name="TextBox 25"/>
          <p:cNvSpPr txBox="1"/>
          <p:nvPr/>
        </p:nvSpPr>
        <p:spPr>
          <a:xfrm>
            <a:off x="7138455" y="5949712"/>
            <a:ext cx="5166236" cy="431625"/>
          </a:xfrm>
          <a:prstGeom prst="rect">
            <a:avLst/>
          </a:prstGeom>
        </p:spPr>
        <p:txBody>
          <a:bodyPr lIns="0" tIns="0" rIns="0" bIns="0" rtlCol="0" anchor="t">
            <a:spAutoFit/>
          </a:bodyPr>
          <a:lstStyle/>
          <a:p>
            <a:pPr marL="541238" lvl="1" indent="-270619" algn="l">
              <a:lnSpc>
                <a:spcPts val="3509"/>
              </a:lnSpc>
              <a:buFont typeface="Arial"/>
              <a:buChar char="•"/>
            </a:pPr>
            <a:r>
              <a:rPr lang="en-US" sz="2506" b="1">
                <a:solidFill>
                  <a:srgbClr val="FFFFFF"/>
                </a:solidFill>
                <a:latin typeface="Open Sans Bold"/>
                <a:ea typeface="Open Sans Bold"/>
                <a:cs typeface="Open Sans Bold"/>
                <a:sym typeface="Open Sans Bold"/>
              </a:rPr>
              <a:t>Stratified 80/10/10 split</a:t>
            </a:r>
          </a:p>
        </p:txBody>
      </p:sp>
      <p:sp>
        <p:nvSpPr>
          <p:cNvPr id="26" name="TextBox 26"/>
          <p:cNvSpPr txBox="1"/>
          <p:nvPr/>
        </p:nvSpPr>
        <p:spPr>
          <a:xfrm>
            <a:off x="12724417" y="4755909"/>
            <a:ext cx="5563583" cy="869775"/>
          </a:xfrm>
          <a:prstGeom prst="rect">
            <a:avLst/>
          </a:prstGeom>
        </p:spPr>
        <p:txBody>
          <a:bodyPr lIns="0" tIns="0" rIns="0" bIns="0" rtlCol="0" anchor="t">
            <a:spAutoFit/>
          </a:bodyPr>
          <a:lstStyle/>
          <a:p>
            <a:pPr marL="541238" lvl="1" indent="-270619" algn="l">
              <a:lnSpc>
                <a:spcPts val="3509"/>
              </a:lnSpc>
              <a:buFont typeface="Arial"/>
              <a:buChar char="•"/>
            </a:pPr>
            <a:r>
              <a:rPr lang="en-US" sz="2506" b="1">
                <a:solidFill>
                  <a:srgbClr val="FFFFFF"/>
                </a:solidFill>
                <a:latin typeface="Open Sans Bold"/>
                <a:ea typeface="Open Sans Bold"/>
                <a:cs typeface="Open Sans Bold"/>
                <a:sym typeface="Open Sans Bold"/>
              </a:rPr>
              <a:t>Detects urgency, FOMO, sunk-cost, social proof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110709"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
        <p:nvSpPr>
          <p:cNvPr id="4" name="Freeform 4"/>
          <p:cNvSpPr/>
          <p:nvPr/>
        </p:nvSpPr>
        <p:spPr>
          <a:xfrm>
            <a:off x="2478795" y="1373823"/>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2"/>
                </a:ext>
              </a:extLst>
            </a:blip>
            <a:stretch>
              <a:fillRect t="-158366" b="-158366"/>
            </a:stretch>
          </a:blipFill>
        </p:spPr>
        <p:txBody>
          <a:bodyPr/>
          <a:lstStyle/>
          <a:p>
            <a:endParaRPr lang="en-US"/>
          </a:p>
        </p:txBody>
      </p:sp>
      <p:sp>
        <p:nvSpPr>
          <p:cNvPr id="5" name="Freeform 5"/>
          <p:cNvSpPr/>
          <p:nvPr/>
        </p:nvSpPr>
        <p:spPr>
          <a:xfrm>
            <a:off x="1854160" y="1652610"/>
            <a:ext cx="16088670" cy="7124037"/>
          </a:xfrm>
          <a:custGeom>
            <a:avLst/>
            <a:gdLst/>
            <a:ahLst/>
            <a:cxnLst/>
            <a:rect l="l" t="t" r="r" b="b"/>
            <a:pathLst>
              <a:path w="16088670" h="7124037">
                <a:moveTo>
                  <a:pt x="0" y="0"/>
                </a:moveTo>
                <a:lnTo>
                  <a:pt x="16088670" y="0"/>
                </a:lnTo>
                <a:lnTo>
                  <a:pt x="16088670" y="7124037"/>
                </a:lnTo>
                <a:lnTo>
                  <a:pt x="0" y="7124037"/>
                </a:lnTo>
                <a:lnTo>
                  <a:pt x="0" y="0"/>
                </a:lnTo>
                <a:close/>
              </a:path>
            </a:pathLst>
          </a:custGeom>
          <a:blipFill>
            <a:blip r:embed="rId4"/>
            <a:stretch>
              <a:fillRect t="-13310" r="-1" b="-10614"/>
            </a:stretch>
          </a:blipFill>
        </p:spPr>
        <p:txBody>
          <a:bodyPr/>
          <a:lstStyle/>
          <a:p>
            <a:endParaRPr lang="en-US"/>
          </a:p>
        </p:txBody>
      </p:sp>
      <p:sp>
        <p:nvSpPr>
          <p:cNvPr id="6" name="TextBox 6"/>
          <p:cNvSpPr txBox="1"/>
          <p:nvPr/>
        </p:nvSpPr>
        <p:spPr>
          <a:xfrm>
            <a:off x="1753949" y="157355"/>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 - COMPONENT 03</a:t>
            </a:r>
          </a:p>
        </p:txBody>
      </p:sp>
      <p:sp>
        <p:nvSpPr>
          <p:cNvPr id="7" name="TextBox 7"/>
          <p:cNvSpPr txBox="1"/>
          <p:nvPr/>
        </p:nvSpPr>
        <p:spPr>
          <a:xfrm>
            <a:off x="5652300" y="9781981"/>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IT22224002 | Kajanthan U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8" name="TextBox 8"/>
          <p:cNvSpPr txBox="1"/>
          <p:nvPr/>
        </p:nvSpPr>
        <p:spPr>
          <a:xfrm>
            <a:off x="1753949" y="731202"/>
            <a:ext cx="11907103" cy="537845"/>
          </a:xfrm>
          <a:prstGeom prst="rect">
            <a:avLst/>
          </a:prstGeom>
        </p:spPr>
        <p:txBody>
          <a:bodyPr lIns="0" tIns="0" rIns="0" bIns="0" rtlCol="0" anchor="t">
            <a:spAutoFit/>
          </a:bodyPr>
          <a:lstStyle/>
          <a:p>
            <a:pPr marL="0" lvl="0" indent="0" algn="l">
              <a:lnSpc>
                <a:spcPts val="4479"/>
              </a:lnSpc>
              <a:spcBef>
                <a:spcPct val="0"/>
              </a:spcBef>
            </a:pPr>
            <a:r>
              <a:rPr lang="en-US" sz="3199" spc="89">
                <a:solidFill>
                  <a:srgbClr val="000000"/>
                </a:solidFill>
                <a:latin typeface="League Spartan"/>
                <a:ea typeface="League Spartan"/>
                <a:cs typeface="League Spartan"/>
                <a:sym typeface="League Spartan"/>
              </a:rPr>
              <a:t>IMPLEMENTATION + DESIGN EXCELLENCE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34084" y="-27147"/>
            <a:ext cx="10748929" cy="10969660"/>
            <a:chOff x="0" y="0"/>
            <a:chExt cx="2830994" cy="2889129"/>
          </a:xfrm>
        </p:grpSpPr>
        <p:sp>
          <p:nvSpPr>
            <p:cNvPr id="3" name="Freeform 3"/>
            <p:cNvSpPr/>
            <p:nvPr/>
          </p:nvSpPr>
          <p:spPr>
            <a:xfrm>
              <a:off x="0" y="0"/>
              <a:ext cx="2830993" cy="2889129"/>
            </a:xfrm>
            <a:custGeom>
              <a:avLst/>
              <a:gdLst/>
              <a:ahLst/>
              <a:cxnLst/>
              <a:rect l="l" t="t" r="r" b="b"/>
              <a:pathLst>
                <a:path w="2830993" h="2889129">
                  <a:moveTo>
                    <a:pt x="0" y="0"/>
                  </a:moveTo>
                  <a:lnTo>
                    <a:pt x="2830993" y="0"/>
                  </a:lnTo>
                  <a:lnTo>
                    <a:pt x="2830993" y="2889129"/>
                  </a:lnTo>
                  <a:lnTo>
                    <a:pt x="0" y="2889129"/>
                  </a:lnTo>
                  <a:close/>
                </a:path>
              </a:pathLst>
            </a:custGeom>
            <a:solidFill>
              <a:srgbClr val="282828"/>
            </a:solidFill>
          </p:spPr>
          <p:txBody>
            <a:bodyPr/>
            <a:lstStyle/>
            <a:p>
              <a:endParaRPr lang="en-US"/>
            </a:p>
          </p:txBody>
        </p:sp>
        <p:sp>
          <p:nvSpPr>
            <p:cNvPr id="4" name="TextBox 4"/>
            <p:cNvSpPr txBox="1"/>
            <p:nvPr/>
          </p:nvSpPr>
          <p:spPr>
            <a:xfrm>
              <a:off x="0" y="-47625"/>
              <a:ext cx="2830994" cy="2936754"/>
            </a:xfrm>
            <a:prstGeom prst="rect">
              <a:avLst/>
            </a:prstGeom>
          </p:spPr>
          <p:txBody>
            <a:bodyPr lIns="50800" tIns="50800" rIns="50800" bIns="50800" rtlCol="0" anchor="ctr"/>
            <a:lstStyle/>
            <a:p>
              <a:pPr algn="ctr">
                <a:lnSpc>
                  <a:spcPts val="3220"/>
                </a:lnSpc>
              </a:pPr>
              <a:endParaRPr/>
            </a:p>
          </p:txBody>
        </p:sp>
      </p:grpSp>
      <p:grpSp>
        <p:nvGrpSpPr>
          <p:cNvPr id="5" name="Group 5"/>
          <p:cNvGrpSpPr/>
          <p:nvPr/>
        </p:nvGrpSpPr>
        <p:grpSpPr>
          <a:xfrm>
            <a:off x="8634084" y="-27147"/>
            <a:ext cx="10287000" cy="10287000"/>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12499" b="-12500"/>
              </a:stretch>
            </a:blipFill>
          </p:spPr>
          <p:txBody>
            <a:bodyPr/>
            <a:lstStyle/>
            <a:p>
              <a:endParaRPr lang="en-US"/>
            </a:p>
          </p:txBody>
        </p:sp>
      </p:grpSp>
      <p:sp>
        <p:nvSpPr>
          <p:cNvPr id="7" name="Freeform 7"/>
          <p:cNvSpPr/>
          <p:nvPr/>
        </p:nvSpPr>
        <p:spPr>
          <a:xfrm rot="-4873416">
            <a:off x="3241450" y="4495924"/>
            <a:ext cx="11520040" cy="1298623"/>
          </a:xfrm>
          <a:custGeom>
            <a:avLst/>
            <a:gdLst/>
            <a:ahLst/>
            <a:cxnLst/>
            <a:rect l="l" t="t" r="r" b="b"/>
            <a:pathLst>
              <a:path w="11520040" h="1298623">
                <a:moveTo>
                  <a:pt x="0" y="0"/>
                </a:moveTo>
                <a:lnTo>
                  <a:pt x="11520040" y="0"/>
                </a:lnTo>
                <a:lnTo>
                  <a:pt x="11520040" y="1298623"/>
                </a:lnTo>
                <a:lnTo>
                  <a:pt x="0" y="129862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8" name="Group 8"/>
          <p:cNvGrpSpPr/>
          <p:nvPr/>
        </p:nvGrpSpPr>
        <p:grpSpPr>
          <a:xfrm rot="792552">
            <a:off x="6887549" y="-539109"/>
            <a:ext cx="2209301" cy="10969660"/>
            <a:chOff x="0" y="0"/>
            <a:chExt cx="581874" cy="2889129"/>
          </a:xfrm>
        </p:grpSpPr>
        <p:sp>
          <p:nvSpPr>
            <p:cNvPr id="9" name="Freeform 9"/>
            <p:cNvSpPr/>
            <p:nvPr/>
          </p:nvSpPr>
          <p:spPr>
            <a:xfrm>
              <a:off x="0" y="0"/>
              <a:ext cx="581874" cy="2889129"/>
            </a:xfrm>
            <a:custGeom>
              <a:avLst/>
              <a:gdLst/>
              <a:ahLst/>
              <a:cxnLst/>
              <a:rect l="l" t="t" r="r" b="b"/>
              <a:pathLst>
                <a:path w="581874" h="2889129">
                  <a:moveTo>
                    <a:pt x="0" y="0"/>
                  </a:moveTo>
                  <a:lnTo>
                    <a:pt x="581874" y="0"/>
                  </a:lnTo>
                  <a:lnTo>
                    <a:pt x="581874" y="2889129"/>
                  </a:lnTo>
                  <a:lnTo>
                    <a:pt x="0" y="2889129"/>
                  </a:lnTo>
                  <a:close/>
                </a:path>
              </a:pathLst>
            </a:custGeom>
            <a:solidFill>
              <a:srgbClr val="FFFFFF"/>
            </a:solidFill>
          </p:spPr>
          <p:txBody>
            <a:bodyPr/>
            <a:lstStyle/>
            <a:p>
              <a:endParaRPr lang="en-US"/>
            </a:p>
          </p:txBody>
        </p:sp>
        <p:sp>
          <p:nvSpPr>
            <p:cNvPr id="10" name="TextBox 10"/>
            <p:cNvSpPr txBox="1"/>
            <p:nvPr/>
          </p:nvSpPr>
          <p:spPr>
            <a:xfrm>
              <a:off x="0" y="-47625"/>
              <a:ext cx="581874" cy="2936754"/>
            </a:xfrm>
            <a:prstGeom prst="rect">
              <a:avLst/>
            </a:prstGeom>
          </p:spPr>
          <p:txBody>
            <a:bodyPr lIns="50800" tIns="50800" rIns="50800" bIns="50800" rtlCol="0" anchor="ctr"/>
            <a:lstStyle/>
            <a:p>
              <a:pPr algn="ctr">
                <a:lnSpc>
                  <a:spcPts val="3220"/>
                </a:lnSpc>
              </a:pPr>
              <a:endParaRPr/>
            </a:p>
          </p:txBody>
        </p:sp>
      </p:grpSp>
      <p:sp>
        <p:nvSpPr>
          <p:cNvPr id="11" name="TextBox 11"/>
          <p:cNvSpPr txBox="1"/>
          <p:nvPr/>
        </p:nvSpPr>
        <p:spPr>
          <a:xfrm>
            <a:off x="565965" y="3644414"/>
            <a:ext cx="4671218" cy="676211"/>
          </a:xfrm>
          <a:prstGeom prst="rect">
            <a:avLst/>
          </a:prstGeom>
        </p:spPr>
        <p:txBody>
          <a:bodyPr lIns="0" tIns="0" rIns="0" bIns="0" rtlCol="0" anchor="t">
            <a:spAutoFit/>
          </a:bodyPr>
          <a:lstStyle/>
          <a:p>
            <a:pPr marL="0" lvl="0" indent="0" algn="l">
              <a:lnSpc>
                <a:spcPts val="5253"/>
              </a:lnSpc>
              <a:spcBef>
                <a:spcPct val="0"/>
              </a:spcBef>
            </a:pPr>
            <a:r>
              <a:rPr lang="en-US" sz="3752" b="1" spc="105">
                <a:solidFill>
                  <a:srgbClr val="000000"/>
                </a:solidFill>
                <a:latin typeface="Poppins Medium"/>
                <a:ea typeface="Poppins Medium"/>
                <a:cs typeface="Poppins Medium"/>
                <a:sym typeface="Poppins Medium"/>
              </a:rPr>
              <a:t>COMP</a:t>
            </a:r>
            <a:r>
              <a:rPr lang="en-US" sz="3752" b="1" u="none" strike="noStrike" spc="105">
                <a:solidFill>
                  <a:srgbClr val="000000"/>
                </a:solidFill>
                <a:latin typeface="Poppins Medium"/>
                <a:ea typeface="Poppins Medium"/>
                <a:cs typeface="Poppins Medium"/>
                <a:sym typeface="Poppins Medium"/>
              </a:rPr>
              <a:t>ONENT 04</a:t>
            </a:r>
          </a:p>
        </p:txBody>
      </p:sp>
      <p:sp>
        <p:nvSpPr>
          <p:cNvPr id="12" name="TextBox 12"/>
          <p:cNvSpPr txBox="1"/>
          <p:nvPr/>
        </p:nvSpPr>
        <p:spPr>
          <a:xfrm>
            <a:off x="565965" y="4694252"/>
            <a:ext cx="8931784" cy="2832100"/>
          </a:xfrm>
          <a:prstGeom prst="rect">
            <a:avLst/>
          </a:prstGeom>
        </p:spPr>
        <p:txBody>
          <a:bodyPr lIns="0" tIns="0" rIns="0" bIns="0" rtlCol="0" anchor="t">
            <a:spAutoFit/>
          </a:bodyPr>
          <a:lstStyle/>
          <a:p>
            <a:pPr algn="l">
              <a:lnSpc>
                <a:spcPts val="5599"/>
              </a:lnSpc>
            </a:pPr>
            <a:r>
              <a:rPr lang="en-US" sz="3999" b="1" spc="111">
                <a:solidFill>
                  <a:srgbClr val="000000"/>
                </a:solidFill>
                <a:latin typeface="Poppins Bold"/>
                <a:ea typeface="Poppins Bold"/>
                <a:cs typeface="Poppins Bold"/>
                <a:sym typeface="Poppins Bold"/>
              </a:rPr>
              <a:t>RISK-AWARE RANKING MODEL FOR JOB RECOMMENDATION SYSTEMS</a:t>
            </a:r>
          </a:p>
          <a:p>
            <a:pPr marL="0" lvl="0" indent="0" algn="l">
              <a:lnSpc>
                <a:spcPts val="5599"/>
              </a:lnSpc>
              <a:spcBef>
                <a:spcPct val="0"/>
              </a:spcBef>
            </a:pPr>
            <a:endParaRPr lang="en-US" sz="3999" b="1" spc="111">
              <a:solidFill>
                <a:srgbClr val="000000"/>
              </a:solidFill>
              <a:latin typeface="Poppins Bold"/>
              <a:ea typeface="Poppins Bold"/>
              <a:cs typeface="Poppins Bold"/>
              <a:sym typeface="Poppins Bold"/>
            </a:endParaRPr>
          </a:p>
        </p:txBody>
      </p:sp>
      <p:sp>
        <p:nvSpPr>
          <p:cNvPr id="13" name="TextBox 13"/>
          <p:cNvSpPr txBox="1"/>
          <p:nvPr/>
        </p:nvSpPr>
        <p:spPr>
          <a:xfrm>
            <a:off x="1060467" y="990600"/>
            <a:ext cx="13863465"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14" name="TextBox 14"/>
          <p:cNvSpPr txBox="1"/>
          <p:nvPr/>
        </p:nvSpPr>
        <p:spPr>
          <a:xfrm>
            <a:off x="1028700" y="8569251"/>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IT22188618 | Methmi N P C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15" name="Freeform 15"/>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4"/>
            <a:stretch>
              <a:fillRect l="-1652" t="-36979" b="-5607"/>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53565" y="1083503"/>
            <a:ext cx="4817028" cy="821055"/>
          </a:xfrm>
          <a:prstGeom prst="rect">
            <a:avLst/>
          </a:prstGeom>
        </p:spPr>
        <p:txBody>
          <a:bodyPr lIns="0" tIns="0" rIns="0" bIns="0" rtlCol="0" anchor="t">
            <a:spAutoFit/>
          </a:bodyPr>
          <a:lstStyle/>
          <a:p>
            <a:pPr marL="0" lvl="0" indent="0" algn="l">
              <a:lnSpc>
                <a:spcPts val="6719"/>
              </a:lnSpc>
              <a:spcBef>
                <a:spcPct val="0"/>
              </a:spcBef>
            </a:pPr>
            <a:r>
              <a:rPr lang="en-US" sz="4800" spc="134">
                <a:solidFill>
                  <a:srgbClr val="000000"/>
                </a:solidFill>
                <a:latin typeface="League Spartan"/>
                <a:ea typeface="League Spartan"/>
                <a:cs typeface="League Spartan"/>
                <a:sym typeface="League Spartan"/>
              </a:rPr>
              <a:t>SUB PROBLEM</a:t>
            </a:r>
          </a:p>
        </p:txBody>
      </p:sp>
      <p:grpSp>
        <p:nvGrpSpPr>
          <p:cNvPr id="3" name="Group 3"/>
          <p:cNvGrpSpPr/>
          <p:nvPr/>
        </p:nvGrpSpPr>
        <p:grpSpPr>
          <a:xfrm>
            <a:off x="656139" y="6191045"/>
            <a:ext cx="8011880" cy="2241726"/>
            <a:chOff x="0" y="0"/>
            <a:chExt cx="1648535" cy="461260"/>
          </a:xfrm>
        </p:grpSpPr>
        <p:sp>
          <p:nvSpPr>
            <p:cNvPr id="4" name="Freeform 4"/>
            <p:cNvSpPr/>
            <p:nvPr/>
          </p:nvSpPr>
          <p:spPr>
            <a:xfrm>
              <a:off x="0" y="0"/>
              <a:ext cx="1648535" cy="461260"/>
            </a:xfrm>
            <a:custGeom>
              <a:avLst/>
              <a:gdLst/>
              <a:ahLst/>
              <a:cxnLst/>
              <a:rect l="l" t="t" r="r" b="b"/>
              <a:pathLst>
                <a:path w="1648535" h="461260">
                  <a:moveTo>
                    <a:pt x="18873" y="0"/>
                  </a:moveTo>
                  <a:lnTo>
                    <a:pt x="1629662" y="0"/>
                  </a:lnTo>
                  <a:cubicBezTo>
                    <a:pt x="1640085" y="0"/>
                    <a:pt x="1648535" y="8450"/>
                    <a:pt x="1648535" y="18873"/>
                  </a:cubicBezTo>
                  <a:lnTo>
                    <a:pt x="1648535" y="442387"/>
                  </a:lnTo>
                  <a:cubicBezTo>
                    <a:pt x="1648535" y="452811"/>
                    <a:pt x="1640085" y="461260"/>
                    <a:pt x="1629662" y="461260"/>
                  </a:cubicBezTo>
                  <a:lnTo>
                    <a:pt x="18873" y="461260"/>
                  </a:lnTo>
                  <a:cubicBezTo>
                    <a:pt x="8450" y="461260"/>
                    <a:pt x="0" y="452811"/>
                    <a:pt x="0" y="442387"/>
                  </a:cubicBezTo>
                  <a:lnTo>
                    <a:pt x="0" y="18873"/>
                  </a:lnTo>
                  <a:cubicBezTo>
                    <a:pt x="0" y="8450"/>
                    <a:pt x="8450" y="0"/>
                    <a:pt x="18873" y="0"/>
                  </a:cubicBezTo>
                  <a:close/>
                </a:path>
              </a:pathLst>
            </a:custGeom>
            <a:solidFill>
              <a:srgbClr val="D9F4CD"/>
            </a:solidFill>
          </p:spPr>
          <p:txBody>
            <a:bodyPr/>
            <a:lstStyle/>
            <a:p>
              <a:endParaRPr lang="en-US"/>
            </a:p>
          </p:txBody>
        </p:sp>
        <p:sp>
          <p:nvSpPr>
            <p:cNvPr id="5" name="TextBox 5"/>
            <p:cNvSpPr txBox="1"/>
            <p:nvPr/>
          </p:nvSpPr>
          <p:spPr>
            <a:xfrm>
              <a:off x="0" y="-38100"/>
              <a:ext cx="1648535" cy="49936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873124" y="2138927"/>
            <a:ext cx="7659732" cy="3004573"/>
            <a:chOff x="0" y="0"/>
            <a:chExt cx="1495218" cy="586508"/>
          </a:xfrm>
        </p:grpSpPr>
        <p:sp>
          <p:nvSpPr>
            <p:cNvPr id="7" name="Freeform 7"/>
            <p:cNvSpPr/>
            <p:nvPr/>
          </p:nvSpPr>
          <p:spPr>
            <a:xfrm>
              <a:off x="0" y="0"/>
              <a:ext cx="1495218" cy="586508"/>
            </a:xfrm>
            <a:custGeom>
              <a:avLst/>
              <a:gdLst/>
              <a:ahLst/>
              <a:cxnLst/>
              <a:rect l="l" t="t" r="r" b="b"/>
              <a:pathLst>
                <a:path w="1495218" h="586508">
                  <a:moveTo>
                    <a:pt x="19741" y="0"/>
                  </a:moveTo>
                  <a:lnTo>
                    <a:pt x="1475477" y="0"/>
                  </a:lnTo>
                  <a:cubicBezTo>
                    <a:pt x="1486380" y="0"/>
                    <a:pt x="1495218" y="8838"/>
                    <a:pt x="1495218" y="19741"/>
                  </a:cubicBezTo>
                  <a:lnTo>
                    <a:pt x="1495218" y="566767"/>
                  </a:lnTo>
                  <a:cubicBezTo>
                    <a:pt x="1495218" y="572002"/>
                    <a:pt x="1493138" y="577024"/>
                    <a:pt x="1489436" y="580726"/>
                  </a:cubicBezTo>
                  <a:cubicBezTo>
                    <a:pt x="1485734" y="584428"/>
                    <a:pt x="1480713" y="586508"/>
                    <a:pt x="1475477" y="586508"/>
                  </a:cubicBezTo>
                  <a:lnTo>
                    <a:pt x="19741" y="586508"/>
                  </a:lnTo>
                  <a:cubicBezTo>
                    <a:pt x="14505" y="586508"/>
                    <a:pt x="9484" y="584428"/>
                    <a:pt x="5782" y="580726"/>
                  </a:cubicBezTo>
                  <a:cubicBezTo>
                    <a:pt x="2080" y="577024"/>
                    <a:pt x="0" y="572002"/>
                    <a:pt x="0" y="566767"/>
                  </a:cubicBezTo>
                  <a:lnTo>
                    <a:pt x="0" y="19741"/>
                  </a:lnTo>
                  <a:cubicBezTo>
                    <a:pt x="0" y="14505"/>
                    <a:pt x="2080" y="9484"/>
                    <a:pt x="5782" y="5782"/>
                  </a:cubicBezTo>
                  <a:cubicBezTo>
                    <a:pt x="9484" y="2080"/>
                    <a:pt x="14505" y="0"/>
                    <a:pt x="19741" y="0"/>
                  </a:cubicBezTo>
                  <a:close/>
                </a:path>
              </a:pathLst>
            </a:custGeom>
            <a:solidFill>
              <a:srgbClr val="F7DDDD"/>
            </a:solidFill>
          </p:spPr>
          <p:txBody>
            <a:bodyPr/>
            <a:lstStyle/>
            <a:p>
              <a:endParaRPr lang="en-US"/>
            </a:p>
          </p:txBody>
        </p:sp>
        <p:sp>
          <p:nvSpPr>
            <p:cNvPr id="8" name="TextBox 8"/>
            <p:cNvSpPr txBox="1"/>
            <p:nvPr/>
          </p:nvSpPr>
          <p:spPr>
            <a:xfrm>
              <a:off x="0" y="-38100"/>
              <a:ext cx="1495218" cy="62460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9473482" y="2150814"/>
            <a:ext cx="7759615" cy="1500505"/>
          </a:xfrm>
          <a:prstGeom prst="rect">
            <a:avLst/>
          </a:prstGeom>
        </p:spPr>
        <p:txBody>
          <a:bodyPr lIns="0" tIns="0" rIns="0" bIns="0" rtlCol="0" anchor="t">
            <a:spAutoFit/>
          </a:bodyPr>
          <a:lstStyle/>
          <a:p>
            <a:pPr marL="0" lvl="0" indent="0" algn="ctr">
              <a:lnSpc>
                <a:spcPts val="6020"/>
              </a:lnSpc>
              <a:spcBef>
                <a:spcPct val="0"/>
              </a:spcBef>
            </a:pPr>
            <a:r>
              <a:rPr lang="en-US" sz="4300" spc="120">
                <a:solidFill>
                  <a:srgbClr val="000000"/>
                </a:solidFill>
                <a:latin typeface="League Spartan"/>
                <a:ea typeface="League Spartan"/>
                <a:cs typeface="League Spartan"/>
                <a:sym typeface="League Spartan"/>
              </a:rPr>
              <a:t>ADDRESSED USER REQUIREMENTS</a:t>
            </a:r>
          </a:p>
        </p:txBody>
      </p:sp>
      <p:grpSp>
        <p:nvGrpSpPr>
          <p:cNvPr id="10" name="Group 10"/>
          <p:cNvGrpSpPr/>
          <p:nvPr/>
        </p:nvGrpSpPr>
        <p:grpSpPr>
          <a:xfrm>
            <a:off x="9144000" y="3564140"/>
            <a:ext cx="8418579" cy="4926053"/>
            <a:chOff x="0" y="0"/>
            <a:chExt cx="1732218" cy="1013591"/>
          </a:xfrm>
        </p:grpSpPr>
        <p:sp>
          <p:nvSpPr>
            <p:cNvPr id="11" name="Freeform 11"/>
            <p:cNvSpPr/>
            <p:nvPr/>
          </p:nvSpPr>
          <p:spPr>
            <a:xfrm>
              <a:off x="0" y="0"/>
              <a:ext cx="1732218" cy="1013591"/>
            </a:xfrm>
            <a:custGeom>
              <a:avLst/>
              <a:gdLst/>
              <a:ahLst/>
              <a:cxnLst/>
              <a:rect l="l" t="t" r="r" b="b"/>
              <a:pathLst>
                <a:path w="1732218" h="1013591">
                  <a:moveTo>
                    <a:pt x="17961" y="0"/>
                  </a:moveTo>
                  <a:lnTo>
                    <a:pt x="1714257" y="0"/>
                  </a:lnTo>
                  <a:cubicBezTo>
                    <a:pt x="1719020" y="0"/>
                    <a:pt x="1723589" y="1892"/>
                    <a:pt x="1726957" y="5261"/>
                  </a:cubicBezTo>
                  <a:cubicBezTo>
                    <a:pt x="1730326" y="8629"/>
                    <a:pt x="1732218" y="13198"/>
                    <a:pt x="1732218" y="17961"/>
                  </a:cubicBezTo>
                  <a:lnTo>
                    <a:pt x="1732218" y="995630"/>
                  </a:lnTo>
                  <a:cubicBezTo>
                    <a:pt x="1732218" y="1000393"/>
                    <a:pt x="1730326" y="1004962"/>
                    <a:pt x="1726957" y="1008330"/>
                  </a:cubicBezTo>
                  <a:cubicBezTo>
                    <a:pt x="1723589" y="1011699"/>
                    <a:pt x="1719020" y="1013591"/>
                    <a:pt x="1714257" y="1013591"/>
                  </a:cubicBezTo>
                  <a:lnTo>
                    <a:pt x="17961" y="1013591"/>
                  </a:lnTo>
                  <a:cubicBezTo>
                    <a:pt x="13198" y="1013591"/>
                    <a:pt x="8629" y="1011699"/>
                    <a:pt x="5261" y="1008330"/>
                  </a:cubicBezTo>
                  <a:cubicBezTo>
                    <a:pt x="1892" y="1004962"/>
                    <a:pt x="0" y="1000393"/>
                    <a:pt x="0" y="995630"/>
                  </a:cubicBezTo>
                  <a:lnTo>
                    <a:pt x="0" y="17961"/>
                  </a:lnTo>
                  <a:cubicBezTo>
                    <a:pt x="0" y="13198"/>
                    <a:pt x="1892" y="8629"/>
                    <a:pt x="5261" y="5261"/>
                  </a:cubicBezTo>
                  <a:cubicBezTo>
                    <a:pt x="8629" y="1892"/>
                    <a:pt x="13198" y="0"/>
                    <a:pt x="17961" y="0"/>
                  </a:cubicBezTo>
                  <a:close/>
                </a:path>
              </a:pathLst>
            </a:custGeom>
            <a:solidFill>
              <a:srgbClr val="F3F2FF"/>
            </a:solidFill>
          </p:spPr>
          <p:txBody>
            <a:bodyPr/>
            <a:lstStyle/>
            <a:p>
              <a:endParaRPr lang="en-US"/>
            </a:p>
          </p:txBody>
        </p:sp>
        <p:sp>
          <p:nvSpPr>
            <p:cNvPr id="12" name="TextBox 12"/>
            <p:cNvSpPr txBox="1"/>
            <p:nvPr/>
          </p:nvSpPr>
          <p:spPr>
            <a:xfrm>
              <a:off x="0" y="-38100"/>
              <a:ext cx="1732218" cy="1051691"/>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9714996" y="4184719"/>
            <a:ext cx="577100" cy="577100"/>
          </a:xfrm>
          <a:custGeom>
            <a:avLst/>
            <a:gdLst/>
            <a:ahLst/>
            <a:cxnLst/>
            <a:rect l="l" t="t" r="r" b="b"/>
            <a:pathLst>
              <a:path w="577100" h="577100">
                <a:moveTo>
                  <a:pt x="0" y="0"/>
                </a:moveTo>
                <a:lnTo>
                  <a:pt x="577100" y="0"/>
                </a:lnTo>
                <a:lnTo>
                  <a:pt x="577100" y="577100"/>
                </a:lnTo>
                <a:lnTo>
                  <a:pt x="0" y="577100"/>
                </a:lnTo>
                <a:lnTo>
                  <a:pt x="0" y="0"/>
                </a:lnTo>
                <a:close/>
              </a:path>
            </a:pathLst>
          </a:custGeom>
          <a:blipFill>
            <a:blip r:embed="rId2"/>
            <a:stretch>
              <a:fillRect/>
            </a:stretch>
          </a:blipFill>
        </p:spPr>
        <p:txBody>
          <a:bodyPr/>
          <a:lstStyle/>
          <a:p>
            <a:endParaRPr lang="en-US"/>
          </a:p>
        </p:txBody>
      </p:sp>
      <p:sp>
        <p:nvSpPr>
          <p:cNvPr id="14" name="TextBox 14"/>
          <p:cNvSpPr txBox="1"/>
          <p:nvPr/>
        </p:nvSpPr>
        <p:spPr>
          <a:xfrm>
            <a:off x="219172" y="168135"/>
            <a:ext cx="12215047" cy="305918"/>
          </a:xfrm>
          <a:prstGeom prst="rect">
            <a:avLst/>
          </a:prstGeom>
        </p:spPr>
        <p:txBody>
          <a:bodyPr lIns="0" tIns="0" rIns="0" bIns="0" rtlCol="0" anchor="t">
            <a:spAutoFit/>
          </a:bodyPr>
          <a:lstStyle/>
          <a:p>
            <a:pPr algn="l">
              <a:lnSpc>
                <a:spcPts val="2563"/>
              </a:lnSpc>
              <a:spcBef>
                <a:spcPct val="0"/>
              </a:spcBef>
            </a:pPr>
            <a:r>
              <a:rPr lang="en-US" sz="1830" spc="519">
                <a:solidFill>
                  <a:srgbClr val="000000"/>
                </a:solidFill>
                <a:latin typeface="Open Sans"/>
                <a:ea typeface="Open Sans"/>
                <a:cs typeface="Open Sans"/>
                <a:sym typeface="Open Sans"/>
              </a:rPr>
              <a:t>RISK-AWARE RANKING AND RECOMMENDATION SYSTEM - COMPONENT 04</a:t>
            </a:r>
          </a:p>
        </p:txBody>
      </p:sp>
      <p:sp>
        <p:nvSpPr>
          <p:cNvPr id="15" name="TextBox 15"/>
          <p:cNvSpPr txBox="1"/>
          <p:nvPr/>
        </p:nvSpPr>
        <p:spPr>
          <a:xfrm>
            <a:off x="2848892" y="5394166"/>
            <a:ext cx="3477804" cy="795020"/>
          </a:xfrm>
          <a:prstGeom prst="rect">
            <a:avLst/>
          </a:prstGeom>
        </p:spPr>
        <p:txBody>
          <a:bodyPr lIns="0" tIns="0" rIns="0" bIns="0" rtlCol="0" anchor="t">
            <a:spAutoFit/>
          </a:bodyPr>
          <a:lstStyle/>
          <a:p>
            <a:pPr marL="0" lvl="0" indent="0" algn="l">
              <a:lnSpc>
                <a:spcPts val="6580"/>
              </a:lnSpc>
              <a:spcBef>
                <a:spcPct val="0"/>
              </a:spcBef>
            </a:pPr>
            <a:r>
              <a:rPr lang="en-US" sz="4700" spc="131">
                <a:solidFill>
                  <a:srgbClr val="000000"/>
                </a:solidFill>
                <a:latin typeface="League Spartan"/>
                <a:ea typeface="League Spartan"/>
                <a:cs typeface="League Spartan"/>
                <a:sym typeface="League Spartan"/>
              </a:rPr>
              <a:t>SOLUTION</a:t>
            </a:r>
          </a:p>
        </p:txBody>
      </p:sp>
      <p:sp>
        <p:nvSpPr>
          <p:cNvPr id="16" name="TextBox 16"/>
          <p:cNvSpPr txBox="1"/>
          <p:nvPr/>
        </p:nvSpPr>
        <p:spPr>
          <a:xfrm>
            <a:off x="1104254" y="2561633"/>
            <a:ext cx="7115650" cy="1957390"/>
          </a:xfrm>
          <a:prstGeom prst="rect">
            <a:avLst/>
          </a:prstGeom>
        </p:spPr>
        <p:txBody>
          <a:bodyPr lIns="0" tIns="0" rIns="0" bIns="0" rtlCol="0" anchor="t">
            <a:spAutoFit/>
          </a:bodyPr>
          <a:lstStyle/>
          <a:p>
            <a:pPr algn="ctr">
              <a:lnSpc>
                <a:spcPts val="3937"/>
              </a:lnSpc>
              <a:spcBef>
                <a:spcPct val="0"/>
              </a:spcBef>
            </a:pPr>
            <a:r>
              <a:rPr lang="en-US" sz="2812" b="1">
                <a:solidFill>
                  <a:srgbClr val="000000"/>
                </a:solidFill>
                <a:latin typeface="Canva Sans Bold"/>
                <a:ea typeface="Canva Sans Bold"/>
                <a:cs typeface="Canva Sans Bold"/>
                <a:sym typeface="Canva Sans Bold"/>
              </a:rPr>
              <a:t>Existing job recommendation systems do not effectively consider skill matching together with fraud awareness when ranking jobs.</a:t>
            </a:r>
          </a:p>
        </p:txBody>
      </p:sp>
      <p:sp>
        <p:nvSpPr>
          <p:cNvPr id="17" name="TextBox 17"/>
          <p:cNvSpPr txBox="1"/>
          <p:nvPr/>
        </p:nvSpPr>
        <p:spPr>
          <a:xfrm>
            <a:off x="1184276" y="6477953"/>
            <a:ext cx="6955607" cy="1597661"/>
          </a:xfrm>
          <a:prstGeom prst="rect">
            <a:avLst/>
          </a:prstGeom>
        </p:spPr>
        <p:txBody>
          <a:bodyPr lIns="0" tIns="0" rIns="0" bIns="0" rtlCol="0" anchor="t">
            <a:spAutoFit/>
          </a:bodyPr>
          <a:lstStyle/>
          <a:p>
            <a:pPr algn="ctr">
              <a:lnSpc>
                <a:spcPts val="4339"/>
              </a:lnSpc>
              <a:spcBef>
                <a:spcPct val="0"/>
              </a:spcBef>
            </a:pPr>
            <a:r>
              <a:rPr lang="en-US" sz="3099" b="1">
                <a:solidFill>
                  <a:srgbClr val="000000"/>
                </a:solidFill>
                <a:latin typeface="Canva Sans Bold"/>
                <a:ea typeface="Canva Sans Bold"/>
                <a:cs typeface="Canva Sans Bold"/>
                <a:sym typeface="Canva Sans Bold"/>
              </a:rPr>
              <a:t>Develop a Risk Aware Ranking and Recommendation Module for </a:t>
            </a:r>
          </a:p>
          <a:p>
            <a:pPr algn="ctr">
              <a:lnSpc>
                <a:spcPts val="4339"/>
              </a:lnSpc>
              <a:spcBef>
                <a:spcPct val="0"/>
              </a:spcBef>
            </a:pPr>
            <a:r>
              <a:rPr lang="en-US" sz="3099" b="1">
                <a:solidFill>
                  <a:srgbClr val="000000"/>
                </a:solidFill>
                <a:latin typeface="Canva Sans Bold"/>
                <a:ea typeface="Canva Sans Bold"/>
                <a:cs typeface="Canva Sans Bold"/>
                <a:sym typeface="Canva Sans Bold"/>
              </a:rPr>
              <a:t>Job Seekers</a:t>
            </a:r>
          </a:p>
        </p:txBody>
      </p:sp>
      <p:sp>
        <p:nvSpPr>
          <p:cNvPr id="18" name="TextBox 18"/>
          <p:cNvSpPr txBox="1"/>
          <p:nvPr/>
        </p:nvSpPr>
        <p:spPr>
          <a:xfrm>
            <a:off x="10478338" y="4128565"/>
            <a:ext cx="6996274" cy="3947049"/>
          </a:xfrm>
          <a:prstGeom prst="rect">
            <a:avLst/>
          </a:prstGeom>
        </p:spPr>
        <p:txBody>
          <a:bodyPr lIns="0" tIns="0" rIns="0" bIns="0" rtlCol="0" anchor="t">
            <a:spAutoFit/>
          </a:bodyPr>
          <a:lstStyle/>
          <a:p>
            <a:pPr algn="l">
              <a:lnSpc>
                <a:spcPts val="3918"/>
              </a:lnSpc>
            </a:pPr>
            <a:r>
              <a:rPr lang="en-US" sz="2798" b="1">
                <a:solidFill>
                  <a:srgbClr val="000000"/>
                </a:solidFill>
                <a:latin typeface="Canva Sans Bold"/>
                <a:ea typeface="Canva Sans Bold"/>
                <a:cs typeface="Canva Sans Bold"/>
                <a:sym typeface="Canva Sans Bold"/>
              </a:rPr>
              <a:t>Recommend jobs based on user skills.</a:t>
            </a:r>
          </a:p>
          <a:p>
            <a:pPr algn="l">
              <a:lnSpc>
                <a:spcPts val="3918"/>
              </a:lnSpc>
            </a:pPr>
            <a:endParaRPr lang="en-US" sz="2798" b="1">
              <a:solidFill>
                <a:srgbClr val="000000"/>
              </a:solidFill>
              <a:latin typeface="Canva Sans Bold"/>
              <a:ea typeface="Canva Sans Bold"/>
              <a:cs typeface="Canva Sans Bold"/>
              <a:sym typeface="Canva Sans Bold"/>
            </a:endParaRPr>
          </a:p>
          <a:p>
            <a:pPr algn="l">
              <a:lnSpc>
                <a:spcPts val="3918"/>
              </a:lnSpc>
            </a:pPr>
            <a:r>
              <a:rPr lang="en-US" sz="2798" b="1">
                <a:solidFill>
                  <a:srgbClr val="000000"/>
                </a:solidFill>
                <a:latin typeface="Canva Sans Bold"/>
                <a:ea typeface="Canva Sans Bold"/>
                <a:cs typeface="Canva Sans Bold"/>
                <a:sym typeface="Canva Sans Bold"/>
              </a:rPr>
              <a:t>Identify risky job postings.</a:t>
            </a:r>
          </a:p>
          <a:p>
            <a:pPr algn="l">
              <a:lnSpc>
                <a:spcPts val="3918"/>
              </a:lnSpc>
            </a:pPr>
            <a:endParaRPr lang="en-US" sz="2798" b="1">
              <a:solidFill>
                <a:srgbClr val="000000"/>
              </a:solidFill>
              <a:latin typeface="Canva Sans Bold"/>
              <a:ea typeface="Canva Sans Bold"/>
              <a:cs typeface="Canva Sans Bold"/>
              <a:sym typeface="Canva Sans Bold"/>
            </a:endParaRPr>
          </a:p>
          <a:p>
            <a:pPr algn="l">
              <a:lnSpc>
                <a:spcPts val="3918"/>
              </a:lnSpc>
            </a:pPr>
            <a:r>
              <a:rPr lang="en-US" sz="2798" b="1">
                <a:solidFill>
                  <a:srgbClr val="000000"/>
                </a:solidFill>
                <a:latin typeface="Canva Sans Bold"/>
                <a:ea typeface="Canva Sans Bold"/>
                <a:cs typeface="Canva Sans Bold"/>
                <a:sym typeface="Canva Sans Bold"/>
              </a:rPr>
              <a:t>Rank jobs using both skill match &amp; risk awareness</a:t>
            </a:r>
          </a:p>
          <a:p>
            <a:pPr algn="l">
              <a:lnSpc>
                <a:spcPts val="3918"/>
              </a:lnSpc>
            </a:pPr>
            <a:endParaRPr lang="en-US" sz="2798" b="1">
              <a:solidFill>
                <a:srgbClr val="000000"/>
              </a:solidFill>
              <a:latin typeface="Canva Sans Bold"/>
              <a:ea typeface="Canva Sans Bold"/>
              <a:cs typeface="Canva Sans Bold"/>
              <a:sym typeface="Canva Sans Bold"/>
            </a:endParaRPr>
          </a:p>
          <a:p>
            <a:pPr algn="l">
              <a:lnSpc>
                <a:spcPts val="3918"/>
              </a:lnSpc>
            </a:pPr>
            <a:r>
              <a:rPr lang="en-US" sz="2798" b="1">
                <a:solidFill>
                  <a:srgbClr val="000000"/>
                </a:solidFill>
                <a:latin typeface="Canva Sans Bold"/>
                <a:ea typeface="Canva Sans Bold"/>
                <a:cs typeface="Canva Sans Bold"/>
                <a:sym typeface="Canva Sans Bold"/>
              </a:rPr>
              <a:t>Show skill gaps to help users.</a:t>
            </a:r>
          </a:p>
        </p:txBody>
      </p:sp>
      <p:sp>
        <p:nvSpPr>
          <p:cNvPr id="19" name="TextBox 19"/>
          <p:cNvSpPr txBox="1"/>
          <p:nvPr/>
        </p:nvSpPr>
        <p:spPr>
          <a:xfrm>
            <a:off x="5673380" y="9750406"/>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IT22188618 | Methmi N P C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20" name="Freeform 20"/>
          <p:cNvSpPr/>
          <p:nvPr/>
        </p:nvSpPr>
        <p:spPr>
          <a:xfrm>
            <a:off x="9714996" y="5143500"/>
            <a:ext cx="577100" cy="577100"/>
          </a:xfrm>
          <a:custGeom>
            <a:avLst/>
            <a:gdLst/>
            <a:ahLst/>
            <a:cxnLst/>
            <a:rect l="l" t="t" r="r" b="b"/>
            <a:pathLst>
              <a:path w="577100" h="577100">
                <a:moveTo>
                  <a:pt x="0" y="0"/>
                </a:moveTo>
                <a:lnTo>
                  <a:pt x="577100" y="0"/>
                </a:lnTo>
                <a:lnTo>
                  <a:pt x="577100" y="577100"/>
                </a:lnTo>
                <a:lnTo>
                  <a:pt x="0" y="577100"/>
                </a:lnTo>
                <a:lnTo>
                  <a:pt x="0" y="0"/>
                </a:lnTo>
                <a:close/>
              </a:path>
            </a:pathLst>
          </a:custGeom>
          <a:blipFill>
            <a:blip r:embed="rId2"/>
            <a:stretch>
              <a:fillRect/>
            </a:stretch>
          </a:blipFill>
        </p:spPr>
        <p:txBody>
          <a:bodyPr/>
          <a:lstStyle/>
          <a:p>
            <a:endParaRPr lang="en-US"/>
          </a:p>
        </p:txBody>
      </p:sp>
      <p:sp>
        <p:nvSpPr>
          <p:cNvPr id="21" name="Freeform 21"/>
          <p:cNvSpPr/>
          <p:nvPr/>
        </p:nvSpPr>
        <p:spPr>
          <a:xfrm>
            <a:off x="9714996" y="6387773"/>
            <a:ext cx="577100" cy="577100"/>
          </a:xfrm>
          <a:custGeom>
            <a:avLst/>
            <a:gdLst/>
            <a:ahLst/>
            <a:cxnLst/>
            <a:rect l="l" t="t" r="r" b="b"/>
            <a:pathLst>
              <a:path w="577100" h="577100">
                <a:moveTo>
                  <a:pt x="0" y="0"/>
                </a:moveTo>
                <a:lnTo>
                  <a:pt x="577100" y="0"/>
                </a:lnTo>
                <a:lnTo>
                  <a:pt x="577100" y="577100"/>
                </a:lnTo>
                <a:lnTo>
                  <a:pt x="0" y="577100"/>
                </a:lnTo>
                <a:lnTo>
                  <a:pt x="0" y="0"/>
                </a:lnTo>
                <a:close/>
              </a:path>
            </a:pathLst>
          </a:custGeom>
          <a:blipFill>
            <a:blip r:embed="rId2"/>
            <a:stretch>
              <a:fillRect/>
            </a:stretch>
          </a:blipFill>
        </p:spPr>
        <p:txBody>
          <a:bodyPr/>
          <a:lstStyle/>
          <a:p>
            <a:endParaRPr lang="en-US"/>
          </a:p>
        </p:txBody>
      </p:sp>
      <p:sp>
        <p:nvSpPr>
          <p:cNvPr id="22" name="Freeform 22"/>
          <p:cNvSpPr/>
          <p:nvPr/>
        </p:nvSpPr>
        <p:spPr>
          <a:xfrm>
            <a:off x="9714996" y="7498513"/>
            <a:ext cx="577100" cy="577100"/>
          </a:xfrm>
          <a:custGeom>
            <a:avLst/>
            <a:gdLst/>
            <a:ahLst/>
            <a:cxnLst/>
            <a:rect l="l" t="t" r="r" b="b"/>
            <a:pathLst>
              <a:path w="577100" h="577100">
                <a:moveTo>
                  <a:pt x="0" y="0"/>
                </a:moveTo>
                <a:lnTo>
                  <a:pt x="577100" y="0"/>
                </a:lnTo>
                <a:lnTo>
                  <a:pt x="577100" y="577100"/>
                </a:lnTo>
                <a:lnTo>
                  <a:pt x="0" y="577100"/>
                </a:lnTo>
                <a:lnTo>
                  <a:pt x="0" y="0"/>
                </a:lnTo>
                <a:close/>
              </a:path>
            </a:pathLst>
          </a:custGeom>
          <a:blipFill>
            <a:blip r:embed="rId2"/>
            <a:stretch>
              <a:fillRect/>
            </a:stretch>
          </a:blipFill>
        </p:spPr>
        <p:txBody>
          <a:bodyPr/>
          <a:lstStyle/>
          <a:p>
            <a:endParaRPr lang="en-US"/>
          </a:p>
        </p:txBody>
      </p:sp>
      <p:sp>
        <p:nvSpPr>
          <p:cNvPr id="23" name="Freeform 23"/>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07761" y="1785070"/>
            <a:ext cx="12723466" cy="7683248"/>
          </a:xfrm>
          <a:custGeom>
            <a:avLst/>
            <a:gdLst/>
            <a:ahLst/>
            <a:cxnLst/>
            <a:rect l="l" t="t" r="r" b="b"/>
            <a:pathLst>
              <a:path w="12723466" h="7683248">
                <a:moveTo>
                  <a:pt x="0" y="0"/>
                </a:moveTo>
                <a:lnTo>
                  <a:pt x="12723466" y="0"/>
                </a:lnTo>
                <a:lnTo>
                  <a:pt x="12723466" y="7683248"/>
                </a:lnTo>
                <a:lnTo>
                  <a:pt x="0" y="7683248"/>
                </a:lnTo>
                <a:lnTo>
                  <a:pt x="0" y="0"/>
                </a:lnTo>
                <a:close/>
              </a:path>
            </a:pathLst>
          </a:custGeom>
          <a:blipFill>
            <a:blip r:embed="rId2"/>
            <a:stretch>
              <a:fillRect t="-5200" b="-5200"/>
            </a:stretch>
          </a:blipFill>
        </p:spPr>
        <p:txBody>
          <a:bodyPr/>
          <a:lstStyle/>
          <a:p>
            <a:endParaRPr lang="en-US"/>
          </a:p>
        </p:txBody>
      </p:sp>
      <p:sp>
        <p:nvSpPr>
          <p:cNvPr id="3" name="TextBox 3"/>
          <p:cNvSpPr txBox="1"/>
          <p:nvPr/>
        </p:nvSpPr>
        <p:spPr>
          <a:xfrm>
            <a:off x="4177936" y="656095"/>
            <a:ext cx="9515180" cy="1128975"/>
          </a:xfrm>
          <a:prstGeom prst="rect">
            <a:avLst/>
          </a:prstGeom>
        </p:spPr>
        <p:txBody>
          <a:bodyPr lIns="0" tIns="0" rIns="0" bIns="0" rtlCol="0" anchor="t">
            <a:spAutoFit/>
          </a:bodyPr>
          <a:lstStyle/>
          <a:p>
            <a:pPr marL="0" lvl="0" indent="0" algn="l">
              <a:lnSpc>
                <a:spcPts val="9173"/>
              </a:lnSpc>
              <a:spcBef>
                <a:spcPct val="0"/>
              </a:spcBef>
            </a:pPr>
            <a:r>
              <a:rPr lang="en-US" sz="6552" spc="183">
                <a:solidFill>
                  <a:srgbClr val="000000"/>
                </a:solidFill>
                <a:latin typeface="League Spartan"/>
                <a:ea typeface="League Spartan"/>
                <a:cs typeface="League Spartan"/>
                <a:sym typeface="League Spartan"/>
              </a:rPr>
              <a:t>LITERATURE REVIEW</a:t>
            </a:r>
          </a:p>
        </p:txBody>
      </p:sp>
      <p:sp>
        <p:nvSpPr>
          <p:cNvPr id="4" name="TextBox 4"/>
          <p:cNvSpPr txBox="1"/>
          <p:nvPr/>
        </p:nvSpPr>
        <p:spPr>
          <a:xfrm>
            <a:off x="219172" y="168135"/>
            <a:ext cx="12215047" cy="305918"/>
          </a:xfrm>
          <a:prstGeom prst="rect">
            <a:avLst/>
          </a:prstGeom>
        </p:spPr>
        <p:txBody>
          <a:bodyPr lIns="0" tIns="0" rIns="0" bIns="0" rtlCol="0" anchor="t">
            <a:spAutoFit/>
          </a:bodyPr>
          <a:lstStyle/>
          <a:p>
            <a:pPr algn="l">
              <a:lnSpc>
                <a:spcPts val="2563"/>
              </a:lnSpc>
              <a:spcBef>
                <a:spcPct val="0"/>
              </a:spcBef>
            </a:pPr>
            <a:r>
              <a:rPr lang="en-US" sz="1830" spc="519">
                <a:solidFill>
                  <a:srgbClr val="000000"/>
                </a:solidFill>
                <a:latin typeface="Open Sans"/>
                <a:ea typeface="Open Sans"/>
                <a:cs typeface="Open Sans"/>
                <a:sym typeface="Open Sans"/>
              </a:rPr>
              <a:t>RISK-AWARE RANKING AND RECOMMENDATION SYSTEM - COMPONENT 04</a:t>
            </a:r>
          </a:p>
        </p:txBody>
      </p:sp>
      <p:sp>
        <p:nvSpPr>
          <p:cNvPr id="5" name="TextBox 5"/>
          <p:cNvSpPr txBox="1"/>
          <p:nvPr/>
        </p:nvSpPr>
        <p:spPr>
          <a:xfrm>
            <a:off x="5673380" y="9750406"/>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IT22188618 | Methmi N P C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6" name="Freeform 6"/>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28242" y="2610023"/>
            <a:ext cx="5457216" cy="6821519"/>
          </a:xfrm>
          <a:custGeom>
            <a:avLst/>
            <a:gdLst/>
            <a:ahLst/>
            <a:cxnLst/>
            <a:rect l="l" t="t" r="r" b="b"/>
            <a:pathLst>
              <a:path w="5457216" h="6821519">
                <a:moveTo>
                  <a:pt x="0" y="0"/>
                </a:moveTo>
                <a:lnTo>
                  <a:pt x="5457215" y="0"/>
                </a:lnTo>
                <a:lnTo>
                  <a:pt x="5457215" y="6821519"/>
                </a:lnTo>
                <a:lnTo>
                  <a:pt x="0" y="6821519"/>
                </a:lnTo>
                <a:lnTo>
                  <a:pt x="0" y="0"/>
                </a:lnTo>
                <a:close/>
              </a:path>
            </a:pathLst>
          </a:custGeom>
          <a:blipFill>
            <a:blip r:embed="rId2"/>
            <a:stretch>
              <a:fillRect/>
            </a:stretch>
          </a:blipFill>
        </p:spPr>
        <p:txBody>
          <a:bodyPr/>
          <a:lstStyle/>
          <a:p>
            <a:endParaRPr lang="en-US"/>
          </a:p>
        </p:txBody>
      </p:sp>
      <p:sp>
        <p:nvSpPr>
          <p:cNvPr id="3" name="Freeform 3"/>
          <p:cNvSpPr/>
          <p:nvPr/>
        </p:nvSpPr>
        <p:spPr>
          <a:xfrm>
            <a:off x="6477606" y="2610023"/>
            <a:ext cx="5332788" cy="6821519"/>
          </a:xfrm>
          <a:custGeom>
            <a:avLst/>
            <a:gdLst/>
            <a:ahLst/>
            <a:cxnLst/>
            <a:rect l="l" t="t" r="r" b="b"/>
            <a:pathLst>
              <a:path w="5332788" h="6821519">
                <a:moveTo>
                  <a:pt x="0" y="0"/>
                </a:moveTo>
                <a:lnTo>
                  <a:pt x="5332788" y="0"/>
                </a:lnTo>
                <a:lnTo>
                  <a:pt x="5332788" y="6821519"/>
                </a:lnTo>
                <a:lnTo>
                  <a:pt x="0" y="6821519"/>
                </a:lnTo>
                <a:lnTo>
                  <a:pt x="0" y="0"/>
                </a:lnTo>
                <a:close/>
              </a:path>
            </a:pathLst>
          </a:custGeom>
          <a:blipFill>
            <a:blip r:embed="rId3"/>
            <a:stretch>
              <a:fillRect l="-1193" r="-1193"/>
            </a:stretch>
          </a:blipFill>
        </p:spPr>
        <p:txBody>
          <a:bodyPr/>
          <a:lstStyle/>
          <a:p>
            <a:endParaRPr lang="en-US"/>
          </a:p>
        </p:txBody>
      </p:sp>
      <p:sp>
        <p:nvSpPr>
          <p:cNvPr id="4" name="Freeform 4"/>
          <p:cNvSpPr/>
          <p:nvPr/>
        </p:nvSpPr>
        <p:spPr>
          <a:xfrm>
            <a:off x="12198484" y="2610023"/>
            <a:ext cx="5347590" cy="6821519"/>
          </a:xfrm>
          <a:custGeom>
            <a:avLst/>
            <a:gdLst/>
            <a:ahLst/>
            <a:cxnLst/>
            <a:rect l="l" t="t" r="r" b="b"/>
            <a:pathLst>
              <a:path w="5347590" h="6821519">
                <a:moveTo>
                  <a:pt x="0" y="0"/>
                </a:moveTo>
                <a:lnTo>
                  <a:pt x="5347589" y="0"/>
                </a:lnTo>
                <a:lnTo>
                  <a:pt x="5347589" y="6821519"/>
                </a:lnTo>
                <a:lnTo>
                  <a:pt x="0" y="6821519"/>
                </a:lnTo>
                <a:lnTo>
                  <a:pt x="0" y="0"/>
                </a:lnTo>
                <a:close/>
              </a:path>
            </a:pathLst>
          </a:custGeom>
          <a:blipFill>
            <a:blip r:embed="rId4"/>
            <a:stretch>
              <a:fillRect l="-4095" r="-4095" b="-3204"/>
            </a:stretch>
          </a:blipFill>
        </p:spPr>
        <p:txBody>
          <a:bodyPr/>
          <a:lstStyle/>
          <a:p>
            <a:endParaRPr lang="en-US"/>
          </a:p>
        </p:txBody>
      </p:sp>
      <p:sp>
        <p:nvSpPr>
          <p:cNvPr id="5" name="TextBox 5"/>
          <p:cNvSpPr txBox="1"/>
          <p:nvPr/>
        </p:nvSpPr>
        <p:spPr>
          <a:xfrm>
            <a:off x="5673380" y="9750406"/>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IT22188618 | Methmi N P C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6" name="TextBox 6"/>
          <p:cNvSpPr txBox="1"/>
          <p:nvPr/>
        </p:nvSpPr>
        <p:spPr>
          <a:xfrm>
            <a:off x="4450475" y="895350"/>
            <a:ext cx="10005646" cy="1175737"/>
          </a:xfrm>
          <a:prstGeom prst="rect">
            <a:avLst/>
          </a:prstGeom>
        </p:spPr>
        <p:txBody>
          <a:bodyPr lIns="0" tIns="0" rIns="0" bIns="0" rtlCol="0" anchor="t">
            <a:spAutoFit/>
          </a:bodyPr>
          <a:lstStyle/>
          <a:p>
            <a:pPr marL="0" lvl="0" indent="0" algn="l">
              <a:lnSpc>
                <a:spcPts val="9590"/>
              </a:lnSpc>
              <a:spcBef>
                <a:spcPct val="0"/>
              </a:spcBef>
            </a:pPr>
            <a:r>
              <a:rPr lang="en-US" sz="6850" spc="191">
                <a:solidFill>
                  <a:srgbClr val="000000"/>
                </a:solidFill>
                <a:latin typeface="League Spartan"/>
                <a:ea typeface="League Spartan"/>
                <a:cs typeface="League Spartan"/>
                <a:sym typeface="League Spartan"/>
              </a:rPr>
              <a:t>DESIGN EXCELLENCE</a:t>
            </a:r>
          </a:p>
        </p:txBody>
      </p:sp>
      <p:sp>
        <p:nvSpPr>
          <p:cNvPr id="7" name="TextBox 7"/>
          <p:cNvSpPr txBox="1"/>
          <p:nvPr/>
        </p:nvSpPr>
        <p:spPr>
          <a:xfrm>
            <a:off x="219172" y="168135"/>
            <a:ext cx="12215047" cy="305918"/>
          </a:xfrm>
          <a:prstGeom prst="rect">
            <a:avLst/>
          </a:prstGeom>
        </p:spPr>
        <p:txBody>
          <a:bodyPr lIns="0" tIns="0" rIns="0" bIns="0" rtlCol="0" anchor="t">
            <a:spAutoFit/>
          </a:bodyPr>
          <a:lstStyle/>
          <a:p>
            <a:pPr algn="l">
              <a:lnSpc>
                <a:spcPts val="2563"/>
              </a:lnSpc>
              <a:spcBef>
                <a:spcPct val="0"/>
              </a:spcBef>
            </a:pPr>
            <a:r>
              <a:rPr lang="en-US" sz="1830" spc="519">
                <a:solidFill>
                  <a:srgbClr val="000000"/>
                </a:solidFill>
                <a:latin typeface="Open Sans"/>
                <a:ea typeface="Open Sans"/>
                <a:cs typeface="Open Sans"/>
                <a:sym typeface="Open Sans"/>
              </a:rPr>
              <a:t>RISK-AWARE RANKING AND RECOMMENDATION SYSTEM - COMPONENT 04</a:t>
            </a:r>
          </a:p>
        </p:txBody>
      </p:sp>
      <p:sp>
        <p:nvSpPr>
          <p:cNvPr id="8" name="Freeform 8"/>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5"/>
            <a:stretch>
              <a:fillRect l="-1652" t="-36979" b="-5607"/>
            </a:stretch>
          </a:blipFill>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79254" y="2777096"/>
            <a:ext cx="15156020" cy="6481204"/>
          </a:xfrm>
          <a:custGeom>
            <a:avLst/>
            <a:gdLst/>
            <a:ahLst/>
            <a:cxnLst/>
            <a:rect l="l" t="t" r="r" b="b"/>
            <a:pathLst>
              <a:path w="15156020" h="6481204">
                <a:moveTo>
                  <a:pt x="0" y="0"/>
                </a:moveTo>
                <a:lnTo>
                  <a:pt x="15156019" y="0"/>
                </a:lnTo>
                <a:lnTo>
                  <a:pt x="15156019" y="6481204"/>
                </a:lnTo>
                <a:lnTo>
                  <a:pt x="0" y="6481204"/>
                </a:lnTo>
                <a:lnTo>
                  <a:pt x="0" y="0"/>
                </a:lnTo>
                <a:close/>
              </a:path>
            </a:pathLst>
          </a:custGeom>
          <a:blipFill>
            <a:blip r:embed="rId2"/>
            <a:stretch>
              <a:fillRect t="-26678" b="-29218"/>
            </a:stretch>
          </a:blipFill>
        </p:spPr>
        <p:txBody>
          <a:bodyPr/>
          <a:lstStyle/>
          <a:p>
            <a:endParaRPr lang="en-US"/>
          </a:p>
        </p:txBody>
      </p:sp>
      <p:sp>
        <p:nvSpPr>
          <p:cNvPr id="3" name="TextBox 3"/>
          <p:cNvSpPr txBox="1"/>
          <p:nvPr/>
        </p:nvSpPr>
        <p:spPr>
          <a:xfrm>
            <a:off x="1359636" y="1042658"/>
            <a:ext cx="15995255" cy="1543050"/>
          </a:xfrm>
          <a:prstGeom prst="rect">
            <a:avLst/>
          </a:prstGeom>
        </p:spPr>
        <p:txBody>
          <a:bodyPr lIns="0" tIns="0" rIns="0" bIns="0" rtlCol="0" anchor="t">
            <a:spAutoFit/>
          </a:bodyPr>
          <a:lstStyle/>
          <a:p>
            <a:pPr marL="0" lvl="0" indent="0" algn="l">
              <a:lnSpc>
                <a:spcPts val="12599"/>
              </a:lnSpc>
              <a:spcBef>
                <a:spcPct val="0"/>
              </a:spcBef>
            </a:pPr>
            <a:r>
              <a:rPr lang="en-US" sz="9000" spc="252">
                <a:solidFill>
                  <a:srgbClr val="000000"/>
                </a:solidFill>
                <a:latin typeface="League Spartan"/>
                <a:ea typeface="League Spartan"/>
                <a:cs typeface="League Spartan"/>
                <a:sym typeface="League Spartan"/>
              </a:rPr>
              <a:t>FUTURE IMPROVEMENTS</a:t>
            </a:r>
          </a:p>
        </p:txBody>
      </p:sp>
      <p:sp>
        <p:nvSpPr>
          <p:cNvPr id="4" name="TextBox 4"/>
          <p:cNvSpPr txBox="1"/>
          <p:nvPr/>
        </p:nvSpPr>
        <p:spPr>
          <a:xfrm>
            <a:off x="219172" y="168135"/>
            <a:ext cx="12215047" cy="305918"/>
          </a:xfrm>
          <a:prstGeom prst="rect">
            <a:avLst/>
          </a:prstGeom>
        </p:spPr>
        <p:txBody>
          <a:bodyPr lIns="0" tIns="0" rIns="0" bIns="0" rtlCol="0" anchor="t">
            <a:spAutoFit/>
          </a:bodyPr>
          <a:lstStyle/>
          <a:p>
            <a:pPr algn="l">
              <a:lnSpc>
                <a:spcPts val="2563"/>
              </a:lnSpc>
              <a:spcBef>
                <a:spcPct val="0"/>
              </a:spcBef>
            </a:pPr>
            <a:r>
              <a:rPr lang="en-US" sz="1830" spc="519">
                <a:solidFill>
                  <a:srgbClr val="000000"/>
                </a:solidFill>
                <a:latin typeface="Open Sans"/>
                <a:ea typeface="Open Sans"/>
                <a:cs typeface="Open Sans"/>
                <a:sym typeface="Open Sans"/>
              </a:rPr>
              <a:t>RISK-AWARE RANKING AND RECOMMENDATION SYSTEM - COMPONENT 04</a:t>
            </a:r>
          </a:p>
        </p:txBody>
      </p:sp>
      <p:sp>
        <p:nvSpPr>
          <p:cNvPr id="5" name="TextBox 5"/>
          <p:cNvSpPr txBox="1"/>
          <p:nvPr/>
        </p:nvSpPr>
        <p:spPr>
          <a:xfrm>
            <a:off x="5673380" y="9750406"/>
            <a:ext cx="6524292" cy="763095"/>
          </a:xfrm>
          <a:prstGeom prst="rect">
            <a:avLst/>
          </a:prstGeom>
        </p:spPr>
        <p:txBody>
          <a:bodyPr lIns="0" tIns="0" rIns="0" bIns="0" rtlCol="0" anchor="t">
            <a:spAutoFit/>
          </a:bodyPr>
          <a:lstStyle/>
          <a:p>
            <a:pPr algn="ctr">
              <a:lnSpc>
                <a:spcPts val="3089"/>
              </a:lnSpc>
            </a:pPr>
            <a:r>
              <a:rPr lang="en-US" sz="2206" b="1">
                <a:solidFill>
                  <a:srgbClr val="000000"/>
                </a:solidFill>
                <a:latin typeface="Canva Sans Bold"/>
                <a:ea typeface="Canva Sans Bold"/>
                <a:cs typeface="Canva Sans Bold"/>
                <a:sym typeface="Canva Sans Bold"/>
              </a:rPr>
              <a:t>IT22188618 | Methmi N P C S | R26-SE-002</a:t>
            </a:r>
          </a:p>
          <a:p>
            <a:pPr algn="ctr">
              <a:lnSpc>
                <a:spcPts val="3089"/>
              </a:lnSpc>
              <a:spcBef>
                <a:spcPct val="0"/>
              </a:spcBef>
            </a:pPr>
            <a:endParaRPr lang="en-US" sz="2206" b="1">
              <a:solidFill>
                <a:srgbClr val="000000"/>
              </a:solidFill>
              <a:latin typeface="Canva Sans Bold"/>
              <a:ea typeface="Canva Sans Bold"/>
              <a:cs typeface="Canva Sans Bold"/>
              <a:sym typeface="Canva Sans Bold"/>
            </a:endParaRPr>
          </a:p>
        </p:txBody>
      </p:sp>
      <p:sp>
        <p:nvSpPr>
          <p:cNvPr id="6" name="Freeform 6"/>
          <p:cNvSpPr/>
          <p:nvPr/>
        </p:nvSpPr>
        <p:spPr>
          <a:xfrm>
            <a:off x="0" y="8969848"/>
            <a:ext cx="5164069" cy="1317152"/>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46000" y="0"/>
            <a:ext cx="8232050" cy="10917929"/>
            <a:chOff x="0" y="0"/>
            <a:chExt cx="2537333" cy="2875504"/>
          </a:xfrm>
        </p:grpSpPr>
        <p:sp>
          <p:nvSpPr>
            <p:cNvPr id="3" name="Freeform 3"/>
            <p:cNvSpPr/>
            <p:nvPr/>
          </p:nvSpPr>
          <p:spPr>
            <a:xfrm>
              <a:off x="0" y="0"/>
              <a:ext cx="2537333" cy="2875504"/>
            </a:xfrm>
            <a:custGeom>
              <a:avLst/>
              <a:gdLst/>
              <a:ahLst/>
              <a:cxnLst/>
              <a:rect l="l" t="t" r="r" b="b"/>
              <a:pathLst>
                <a:path w="2537333" h="2875504">
                  <a:moveTo>
                    <a:pt x="0" y="0"/>
                  </a:moveTo>
                  <a:lnTo>
                    <a:pt x="2537333" y="0"/>
                  </a:lnTo>
                  <a:lnTo>
                    <a:pt x="2537333" y="2875504"/>
                  </a:lnTo>
                  <a:lnTo>
                    <a:pt x="0" y="2875504"/>
                  </a:lnTo>
                  <a:close/>
                </a:path>
              </a:pathLst>
            </a:custGeom>
            <a:solidFill>
              <a:srgbClr val="282828"/>
            </a:solidFill>
          </p:spPr>
          <p:txBody>
            <a:bodyPr/>
            <a:lstStyle/>
            <a:p>
              <a:endParaRPr lang="en-US"/>
            </a:p>
          </p:txBody>
        </p:sp>
        <p:sp>
          <p:nvSpPr>
            <p:cNvPr id="4" name="TextBox 4"/>
            <p:cNvSpPr txBox="1"/>
            <p:nvPr/>
          </p:nvSpPr>
          <p:spPr>
            <a:xfrm>
              <a:off x="0" y="-47625"/>
              <a:ext cx="2537333" cy="2923129"/>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811376" y="4529313"/>
            <a:ext cx="5283513" cy="6003992"/>
          </a:xfrm>
          <a:custGeom>
            <a:avLst/>
            <a:gdLst/>
            <a:ahLst/>
            <a:cxnLst/>
            <a:rect l="l" t="t" r="r" b="b"/>
            <a:pathLst>
              <a:path w="5283513" h="6003992">
                <a:moveTo>
                  <a:pt x="0" y="0"/>
                </a:moveTo>
                <a:lnTo>
                  <a:pt x="5283513" y="0"/>
                </a:lnTo>
                <a:lnTo>
                  <a:pt x="5283513" y="6003993"/>
                </a:lnTo>
                <a:lnTo>
                  <a:pt x="0" y="6003993"/>
                </a:lnTo>
                <a:lnTo>
                  <a:pt x="0" y="0"/>
                </a:lnTo>
                <a:close/>
              </a:path>
            </a:pathLst>
          </a:custGeom>
          <a:blipFill>
            <a:blip>
              <a:alphaModFix amt="5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38773" y="2357599"/>
            <a:ext cx="12575969" cy="2487284"/>
          </a:xfrm>
          <a:prstGeom prst="rect">
            <a:avLst/>
          </a:prstGeom>
        </p:spPr>
        <p:txBody>
          <a:bodyPr wrap="square" lIns="0" tIns="0" rIns="0" bIns="0" rtlCol="0" anchor="t">
            <a:spAutoFit/>
          </a:bodyPr>
          <a:lstStyle/>
          <a:p>
            <a:pPr marL="539751" lvl="1" indent="-269876" algn="l">
              <a:lnSpc>
                <a:spcPts val="5000"/>
              </a:lnSpc>
              <a:buFont typeface="Arial"/>
              <a:buChar char="•"/>
            </a:pPr>
            <a:r>
              <a:rPr lang="en-US" sz="2500" dirty="0">
                <a:solidFill>
                  <a:srgbClr val="000000"/>
                </a:solidFill>
                <a:latin typeface="Open Sans"/>
                <a:ea typeface="Open Sans"/>
                <a:cs typeface="Open Sans"/>
                <a:sym typeface="Open Sans"/>
              </a:rPr>
              <a:t>Job seekers, undergraduates, online</a:t>
            </a:r>
            <a:r>
              <a:rPr lang="en-US" sz="2500" u="none" strike="noStrike" dirty="0">
                <a:solidFill>
                  <a:srgbClr val="000000"/>
                </a:solidFill>
                <a:latin typeface="Open Sans"/>
                <a:ea typeface="Open Sans"/>
                <a:cs typeface="Open Sans"/>
                <a:sym typeface="Open Sans"/>
              </a:rPr>
              <a:t> job platforms, and recruitment agencies</a:t>
            </a:r>
          </a:p>
          <a:p>
            <a:pPr marL="539751" lvl="1" indent="-269876" algn="l">
              <a:lnSpc>
                <a:spcPts val="5000"/>
              </a:lnSpc>
              <a:buFont typeface="Arial"/>
              <a:buChar char="•"/>
            </a:pPr>
            <a:r>
              <a:rPr lang="en-US" sz="2500" u="none" strike="noStrike" dirty="0">
                <a:solidFill>
                  <a:srgbClr val="000000"/>
                </a:solidFill>
                <a:latin typeface="Open Sans"/>
                <a:ea typeface="Open Sans"/>
                <a:cs typeface="Open Sans"/>
                <a:sym typeface="Open Sans"/>
              </a:rPr>
              <a:t> Growing demand for secure digital recruitment solutions due to increasing online job scams</a:t>
            </a:r>
          </a:p>
          <a:p>
            <a:pPr marL="539751" lvl="1" indent="-269876" algn="l">
              <a:lnSpc>
                <a:spcPts val="5000"/>
              </a:lnSpc>
              <a:buFont typeface="Arial"/>
              <a:buChar char="•"/>
            </a:pPr>
            <a:r>
              <a:rPr lang="en-US" sz="2500" u="none" strike="noStrike" dirty="0">
                <a:solidFill>
                  <a:srgbClr val="000000"/>
                </a:solidFill>
                <a:latin typeface="Open Sans"/>
                <a:ea typeface="Open Sans"/>
                <a:cs typeface="Open Sans"/>
                <a:sym typeface="Open Sans"/>
              </a:rPr>
              <a:t>Potential use by universities, government authorities, and employment agencies</a:t>
            </a:r>
          </a:p>
        </p:txBody>
      </p:sp>
      <p:sp>
        <p:nvSpPr>
          <p:cNvPr id="7" name="TextBox 7"/>
          <p:cNvSpPr txBox="1"/>
          <p:nvPr/>
        </p:nvSpPr>
        <p:spPr>
          <a:xfrm>
            <a:off x="13629773" y="970510"/>
            <a:ext cx="6294473" cy="2089150"/>
          </a:xfrm>
          <a:prstGeom prst="rect">
            <a:avLst/>
          </a:prstGeom>
        </p:spPr>
        <p:txBody>
          <a:bodyPr lIns="0" tIns="0" rIns="0" bIns="0" rtlCol="0" anchor="t">
            <a:spAutoFit/>
          </a:bodyPr>
          <a:lstStyle/>
          <a:p>
            <a:pPr marL="0" lvl="0" indent="0" algn="ctr">
              <a:lnSpc>
                <a:spcPts val="5599"/>
              </a:lnSpc>
              <a:spcBef>
                <a:spcPct val="0"/>
              </a:spcBef>
            </a:pPr>
            <a:r>
              <a:rPr lang="en-US" sz="3999" b="1" u="none" strike="noStrike" dirty="0">
                <a:solidFill>
                  <a:srgbClr val="FFA4D8"/>
                </a:solidFill>
                <a:latin typeface="Open Sans Bold"/>
                <a:ea typeface="Open Sans Bold"/>
                <a:cs typeface="Open Sans Bold"/>
                <a:sym typeface="Open Sans Bold"/>
              </a:rPr>
              <a:t>Cost Recovery </a:t>
            </a:r>
          </a:p>
          <a:p>
            <a:pPr marL="0" lvl="0" indent="0" algn="ctr">
              <a:lnSpc>
                <a:spcPts val="5599"/>
              </a:lnSpc>
              <a:spcBef>
                <a:spcPct val="0"/>
              </a:spcBef>
            </a:pPr>
            <a:r>
              <a:rPr lang="en-US" sz="3999" b="1" u="none" strike="noStrike" dirty="0">
                <a:solidFill>
                  <a:srgbClr val="FFA4D8"/>
                </a:solidFill>
                <a:latin typeface="Open Sans Bold"/>
                <a:ea typeface="Open Sans Bold"/>
                <a:cs typeface="Open Sans Bold"/>
                <a:sym typeface="Open Sans Bold"/>
              </a:rPr>
              <a:t>&amp; </a:t>
            </a:r>
          </a:p>
          <a:p>
            <a:pPr marL="0" lvl="0" indent="0" algn="ctr">
              <a:lnSpc>
                <a:spcPts val="5599"/>
              </a:lnSpc>
              <a:spcBef>
                <a:spcPct val="0"/>
              </a:spcBef>
            </a:pPr>
            <a:r>
              <a:rPr lang="en-US" sz="3999" b="1" u="none" strike="noStrike" dirty="0">
                <a:solidFill>
                  <a:srgbClr val="FFA4D8"/>
                </a:solidFill>
                <a:latin typeface="Open Sans Bold"/>
                <a:ea typeface="Open Sans Bold"/>
                <a:cs typeface="Open Sans Bold"/>
                <a:sym typeface="Open Sans Bold"/>
              </a:rPr>
              <a:t>Sustainability</a:t>
            </a:r>
          </a:p>
        </p:txBody>
      </p:sp>
      <p:sp>
        <p:nvSpPr>
          <p:cNvPr id="8" name="TextBox 8"/>
          <p:cNvSpPr txBox="1"/>
          <p:nvPr/>
        </p:nvSpPr>
        <p:spPr>
          <a:xfrm>
            <a:off x="4195843" y="1769140"/>
            <a:ext cx="3874412" cy="563880"/>
          </a:xfrm>
          <a:prstGeom prst="rect">
            <a:avLst/>
          </a:prstGeom>
        </p:spPr>
        <p:txBody>
          <a:bodyPr wrap="square" lIns="0" tIns="0" rIns="0" bIns="0" rtlCol="0" anchor="t">
            <a:spAutoFit/>
          </a:bodyPr>
          <a:lstStyle/>
          <a:p>
            <a:pPr algn="l">
              <a:lnSpc>
                <a:spcPts val="4620"/>
              </a:lnSpc>
              <a:spcBef>
                <a:spcPct val="0"/>
              </a:spcBef>
            </a:pPr>
            <a:r>
              <a:rPr lang="en-US" sz="3300" b="1" dirty="0">
                <a:solidFill>
                  <a:srgbClr val="1800AD"/>
                </a:solidFill>
                <a:latin typeface="Open Sans Bold"/>
                <a:ea typeface="Open Sans Bold"/>
                <a:cs typeface="Open Sans Bold"/>
                <a:sym typeface="Open Sans Bold"/>
              </a:rPr>
              <a:t>Target Market</a:t>
            </a:r>
          </a:p>
        </p:txBody>
      </p:sp>
      <p:sp>
        <p:nvSpPr>
          <p:cNvPr id="9" name="Freeform 9"/>
          <p:cNvSpPr/>
          <p:nvPr/>
        </p:nvSpPr>
        <p:spPr>
          <a:xfrm>
            <a:off x="441876" y="1451205"/>
            <a:ext cx="3163980" cy="85587"/>
          </a:xfrm>
          <a:custGeom>
            <a:avLst/>
            <a:gdLst/>
            <a:ahLst/>
            <a:cxnLst/>
            <a:rect l="l" t="t" r="r" b="b"/>
            <a:pathLst>
              <a:path w="3163980" h="85587">
                <a:moveTo>
                  <a:pt x="0" y="0"/>
                </a:moveTo>
                <a:lnTo>
                  <a:pt x="3163980" y="0"/>
                </a:lnTo>
                <a:lnTo>
                  <a:pt x="3163980" y="85586"/>
                </a:lnTo>
                <a:lnTo>
                  <a:pt x="0" y="85586"/>
                </a:lnTo>
                <a:lnTo>
                  <a:pt x="0" y="0"/>
                </a:lnTo>
                <a:close/>
              </a:path>
            </a:pathLst>
          </a:custGeom>
          <a:blipFill>
            <a:blip>
              <a:extLst>
                <a:ext uri="{96DAC541-7B7A-43D3-8B79-37D633B846F1}">
                  <asvg:svgBlip xmlns:asvg="http://schemas.microsoft.com/office/drawing/2016/SVG/main" r:embed="rId3"/>
                </a:ext>
              </a:extLst>
            </a:blip>
            <a:stretch>
              <a:fillRect t="-158366" b="-158366"/>
            </a:stretch>
          </a:blipFill>
        </p:spPr>
        <p:txBody>
          <a:bodyPr/>
          <a:lstStyle/>
          <a:p>
            <a:endParaRPr lang="en-US"/>
          </a:p>
        </p:txBody>
      </p:sp>
      <p:sp>
        <p:nvSpPr>
          <p:cNvPr id="10" name="TextBox 10"/>
          <p:cNvSpPr txBox="1"/>
          <p:nvPr/>
        </p:nvSpPr>
        <p:spPr>
          <a:xfrm>
            <a:off x="237509" y="630398"/>
            <a:ext cx="12802277" cy="863600"/>
          </a:xfrm>
          <a:prstGeom prst="rect">
            <a:avLst/>
          </a:prstGeom>
        </p:spPr>
        <p:txBody>
          <a:bodyPr lIns="0" tIns="0" rIns="0" bIns="0" rtlCol="0" anchor="t">
            <a:spAutoFit/>
          </a:bodyPr>
          <a:lstStyle/>
          <a:p>
            <a:pPr marL="0" lvl="0" indent="0" algn="l">
              <a:lnSpc>
                <a:spcPts val="7000"/>
              </a:lnSpc>
              <a:spcBef>
                <a:spcPct val="0"/>
              </a:spcBef>
            </a:pPr>
            <a:r>
              <a:rPr lang="en-US" sz="5000" spc="140">
                <a:solidFill>
                  <a:srgbClr val="000000"/>
                </a:solidFill>
                <a:latin typeface="League Spartan"/>
                <a:ea typeface="League Spartan"/>
                <a:cs typeface="League Spartan"/>
                <a:sym typeface="League Spartan"/>
              </a:rPr>
              <a:t>COMMERCIALIZATION</a:t>
            </a:r>
          </a:p>
        </p:txBody>
      </p:sp>
      <p:sp>
        <p:nvSpPr>
          <p:cNvPr id="11" name="TextBox 11"/>
          <p:cNvSpPr txBox="1"/>
          <p:nvPr/>
        </p:nvSpPr>
        <p:spPr>
          <a:xfrm>
            <a:off x="237509" y="226191"/>
            <a:ext cx="8447812" cy="330798"/>
          </a:xfrm>
          <a:prstGeom prst="rect">
            <a:avLst/>
          </a:prstGeom>
        </p:spPr>
        <p:txBody>
          <a:bodyPr lIns="0" tIns="0" rIns="0" bIns="0" rtlCol="0" anchor="t">
            <a:spAutoFit/>
          </a:bodyPr>
          <a:lstStyle/>
          <a:p>
            <a:pPr algn="l">
              <a:lnSpc>
                <a:spcPts val="2767"/>
              </a:lnSpc>
              <a:spcBef>
                <a:spcPct val="0"/>
              </a:spcBef>
            </a:pPr>
            <a:r>
              <a:rPr lang="en-US" sz="1976" spc="561">
                <a:solidFill>
                  <a:srgbClr val="000000"/>
                </a:solidFill>
                <a:latin typeface="Open Sans"/>
                <a:ea typeface="Open Sans"/>
                <a:cs typeface="Open Sans"/>
                <a:sym typeface="Open Sans"/>
              </a:rPr>
              <a:t>AI-POWERED JOB SCAM DETECTION ECOSYSTEM</a:t>
            </a:r>
          </a:p>
        </p:txBody>
      </p:sp>
      <p:sp>
        <p:nvSpPr>
          <p:cNvPr id="12" name="TextBox 12"/>
          <p:cNvSpPr txBox="1"/>
          <p:nvPr/>
        </p:nvSpPr>
        <p:spPr>
          <a:xfrm>
            <a:off x="13335000" y="3429070"/>
            <a:ext cx="6574451" cy="5603874"/>
          </a:xfrm>
          <a:prstGeom prst="rect">
            <a:avLst/>
          </a:prstGeom>
        </p:spPr>
        <p:txBody>
          <a:bodyPr lIns="0" tIns="0" rIns="0" bIns="0" rtlCol="0" anchor="t">
            <a:spAutoFit/>
          </a:bodyPr>
          <a:lstStyle/>
          <a:p>
            <a:pPr marL="539751" lvl="1" indent="-269876" algn="l">
              <a:lnSpc>
                <a:spcPts val="5000"/>
              </a:lnSpc>
              <a:spcBef>
                <a:spcPct val="0"/>
              </a:spcBef>
              <a:buFont typeface="Arial"/>
              <a:buChar char="•"/>
            </a:pPr>
            <a:r>
              <a:rPr lang="en-US" sz="2500" u="none" strike="noStrike" dirty="0">
                <a:solidFill>
                  <a:srgbClr val="FFFFFF"/>
                </a:solidFill>
                <a:latin typeface="Open Sans"/>
                <a:ea typeface="Open Sans"/>
                <a:cs typeface="Open Sans"/>
                <a:sym typeface="Open Sans"/>
              </a:rPr>
              <a:t>Revenue through subscription plans, API integration, and enterprise licensing for job platforms</a:t>
            </a:r>
          </a:p>
          <a:p>
            <a:pPr marL="539751" lvl="1" indent="-269876" algn="l">
              <a:lnSpc>
                <a:spcPts val="5000"/>
              </a:lnSpc>
              <a:spcBef>
                <a:spcPct val="0"/>
              </a:spcBef>
              <a:buFont typeface="Arial"/>
              <a:buChar char="•"/>
            </a:pPr>
            <a:r>
              <a:rPr lang="en-US" sz="2500" u="none" strike="noStrike" dirty="0">
                <a:solidFill>
                  <a:srgbClr val="FFFFFF"/>
                </a:solidFill>
                <a:latin typeface="Open Sans"/>
                <a:ea typeface="Open Sans"/>
                <a:cs typeface="Open Sans"/>
                <a:sym typeface="Open Sans"/>
              </a:rPr>
              <a:t>Long-term sustainability through partnerships with recruitment platforms and institutions</a:t>
            </a:r>
          </a:p>
          <a:p>
            <a:pPr marL="539751" lvl="1" indent="-269876" algn="l">
              <a:lnSpc>
                <a:spcPts val="5000"/>
              </a:lnSpc>
              <a:spcBef>
                <a:spcPct val="0"/>
              </a:spcBef>
              <a:buFont typeface="Arial"/>
              <a:buChar char="•"/>
            </a:pPr>
            <a:r>
              <a:rPr lang="en-US" sz="2500" u="none" strike="noStrike" dirty="0">
                <a:solidFill>
                  <a:srgbClr val="FFFFFF"/>
                </a:solidFill>
                <a:latin typeface="Open Sans"/>
                <a:ea typeface="Open Sans"/>
                <a:cs typeface="Open Sans"/>
                <a:sym typeface="Open Sans"/>
              </a:rPr>
              <a:t>Scalable AI-based solution with future expansion opportunities for digital recruitment security</a:t>
            </a:r>
          </a:p>
        </p:txBody>
      </p:sp>
      <p:sp>
        <p:nvSpPr>
          <p:cNvPr id="13" name="TextBox 13"/>
          <p:cNvSpPr txBox="1"/>
          <p:nvPr/>
        </p:nvSpPr>
        <p:spPr>
          <a:xfrm>
            <a:off x="0" y="6098165"/>
            <a:ext cx="12653517" cy="2487284"/>
          </a:xfrm>
          <a:prstGeom prst="rect">
            <a:avLst/>
          </a:prstGeom>
        </p:spPr>
        <p:txBody>
          <a:bodyPr wrap="square" lIns="0" tIns="0" rIns="0" bIns="0" rtlCol="0" anchor="t">
            <a:spAutoFit/>
          </a:bodyPr>
          <a:lstStyle/>
          <a:p>
            <a:pPr marL="539751" lvl="1" indent="-269876" algn="l">
              <a:lnSpc>
                <a:spcPts val="5000"/>
              </a:lnSpc>
              <a:buFont typeface="Arial"/>
              <a:buChar char="•"/>
            </a:pPr>
            <a:r>
              <a:rPr lang="en-US" sz="2500" dirty="0">
                <a:solidFill>
                  <a:srgbClr val="000000"/>
                </a:solidFill>
                <a:latin typeface="Open Sans"/>
                <a:ea typeface="Open Sans"/>
                <a:cs typeface="Open Sans"/>
                <a:sym typeface="Open Sans"/>
              </a:rPr>
              <a:t>Combines fake job detection, employer legitimacy verification, communication analysis, and fraud-aware job recommendation in one ecosystem</a:t>
            </a:r>
          </a:p>
          <a:p>
            <a:pPr marL="539751" lvl="1" indent="-269876" algn="l">
              <a:lnSpc>
                <a:spcPts val="5000"/>
              </a:lnSpc>
              <a:buFont typeface="Arial"/>
              <a:buChar char="•"/>
            </a:pPr>
            <a:r>
              <a:rPr lang="en-US" sz="2500" dirty="0">
                <a:solidFill>
                  <a:srgbClr val="000000"/>
                </a:solidFill>
                <a:latin typeface="Open Sans"/>
                <a:ea typeface="Open Sans"/>
                <a:cs typeface="Open Sans"/>
                <a:sym typeface="Open Sans"/>
              </a:rPr>
              <a:t>Detects scams from multiple stages instead of only analyzing job advertisements</a:t>
            </a:r>
          </a:p>
          <a:p>
            <a:pPr marL="539751" lvl="1" indent="-269876" algn="l">
              <a:lnSpc>
                <a:spcPts val="5000"/>
              </a:lnSpc>
              <a:buFont typeface="Arial"/>
              <a:buChar char="•"/>
            </a:pPr>
            <a:r>
              <a:rPr lang="en-US" sz="2500" dirty="0">
                <a:solidFill>
                  <a:srgbClr val="000000"/>
                </a:solidFill>
                <a:latin typeface="Open Sans"/>
                <a:ea typeface="Open Sans"/>
                <a:cs typeface="Open Sans"/>
                <a:sym typeface="Open Sans"/>
              </a:rPr>
              <a:t>Provides overall fraud risk analysis with safer job recommendations</a:t>
            </a:r>
          </a:p>
        </p:txBody>
      </p:sp>
      <p:sp>
        <p:nvSpPr>
          <p:cNvPr id="14" name="TextBox 14"/>
          <p:cNvSpPr txBox="1"/>
          <p:nvPr/>
        </p:nvSpPr>
        <p:spPr>
          <a:xfrm>
            <a:off x="2575361" y="5509706"/>
            <a:ext cx="7115376" cy="563880"/>
          </a:xfrm>
          <a:prstGeom prst="rect">
            <a:avLst/>
          </a:prstGeom>
        </p:spPr>
        <p:txBody>
          <a:bodyPr wrap="square" lIns="0" tIns="0" rIns="0" bIns="0" rtlCol="0" anchor="t">
            <a:spAutoFit/>
          </a:bodyPr>
          <a:lstStyle/>
          <a:p>
            <a:pPr marL="0" lvl="0" indent="0" algn="l">
              <a:lnSpc>
                <a:spcPts val="4620"/>
              </a:lnSpc>
              <a:spcBef>
                <a:spcPct val="0"/>
              </a:spcBef>
            </a:pPr>
            <a:r>
              <a:rPr lang="en-US" sz="3300" b="1" u="none" strike="noStrike" dirty="0">
                <a:solidFill>
                  <a:srgbClr val="1800AD"/>
                </a:solidFill>
                <a:latin typeface="Open Sans Bold"/>
                <a:ea typeface="Open Sans Bold"/>
                <a:cs typeface="Open Sans Bold"/>
                <a:sym typeface="Open Sans Bold"/>
              </a:rPr>
              <a:t>What is unique in our solution</a:t>
            </a:r>
          </a:p>
        </p:txBody>
      </p:sp>
      <p:sp>
        <p:nvSpPr>
          <p:cNvPr id="15" name="Freeform 15"/>
          <p:cNvSpPr/>
          <p:nvPr/>
        </p:nvSpPr>
        <p:spPr>
          <a:xfrm>
            <a:off x="0" y="9056530"/>
            <a:ext cx="4824222" cy="1230470"/>
          </a:xfrm>
          <a:custGeom>
            <a:avLst/>
            <a:gdLst/>
            <a:ahLst/>
            <a:cxnLst/>
            <a:rect l="l" t="t" r="r" b="b"/>
            <a:pathLst>
              <a:path w="4824222" h="1230470">
                <a:moveTo>
                  <a:pt x="0" y="0"/>
                </a:moveTo>
                <a:lnTo>
                  <a:pt x="4824222" y="0"/>
                </a:lnTo>
                <a:lnTo>
                  <a:pt x="4824222" y="1230470"/>
                </a:lnTo>
                <a:lnTo>
                  <a:pt x="0" y="1230470"/>
                </a:lnTo>
                <a:lnTo>
                  <a:pt x="0" y="0"/>
                </a:lnTo>
                <a:close/>
              </a:path>
            </a:pathLst>
          </a:custGeom>
          <a:blipFill>
            <a:blip r:embed="rId4"/>
            <a:stretch>
              <a:fillRect l="-1652" t="-36979" b="-5607"/>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3323B2B-762B-4F71-84BA-041A4543A7EA}"/>
</file>

<file path=customXml/itemProps2.xml><?xml version="1.0" encoding="utf-8"?>
<ds:datastoreItem xmlns:ds="http://schemas.openxmlformats.org/officeDocument/2006/customXml" ds:itemID="{F2D817B1-C273-437B-BD38-9EA64BA90E36}"/>
</file>

<file path=customXml/itemProps3.xml><?xml version="1.0" encoding="utf-8"?>
<ds:datastoreItem xmlns:ds="http://schemas.openxmlformats.org/officeDocument/2006/customXml" ds:itemID="{7146961F-4077-4CDB-ADF7-71522263994F}"/>
</file>

<file path=docProps/app.xml><?xml version="1.0" encoding="utf-8"?>
<Properties xmlns="http://schemas.openxmlformats.org/officeDocument/2006/extended-properties" xmlns:vt="http://schemas.openxmlformats.org/officeDocument/2006/docPropsVTypes">
  <TotalTime>58</TotalTime>
  <Words>1629</Words>
  <Application>Microsoft Office PowerPoint</Application>
  <PresentationFormat>Custom</PresentationFormat>
  <Paragraphs>205</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Poppins Bold</vt:lpstr>
      <vt:lpstr>Calibri</vt:lpstr>
      <vt:lpstr>Canva Sans</vt:lpstr>
      <vt:lpstr>Open Sans</vt:lpstr>
      <vt:lpstr>Poppins Medium</vt:lpstr>
      <vt:lpstr>Canva Sans Bold</vt:lpstr>
      <vt:lpstr>League Spartan</vt:lpstr>
      <vt:lpstr>Arial</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PP1-Presentation</dc:title>
  <cp:lastModifiedBy>BANDARA H M N T it22251664</cp:lastModifiedBy>
  <cp:revision>4</cp:revision>
  <dcterms:created xsi:type="dcterms:W3CDTF">2006-08-16T00:00:00Z</dcterms:created>
  <dcterms:modified xsi:type="dcterms:W3CDTF">2026-05-12T16:17:06Z</dcterms:modified>
  <dc:identifier>DAHJQDlB6vE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